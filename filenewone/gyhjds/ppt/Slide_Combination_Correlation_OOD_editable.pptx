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109728"/>
            <a:ext cx="5212080" cy="594360"/>
          </a:xfrm>
          <a:prstGeom prst="roundRect">
            <a:avLst>
              <a:gd name="adj" fmla="val 12308"/>
            </a:avLst>
          </a:prstGeom>
          <a:solidFill>
            <a:srgbClr val="EAF3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64592"/>
            <a:ext cx="47548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組合せ・相関関係が異なる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532120" y="109728"/>
            <a:ext cx="6473952" cy="594360"/>
          </a:xfrm>
          <a:prstGeom prst="roundRect">
            <a:avLst>
              <a:gd name="adj" fmla="val 12308"/>
            </a:avLst>
          </a:prstGeom>
          <a:solidFill>
            <a:srgbClr val="F5F8FB"/>
          </a:solidFill>
          <a:ln w="12700">
            <a:solidFill>
              <a:srgbClr val="E3EAF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0" y="164592"/>
            <a:ext cx="60807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各入力値は学習時の範囲内だが、入力項目間の組合せや相関関係が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学習時と異なるデータ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032" y="822960"/>
            <a:ext cx="6400800" cy="566928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822960"/>
            <a:ext cx="3383280" cy="438912"/>
          </a:xfrm>
          <a:prstGeom prst="roundRect">
            <a:avLst>
              <a:gd name="adj" fmla="val 16667"/>
            </a:avLst>
          </a:prstGeom>
          <a:solidFill>
            <a:srgbClr val="EAF3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877824"/>
            <a:ext cx="297180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入力変数の分布（2変数の例）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15568" y="2057400"/>
            <a:ext cx="0" cy="333756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2057400"/>
            <a:ext cx="4389120" cy="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2057400"/>
            <a:ext cx="0" cy="333756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15568" y="2724912"/>
            <a:ext cx="4389120" cy="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1216" y="2057400"/>
            <a:ext cx="0" cy="333756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68" y="3392424"/>
            <a:ext cx="4389120" cy="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2057400"/>
            <a:ext cx="0" cy="333756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5568" y="4059936"/>
            <a:ext cx="4389120" cy="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6864" y="2057400"/>
            <a:ext cx="0" cy="333756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5568" y="4727448"/>
            <a:ext cx="4389120" cy="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2057400"/>
            <a:ext cx="0" cy="333756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5568" y="5394960"/>
            <a:ext cx="4389120" cy="0"/>
          </a:xfrm>
          <a:prstGeom prst="line">
            <a:avLst/>
          </a:prstGeom>
          <a:noFill/>
          <a:ln w="7620">
            <a:solidFill>
              <a:srgbClr val="D9E2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15568" y="5394960"/>
            <a:ext cx="4462272" cy="0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115568" y="5394960"/>
            <a:ext cx="0" cy="-3410712"/>
          </a:xfrm>
          <a:prstGeom prst="line">
            <a:avLst/>
          </a:prstGeom>
          <a:noFill/>
          <a:ln w="15240">
            <a:solidFill>
              <a:srgbClr val="17203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 rot="1920000">
            <a:off x="1234440" y="2852928"/>
            <a:ext cx="4069080" cy="1051560"/>
          </a:xfrm>
          <a:prstGeom prst="ellipse">
            <a:avLst/>
          </a:prstGeom>
          <a:solidFill>
            <a:srgbClr val="DDEBF7">
              <a:alpha val="80000"/>
            </a:srgbClr>
          </a:solidFill>
          <a:ln w="12700">
            <a:solidFill>
              <a:srgbClr val="DDEBF7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9350" y="440795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2476" y="295415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73174" y="507149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87748" y="303753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1646" y="258109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30641" y="425448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93286" y="404528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72698" y="280407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52235" y="433758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89726" y="442317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42500" y="303939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30737" y="290293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79711" y="245315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35013" y="405382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74565" y="384640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9129" y="285873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66659" y="232695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81877" y="298300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54003" y="249840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14779" y="425498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033133" y="319922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04928" y="447046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19201" y="267960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41273" y="349694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07406" y="345555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92190" y="391010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702702" y="395381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985714" y="452262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37103" y="465822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57913" y="433269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23481" y="278636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78493" y="343300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880273" y="482299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25299" y="381152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070279" y="452875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56116" y="446701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00459" y="377686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64616" y="311598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962362" y="405316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747637" y="299347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987705" y="382763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723183" y="252495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370179" y="353942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20848" y="343055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638395" y="417521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77679" y="300596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551012" y="426648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01181" y="406750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25098" y="454735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29168" y="346107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594886" y="482424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823247" y="340845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954221" y="355220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046296" y="351213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50738" y="290638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73658" y="261496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746693" y="426892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83121" y="280370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719553" y="412791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871918" y="483885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23907" y="402716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639858" y="478960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67010" y="290463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763084" y="393136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107452" y="474965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769798" y="268550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721521" y="298359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707869" y="284185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622306" y="426289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478772" y="288898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737646" y="279141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77737" y="315150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775914" y="294576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85197" y="298550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332918" y="356376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175954" y="365838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591919" y="319538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025501" y="461985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73142" y="409720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790932" y="440240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14484" y="341996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831873" y="486363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581162" y="437031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929549" y="472733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138433" y="329428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411854" y="374402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711268" y="291670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538323" y="442681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106056" y="231667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624722" y="460805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682852" y="275172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046569" y="385962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585076" y="368746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575097" y="345383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412535" y="312113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171349" y="344721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29349" y="269482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729057" y="286153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803269" y="359904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3449235" y="338394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220928" y="361704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651635" y="427019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4857370" y="266384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405937" y="352738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4741428" y="299348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3572005" y="371824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529463" y="405704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750602" y="462701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743569" y="299285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269100" y="361389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726482" y="442302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119911" y="300323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246211" y="467546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3324177" y="345858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343225" y="347716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688901" y="422947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682239" y="481576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3471889" y="349531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203285" y="334660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4110843" y="321763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137515" y="449849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978422" y="352816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685327" y="301693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1873871" y="476387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90958" y="376271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2776179" y="383155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641892" y="448786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2421764" y="408647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939931" y="391658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979215" y="259001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780835" y="346877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2269349" y="463233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834727" y="363622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550087" y="497547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034941" y="353475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011220" y="392800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203991" y="316786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4504637" y="300421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3002091" y="371020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490592" y="439440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3433561" y="350823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766543" y="495259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589674" y="288681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3461482" y="386005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3222394" y="370799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671924" y="492491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827724" y="449277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346236" y="292342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778948" y="335754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288061" y="439070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954560" y="483184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2367777" y="418487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4266848" y="281075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008408" y="400839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173392" y="363630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4898781" y="240742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1659617" y="461324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164578" y="322379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748249" y="307740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752760" y="406564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4285725" y="330747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818075" y="298778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3965324" y="303470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788232" y="476791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201713" y="295302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021070" y="392203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419226" y="296949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910727" y="252932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672469" y="305041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3205495" y="366915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2162726" y="464315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3491374" y="348890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694272" y="254746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2642440" y="423889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3904536" y="359483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2103685" y="450690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3789020" y="332995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882985" y="390754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2844400" y="404291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014564" y="415572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957365" y="262702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960455" y="451275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1734376" y="450180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2760519" y="392030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4845221" y="251086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4130711" y="333577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948901" y="449065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134320" y="393840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1947976" y="468445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5089982" y="236529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3242217" y="395322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3591970" y="356638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2265379" y="435614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2634144" y="408780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2379675" y="444115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662408" y="459289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3960904" y="342210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2244201" y="430857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2468695" y="396006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2374775" y="437363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696466" y="403064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579706" y="4765584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4315925" y="327097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988301" y="344271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4859603" y="300666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2953815" y="400407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2438776" y="441013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820628" y="4064587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5085639" y="253599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4638545" y="272420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4011486" y="326634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3919997" y="346613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4820535" y="269469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4982257" y="246641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3848342" y="3278976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5041906" y="2699791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3447132" y="387713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4567176" y="293574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4043371" y="330683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4625913" y="2724773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4609573" y="291818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2812875" y="419167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2719966" y="416961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802994" y="479815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639200" y="483254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4999567" y="2554812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1830879" y="4650149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2391263" y="4366778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053811" y="4480355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1921021" y="4626540"/>
            <a:ext cx="45720" cy="45720"/>
          </a:xfrm>
          <a:prstGeom prst="ellipse">
            <a:avLst/>
          </a:prstGeom>
          <a:solidFill>
            <a:srgbClr val="5B9BD5">
              <a:alpha val="85000"/>
            </a:srgbClr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2607869" y="3058668"/>
            <a:ext cx="0" cy="2336292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1115568" y="3058668"/>
            <a:ext cx="1492301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2539289" y="2990088"/>
            <a:ext cx="137160" cy="137160"/>
          </a:xfrm>
          <a:prstGeom prst="ellipse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257" name="Text 255"/>
          <p:cNvSpPr/>
          <p:nvPr/>
        </p:nvSpPr>
        <p:spPr>
          <a:xfrm>
            <a:off x="2681021" y="2747772"/>
            <a:ext cx="5943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xₙₑw</a:t>
            </a:r>
            <a:endParaRPr lang="en-US" sz="1800" dirty="0"/>
          </a:p>
        </p:txBody>
      </p:sp>
      <p:sp>
        <p:nvSpPr>
          <p:cNvPr id="258" name="Text 256"/>
          <p:cNvSpPr/>
          <p:nvPr/>
        </p:nvSpPr>
        <p:spPr>
          <a:xfrm>
            <a:off x="996696" y="5468112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000" dirty="0"/>
          </a:p>
        </p:txBody>
      </p:sp>
      <p:sp>
        <p:nvSpPr>
          <p:cNvPr id="259" name="Text 257"/>
          <p:cNvSpPr/>
          <p:nvPr/>
        </p:nvSpPr>
        <p:spPr>
          <a:xfrm>
            <a:off x="722376" y="1947672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260" name="Text 258"/>
          <p:cNvSpPr/>
          <p:nvPr/>
        </p:nvSpPr>
        <p:spPr>
          <a:xfrm>
            <a:off x="1874520" y="5468112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261" name="Text 259"/>
          <p:cNvSpPr/>
          <p:nvPr/>
        </p:nvSpPr>
        <p:spPr>
          <a:xfrm>
            <a:off x="722376" y="2615184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</a:t>
            </a:r>
            <a:endParaRPr lang="en-US" sz="1000" dirty="0"/>
          </a:p>
        </p:txBody>
      </p:sp>
      <p:sp>
        <p:nvSpPr>
          <p:cNvPr id="262" name="Text 260"/>
          <p:cNvSpPr/>
          <p:nvPr/>
        </p:nvSpPr>
        <p:spPr>
          <a:xfrm>
            <a:off x="2752344" y="5468112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263" name="Text 261"/>
          <p:cNvSpPr/>
          <p:nvPr/>
        </p:nvSpPr>
        <p:spPr>
          <a:xfrm>
            <a:off x="722376" y="3282696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1000" dirty="0"/>
          </a:p>
        </p:txBody>
      </p:sp>
      <p:sp>
        <p:nvSpPr>
          <p:cNvPr id="264" name="Text 262"/>
          <p:cNvSpPr/>
          <p:nvPr/>
        </p:nvSpPr>
        <p:spPr>
          <a:xfrm>
            <a:off x="3630168" y="5468112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60</a:t>
            </a:r>
            <a:endParaRPr lang="en-US" sz="1000" dirty="0"/>
          </a:p>
        </p:txBody>
      </p:sp>
      <p:sp>
        <p:nvSpPr>
          <p:cNvPr id="265" name="Text 263"/>
          <p:cNvSpPr/>
          <p:nvPr/>
        </p:nvSpPr>
        <p:spPr>
          <a:xfrm>
            <a:off x="722376" y="3950208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</a:t>
            </a:r>
            <a:endParaRPr lang="en-US" sz="1000" dirty="0"/>
          </a:p>
        </p:txBody>
      </p:sp>
      <p:sp>
        <p:nvSpPr>
          <p:cNvPr id="266" name="Text 264"/>
          <p:cNvSpPr/>
          <p:nvPr/>
        </p:nvSpPr>
        <p:spPr>
          <a:xfrm>
            <a:off x="4507992" y="5468112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80</a:t>
            </a:r>
            <a:endParaRPr lang="en-US" sz="1000" dirty="0"/>
          </a:p>
        </p:txBody>
      </p:sp>
      <p:sp>
        <p:nvSpPr>
          <p:cNvPr id="267" name="Text 265"/>
          <p:cNvSpPr/>
          <p:nvPr/>
        </p:nvSpPr>
        <p:spPr>
          <a:xfrm>
            <a:off x="722376" y="4617720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sp>
        <p:nvSpPr>
          <p:cNvPr id="268" name="Text 266"/>
          <p:cNvSpPr/>
          <p:nvPr/>
        </p:nvSpPr>
        <p:spPr>
          <a:xfrm>
            <a:off x="5385816" y="5468112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1000" dirty="0"/>
          </a:p>
        </p:txBody>
      </p:sp>
      <p:sp>
        <p:nvSpPr>
          <p:cNvPr id="269" name="Text 267"/>
          <p:cNvSpPr/>
          <p:nvPr/>
        </p:nvSpPr>
        <p:spPr>
          <a:xfrm>
            <a:off x="722376" y="5285232"/>
            <a:ext cx="320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1000" dirty="0"/>
          </a:p>
        </p:txBody>
      </p:sp>
      <p:sp>
        <p:nvSpPr>
          <p:cNvPr id="270" name="Text 268"/>
          <p:cNvSpPr/>
          <p:nvPr/>
        </p:nvSpPr>
        <p:spPr>
          <a:xfrm>
            <a:off x="2331720" y="5623560"/>
            <a:ext cx="2057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入力変数 x₁（流量）</a:t>
            </a:r>
            <a:endParaRPr lang="en-US" sz="1500" dirty="0"/>
          </a:p>
        </p:txBody>
      </p:sp>
      <p:sp>
        <p:nvSpPr>
          <p:cNvPr id="271" name="Text 269"/>
          <p:cNvSpPr/>
          <p:nvPr/>
        </p:nvSpPr>
        <p:spPr>
          <a:xfrm rot="16200000">
            <a:off x="393192" y="3182112"/>
            <a:ext cx="32004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入力変数 x₂（圧力）</a:t>
            </a:r>
            <a:endParaRPr lang="en-US" sz="1500" dirty="0"/>
          </a:p>
        </p:txBody>
      </p:sp>
      <p:sp>
        <p:nvSpPr>
          <p:cNvPr id="272" name="Shape 270"/>
          <p:cNvSpPr/>
          <p:nvPr/>
        </p:nvSpPr>
        <p:spPr>
          <a:xfrm>
            <a:off x="1261872" y="2148840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B7C9DD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1417320" y="2267712"/>
            <a:ext cx="82296" cy="82296"/>
          </a:xfrm>
          <a:prstGeom prst="ellipse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554480" y="2194560"/>
            <a:ext cx="11887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 Dtrain</a:t>
            </a:r>
            <a:endParaRPr lang="en-US" sz="1000" dirty="0"/>
          </a:p>
        </p:txBody>
      </p:sp>
      <p:sp>
        <p:nvSpPr>
          <p:cNvPr id="275" name="Shape 273"/>
          <p:cNvSpPr/>
          <p:nvPr/>
        </p:nvSpPr>
        <p:spPr>
          <a:xfrm>
            <a:off x="1417320" y="2468880"/>
            <a:ext cx="82296" cy="82296"/>
          </a:xfrm>
          <a:prstGeom prst="ellipse">
            <a:avLst/>
          </a:prstGeom>
          <a:solidFill>
            <a:srgbClr val="D7191C"/>
          </a:solidFill>
          <a:ln w="12700">
            <a:solidFill>
              <a:srgbClr val="D7191C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554480" y="2395728"/>
            <a:ext cx="11887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新しい入力 xnew</a:t>
            </a:r>
            <a:endParaRPr lang="en-US" sz="1000" dirty="0"/>
          </a:p>
        </p:txBody>
      </p:sp>
      <p:sp>
        <p:nvSpPr>
          <p:cNvPr id="277" name="Shape 275"/>
          <p:cNvSpPr/>
          <p:nvPr/>
        </p:nvSpPr>
        <p:spPr>
          <a:xfrm>
            <a:off x="1234440" y="1719025"/>
            <a:ext cx="246888" cy="146351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527048" y="1682814"/>
            <a:ext cx="246888" cy="182562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1819656" y="1627820"/>
            <a:ext cx="246888" cy="237556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2112264" y="1557664"/>
            <a:ext cx="246888" cy="307712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2404872" y="1485037"/>
            <a:ext cx="246888" cy="380339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2697480" y="1429228"/>
            <a:ext cx="246888" cy="436148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2990088" y="1408176"/>
            <a:ext cx="246888" cy="4572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3282696" y="1429228"/>
            <a:ext cx="246888" cy="436148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3575304" y="1485037"/>
            <a:ext cx="246888" cy="380339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867912" y="1557664"/>
            <a:ext cx="246888" cy="307712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4160520" y="1627820"/>
            <a:ext cx="246888" cy="237556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4453128" y="1682814"/>
            <a:ext cx="246888" cy="182562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4745736" y="1719025"/>
            <a:ext cx="246888" cy="146351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0" name="Text 288"/>
          <p:cNvSpPr/>
          <p:nvPr/>
        </p:nvSpPr>
        <p:spPr>
          <a:xfrm>
            <a:off x="457200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x₁ の分布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（学習時）</a:t>
            </a:r>
            <a:endParaRPr lang="en-US" sz="1100" dirty="0"/>
          </a:p>
        </p:txBody>
      </p:sp>
      <p:sp>
        <p:nvSpPr>
          <p:cNvPr id="291" name="Shape 289"/>
          <p:cNvSpPr/>
          <p:nvPr/>
        </p:nvSpPr>
        <p:spPr>
          <a:xfrm>
            <a:off x="5596128" y="2240280"/>
            <a:ext cx="106127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5596128" y="2523744"/>
            <a:ext cx="162789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5596128" y="2807208"/>
            <a:ext cx="268258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5596128" y="3090672"/>
            <a:ext cx="413203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5596128" y="3374136"/>
            <a:ext cx="547732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5596128" y="3657600"/>
            <a:ext cx="603504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5596128" y="3941064"/>
            <a:ext cx="547732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5596128" y="4224528"/>
            <a:ext cx="413203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5596128" y="4507992"/>
            <a:ext cx="268258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5596128" y="4791456"/>
            <a:ext cx="162789" cy="228600"/>
          </a:xfrm>
          <a:prstGeom prst="rect">
            <a:avLst/>
          </a:prstGeom>
          <a:solidFill>
            <a:srgbClr val="DDEBF7"/>
          </a:solidFill>
          <a:ln w="7620">
            <a:solidFill>
              <a:srgbClr val="5B9BD5"/>
            </a:solidFill>
            <a:prstDash val="solid"/>
          </a:ln>
        </p:spPr>
      </p:sp>
      <p:sp>
        <p:nvSpPr>
          <p:cNvPr id="301" name="Text 299"/>
          <p:cNvSpPr/>
          <p:nvPr/>
        </p:nvSpPr>
        <p:spPr>
          <a:xfrm>
            <a:off x="5696712" y="2029968"/>
            <a:ext cx="7315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x₂ の分布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（学習時）</a:t>
            </a:r>
            <a:endParaRPr lang="en-US" sz="1100" dirty="0"/>
          </a:p>
        </p:txBody>
      </p:sp>
      <p:sp>
        <p:nvSpPr>
          <p:cNvPr id="302" name="Shape 300"/>
          <p:cNvSpPr/>
          <p:nvPr/>
        </p:nvSpPr>
        <p:spPr>
          <a:xfrm>
            <a:off x="6858000" y="822960"/>
            <a:ext cx="5138928" cy="1828800"/>
          </a:xfrm>
          <a:prstGeom prst="roundRect">
            <a:avLst>
              <a:gd name="adj" fmla="val 4000"/>
            </a:avLst>
          </a:prstGeom>
          <a:solidFill>
            <a:srgbClr val="EAF3FC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03" name="Text 301"/>
          <p:cNvSpPr/>
          <p:nvPr/>
        </p:nvSpPr>
        <p:spPr>
          <a:xfrm>
            <a:off x="7022592" y="932688"/>
            <a:ext cx="43891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736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各変数を個別に見ると…</a:t>
            </a:r>
            <a:endParaRPr lang="en-US" sz="1800" dirty="0"/>
          </a:p>
        </p:txBody>
      </p:sp>
      <p:sp>
        <p:nvSpPr>
          <p:cNvPr id="304" name="Shape 302"/>
          <p:cNvSpPr/>
          <p:nvPr/>
        </p:nvSpPr>
        <p:spPr>
          <a:xfrm>
            <a:off x="7022592" y="1353312"/>
            <a:ext cx="4617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7C9DD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8119872" y="1353312"/>
            <a:ext cx="0" cy="1005840"/>
          </a:xfrm>
          <a:prstGeom prst="line">
            <a:avLst/>
          </a:prstGeom>
          <a:noFill/>
          <a:ln w="12700">
            <a:solidFill>
              <a:srgbClr val="B7C9DD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9555480" y="1353312"/>
            <a:ext cx="0" cy="1005840"/>
          </a:xfrm>
          <a:prstGeom prst="line">
            <a:avLst/>
          </a:prstGeom>
          <a:noFill/>
          <a:ln w="12700">
            <a:solidFill>
              <a:srgbClr val="B7C9DD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10744200" y="1353312"/>
            <a:ext cx="0" cy="1005840"/>
          </a:xfrm>
          <a:prstGeom prst="line">
            <a:avLst/>
          </a:prstGeom>
          <a:noFill/>
          <a:ln w="12700">
            <a:solidFill>
              <a:srgbClr val="B7C9DD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7022592" y="1664208"/>
            <a:ext cx="4617720" cy="0"/>
          </a:xfrm>
          <a:prstGeom prst="line">
            <a:avLst/>
          </a:prstGeom>
          <a:noFill/>
          <a:ln w="12700">
            <a:solidFill>
              <a:srgbClr val="B7C9DD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7022592" y="1975104"/>
            <a:ext cx="4617720" cy="0"/>
          </a:xfrm>
          <a:prstGeom prst="line">
            <a:avLst/>
          </a:prstGeom>
          <a:noFill/>
          <a:ln w="12700">
            <a:solidFill>
              <a:srgbClr val="B7C9DD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7059168" y="1389888"/>
            <a:ext cx="100584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入力変数</a:t>
            </a:r>
            <a:endParaRPr lang="en-US" sz="1100" dirty="0"/>
          </a:p>
        </p:txBody>
      </p:sp>
      <p:sp>
        <p:nvSpPr>
          <p:cNvPr id="311" name="Text 309"/>
          <p:cNvSpPr/>
          <p:nvPr/>
        </p:nvSpPr>
        <p:spPr>
          <a:xfrm>
            <a:off x="8156448" y="1389888"/>
            <a:ext cx="1353312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新しい入力値 xnew</a:t>
            </a:r>
            <a:endParaRPr lang="en-US" sz="1100" dirty="0"/>
          </a:p>
        </p:txBody>
      </p:sp>
      <p:sp>
        <p:nvSpPr>
          <p:cNvPr id="312" name="Text 310"/>
          <p:cNvSpPr/>
          <p:nvPr/>
        </p:nvSpPr>
        <p:spPr>
          <a:xfrm>
            <a:off x="9592056" y="1389888"/>
            <a:ext cx="10972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学習時の範囲</a:t>
            </a:r>
            <a:endParaRPr lang="en-US" sz="1100" dirty="0"/>
          </a:p>
        </p:txBody>
      </p:sp>
      <p:sp>
        <p:nvSpPr>
          <p:cNvPr id="313" name="Text 311"/>
          <p:cNvSpPr/>
          <p:nvPr/>
        </p:nvSpPr>
        <p:spPr>
          <a:xfrm>
            <a:off x="10780776" y="1389888"/>
            <a:ext cx="82296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</a:t>
            </a:r>
            <a:endParaRPr lang="en-US" sz="1100" dirty="0"/>
          </a:p>
        </p:txBody>
      </p:sp>
      <p:sp>
        <p:nvSpPr>
          <p:cNvPr id="314" name="Text 312"/>
          <p:cNvSpPr/>
          <p:nvPr/>
        </p:nvSpPr>
        <p:spPr>
          <a:xfrm>
            <a:off x="7059168" y="1719072"/>
            <a:ext cx="1005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x₁（流量）</a:t>
            </a:r>
            <a:endParaRPr lang="en-US" sz="1100" dirty="0"/>
          </a:p>
        </p:txBody>
      </p:sp>
      <p:sp>
        <p:nvSpPr>
          <p:cNvPr id="315" name="Text 313"/>
          <p:cNvSpPr/>
          <p:nvPr/>
        </p:nvSpPr>
        <p:spPr>
          <a:xfrm>
            <a:off x="8156448" y="1719072"/>
            <a:ext cx="135331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40</a:t>
            </a:r>
            <a:endParaRPr lang="en-US" sz="1100" dirty="0"/>
          </a:p>
        </p:txBody>
      </p:sp>
      <p:sp>
        <p:nvSpPr>
          <p:cNvPr id="316" name="Text 314"/>
          <p:cNvSpPr/>
          <p:nvPr/>
        </p:nvSpPr>
        <p:spPr>
          <a:xfrm>
            <a:off x="9592056" y="1719072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～ 100</a:t>
            </a:r>
            <a:endParaRPr lang="en-US" sz="1100" dirty="0"/>
          </a:p>
        </p:txBody>
      </p:sp>
      <p:sp>
        <p:nvSpPr>
          <p:cNvPr id="317" name="Text 315"/>
          <p:cNvSpPr/>
          <p:nvPr/>
        </p:nvSpPr>
        <p:spPr>
          <a:xfrm>
            <a:off x="10780776" y="1719072"/>
            <a:ext cx="822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73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範囲内 ○</a:t>
            </a:r>
            <a:endParaRPr lang="en-US" sz="1100" dirty="0"/>
          </a:p>
        </p:txBody>
      </p:sp>
      <p:sp>
        <p:nvSpPr>
          <p:cNvPr id="318" name="Text 316"/>
          <p:cNvSpPr/>
          <p:nvPr/>
        </p:nvSpPr>
        <p:spPr>
          <a:xfrm>
            <a:off x="7059168" y="2029968"/>
            <a:ext cx="10058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x₂（圧力）</a:t>
            </a:r>
            <a:endParaRPr lang="en-US" sz="1100" dirty="0"/>
          </a:p>
        </p:txBody>
      </p:sp>
      <p:sp>
        <p:nvSpPr>
          <p:cNvPr id="319" name="Text 317"/>
          <p:cNvSpPr/>
          <p:nvPr/>
        </p:nvSpPr>
        <p:spPr>
          <a:xfrm>
            <a:off x="8156448" y="2029968"/>
            <a:ext cx="135331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 70</a:t>
            </a:r>
            <a:endParaRPr lang="en-US" sz="1100" dirty="0"/>
          </a:p>
        </p:txBody>
      </p:sp>
      <p:sp>
        <p:nvSpPr>
          <p:cNvPr id="320" name="Text 318"/>
          <p:cNvSpPr/>
          <p:nvPr/>
        </p:nvSpPr>
        <p:spPr>
          <a:xfrm>
            <a:off x="9592056" y="2029968"/>
            <a:ext cx="10972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 ～ 100</a:t>
            </a:r>
            <a:endParaRPr lang="en-US" sz="1100" dirty="0"/>
          </a:p>
        </p:txBody>
      </p:sp>
      <p:sp>
        <p:nvSpPr>
          <p:cNvPr id="321" name="Text 319"/>
          <p:cNvSpPr/>
          <p:nvPr/>
        </p:nvSpPr>
        <p:spPr>
          <a:xfrm>
            <a:off x="10780776" y="2029968"/>
            <a:ext cx="822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73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範囲内 ○</a:t>
            </a:r>
            <a:endParaRPr lang="en-US" sz="1100" dirty="0"/>
          </a:p>
        </p:txBody>
      </p:sp>
      <p:sp>
        <p:nvSpPr>
          <p:cNvPr id="322" name="Shape 320"/>
          <p:cNvSpPr/>
          <p:nvPr/>
        </p:nvSpPr>
        <p:spPr>
          <a:xfrm rot="5400000">
            <a:off x="9070848" y="2724912"/>
            <a:ext cx="384048" cy="274320"/>
          </a:xfrm>
          <a:prstGeom prst="chevron">
            <a:avLst/>
          </a:prstGeom>
          <a:solidFill>
            <a:srgbClr val="8EA9C1"/>
          </a:solidFill>
          <a:ln w="12700">
            <a:solidFill>
              <a:srgbClr val="8EA9C1"/>
            </a:solidFill>
            <a:prstDash val="solid"/>
          </a:ln>
        </p:spPr>
      </p:sp>
      <p:sp>
        <p:nvSpPr>
          <p:cNvPr id="323" name="Shape 321"/>
          <p:cNvSpPr/>
          <p:nvPr/>
        </p:nvSpPr>
        <p:spPr>
          <a:xfrm>
            <a:off x="6858000" y="3090672"/>
            <a:ext cx="5138928" cy="2331720"/>
          </a:xfrm>
          <a:prstGeom prst="roundRect">
            <a:avLst>
              <a:gd name="adj" fmla="val 3137"/>
            </a:avLst>
          </a:prstGeom>
          <a:solidFill>
            <a:srgbClr val="FFF7F7"/>
          </a:solidFill>
          <a:ln w="12700">
            <a:solidFill>
              <a:srgbClr val="F3C2C2"/>
            </a:solidFill>
            <a:prstDash val="solid"/>
          </a:ln>
        </p:spPr>
      </p:sp>
      <p:sp>
        <p:nvSpPr>
          <p:cNvPr id="324" name="Shape 322"/>
          <p:cNvSpPr/>
          <p:nvPr/>
        </p:nvSpPr>
        <p:spPr>
          <a:xfrm>
            <a:off x="6858000" y="3090672"/>
            <a:ext cx="5138928" cy="438912"/>
          </a:xfrm>
          <a:prstGeom prst="roundRect">
            <a:avLst>
              <a:gd name="adj" fmla="val 16667"/>
            </a:avLst>
          </a:prstGeom>
          <a:solidFill>
            <a:srgbClr val="FCE8E8"/>
          </a:solidFill>
          <a:ln w="12700">
            <a:solidFill>
              <a:srgbClr val="F3C2C2"/>
            </a:solidFill>
            <a:prstDash val="solid"/>
          </a:ln>
        </p:spPr>
      </p:sp>
      <p:sp>
        <p:nvSpPr>
          <p:cNvPr id="325" name="Text 323"/>
          <p:cNvSpPr/>
          <p:nvPr/>
        </p:nvSpPr>
        <p:spPr>
          <a:xfrm>
            <a:off x="7022592" y="3163824"/>
            <a:ext cx="44805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2変数の組合せで見ると…</a:t>
            </a:r>
            <a:endParaRPr lang="en-US" sz="1800" dirty="0"/>
          </a:p>
        </p:txBody>
      </p:sp>
      <p:sp>
        <p:nvSpPr>
          <p:cNvPr id="326" name="Text 324"/>
          <p:cNvSpPr/>
          <p:nvPr/>
        </p:nvSpPr>
        <p:spPr>
          <a:xfrm>
            <a:off x="7059168" y="3611880"/>
            <a:ext cx="457200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学習データでは「流量が大きいほど圧力も大きい」という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正の相関関係があるが、xₙₑw はその関係から外れた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組合せであり、学習時に見られなかったデータである。</a:t>
            </a:r>
            <a:endParaRPr lang="en-US" sz="1300" dirty="0"/>
          </a:p>
        </p:txBody>
      </p:sp>
      <p:sp>
        <p:nvSpPr>
          <p:cNvPr id="327" name="Shape 325"/>
          <p:cNvSpPr/>
          <p:nvPr/>
        </p:nvSpPr>
        <p:spPr>
          <a:xfrm>
            <a:off x="7059168" y="4572000"/>
            <a:ext cx="3657600" cy="658368"/>
          </a:xfrm>
          <a:prstGeom prst="roundRect">
            <a:avLst>
              <a:gd name="adj" fmla="val 11111"/>
            </a:avLst>
          </a:prstGeom>
          <a:solidFill>
            <a:srgbClr val="FFF2F2"/>
          </a:solidFill>
          <a:ln w="12700">
            <a:solidFill>
              <a:srgbClr val="EAA3A3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7242048" y="4681728"/>
            <a:ext cx="32918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組合せ・相関関係が学習時と異なる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（学習外入力データ）</a:t>
            </a:r>
            <a:endParaRPr lang="en-US" sz="1400" dirty="0"/>
          </a:p>
        </p:txBody>
      </p:sp>
      <p:sp>
        <p:nvSpPr>
          <p:cNvPr id="329" name="Shape 327"/>
          <p:cNvSpPr/>
          <p:nvPr/>
        </p:nvSpPr>
        <p:spPr>
          <a:xfrm>
            <a:off x="10771632" y="4572000"/>
            <a:ext cx="960120" cy="658368"/>
          </a:xfrm>
          <a:prstGeom prst="roundRect">
            <a:avLst>
              <a:gd name="adj" fmla="val 11111"/>
            </a:avLst>
          </a:prstGeom>
          <a:solidFill>
            <a:srgbClr val="FCE8E8"/>
          </a:solidFill>
          <a:ln w="12700">
            <a:solidFill>
              <a:srgbClr val="EAA3A3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10844784" y="4645152"/>
            <a:ext cx="804672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学習外 ×</a:t>
            </a:r>
            <a:endParaRPr lang="en-US" sz="1300" dirty="0"/>
          </a:p>
        </p:txBody>
      </p:sp>
      <p:sp>
        <p:nvSpPr>
          <p:cNvPr id="331" name="Shape 329"/>
          <p:cNvSpPr/>
          <p:nvPr/>
        </p:nvSpPr>
        <p:spPr>
          <a:xfrm>
            <a:off x="6858000" y="5596128"/>
            <a:ext cx="5138928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9EB6CE"/>
            </a:solidFill>
            <a:prstDash val="solid"/>
          </a:ln>
        </p:spPr>
      </p:sp>
      <p:sp>
        <p:nvSpPr>
          <p:cNvPr id="332" name="Text 330"/>
          <p:cNvSpPr/>
          <p:nvPr/>
        </p:nvSpPr>
        <p:spPr>
          <a:xfrm>
            <a:off x="7059168" y="5742432"/>
            <a:ext cx="466344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各変数の値自体は学習範囲内でも、変数間の組合せや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720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 相関構造が異なる場合、モデルにとって学習外の入力となる。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③ 組合せ・相関関係が異なる</dc:title>
  <dc:subject>学習外入力データ示意図</dc:subject>
  <dc:creator>OpenAI</dc:creator>
  <cp:lastModifiedBy>OpenAI</cp:lastModifiedBy>
  <cp:revision>1</cp:revision>
  <dcterms:created xsi:type="dcterms:W3CDTF">2026-09-14T22:25:10Z</dcterms:created>
  <dcterms:modified xsi:type="dcterms:W3CDTF">2026-09-14T22:25:10Z</dcterms:modified>
</cp:coreProperties>
</file>