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109728"/>
            <a:ext cx="5532120" cy="658368"/>
          </a:xfrm>
          <a:prstGeom prst="roundRect">
            <a:avLst/>
          </a:prstGeom>
          <a:solidFill>
            <a:srgbClr val="E0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64592"/>
            <a:ext cx="5440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2A4C"/>
                </a:solidFill>
                <a:latin typeface="Yu Mincho"/>
              </a:rPr>
              <a:t>モデル1：FC2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448056"/>
            <a:ext cx="5440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A4C"/>
                </a:solidFill>
                <a:latin typeface="Yu Mincho"/>
              </a:rPr>
              <a:t>（送水・配水における水質・流量の予測）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5394960" cy="13533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F2A4C"/>
                </a:solidFill>
                <a:latin typeface="Yu Mincho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042415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A4C"/>
                </a:solidFill>
                <a:latin typeface="Yu Mincho"/>
              </a:rPr>
              <a:t>入力（時刻 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38988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A4C"/>
                </a:solidFill>
                <a:latin typeface="Yu Mincho"/>
              </a:rPr>
              <a:t>・出水口の流量
・出水口の圧力
・・・・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28416" y="1874519"/>
            <a:ext cx="2148840" cy="0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28416" y="1234440"/>
            <a:ext cx="0" cy="640079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28416" y="1458468"/>
            <a:ext cx="257860" cy="64008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86276" y="1458468"/>
            <a:ext cx="257861" cy="128016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44137" y="1426464"/>
            <a:ext cx="257861" cy="160020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01998" y="1426464"/>
            <a:ext cx="257861" cy="115214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59859" y="1362456"/>
            <a:ext cx="257861" cy="17922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17720" y="1362456"/>
            <a:ext cx="257860" cy="115214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875580" y="1394460"/>
            <a:ext cx="257861" cy="83210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33441" y="1394460"/>
            <a:ext cx="343815" cy="108813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28416" y="1605686"/>
            <a:ext cx="257860" cy="76810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86276" y="1605686"/>
            <a:ext cx="257861" cy="12801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844137" y="1631289"/>
            <a:ext cx="257861" cy="102413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01998" y="1631289"/>
            <a:ext cx="257861" cy="89611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59859" y="1586484"/>
            <a:ext cx="257861" cy="13441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7720" y="1586484"/>
            <a:ext cx="257860" cy="115214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75580" y="1618488"/>
            <a:ext cx="257861" cy="83210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33441" y="1618488"/>
            <a:ext cx="343815" cy="57607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30928" y="1892807"/>
            <a:ext cx="96697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F2A4C"/>
                </a:solidFill>
                <a:latin typeface="Yu Mincho"/>
              </a:rPr>
              <a:t>時間 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9859" y="978408"/>
            <a:ext cx="11173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2A4C"/>
                </a:solidFill>
                <a:latin typeface="Yu Mincho"/>
              </a:rPr>
              <a:t>— 流量    — 圧力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2267712"/>
            <a:ext cx="0" cy="283464"/>
          </a:xfrm>
          <a:prstGeom prst="line">
            <a:avLst/>
          </a:prstGeom>
          <a:ln w="1778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527048" y="2560320"/>
            <a:ext cx="3611880" cy="932688"/>
          </a:xfrm>
          <a:prstGeom prst="roundRect">
            <a:avLst/>
          </a:prstGeom>
          <a:solidFill>
            <a:srgbClr val="FDEBEB"/>
          </a:solidFill>
          <a:ln w="1651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A4C"/>
                </a:solidFill>
                <a:latin typeface="Yu Mincho"/>
              </a:rPr>
              <a:t>学習外入力データ検知
（OOD検知）
g(x; D_train)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37560" y="3493008"/>
            <a:ext cx="0" cy="274320"/>
          </a:xfrm>
          <a:prstGeom prst="line">
            <a:avLst/>
          </a:prstGeom>
          <a:ln w="1778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161288" y="3785615"/>
            <a:ext cx="4343400" cy="868680"/>
          </a:xfrm>
          <a:prstGeom prst="roundRect">
            <a:avLst/>
          </a:prstGeom>
          <a:solidFill>
            <a:srgbClr val="EDF5FC"/>
          </a:solidFill>
          <a:ln w="16510">
            <a:solidFill>
              <a:srgbClr val="C3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A4C"/>
                </a:solidFill>
                <a:latin typeface="Yu Mincho"/>
              </a:rPr>
              <a:t>学習済み回帰モデル
FC2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695444" y="3956151"/>
            <a:ext cx="237744" cy="2423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95444" y="3980383"/>
            <a:ext cx="237744" cy="121158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95444" y="3980383"/>
            <a:ext cx="237744" cy="26654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95444" y="3980383"/>
            <a:ext cx="237744" cy="41193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95444" y="3956151"/>
            <a:ext cx="237744" cy="218084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695444" y="4101541"/>
            <a:ext cx="237744" cy="72694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695444" y="4174235"/>
            <a:ext cx="237744" cy="72695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695444" y="4174235"/>
            <a:ext cx="237744" cy="218085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5444" y="3956151"/>
            <a:ext cx="237744" cy="41193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695444" y="4101541"/>
            <a:ext cx="237744" cy="26654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95444" y="4246930"/>
            <a:ext cx="237744" cy="121158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695444" y="4368088"/>
            <a:ext cx="237744" cy="2423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933188" y="3956151"/>
            <a:ext cx="237744" cy="9692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33188" y="3956151"/>
            <a:ext cx="237744" cy="339243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33188" y="4053078"/>
            <a:ext cx="237744" cy="48463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33188" y="4101541"/>
            <a:ext cx="237744" cy="193853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933188" y="4053078"/>
            <a:ext cx="237744" cy="19385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188" y="4246930"/>
            <a:ext cx="237744" cy="48464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33188" y="4053078"/>
            <a:ext cx="237744" cy="33924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33188" y="4295394"/>
            <a:ext cx="237744" cy="96926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645152" y="3930091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45152" y="412394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45152" y="431779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82896" y="3905859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882896" y="4051249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82896" y="4196638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882896" y="4342028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120640" y="400278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120640" y="424510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37560" y="4654296"/>
            <a:ext cx="0" cy="274320"/>
          </a:xfrm>
          <a:prstGeom prst="line">
            <a:avLst/>
          </a:prstGeom>
          <a:ln w="1778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40080" y="4956048"/>
            <a:ext cx="5394960" cy="13533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F2A4C"/>
                </a:solidFill>
                <a:latin typeface="Yu Mincho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" y="507492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A4C"/>
                </a:solidFill>
                <a:latin typeface="Yu Mincho"/>
              </a:rPr>
              <a:t>出力（予測値）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" y="5404104"/>
            <a:ext cx="23317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A4C"/>
                </a:solidFill>
                <a:latin typeface="Yu Mincho"/>
              </a:rPr>
              <a:t>配水先の水質の値
（例：濁度 など）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401568" y="5852159"/>
            <a:ext cx="2084832" cy="0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01568" y="5230368"/>
            <a:ext cx="0" cy="621791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01568" y="5447995"/>
            <a:ext cx="250179" cy="62179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651747" y="5447995"/>
            <a:ext cx="250180" cy="124358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901927" y="5416905"/>
            <a:ext cx="250180" cy="155448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152107" y="5416905"/>
            <a:ext cx="250180" cy="111923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402287" y="5354726"/>
            <a:ext cx="250180" cy="17410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652467" y="5354726"/>
            <a:ext cx="250180" cy="11192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902647" y="5385816"/>
            <a:ext cx="250179" cy="8083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152826" y="5385816"/>
            <a:ext cx="333574" cy="105704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401568" y="5591007"/>
            <a:ext cx="250179" cy="74615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651747" y="5591007"/>
            <a:ext cx="250180" cy="124358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901927" y="5615879"/>
            <a:ext cx="250180" cy="9948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152107" y="5615879"/>
            <a:ext cx="250180" cy="87050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402287" y="5572353"/>
            <a:ext cx="250180" cy="13057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652467" y="5572353"/>
            <a:ext cx="250180" cy="111923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902647" y="5603443"/>
            <a:ext cx="250179" cy="80833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152826" y="5603443"/>
            <a:ext cx="333574" cy="55961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277197" y="5870447"/>
            <a:ext cx="93817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F2A4C"/>
                </a:solidFill>
                <a:latin typeface="Yu Mincho"/>
              </a:rPr>
              <a:t>時間 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2287" y="4974336"/>
            <a:ext cx="10841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2A4C"/>
                </a:solidFill>
                <a:latin typeface="Yu Mincho"/>
              </a:rPr>
              <a:t>—     — 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44768" y="109728"/>
            <a:ext cx="5532120" cy="658368"/>
          </a:xfrm>
          <a:prstGeom prst="roundRect">
            <a:avLst/>
          </a:prstGeom>
          <a:solidFill>
            <a:srgbClr val="E0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0488" y="164592"/>
            <a:ext cx="5440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2A4C"/>
                </a:solidFill>
                <a:latin typeface="Yu Mincho"/>
              </a:rPr>
              <a:t>モデル2：FC3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0488" y="448056"/>
            <a:ext cx="5440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A4C"/>
                </a:solidFill>
                <a:latin typeface="Yu Mincho"/>
              </a:rPr>
              <a:t>（水処理プロセスにおける濁度の予測）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914400"/>
            <a:ext cx="5394960" cy="13533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F2A4C"/>
                </a:solidFill>
                <a:latin typeface="Yu Mincho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4807" y="1042415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A4C"/>
                </a:solidFill>
                <a:latin typeface="Yu Mincho"/>
              </a:rPr>
              <a:t>入力（時刻 t）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64807" y="138988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A4C"/>
                </a:solidFill>
                <a:latin typeface="Yu Mincho"/>
              </a:rPr>
              <a:t>・原水の濁度
・薬品注入率
・・・・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906256" y="1874519"/>
            <a:ext cx="2148840" cy="0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906256" y="1234440"/>
            <a:ext cx="0" cy="640079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06256" y="1458468"/>
            <a:ext cx="257860" cy="64008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64116" y="1458468"/>
            <a:ext cx="257861" cy="128016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421977" y="1426464"/>
            <a:ext cx="257861" cy="160020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679838" y="1426464"/>
            <a:ext cx="257861" cy="115214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937699" y="1362456"/>
            <a:ext cx="257861" cy="17922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195560" y="1362456"/>
            <a:ext cx="257860" cy="115214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453420" y="1394460"/>
            <a:ext cx="257861" cy="83210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711281" y="1394460"/>
            <a:ext cx="343815" cy="108813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906256" y="1605686"/>
            <a:ext cx="257860" cy="76810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64116" y="1605686"/>
            <a:ext cx="257861" cy="12801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421977" y="1631289"/>
            <a:ext cx="257861" cy="102413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79838" y="1631289"/>
            <a:ext cx="257861" cy="89611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937699" y="1586484"/>
            <a:ext cx="257861" cy="13441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195560" y="1586484"/>
            <a:ext cx="257860" cy="115214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453420" y="1618488"/>
            <a:ext cx="257861" cy="83210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711281" y="1618488"/>
            <a:ext cx="343815" cy="57607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808768" y="1892807"/>
            <a:ext cx="96697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F2A4C"/>
                </a:solidFill>
                <a:latin typeface="Yu Mincho"/>
              </a:rPr>
              <a:t>時間 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37699" y="978408"/>
            <a:ext cx="11173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2A4C"/>
                </a:solidFill>
                <a:latin typeface="Yu Mincho"/>
              </a:rPr>
              <a:t>— 濁度    — 薬品注入率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915400" y="2267712"/>
            <a:ext cx="0" cy="283464"/>
          </a:xfrm>
          <a:prstGeom prst="line">
            <a:avLst/>
          </a:prstGeom>
          <a:ln w="1778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7104888" y="2560320"/>
            <a:ext cx="3611880" cy="932688"/>
          </a:xfrm>
          <a:prstGeom prst="roundRect">
            <a:avLst/>
          </a:prstGeom>
          <a:solidFill>
            <a:srgbClr val="FDEBEB"/>
          </a:solidFill>
          <a:ln w="1651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A4C"/>
                </a:solidFill>
                <a:latin typeface="Yu Mincho"/>
              </a:rPr>
              <a:t>学習外入力データ検知
（OOD検知）
g(x; D_train)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915400" y="3493008"/>
            <a:ext cx="0" cy="274320"/>
          </a:xfrm>
          <a:prstGeom prst="line">
            <a:avLst/>
          </a:prstGeom>
          <a:ln w="1778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6739128" y="3785615"/>
            <a:ext cx="4343400" cy="868680"/>
          </a:xfrm>
          <a:prstGeom prst="roundRect">
            <a:avLst/>
          </a:prstGeom>
          <a:solidFill>
            <a:srgbClr val="EDF5FC"/>
          </a:solidFill>
          <a:ln w="16510">
            <a:solidFill>
              <a:srgbClr val="C3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A4C"/>
                </a:solidFill>
                <a:latin typeface="Yu Mincho"/>
              </a:rPr>
              <a:t>学習済み回帰モデル
FC3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0273284" y="3956151"/>
            <a:ext cx="237744" cy="2423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273284" y="3980383"/>
            <a:ext cx="237744" cy="121158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273284" y="3980383"/>
            <a:ext cx="237744" cy="26654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273284" y="3980383"/>
            <a:ext cx="237744" cy="41193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0273284" y="3956151"/>
            <a:ext cx="237744" cy="218084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0273284" y="4101541"/>
            <a:ext cx="237744" cy="72694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273284" y="4174235"/>
            <a:ext cx="237744" cy="72695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273284" y="4174235"/>
            <a:ext cx="237744" cy="218085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273284" y="3956151"/>
            <a:ext cx="237744" cy="41193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0273284" y="4101541"/>
            <a:ext cx="237744" cy="26654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273284" y="4246930"/>
            <a:ext cx="237744" cy="121158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273284" y="4368088"/>
            <a:ext cx="237744" cy="2423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511028" y="3956151"/>
            <a:ext cx="237744" cy="96927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511028" y="3956151"/>
            <a:ext cx="237744" cy="339243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511028" y="4053078"/>
            <a:ext cx="237744" cy="48463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511028" y="4101541"/>
            <a:ext cx="237744" cy="193853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511028" y="4053078"/>
            <a:ext cx="237744" cy="19385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511028" y="4246930"/>
            <a:ext cx="237744" cy="48464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511028" y="4053078"/>
            <a:ext cx="237744" cy="339242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511028" y="4295394"/>
            <a:ext cx="237744" cy="96926"/>
          </a:xfrm>
          <a:prstGeom prst="line">
            <a:avLst/>
          </a:prstGeom>
          <a:ln w="8890">
            <a:solidFill>
              <a:srgbClr val="677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10222992" y="3930091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0222992" y="412394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222992" y="431779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460736" y="3905859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460736" y="4051249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460736" y="4196638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460736" y="4342028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698480" y="400278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698480" y="424510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677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8915400" y="4654296"/>
            <a:ext cx="0" cy="274320"/>
          </a:xfrm>
          <a:prstGeom prst="line">
            <a:avLst/>
          </a:prstGeom>
          <a:ln w="1778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6217920" y="4956048"/>
            <a:ext cx="5394960" cy="13533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F2A4C"/>
                </a:solidFill>
                <a:latin typeface="Yu Mincho"/>
              </a:rPr>
              <a:t/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64807" y="507492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A4C"/>
                </a:solidFill>
                <a:latin typeface="Yu Mincho"/>
              </a:rPr>
              <a:t>出力（予測値）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64807" y="5404104"/>
            <a:ext cx="23317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A4C"/>
                </a:solidFill>
                <a:latin typeface="Yu Mincho"/>
              </a:rPr>
              <a:t>複数の処理工程を経た
時刻 t + x の濁度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8979408" y="5852159"/>
            <a:ext cx="2084832" cy="0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979408" y="5230368"/>
            <a:ext cx="0" cy="621791"/>
          </a:xfrm>
          <a:prstGeom prst="line">
            <a:avLst/>
          </a:prstGeom>
          <a:ln w="12700">
            <a:solidFill>
              <a:srgbClr val="0F2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8979408" y="5447995"/>
            <a:ext cx="250179" cy="62179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229587" y="5447995"/>
            <a:ext cx="250180" cy="124358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479767" y="5416905"/>
            <a:ext cx="250180" cy="155448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729947" y="5416905"/>
            <a:ext cx="250180" cy="111923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980127" y="5354726"/>
            <a:ext cx="250180" cy="17410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230307" y="5354726"/>
            <a:ext cx="250180" cy="11192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480487" y="5385816"/>
            <a:ext cx="250179" cy="80832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730666" y="5385816"/>
            <a:ext cx="333574" cy="105704"/>
          </a:xfrm>
          <a:prstGeom prst="line">
            <a:avLst/>
          </a:prstGeom>
          <a:ln w="15875">
            <a:solidFill>
              <a:srgbClr val="20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8979408" y="5591007"/>
            <a:ext cx="250179" cy="74615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229587" y="5591007"/>
            <a:ext cx="250180" cy="124358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479767" y="5615879"/>
            <a:ext cx="250180" cy="9948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729947" y="5615879"/>
            <a:ext cx="250180" cy="87050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980127" y="5572353"/>
            <a:ext cx="250180" cy="130576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230307" y="5572353"/>
            <a:ext cx="250180" cy="111923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480487" y="5603443"/>
            <a:ext cx="250179" cy="80833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730666" y="5603443"/>
            <a:ext cx="333574" cy="55961"/>
          </a:xfrm>
          <a:prstGeom prst="line">
            <a:avLst/>
          </a:prstGeom>
          <a:ln w="15875">
            <a:solidFill>
              <a:srgbClr val="EC6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9855037" y="5870447"/>
            <a:ext cx="93817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F2A4C"/>
                </a:solidFill>
                <a:latin typeface="Yu Mincho"/>
              </a:rPr>
              <a:t>時間 t + 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980127" y="4974336"/>
            <a:ext cx="10841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F2A4C"/>
                </a:solidFill>
                <a:latin typeface="Yu Mincho"/>
              </a:rPr>
              <a:t>—     —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