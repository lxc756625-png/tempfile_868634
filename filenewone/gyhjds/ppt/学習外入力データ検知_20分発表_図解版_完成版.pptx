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306fafdd80f4fed" /><Relationship Type="http://schemas.openxmlformats.org/officeDocument/2006/relationships/extended-properties" Target="/docProps/app.xml" Id="R4e21c95d4ea74f30" /><Relationship Type="http://schemas.openxmlformats.org/officeDocument/2006/relationships/officeDocument" Target="/ppt/presentation.xml" Id="R5dad0f030ccb48cb" /></Relationships>
</file>

<file path=ppt/presentation.xml><?xml version="1.0" encoding="utf-8"?>
<p:presentation xmlns:p="http://schemas.openxmlformats.org/presentationml/2006/main">
  <p:sldMasterIdLst>
    <p:sldMasterId xmlns:r="http://schemas.openxmlformats.org/officeDocument/2006/relationships" id="2147483648" r:id="R91a7d2e1ad3644d2"/>
  </p:sldMasterIdLst>
  <p:notesMasterIdLst>
    <p:notesMasterId xmlns:r="http://schemas.openxmlformats.org/officeDocument/2006/relationships" r:id="R3f6fb145b4614755"/>
  </p:notesMasterIdLst>
  <p:sldIdLst>
    <p:sldId xmlns:r="http://schemas.openxmlformats.org/officeDocument/2006/relationships" id="256" r:id="R689eae979e0a4072"/>
    <p:sldId xmlns:r="http://schemas.openxmlformats.org/officeDocument/2006/relationships" id="257" r:id="Rb2ad72b0a1d642d0"/>
    <p:sldId xmlns:r="http://schemas.openxmlformats.org/officeDocument/2006/relationships" id="258" r:id="Re9489b79d43e4d88"/>
    <p:sldId xmlns:r="http://schemas.openxmlformats.org/officeDocument/2006/relationships" id="259" r:id="Rda95675a8c99417c"/>
    <p:sldId xmlns:r="http://schemas.openxmlformats.org/officeDocument/2006/relationships" id="260" r:id="Ra7daaab05bc2483a"/>
    <p:sldId xmlns:r="http://schemas.openxmlformats.org/officeDocument/2006/relationships" id="261" r:id="Rea5cca456d204d6c"/>
    <p:sldId xmlns:r="http://schemas.openxmlformats.org/officeDocument/2006/relationships" id="262" r:id="R29b14ba377584ecd"/>
    <p:sldId xmlns:r="http://schemas.openxmlformats.org/officeDocument/2006/relationships" id="263" r:id="Rb53dcd1a07274156"/>
    <p:sldId xmlns:r="http://schemas.openxmlformats.org/officeDocument/2006/relationships" id="264" r:id="R5d53ac8f416643e5"/>
    <p:sldId xmlns:r="http://schemas.openxmlformats.org/officeDocument/2006/relationships" id="265" r:id="R01486c0f7f254321"/>
    <p:sldId xmlns:r="http://schemas.openxmlformats.org/officeDocument/2006/relationships" id="266" r:id="R90c6d1bb8ca94143"/>
    <p:sldId xmlns:r="http://schemas.openxmlformats.org/officeDocument/2006/relationships" id="267" r:id="Rc2c58b8bac1a4a75"/>
    <p:sldId xmlns:r="http://schemas.openxmlformats.org/officeDocument/2006/relationships" id="268" r:id="R9f963e8519db48b9"/>
    <p:sldId xmlns:r="http://schemas.openxmlformats.org/officeDocument/2006/relationships" id="269" r:id="Rf200721124e94b1c"/>
    <p:sldId xmlns:r="http://schemas.openxmlformats.org/officeDocument/2006/relationships" id="270" r:id="R58d586a5d0484ce6"/>
    <p:sldId xmlns:r="http://schemas.openxmlformats.org/officeDocument/2006/relationships" id="271" r:id="R0e58e1f2085f4c75"/>
    <p:sldId xmlns:r="http://schemas.openxmlformats.org/officeDocument/2006/relationships" id="272" r:id="Rc522fb880e524ea6"/>
    <p:sldId xmlns:r="http://schemas.openxmlformats.org/officeDocument/2006/relationships" id="273" r:id="R961e357f2d5342f0"/>
    <p:sldId xmlns:r="http://schemas.openxmlformats.org/officeDocument/2006/relationships" id="274" r:id="R01784c9495864a3b"/>
    <p:sldId xmlns:r="http://schemas.openxmlformats.org/officeDocument/2006/relationships" id="275" r:id="R278fc2414ceb4ffa"/>
    <p:sldId xmlns:r="http://schemas.openxmlformats.org/officeDocument/2006/relationships" id="276" r:id="Rca851b4c303f45dc"/>
    <p:sldId xmlns:r="http://schemas.openxmlformats.org/officeDocument/2006/relationships" id="277" r:id="R357b018d301648b3"/>
    <p:sldId xmlns:r="http://schemas.openxmlformats.org/officeDocument/2006/relationships" id="278" r:id="Rf2acd01a80994579"/>
    <p:sldId xmlns:r="http://schemas.openxmlformats.org/officeDocument/2006/relationships" id="279" r:id="R9ea5d99785a04908"/>
    <p:sldId xmlns:r="http://schemas.openxmlformats.org/officeDocument/2006/relationships" id="280" r:id="Reac60ee760984ef2"/>
    <p:sldId xmlns:r="http://schemas.openxmlformats.org/officeDocument/2006/relationships" id="281" r:id="R8c6bb7111b9b42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6e77f1c44d437e" /><Relationship Type="http://schemas.openxmlformats.org/officeDocument/2006/relationships/slideMaster" Target="/ppt/slideMasters/slideMaster1.xml" Id="R91a7d2e1ad3644d2" /><Relationship Type="http://schemas.openxmlformats.org/officeDocument/2006/relationships/notesMaster" Target="/ppt/notesMasters/notesMaster1.xml" Id="R3f6fb145b4614755" /><Relationship Type="http://schemas.openxmlformats.org/officeDocument/2006/relationships/presProps" Target="/ppt/presProps.xml" Id="R7c0dba37e7594fce" /><Relationship Type="http://schemas.openxmlformats.org/officeDocument/2006/relationships/tableStyles" Target="/ppt/tableStyles.xml" Id="R915cff2ed34f47bf" /><Relationship Type="http://schemas.openxmlformats.org/officeDocument/2006/relationships/slide" Target="/ppt/slides/slide1.xml" Id="R689eae979e0a4072" /><Relationship Type="http://schemas.openxmlformats.org/officeDocument/2006/relationships/slide" Target="/ppt/slides/slide2.xml" Id="Rb2ad72b0a1d642d0" /><Relationship Type="http://schemas.openxmlformats.org/officeDocument/2006/relationships/slide" Target="/ppt/slides/slide3.xml" Id="Re9489b79d43e4d88" /><Relationship Type="http://schemas.openxmlformats.org/officeDocument/2006/relationships/slide" Target="/ppt/slides/slide4.xml" Id="Rda95675a8c99417c" /><Relationship Type="http://schemas.openxmlformats.org/officeDocument/2006/relationships/slide" Target="/ppt/slides/slide5.xml" Id="Ra7daaab05bc2483a" /><Relationship Type="http://schemas.openxmlformats.org/officeDocument/2006/relationships/slide" Target="/ppt/slides/slide6.xml" Id="Rea5cca456d204d6c" /><Relationship Type="http://schemas.openxmlformats.org/officeDocument/2006/relationships/slide" Target="/ppt/slides/slide7.xml" Id="R29b14ba377584ecd" /><Relationship Type="http://schemas.openxmlformats.org/officeDocument/2006/relationships/slide" Target="/ppt/slides/slide8.xml" Id="Rb53dcd1a07274156" /><Relationship Type="http://schemas.openxmlformats.org/officeDocument/2006/relationships/slide" Target="/ppt/slides/slide9.xml" Id="R5d53ac8f416643e5" /><Relationship Type="http://schemas.openxmlformats.org/officeDocument/2006/relationships/slide" Target="/ppt/slides/slide10.xml" Id="R01486c0f7f254321" /><Relationship Type="http://schemas.openxmlformats.org/officeDocument/2006/relationships/slide" Target="/ppt/slides/slide11.xml" Id="R90c6d1bb8ca94143" /><Relationship Type="http://schemas.openxmlformats.org/officeDocument/2006/relationships/slide" Target="/ppt/slides/slide12.xml" Id="Rc2c58b8bac1a4a75" /><Relationship Type="http://schemas.openxmlformats.org/officeDocument/2006/relationships/slide" Target="/ppt/slides/slide13.xml" Id="R9f963e8519db48b9" /><Relationship Type="http://schemas.openxmlformats.org/officeDocument/2006/relationships/slide" Target="/ppt/slides/slide14.xml" Id="Rf200721124e94b1c" /><Relationship Type="http://schemas.openxmlformats.org/officeDocument/2006/relationships/slide" Target="/ppt/slides/slide15.xml" Id="R58d586a5d0484ce6" /><Relationship Type="http://schemas.openxmlformats.org/officeDocument/2006/relationships/slide" Target="/ppt/slides/slide16.xml" Id="R0e58e1f2085f4c75" /><Relationship Type="http://schemas.openxmlformats.org/officeDocument/2006/relationships/slide" Target="/ppt/slides/slide17.xml" Id="Rc522fb880e524ea6" /><Relationship Type="http://schemas.openxmlformats.org/officeDocument/2006/relationships/slide" Target="/ppt/slides/slide18.xml" Id="R961e357f2d5342f0" /><Relationship Type="http://schemas.openxmlformats.org/officeDocument/2006/relationships/slide" Target="/ppt/slides/slide19.xml" Id="R01784c9495864a3b" /><Relationship Type="http://schemas.openxmlformats.org/officeDocument/2006/relationships/slide" Target="/ppt/slides/slide20.xml" Id="R278fc2414ceb4ffa" /><Relationship Type="http://schemas.openxmlformats.org/officeDocument/2006/relationships/slide" Target="/ppt/slides/slide21.xml" Id="Rca851b4c303f45dc" /><Relationship Type="http://schemas.openxmlformats.org/officeDocument/2006/relationships/slide" Target="/ppt/slides/slide22.xml" Id="R357b018d301648b3" /><Relationship Type="http://schemas.openxmlformats.org/officeDocument/2006/relationships/slide" Target="/ppt/slides/slide23.xml" Id="Rf2acd01a80994579" /><Relationship Type="http://schemas.openxmlformats.org/officeDocument/2006/relationships/slide" Target="/ppt/slides/slide24.xml" Id="R9ea5d99785a04908" /><Relationship Type="http://schemas.openxmlformats.org/officeDocument/2006/relationships/slide" Target="/ppt/slides/slide25.xml" Id="Reac60ee760984ef2" /><Relationship Type="http://schemas.openxmlformats.org/officeDocument/2006/relationships/slide" Target="/ppt/slides/slide26.xml" Id="R8c6bb7111b9b42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176fcefa884b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28e39361524664" /><Relationship Type="http://schemas.openxmlformats.org/officeDocument/2006/relationships/notesMaster" Target="/ppt/notesMasters/notesMaster1.xml" Id="Rf971f779322141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aeb42d29804f8b" /><Relationship Type="http://schemas.openxmlformats.org/officeDocument/2006/relationships/notesMaster" Target="/ppt/notesMasters/notesMaster1.xml" Id="R5c28f022d5e64c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6f3734e1164ee6" /><Relationship Type="http://schemas.openxmlformats.org/officeDocument/2006/relationships/notesMaster" Target="/ppt/notesMasters/notesMaster1.xml" Id="Rd40b70bbbec945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d9da96dcbf47cd" /><Relationship Type="http://schemas.openxmlformats.org/officeDocument/2006/relationships/notesMaster" Target="/ppt/notesMasters/notesMaster1.xml" Id="Rf9544cd6da3a4d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73fc90d7464af5" /><Relationship Type="http://schemas.openxmlformats.org/officeDocument/2006/relationships/notesMaster" Target="/ppt/notesMasters/notesMaster1.xml" Id="Rfa5521a26bd34b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c9eeb240a34b5a" /><Relationship Type="http://schemas.openxmlformats.org/officeDocument/2006/relationships/notesMaster" Target="/ppt/notesMasters/notesMaster1.xml" Id="R5cff6a784b1c40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1508e0da1d436f" /><Relationship Type="http://schemas.openxmlformats.org/officeDocument/2006/relationships/notesMaster" Target="/ppt/notesMasters/notesMaster1.xml" Id="R8e3d472361d646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9c29a9dc644774" /><Relationship Type="http://schemas.openxmlformats.org/officeDocument/2006/relationships/notesMaster" Target="/ppt/notesMasters/notesMaster1.xml" Id="R1649aef2d9494a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c8e302e65b42b6" /><Relationship Type="http://schemas.openxmlformats.org/officeDocument/2006/relationships/notesMaster" Target="/ppt/notesMasters/notesMaster1.xml" Id="Rd5a13e4d737e45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5e7ba54f564086" /><Relationship Type="http://schemas.openxmlformats.org/officeDocument/2006/relationships/notesMaster" Target="/ppt/notesMasters/notesMaster1.xml" Id="Ra9d8063f8ebf44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c4d27d37544477" /><Relationship Type="http://schemas.openxmlformats.org/officeDocument/2006/relationships/notesMaster" Target="/ppt/notesMasters/notesMaster1.xml" Id="R82f4a3119d2643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6d0f75c4d84214" /><Relationship Type="http://schemas.openxmlformats.org/officeDocument/2006/relationships/notesMaster" Target="/ppt/notesMasters/notesMaster1.xml" Id="R3789a441b2f241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fa1951b9bc4dde" /><Relationship Type="http://schemas.openxmlformats.org/officeDocument/2006/relationships/notesMaster" Target="/ppt/notesMasters/notesMaster1.xml" Id="R6ab056c9833448c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b40e2a35124407" /><Relationship Type="http://schemas.openxmlformats.org/officeDocument/2006/relationships/notesMaster" Target="/ppt/notesMasters/notesMaster1.xml" Id="R75b17a25ccc04ab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1fd6265bdb4572" /><Relationship Type="http://schemas.openxmlformats.org/officeDocument/2006/relationships/notesMaster" Target="/ppt/notesMasters/notesMaster1.xml" Id="R4917706732da4c3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ef2bb6029794ab6" /><Relationship Type="http://schemas.openxmlformats.org/officeDocument/2006/relationships/notesMaster" Target="/ppt/notesMasters/notesMaster1.xml" Id="R78a6218c77e54a2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adbf41d90dd400e" /><Relationship Type="http://schemas.openxmlformats.org/officeDocument/2006/relationships/notesMaster" Target="/ppt/notesMasters/notesMaster1.xml" Id="R90da004a2b824f8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ba8730f57d4377" /><Relationship Type="http://schemas.openxmlformats.org/officeDocument/2006/relationships/notesMaster" Target="/ppt/notesMasters/notesMaster1.xml" Id="Redd7725cb14f486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d209104fdce4d6d" /><Relationship Type="http://schemas.openxmlformats.org/officeDocument/2006/relationships/notesMaster" Target="/ppt/notesMasters/notesMaster1.xml" Id="Rde02bc67417c41b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2e4e6282e2349ba" /><Relationship Type="http://schemas.openxmlformats.org/officeDocument/2006/relationships/notesMaster" Target="/ppt/notesMasters/notesMaster1.xml" Id="R058601c9a8784b3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e322b1e18cb4603" /><Relationship Type="http://schemas.openxmlformats.org/officeDocument/2006/relationships/notesMaster" Target="/ppt/notesMasters/notesMaster1.xml" Id="R4e1251aa510d48f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2fc7acd96094cdf" /><Relationship Type="http://schemas.openxmlformats.org/officeDocument/2006/relationships/notesMaster" Target="/ppt/notesMasters/notesMaster1.xml" Id="Ra778b61ebfda426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a191a3d41bb49e2" /><Relationship Type="http://schemas.openxmlformats.org/officeDocument/2006/relationships/notesMaster" Target="/ppt/notesMasters/notesMaster1.xml" Id="R6150dd8605b6488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9006488fe5b47ff" /><Relationship Type="http://schemas.openxmlformats.org/officeDocument/2006/relationships/notesMaster" Target="/ppt/notesMasters/notesMaster1.xml" Id="Rfd9e2946213748a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6c3963b3e664c56" /><Relationship Type="http://schemas.openxmlformats.org/officeDocument/2006/relationships/notesMaster" Target="/ppt/notesMasters/notesMaster1.xml" Id="Rd9b6961a8c99439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cae1ea388db4088" /><Relationship Type="http://schemas.openxmlformats.org/officeDocument/2006/relationships/notesMaster" Target="/ppt/notesMasters/notesMaster1.xml" Id="R9712cfed0b6246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発表時間の目安：0:00–0:25（25秒）</a:t>
            </a:r>
          </a:p>
          <a:p xmlns:a="http://schemas.openxmlformats.org/drawingml/2006/main">
            <a:r>
              <a:t/>
            </a:r>
          </a:p>
          <a:p xmlns:a="http://schemas.openxmlformats.org/drawingml/2006/main">
            <a:r>
              <a:t>発表メモ：</a:t>
            </a:r>
          </a:p>
          <a:p xmlns:a="http://schemas.openxmlformats.org/drawingml/2006/main">
            <a:r>
              <a:t>定義・分類と既存手法の比較</a:t>
            </a:r>
          </a:p>
          <a:p xmlns:a="http://schemas.openxmlformats.org/drawingml/2006/main">
            <a:r>
              <a:t/>
            </a:r>
          </a:p>
          <a:p xmlns:a="http://schemas.openxmlformats.org/drawingml/2006/main">
            <a:r>
              <a:t>補足・説明：</a:t>
            </a:r>
          </a:p>
          <a:p xmlns:a="http://schemas.openxmlformats.org/drawingml/2006/main">
            <a:r>
              <a:t>本報告では、数値の多変量回帰モデルを運用する際に、モデルが十分に学習していない可能性のある入力を検知する既存技術を整理する。S1・S3・S6を概念整理と比較の手掛かりとし、13・14を具体的な手法として読む。山原らの配水圧力推定の事例を適用先との橋渡しに用いる。出典：実習要求.docx、论文要总结内容.docx。</a:t>
            </a:r>
          </a:p>
          <a:p xmlns:a="http://schemas.openxmlformats.org/drawingml/2006/main">
            <a:r>
              <a:t/>
            </a:r>
          </a:p>
          <a:p xmlns:a="http://schemas.openxmlformats.org/drawingml/2006/main">
            <a:r>
              <a:t>出典：実習要求・読解項目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発表時間の目安：0:25–1:30（65秒）</a:t>
            </a:r>
          </a:p>
          <a:p xmlns:a="http://schemas.openxmlformats.org/drawingml/2006/main">
            <a:r>
              <a:t/>
            </a:r>
          </a:p>
          <a:p xmlns:a="http://schemas.openxmlformats.org/drawingml/2006/main">
            <a:r>
              <a:t>発表メモ：</a:t>
            </a:r>
          </a:p>
          <a:p xmlns:a="http://schemas.openxmlformats.org/drawingml/2006/main">
            <a:r>
              <a:t>末端圧力の推定。入力：時刻tの配水圧力・流量など。出力：配水管網の特定地点の圧力。。山原論文では、弁の開度なども使用。</a:t>
            </a:r>
          </a:p>
          <a:p xmlns:a="http://schemas.openxmlformats.org/drawingml/2006/main">
            <a:r>
              <a:t>処理後の濁度の予測。入力：原水濁度・薬品注入率など。出力：時刻t＋Δの処理後濁度。。具体的な変数・遅れ時間・入力窓長は未確定。</a:t>
            </a:r>
          </a:p>
          <a:p xmlns:a="http://schemas.openxmlformats.org/drawingml/2006/main">
            <a:r>
              <a:t/>
            </a:r>
          </a:p>
          <a:p xmlns:a="http://schemas.openxmlformats.org/drawingml/2006/main">
            <a:r>
              <a:t>補足・説明：</a:t>
            </a:r>
          </a:p>
          <a:p xmlns:a="http://schemas.openxmlformats.org/drawingml/2006/main">
            <a:r>
              <a:t>対象は2変数以上の数値入力を持つ回帰モデルである。入力はx_tだけの場合と、過去L時刻を含む場合の両方を想定する。分類モデルを対象外とする条件は、保護したい予測モデルの条件であり、検知器が正常／学習外の二値を出すことを禁止する意味ではない。水処理後濁度のモデルはユーザーの構想であり、山原論文の実証対象ではない。</a:t>
            </a:r>
          </a:p>
          <a:p xmlns:a="http://schemas.openxmlformats.org/drawingml/2006/main">
            <a:r>
              <a:t/>
            </a:r>
          </a:p>
          <a:p xmlns:a="http://schemas.openxmlformats.org/drawingml/2006/main">
            <a:r>
              <a:t>出典：実習要求、山原 §2、ユーザー提示のモデル構想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発表時間の目安：1:30–2:50（80秒）</a:t>
            </a:r>
          </a:p>
          <a:p xmlns:a="http://schemas.openxmlformats.org/drawingml/2006/main">
            <a:r>
              <a:t/>
            </a:r>
          </a:p>
          <a:p xmlns:a="http://schemas.openxmlformats.org/drawingml/2006/main">
            <a:r>
              <a:t>発表メモ：</a:t>
            </a:r>
          </a:p>
          <a:p xmlns:a="http://schemas.openxmlformats.org/drawingml/2006/main">
            <a:r>
              <a:t>① 分布・範囲の外。訓練時に観測した入力分布や範囲から外れる。。。例：未経験の高圧力・大流量。</a:t>
            </a:r>
          </a:p>
          <a:p xmlns:a="http://schemas.openxmlformats.org/drawingml/2006/main">
            <a:r>
              <a:t>② 学習データが疎。訓練データが少なく、十分に学習できていない可能性がある。。。例：まれな運転条件。</a:t>
            </a:r>
          </a:p>
          <a:p xmlns:a="http://schemas.openxmlformats.org/drawingml/2006/main">
            <a:r>
              <a:t>③ 未知の変数関係。各変数は範囲内でも、組合せや相関関係が訓練時と異なる。。。例：圧力と流量の関係が変化。</a:t>
            </a:r>
          </a:p>
          <a:p xmlns:a="http://schemas.openxmlformats.org/drawingml/2006/main">
            <a:r>
              <a:t/>
            </a:r>
          </a:p>
          <a:p xmlns:a="http://schemas.openxmlformats.org/drawingml/2006/main">
            <a:r>
              <a:t>補足・説明：</a:t>
            </a:r>
          </a:p>
          <a:p xmlns:a="http://schemas.openxmlformats.org/drawingml/2006/main">
            <a:r>
              <a:t>この3区分を本調査の作業定義として用いる。論文固有の異常分類と混同しない。②は訓練の支持が弱い領域に注目するが、データ数のみからモデルの誤差を確定することはできない。各例は実習場面を説明するための仮例であり、実データの観測結果ではない。</a:t>
            </a:r>
          </a:p>
          <a:p xmlns:a="http://schemas.openxmlformats.org/drawingml/2006/main">
            <a:r>
              <a:t/>
            </a:r>
          </a:p>
          <a:p xmlns:a="http://schemas.openxmlformats.org/drawingml/2006/main">
            <a:r>
              <a:t>出典：実習要求「本調査における学習外の考え方」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発表時間の目安：2:50–3:30（40秒）</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S1はレビュー的な整理を含むが、主要な貢献は比較実験である。S3とS6はサーベイとして用いる。山原論文の刊行年と発表先は提示されたスキャンから確定できない。13の年は提示PDFの書誌記載に従う。各ファイル：C:/Users/lxcfi/Desktop/S1.pdf、S3.pdf、S6.pdf、13.pdf、14.pdf、山原.pdf。</a:t>
            </a:r>
          </a:p>
          <a:p xmlns:a="http://schemas.openxmlformats.org/drawingml/2006/main">
            <a:r>
              <a:t/>
            </a:r>
          </a:p>
          <a:p xmlns:a="http://schemas.openxmlformats.org/drawingml/2006/main">
            <a:r>
              <a:t>出典：各論文の表題・要旨。正式な書誌情報は付録に記載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発表時間の目安：3:30–4:35（65秒）</a:t>
            </a:r>
          </a:p>
          <a:p xmlns:a="http://schemas.openxmlformats.org/drawingml/2006/main">
            <a:r>
              <a:t/>
            </a:r>
          </a:p>
          <a:p xmlns:a="http://schemas.openxmlformats.org/drawingml/2006/main">
            <a:r>
              <a:t>発表メモ：</a:t>
            </a:r>
          </a:p>
          <a:p xmlns:a="http://schemas.openxmlformats.org/drawingml/2006/main">
            <a:r>
              <a:t>異常、OOD、適用領域外、予測誤差の増大は同義ではない</a:t>
            </a:r>
          </a:p>
          <a:p xmlns:a="http://schemas.openxmlformats.org/drawingml/2006/main">
            <a:r>
              <a:t/>
            </a:r>
          </a:p>
          <a:p xmlns:a="http://schemas.openxmlformats.org/drawingml/2006/main">
            <a:r>
              <a:t>補足・説明：</a:t>
            </a:r>
          </a:p>
          <a:p xmlns:a="http://schemas.openxmlformats.org/drawingml/2006/main">
            <a:r>
              <a:t>用語の使い方は文献によって異なる。Noveltyについては14のキーワードと正常状態に基づく検知の説明を対応付けたものであり、全分野に共通する厳密な定義と主張しない。Data driftは運用中の分布変化として関連するが、今回の文献群だけから統一的な定義を確定していないため、独立した確定定義としては扱わない。新しい運転状態は学習外になり得るが、必ずしも故障ではない。</a:t>
            </a:r>
          </a:p>
          <a:p xmlns:a="http://schemas.openxmlformats.org/drawingml/2006/main">
            <a:r>
              <a:t/>
            </a:r>
          </a:p>
          <a:p xmlns:a="http://schemas.openxmlformats.org/drawingml/2006/main">
            <a:r>
              <a:t>出典：S1 §3、S3 §2、13 §1–2、14 §3、山原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発表時間の目安：4:35–5:40（65秒）</a:t>
            </a:r>
          </a:p>
          <a:p xmlns:a="http://schemas.openxmlformats.org/drawingml/2006/main">
            <a:r>
              <a:t/>
            </a:r>
          </a:p>
          <a:p xmlns:a="http://schemas.openxmlformats.org/drawingml/2006/main">
            <a:r>
              <a:t>発表メモ：</a:t>
            </a:r>
          </a:p>
          <a:p xmlns:a="http://schemas.openxmlformats.org/drawingml/2006/main">
            <a:r>
              <a:t>Covariate shift。P(X) が変化。P(Y｜X) は不変。。入力の分布から、変化の手掛かりを得られる。</a:t>
            </a:r>
          </a:p>
          <a:p xmlns:a="http://schemas.openxmlformats.org/drawingml/2006/main">
            <a:r>
              <a:t>Concept / conditional shift。P(Y｜X) が変化。。入力分布が不変の場合、。入力だけに検知信号が現れない。</a:t>
            </a:r>
          </a:p>
          <a:p xmlns:a="http://schemas.openxmlformats.org/drawingml/2006/main">
            <a:r>
              <a:t/>
            </a:r>
          </a:p>
          <a:p xmlns:a="http://schemas.openxmlformats.org/drawingml/2006/main">
            <a:r>
              <a:t>補足・説明：</a:t>
            </a:r>
          </a:p>
          <a:p xmlns:a="http://schemas.openxmlformats.org/drawingml/2006/main">
            <a:r>
              <a:t>13はP*(X,Y)≠P(X,Y)を広義のOODとする。一方、運用時に新しい真の出力を観測しない入力検知器には限界がある。同じ圧力・流量でも設備状態の変化で末端圧力が変わるという例は、本調査への対応付けとして提示する。真の出力が後で得られる場合には、入力検知に加えて予測誤差の監視を検討できる。</a:t>
            </a:r>
          </a:p>
          <a:p xmlns:a="http://schemas.openxmlformats.org/drawingml/2006/main">
            <a:r>
              <a:t/>
            </a:r>
          </a:p>
          <a:p xmlns:a="http://schemas.openxmlformats.org/drawingml/2006/main">
            <a:r>
              <a:t>出典：13 §1、§2.1、§7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発表時間の目安：5:40–6:55（75秒）</a:t>
            </a:r>
          </a:p>
          <a:p xmlns:a="http://schemas.openxmlformats.org/drawingml/2006/main">
            <a:r>
              <a:t/>
            </a:r>
          </a:p>
          <a:p xmlns:a="http://schemas.openxmlformats.org/drawingml/2006/main">
            <a:r>
              <a:t>発表メモ：</a:t>
            </a:r>
          </a:p>
          <a:p xmlns:a="http://schemas.openxmlformats.org/drawingml/2006/main">
            <a:r>
              <a:t>分類名を置き換えるだけでは、各論文の違いを表現できない</a:t>
            </a:r>
          </a:p>
          <a:p xmlns:a="http://schemas.openxmlformats.org/drawingml/2006/main">
            <a:r>
              <a:t/>
            </a:r>
          </a:p>
          <a:p xmlns:a="http://schemas.openxmlformats.org/drawingml/2006/main">
            <a:r>
              <a:t>補足・説明：</a:t>
            </a:r>
          </a:p>
          <a:p xmlns:a="http://schemas.openxmlformats.org/drawingml/2006/main">
            <a:r>
              <a:t>S1のContextualは特定の文脈で異常になる点を指す。S3のSubsequenceは連続した点の共同挙動に注目する。S3のOutlier time seriesには、多変量時系列の中で他と異なる挙動を示す変数系列の例がある。S6のIntra-metricは点単位のglobal/localと、shapelet/trend/cycleに分かれる。Inter-metricはglobal、local、temporal-localを説明している。</a:t>
            </a:r>
          </a:p>
          <a:p xmlns:a="http://schemas.openxmlformats.org/drawingml/2006/main">
            <a:r>
              <a:t/>
            </a:r>
          </a:p>
          <a:p xmlns:a="http://schemas.openxmlformats.org/drawingml/2006/main">
            <a:r>
              <a:t>出典：S1 §3.2、S3 §2.2、S6 §2.2。図は提供PDFの原図を引用。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発表時間の目安：6:55–7:45（50秒）</a:t>
            </a:r>
          </a:p>
          <a:p xmlns:a="http://schemas.openxmlformats.org/drawingml/2006/main">
            <a:r>
              <a:t/>
            </a:r>
          </a:p>
          <a:p xmlns:a="http://schemas.openxmlformats.org/drawingml/2006/main">
            <a:r>
              <a:t>発表メモ：</a:t>
            </a:r>
          </a:p>
          <a:p xmlns:a="http://schemas.openxmlformats.org/drawingml/2006/main">
            <a:r>
              <a:t>1時刻でも評価できる例。範囲を超える値。。複数変数の珍しい組合せ。。訓練サンプルから離れた入力</a:t>
            </a:r>
          </a:p>
          <a:p xmlns:a="http://schemas.openxmlformats.org/drawingml/2006/main">
            <a:r>
              <a:t>履歴が必要になる例。センサーの長時間の固定。。周期・傾向の変化。。複数時刻にわたる関係の崩れ</a:t>
            </a:r>
          </a:p>
          <a:p xmlns:a="http://schemas.openxmlformats.org/drawingml/2006/main">
            <a:r>
              <a:t/>
            </a:r>
          </a:p>
          <a:p xmlns:a="http://schemas.openxmlformats.org/drawingml/2006/main">
            <a:r>
              <a:t>補足・説明：</a:t>
            </a:r>
          </a:p>
          <a:p xmlns:a="http://schemas.openxmlformats.org/drawingml/2006/main">
            <a:r>
              <a:t>例は説明用である。単一時刻で点の珍しさは評価できても、固定状態の長さや周期の変化は観測できない。低密度領域が必ずPoint/Contextual/Collectiveのいずれか一つに対応するわけではない。検知器に履歴を持たせることは、回帰モデルの入力仕様とは別に設計できる。</a:t>
            </a:r>
          </a:p>
          <a:p xmlns:a="http://schemas.openxmlformats.org/drawingml/2006/main">
            <a:r>
              <a:t/>
            </a:r>
          </a:p>
          <a:p xmlns:a="http://schemas.openxmlformats.org/drawingml/2006/main">
            <a:r>
              <a:t>出典：実習要求、S1・S3・S6を基に本調査で整理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発表時間の目安：7:45–8:40（55秒）</a:t>
            </a:r>
          </a:p>
          <a:p xmlns:a="http://schemas.openxmlformats.org/drawingml/2006/main">
            <a:r>
              <a:t/>
            </a:r>
          </a:p>
          <a:p xmlns:a="http://schemas.openxmlformats.org/drawingml/2006/main">
            <a:r>
              <a:t>発表メモ：</a:t>
            </a:r>
          </a:p>
          <a:p xmlns:a="http://schemas.openxmlformats.org/drawingml/2006/main">
            <a:r>
              <a:t>S1のDNNは機械学習の一部でもあり、分類境界は完全には明確でない</a:t>
            </a:r>
          </a:p>
          <a:p xmlns:a="http://schemas.openxmlformats.org/drawingml/2006/main">
            <a:r>
              <a:t/>
            </a:r>
          </a:p>
          <a:p xmlns:a="http://schemas.openxmlformats.org/drawingml/2006/main">
            <a:r>
              <a:t>補足・説明：</a:t>
            </a:r>
          </a:p>
          <a:p xmlns:a="http://schemas.openxmlformats.org/drawingml/2006/main">
            <a:r>
              <a:t>S3のNature of the Methodは単変量の検知手法か多変量の検知手法かという軸である。多変量データを変数ごとに独立処理する方式もある。S6の学習形態の呼称は原文に依存するため、比較表では呼称だけでなく、正常Xのみか、異常ラベルを使うか、回帰Yを使うかを具体的に記載する。</a:t>
            </a:r>
          </a:p>
          <a:p xmlns:a="http://schemas.openxmlformats.org/drawingml/2006/main">
            <a:r>
              <a:t/>
            </a:r>
          </a:p>
          <a:p xmlns:a="http://schemas.openxmlformats.org/drawingml/2006/main">
            <a:r>
              <a:t>出典：S1 §4.1、S3 §2–3、S6 §3・Table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発表時間の目安：8:40–9:20（40秒）</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この表は原論文の一つの分類をそのまま転記したものではなく、実習要求に合わせた整理である。OutProは距離を使うが、変数と近傍の選定に教師あり森林を用いる。学習形態というラベルだけでは必要情報が伝わらないため、訓練時と運用時を分ける。</a:t>
            </a:r>
          </a:p>
          <a:p xmlns:a="http://schemas.openxmlformats.org/drawingml/2006/main">
            <a:r>
              <a:t/>
            </a:r>
          </a:p>
          <a:p xmlns:a="http://schemas.openxmlformats.org/drawingml/2006/main">
            <a:r>
              <a:t>出典：文献群を基にした本調査の整理。各行は排他的な分類ではない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発表時間の目安：9:20–10:25（65秒）</a:t>
            </a:r>
          </a:p>
          <a:p xmlns:a="http://schemas.openxmlformats.org/drawingml/2006/main">
            <a:r>
              <a:t/>
            </a:r>
          </a:p>
          <a:p xmlns:a="http://schemas.openxmlformats.org/drawingml/2006/main">
            <a:r>
              <a:t>発表メモ：</a:t>
            </a:r>
          </a:p>
          <a:p xmlns:a="http://schemas.openxmlformats.org/drawingml/2006/main">
            <a:r>
              <a:t>比較実験。16手法を5データセットで比較。。SWaT / WADI / SMD / SMAP / MSL。。指標：F1とAverage Precision</a:t>
            </a:r>
          </a:p>
          <a:p xmlns:a="http://schemas.openxmlformats.org/drawingml/2006/main">
            <a:r>
              <a:t>結果を読む際の条件。全データで一貫して優れる手法群はない。。。F1は多数の閾値を走査した最大値。。窓に基づく検知判定も採用する。</a:t>
            </a:r>
          </a:p>
          <a:p xmlns:a="http://schemas.openxmlformats.org/drawingml/2006/main">
            <a:r>
              <a:t/>
            </a:r>
          </a:p>
          <a:p xmlns:a="http://schemas.openxmlformats.org/drawingml/2006/main">
            <a:r>
              <a:t>補足・説明：</a:t>
            </a:r>
          </a:p>
          <a:p xmlns:a="http://schemas.openxmlformats.org/drawingml/2006/main">
            <a:r>
              <a:t>S1は0から1に正規化したスコアに対し1000個の閾値を試し最高F1を報告する。窓を使わない手法にも近傍時刻内の検知を認める評価がある。したがって、部署で固定した閾値による逐点評価と数値を直接比較できない。DNNの利点が見られる条件はあるが、全般的な優越と一般化しない。出典PDFのpp.19–31付近、§5–6。</a:t>
            </a:r>
          </a:p>
          <a:p xmlns:a="http://schemas.openxmlformats.org/drawingml/2006/main">
            <a:r>
              <a:t/>
            </a:r>
          </a:p>
          <a:p xmlns:a="http://schemas.openxmlformats.org/drawingml/2006/main">
            <a:r>
              <a:t>出典：S1 §5–6、Table 1–2。図は提供PDFの原図を引用。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発表時間の目安：10:25–11:40（75秒）</a:t>
            </a:r>
          </a:p>
          <a:p xmlns:a="http://schemas.openxmlformats.org/drawingml/2006/main">
            <a:r>
              <a:t/>
            </a:r>
          </a:p>
          <a:p xmlns:a="http://schemas.openxmlformats.org/drawingml/2006/main">
            <a:r>
              <a:t>発表メモ：</a:t>
            </a:r>
          </a:p>
          <a:p xmlns:a="http://schemas.openxmlformats.org/drawingml/2006/main">
            <a:r>
              <a:t>比較は3系統・5方式。距離にはユークリッド距離とマハラノビス距離を使用。</a:t>
            </a:r>
          </a:p>
          <a:p xmlns:a="http://schemas.openxmlformats.org/drawingml/2006/main">
            <a:r>
              <a:t>1年間の時間単位データから、14 / 28 / 91 / 182日分の訓練条件を比較。</a:t>
            </a:r>
          </a:p>
          <a:p xmlns:a="http://schemas.openxmlformats.org/drawingml/2006/main">
            <a:r>
              <a:t/>
            </a:r>
          </a:p>
          <a:p xmlns:a="http://schemas.openxmlformats.org/drawingml/2006/main">
            <a:r>
              <a:t>補足・説明：</a:t>
            </a:r>
          </a:p>
          <a:p xmlns:a="http://schemas.openxmlformats.org/drawingml/2006/main">
            <a:r>
              <a:t>原図の手書き記入も提供資料の一部として残っている。密度に基づく方法はk近傍の平均距離を用い、本文ではk=5。到平均距離の閾値は訓練中の最大距離。近傍方式では訓練各点の近傍平均距離の最大値を使う。絶対誤差が0.022 MPaより大きい点をAD外と仮定した評価も実施している。これは真の分布外ラベルではなく、推定誤差に基づく代理ラベル。総合的にはkNN_Mahを支持するが、当該データ・基準下での結論である。</a:t>
            </a:r>
          </a:p>
          <a:p xmlns:a="http://schemas.openxmlformats.org/drawingml/2006/main">
            <a:r>
              <a:t/>
            </a:r>
          </a:p>
          <a:p xmlns:a="http://schemas.openxmlformats.org/drawingml/2006/main">
            <a:r>
              <a:t>出典：山原 §3–5、Fig. 3。図は提供されたスキャンから引用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発表時間の目安：11:40–13:00（80秒）</a:t>
            </a:r>
          </a:p>
          <a:p xmlns:a="http://schemas.openxmlformats.org/drawingml/2006/main">
            <a:r>
              <a:t/>
            </a:r>
          </a:p>
          <a:p xmlns:a="http://schemas.openxmlformats.org/drawingml/2006/main">
            <a:r>
              <a:t>発表メモ：</a:t>
            </a:r>
          </a:p>
          <a:p xmlns:a="http://schemas.openxmlformats.org/drawingml/2006/main">
            <a:r>
              <a:t>訓練とスコア。正常な多変量入力を圧縮し、元の入力を再構成する。。。s(x) = ‖x − x̂‖₂。。正常時の関係を再現しにくい入力ほど、スコアが大きくなる。</a:t>
            </a:r>
          </a:p>
          <a:p xmlns:a="http://schemas.openxmlformats.org/drawingml/2006/main">
            <a:r>
              <a:t>対象回帰モデルとの関係。訓練には正常入力Xを使用。。運用時に真の回帰出力Yは不要。。。原文は各時刻のサンプルを独立に扱い、時間順序を使わない。</a:t>
            </a:r>
          </a:p>
          <a:p xmlns:a="http://schemas.openxmlformats.org/drawingml/2006/main">
            <a:r>
              <a:t/>
            </a:r>
          </a:p>
          <a:p xmlns:a="http://schemas.openxmlformats.org/drawingml/2006/main">
            <a:r>
              <a:t>補足・説明：</a:t>
            </a:r>
          </a:p>
          <a:p xmlns:a="http://schemas.openxmlformats.org/drawingml/2006/main">
            <a:r>
              <a:t>オートエンコーダの出力は入力の再構成値であり、圧力や処理後濁度の回帰出力とは異なる。圧力回帰器や濁度回帰器の前段・並列で使用できるという説明は、本調査の適用可能性に関する判断。原論文はこの回帰モデルの予測誤差抑制を直接実証していない。ノイズ除去AEは入力の一部を0にして元のデータを再構成する訓練を行う。原文の将来課題として過去サンプルを含める拡張が述べられる。</a:t>
            </a:r>
          </a:p>
          <a:p xmlns:a="http://schemas.openxmlformats.org/drawingml/2006/main">
            <a:r>
              <a:t/>
            </a:r>
          </a:p>
          <a:p xmlns:a="http://schemas.openxmlformats.org/drawingml/2006/main">
            <a:r>
              <a:t>出典：14 §3、§6、Eq.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発表時間の目安：13:00–14:00（60秒）</a:t>
            </a:r>
          </a:p>
          <a:p xmlns:a="http://schemas.openxmlformats.org/drawingml/2006/main">
            <a:r>
              <a:t/>
            </a:r>
          </a:p>
          <a:p xmlns:a="http://schemas.openxmlformats.org/drawingml/2006/main">
            <a:r>
              <a:t>発表メモ：</a:t>
            </a:r>
          </a:p>
          <a:p xmlns:a="http://schemas.openxmlformats.org/drawingml/2006/main">
            <a:r>
              <a:t>Satellite-Aでは改善したが、Satellite-Bでは低下した</a:t>
            </a:r>
          </a:p>
          <a:p xmlns:a="http://schemas.openxmlformats.org/drawingml/2006/main">
            <a:r>
              <a:t/>
            </a:r>
          </a:p>
          <a:p xmlns:a="http://schemas.openxmlformats.org/drawingml/2006/main">
            <a:r>
              <a:t>補足・説明：</a:t>
            </a:r>
          </a:p>
          <a:p xmlns:a="http://schemas.openxmlformats.org/drawingml/2006/main">
            <a:r>
              <a:t>数値は原論文Table 1に忠実に記載。本文はAUCと記載しており、ここではAUC-PRと読み替えない。Lorenzは1000点のうち700点を訓練、300点をテストに使用。潜在変数z3の850–1000番を逆順にして合成異常を作る。原論文の評価は標準的な正常／異常の分離を調べており、実習定義の3条件を網羅する保証はない。閾値、潜在次元、正則化等は実習データで検討が必要。</a:t>
            </a:r>
          </a:p>
          <a:p xmlns:a="http://schemas.openxmlformats.org/drawingml/2006/main">
            <a:r>
              <a:t/>
            </a:r>
          </a:p>
          <a:p xmlns:a="http://schemas.openxmlformats.org/drawingml/2006/main">
            <a:r>
              <a:t>出典：14 §4–5、Table 1。対象：25次元合成、17次元・106次元の衛星データ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発表時間の目安：14:00–15:25（85秒）</a:t>
            </a:r>
          </a:p>
          <a:p xmlns:a="http://schemas.openxmlformats.org/drawingml/2006/main">
            <a:r>
              <a:t/>
            </a:r>
          </a:p>
          <a:p xmlns:a="http://schemas.openxmlformats.org/drawingml/2006/main">
            <a:r>
              <a:t>発表メモ：</a:t>
            </a:r>
          </a:p>
          <a:p xmlns:a="http://schemas.openxmlformats.org/drawingml/2006/main">
            <a:r>
              <a:t>訓練時。1　IDデータ(X, Y)で森林を学習。。2　VarProで信号変数Sと重みを選択。。回帰の目的変数を利用して、比較すべき入力空間を定める。</a:t>
            </a:r>
          </a:p>
          <a:p xmlns:a="http://schemas.openxmlformats.org/drawingml/2006/main">
            <a:r>
              <a:t>運用時。3　テスト点を含むルールを取得。。4　制約を緩和した領域から近傍を選択。。5　S上で近傍との距離を計算</a:t>
            </a:r>
          </a:p>
          <a:p xmlns:a="http://schemas.openxmlformats.org/drawingml/2006/main">
            <a:r>
              <a:t/>
            </a:r>
          </a:p>
          <a:p xmlns:a="http://schemas.openxmlformats.org/drawingml/2006/main">
            <a:r>
              <a:t>補足・説明：</a:t>
            </a:r>
          </a:p>
          <a:p xmlns:a="http://schemas.openxmlformats.org/drawingml/2006/main">
            <a:r>
              <a:t>最終スコアは通常d(x)=Kの逆数×近傍内のD_S(x,z)の和。OPTICS版はreachability scoreを直接用いる例外。VarProは分割頻度ではなく、変数制約の解放による目的変数の挙動の変化を評価する。近傍は通常のユークリッドkNNそのものではない。各訓練点の出現回数nと、変数間の出現分布のGini impurity GからW=nGを作り上位K点を選ぶ。</a:t>
            </a:r>
          </a:p>
          <a:p xmlns:a="http://schemas.openxmlformats.org/drawingml/2006/main">
            <a:r>
              <a:t/>
            </a:r>
          </a:p>
          <a:p xmlns:a="http://schemas.openxmlformats.org/drawingml/2006/main">
            <a:r>
              <a:t>出典：13 §3、Algorithm 1。OutPro = OOD using variable priority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発表時間の目安：15:25–16:40（75秒）</a:t>
            </a:r>
          </a:p>
          <a:p xmlns:a="http://schemas.openxmlformats.org/drawingml/2006/main">
            <a:r>
              <a:t/>
            </a:r>
          </a:p>
          <a:p xmlns:a="http://schemas.openxmlformats.org/drawingml/2006/main">
            <a:r>
              <a:t>発表メモ：</a:t>
            </a:r>
          </a:p>
          <a:p xmlns:a="http://schemas.openxmlformats.org/drawingml/2006/main">
            <a:r>
              <a:t>評価と結果。61個のPMLB回帰データセット。80% / 20%でランダム分割。AUC-PR、100回の反復評価。。jointの変化ではOutProが上位。。warpでは従来型検知器が優位な場合もある。</a:t>
            </a:r>
          </a:p>
          <a:p xmlns:a="http://schemas.openxmlformats.org/drawingml/2006/main">
            <a:r>
              <a:t>実習への適用条件。教師あり森林と訓練時のYが必要。。元の実験は時系列の検証ではない。。。別の回帰器に併設する場合、その回帰器に重要な変数を捉えるか確認する。</a:t>
            </a:r>
          </a:p>
          <a:p xmlns:a="http://schemas.openxmlformats.org/drawingml/2006/main">
            <a:r>
              <a:t/>
            </a:r>
          </a:p>
          <a:p xmlns:a="http://schemas.openxmlformats.org/drawingml/2006/main">
            <a:r>
              <a:t>補足・説明：</a:t>
            </a:r>
          </a:p>
          <a:p xmlns:a="http://schemas.openxmlformats.org/drawingml/2006/main">
            <a:r>
              <a:t>PMLBは連続目的変数かつ10変数以上の61データセットで、n=47–1066、d=10–124。合成OODは予測に関連する上位10%の変数に適用される。warpは周辺分布の尾部、jointは依存構造、supportは観測範囲の外への変化を意図する。jointについて周辺分布そのものが厳密に不変とまでは主張しない。入力2–3変数で変数選択の利点がどれほどあるかも未確認。純粋なconcept shiftの限界は第6頁参照。</a:t>
            </a:r>
          </a:p>
          <a:p xmlns:a="http://schemas.openxmlformats.org/drawingml/2006/main">
            <a:r>
              <a:t/>
            </a:r>
          </a:p>
          <a:p xmlns:a="http://schemas.openxmlformats.org/drawingml/2006/main">
            <a:r>
              <a:t>出典：13 §5.2–5.3、§7。図は提供PDFの原図を引用。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発表時間の目安：16:40–17:40（60秒）</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山原のADを構成する段階では主として入力Xを用いるが、誤差による評価には真の出力Yが必要である。AEの運用には学習済み検知器が必要であり、入力だけで計算できるとは「何も学習済みモデルを持たない」という意味ではない。OutProも運用時には新しいYは不要だが、X,Yで学習した森林と参照サンプルを必要とする。</a:t>
            </a:r>
          </a:p>
          <a:p xmlns:a="http://schemas.openxmlformats.org/drawingml/2006/main">
            <a:r>
              <a:t/>
            </a:r>
          </a:p>
          <a:p xmlns:a="http://schemas.openxmlformats.org/drawingml/2006/main">
            <a:r>
              <a:t>出典：山原 §3–5、14 §3–6、13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発表時間の目安：17:40–18:25（45秒）</a:t>
            </a:r>
          </a:p>
          <a:p xmlns:a="http://schemas.openxmlformats.org/drawingml/2006/main">
            <a:r>
              <a:t/>
            </a:r>
          </a:p>
          <a:p xmlns:a="http://schemas.openxmlformats.org/drawingml/2006/main">
            <a:r>
              <a:t>発表メモ：</a:t>
            </a:r>
          </a:p>
          <a:p xmlns:a="http://schemas.openxmlformats.org/drawingml/2006/main">
            <a:r>
              <a:t>故障・攻撃、人工OOD、予測誤差超過のラベルは分けて扱う</a:t>
            </a:r>
          </a:p>
          <a:p xmlns:a="http://schemas.openxmlformats.org/drawingml/2006/main">
            <a:r>
              <a:t/>
            </a:r>
          </a:p>
          <a:p xmlns:a="http://schemas.openxmlformats.org/drawingml/2006/main">
            <a:r>
              <a:t>補足・説明：</a:t>
            </a:r>
          </a:p>
          <a:p xmlns:a="http://schemas.openxmlformats.org/drawingml/2006/main">
            <a:r>
              <a:t>S1ではSWaTとWADIを現実に近い水系ベンチマークとして扱う。ただし対象の連続回帰出力がそのまま含まれるとは限らない。データの公開、利用条件、ライセンス、時刻粒度、バージョン、ダウンロード可否は公式配布元で別途確認が必要。今回は提供論文を基に候補を整理した段階であり、現時点の配布条件まで確認済みとはしない。</a:t>
            </a:r>
          </a:p>
          <a:p xmlns:a="http://schemas.openxmlformats.org/drawingml/2006/main">
            <a:r>
              <a:t/>
            </a:r>
          </a:p>
          <a:p xmlns:a="http://schemas.openxmlformats.org/drawingml/2006/main">
            <a:r>
              <a:t>出典：S1 Table 1、S6 §5、13 §5、14 §4。公開条件の確認状況は付録参照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発表時間の目安：18:25–19:25（60秒）</a:t>
            </a:r>
          </a:p>
          <a:p xmlns:a="http://schemas.openxmlformats.org/drawingml/2006/main">
            <a:r>
              <a:t/>
            </a:r>
          </a:p>
          <a:p xmlns:a="http://schemas.openxmlformats.org/drawingml/2006/main">
            <a:r>
              <a:t>発表メモ：</a:t>
            </a:r>
          </a:p>
          <a:p xmlns:a="http://schemas.openxmlformats.org/drawingml/2006/main">
            <a:r>
              <a:t>データと閾値。時間順に訓練・校正・テストを分離。。範囲外・低密度・未知の関係を区別。。校正データで閾値を固定し、テストで検知率と誤検知率を評価</a:t>
            </a:r>
          </a:p>
          <a:p xmlns:a="http://schemas.openxmlformats.org/drawingml/2006/main">
            <a:r>
              <a:t>運用上の有用性。学習外判定と回帰誤差の関係。。見逃した大誤差と、不要な警報の数。。推論時間・履歴長・検知遅延</a:t>
            </a:r>
          </a:p>
          <a:p xmlns:a="http://schemas.openxmlformats.org/drawingml/2006/main">
            <a:r>
              <a:t/>
            </a:r>
          </a:p>
          <a:p xmlns:a="http://schemas.openxmlformats.org/drawingml/2006/main">
            <a:r>
              <a:t>補足・説明：</a:t>
            </a:r>
          </a:p>
          <a:p xmlns:a="http://schemas.openxmlformats.org/drawingml/2006/main">
            <a:r>
              <a:t>閾値は独立した正常校正期間の上位分位などを候補とし、運用上許容できる誤検知率に合わせる。時系列には自己相関や季節性があるため、IIDを仮定した保証をそのまま主張しない。窓型入力では訓練とテストの窓重複にも注意する。入力の合成変化に対する評価と、実測Yを用いた誤差リスク評価は区別する。合成入力だけでは正しいYが得られない場合がある。</a:t>
            </a:r>
          </a:p>
          <a:p xmlns:a="http://schemas.openxmlformats.org/drawingml/2006/main">
            <a:r>
              <a:t/>
            </a:r>
          </a:p>
          <a:p xmlns:a="http://schemas.openxmlformats.org/drawingml/2006/main">
            <a:r>
              <a:t>出典：実習要求、山原の評価観点を基にした提案。実施結果ではない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発表時間の目安：19:25–20:00（35秒）</a:t>
            </a:r>
          </a:p>
          <a:p xmlns:a="http://schemas.openxmlformats.org/drawingml/2006/main">
            <a:r>
              <a:t/>
            </a:r>
          </a:p>
          <a:p xmlns:a="http://schemas.openxmlformats.org/drawingml/2006/main">
            <a:r>
              <a:t>発表メモ：</a:t>
            </a:r>
          </a:p>
          <a:p xmlns:a="http://schemas.openxmlformats.org/drawingml/2006/main">
            <a:r>
              <a:t>文献から得られたこと。1時刻の多変量入力でも検知は可能。。。範囲・変数関係・予測タスクとの関係を分けて比較できる。。。異常検知の評価だけでは、回帰の安全性を保証できない。</a:t>
            </a:r>
          </a:p>
          <a:p xmlns:a="http://schemas.openxmlformats.org/drawingml/2006/main">
            <a:r>
              <a:t>次に確認すること。実際の入力変数・回帰器・履歴の仕様。。閾値と評価ラベルの統一。。予測不確かさ・時間的分布変化の原論文を追加調査</a:t>
            </a:r>
          </a:p>
          <a:p xmlns:a="http://schemas.openxmlformats.org/drawingml/2006/main">
            <a:r>
              <a:t/>
            </a:r>
          </a:p>
          <a:p xmlns:a="http://schemas.openxmlformats.org/drawingml/2006/main">
            <a:r>
              <a:t>補足・説明：</a:t>
            </a:r>
          </a:p>
          <a:p xmlns:a="http://schemas.openxmlformats.org/drawingml/2006/main">
            <a:r>
              <a:t>本報告の主張は候補の整理であり、特定の手法が最適と決定したものではない。とくに3つの学習外条件を満たす評価データの構成、誤検知と見逃しの許容度、運用時にYが得られるタイミングを帯同指導者と確認したい。</a:t>
            </a:r>
          </a:p>
          <a:p xmlns:a="http://schemas.openxmlformats.org/drawingml/2006/main">
            <a:r>
              <a:t/>
            </a:r>
          </a:p>
          <a:p xmlns:a="http://schemas.openxmlformats.org/drawingml/2006/main">
            <a:r>
              <a:t>出典：本調査の整理。最適手法の決定や実データでの検証は今後の課題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発表時間の目安：質疑応答用・20分の本編には含めない</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S3のglobal/localは参照する文脈の範囲にもとづく区別。S6の学習形態では用語の説明に文献依存の差があるため、本報告では必要なデータとラベルを具体的に記載する。分類は本来異なる軸を含み、単一の木に無理に統合しない。</a:t>
            </a:r>
          </a:p>
          <a:p xmlns:a="http://schemas.openxmlformats.org/drawingml/2006/main">
            <a:r>
              <a:t/>
            </a:r>
          </a:p>
          <a:p xmlns:a="http://schemas.openxmlformats.org/drawingml/2006/main">
            <a:r>
              <a:t>出典：S1 §3–4、S3 §2–3、S6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発表時間の目安：質疑応答用・20分の本編には含めない</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臨床例では95、99パーセンタイルを用いた議論があるが、その選択は当該例に依存する。一般的な校正保証は示していない。conformal calibrationは今後の課題として記載される。最低必要サンプル数や実機でのリアルタイム性を確定する根拠は今回の読解から得られていない。</a:t>
            </a:r>
          </a:p>
          <a:p xmlns:a="http://schemas.openxmlformats.org/drawingml/2006/main">
            <a:r>
              <a:t/>
            </a:r>
          </a:p>
          <a:p xmlns:a="http://schemas.openxmlformats.org/drawingml/2006/main">
            <a:r>
              <a:t>出典：13 §3、§5、§6、§7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発表時間の目安：質疑応答用・20分の本編には含めない</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原文ではKernel PCAに対する計算上の利点を議論し、実験全体の所要時間にも言及する。ただし、その結果を現在の配水モデルの1件当たりレイテンシへ読み替えない。Satelliteデータの公開条件や明示的なアノテーション手順は本論文のみから十分に確定できない。</a:t>
            </a:r>
          </a:p>
          <a:p xmlns:a="http://schemas.openxmlformats.org/drawingml/2006/main">
            <a:r>
              <a:t/>
            </a:r>
          </a:p>
          <a:p xmlns:a="http://schemas.openxmlformats.org/drawingml/2006/main">
            <a:r>
              <a:t>出典：14 §3–6、Table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発表時間の目安：質疑応答用・20分の本編には含めない</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S1 Table 1の異常比率はSWaT 11.98%、WADI 5.99%。S1には配布先としてSUTD iTrustのデータセットページ、SMDにはOmniAnomalyリポジトリ、SMAP/MSLにはTelemanom配布データの参照がある。本報告ではリンクの現時点の有効性・利用条件は未確認。PMLBはhttps://github.com/EpistasisLab/pmlb が文献で示されるプロジェクト名に対応するが、本報告では実際の取得を行っていない。時間窓長はデータ固有の属性ではなく、各検知器の前処理・入力仕様として別途記録する。</a:t>
            </a:r>
          </a:p>
          <a:p xmlns:a="http://schemas.openxmlformats.org/drawingml/2006/main">
            <a:r>
              <a:t/>
            </a:r>
          </a:p>
          <a:p xmlns:a="http://schemas.openxmlformats.org/drawingml/2006/main">
            <a:r>
              <a:t>出典：S1 Table 1、13 §5.3、14 §4。数値は各論文の使用版に限る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発表時間の目安：質疑応答用・20分の本編には含めない</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S1の提供版は2022年5月31日付の著者原稿で、Pattern Recognitionに提出された原稿として表記され、Version of Recordへのリンクがある。S3は2021年4月刊行の表示。書誌情報は提供された各PDFに基づく。</a:t>
            </a:r>
          </a:p>
          <a:p xmlns:a="http://schemas.openxmlformats.org/drawingml/2006/main">
            <a:r>
              <a:t/>
            </a:r>
          </a:p>
          <a:p xmlns:a="http://schemas.openxmlformats.org/drawingml/2006/main">
            <a:r>
              <a:t>出典：ユーザー提供PDFの書誌情報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発表時間の目安：質疑応答用・20分の本編には含めない</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13、14、山原のファイル番号はユーザーのファイル名に対応し、本報告内の参照記号である。提示された資料に含まれる記述と、本報告で提案した適用判断・評価案を区別している。</a:t>
            </a:r>
          </a:p>
          <a:p xmlns:a="http://schemas.openxmlformats.org/drawingml/2006/main">
            <a:r>
              <a:t/>
            </a:r>
          </a:p>
          <a:p xmlns:a="http://schemas.openxmlformats.org/drawingml/2006/main">
            <a:r>
              <a:t>出典：ユーザー提供PDF・DOCX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f694dceb7c40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d94fcf5f6148ef" /><Relationship Type="http://schemas.openxmlformats.org/officeDocument/2006/relationships/slideLayout" Target="/ppt/slideLayouts/slideLayout1.xml" Id="R0b76f181c32044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76f181c32044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9ef39d76634510" /><Relationship Type="http://schemas.openxmlformats.org/officeDocument/2006/relationships/image" Target="/ppt/media/image.png" Id="R886d0129b6374774" /><Relationship Type="http://schemas.openxmlformats.org/officeDocument/2006/relationships/notesSlide" Target="/ppt/notesSlides/notesSlide1.xml" Id="R6e7e643cd53341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3b2a687b2144a8" /><Relationship Type="http://schemas.openxmlformats.org/officeDocument/2006/relationships/image" Target="/ppt/media/image2.png" Id="R703022010df14711" /><Relationship Type="http://schemas.openxmlformats.org/officeDocument/2006/relationships/notesSlide" Target="/ppt/notesSlides/notesSlide2.xml" Id="Ra12b7161387b4f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e62b87b8c1465e" /><Relationship Type="http://schemas.openxmlformats.org/officeDocument/2006/relationships/image" Target="/ppt/media/image3.png" Id="Re3341b8e9e9e47a8" /><Relationship Type="http://schemas.openxmlformats.org/officeDocument/2006/relationships/notesSlide" Target="/ppt/notesSlides/notesSlide3.xml" Id="R3f8564e30b8e4e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c2a0ca3e74a4a6e" /><Relationship Type="http://schemas.openxmlformats.org/officeDocument/2006/relationships/notesSlide" Target="/ppt/notesSlides/notesSlide4.xml" Id="R3e7629812e5b48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07a300c40c4ea8" /><Relationship Type="http://schemas.openxmlformats.org/officeDocument/2006/relationships/notesSlide" Target="/ppt/notesSlides/notesSlide5.xml" Id="Reeaff921ac1445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355686269c4294" /><Relationship Type="http://schemas.openxmlformats.org/officeDocument/2006/relationships/notesSlide" Target="/ppt/notesSlides/notesSlide6.xml" Id="R02eeff52a89948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c7c43c173f4f9b" /><Relationship Type="http://schemas.openxmlformats.org/officeDocument/2006/relationships/image" Target="/ppt/media/image4.png" Id="R4e4041a1e4224241" /><Relationship Type="http://schemas.openxmlformats.org/officeDocument/2006/relationships/notesSlide" Target="/ppt/notesSlides/notesSlide7.xml" Id="Rb2284f06aacf49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f880e7c90445f1" /><Relationship Type="http://schemas.openxmlformats.org/officeDocument/2006/relationships/notesSlide" Target="/ppt/notesSlides/notesSlide8.xml" Id="R66c8b09e695145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8737989d54e4b2d" /><Relationship Type="http://schemas.openxmlformats.org/officeDocument/2006/relationships/notesSlide" Target="/ppt/notesSlides/notesSlide9.xml" Id="R5a88e0d2181b4c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15ac049d52a4fe2" /><Relationship Type="http://schemas.openxmlformats.org/officeDocument/2006/relationships/notesSlide" Target="/ppt/notesSlides/notesSlide10.xml" Id="R7d60299693a34e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54cfc7694c4b69" /><Relationship Type="http://schemas.openxmlformats.org/officeDocument/2006/relationships/image" Target="/ppt/media/image5.png" Id="R64094345fde74fa6" /><Relationship Type="http://schemas.openxmlformats.org/officeDocument/2006/relationships/notesSlide" Target="/ppt/notesSlides/notesSlide11.xml" Id="R2d9328bec2c849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c83126c15d2463e" /><Relationship Type="http://schemas.openxmlformats.org/officeDocument/2006/relationships/image" Target="/ppt/media/image6.png" Id="Rc970fc3ae4f9428b" /><Relationship Type="http://schemas.openxmlformats.org/officeDocument/2006/relationships/notesSlide" Target="/ppt/notesSlides/notesSlide12.xml" Id="Rc52e5a6e224d4e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989c63ebb114ac3" /><Relationship Type="http://schemas.openxmlformats.org/officeDocument/2006/relationships/image" Target="/ppt/media/image7.png" Id="Rd28f5b7cd25d4135" /><Relationship Type="http://schemas.openxmlformats.org/officeDocument/2006/relationships/notesSlide" Target="/ppt/notesSlides/notesSlide13.xml" Id="R2de759b1d45d4ea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c0674e418dd4040" /><Relationship Type="http://schemas.openxmlformats.org/officeDocument/2006/relationships/chart" Target="/ppt/slides/charts/chart1.xml" Id="R553b52d883da42af" /><Relationship Type="http://schemas.openxmlformats.org/officeDocument/2006/relationships/notesSlide" Target="/ppt/notesSlides/notesSlide14.xml" Id="Rce311b1409a645b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7cbe8cfa77a4941" /><Relationship Type="http://schemas.openxmlformats.org/officeDocument/2006/relationships/image" Target="/ppt/media/image8.png" Id="Rbc24bb7f5f2b475b" /><Relationship Type="http://schemas.openxmlformats.org/officeDocument/2006/relationships/notesSlide" Target="/ppt/notesSlides/notesSlide15.xml" Id="R6bf3707697f4479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7e6922602124d28" /><Relationship Type="http://schemas.openxmlformats.org/officeDocument/2006/relationships/image" Target="/ppt/media/image9.png" Id="R011d6b629fe64d1e" /><Relationship Type="http://schemas.openxmlformats.org/officeDocument/2006/relationships/image" Target="/ppt/media/image10.png" Id="Rfbd870c2ebb7462c" /><Relationship Type="http://schemas.openxmlformats.org/officeDocument/2006/relationships/notesSlide" Target="/ppt/notesSlides/notesSlide16.xml" Id="R6862484916fe44c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d62604278b54fa5" /><Relationship Type="http://schemas.openxmlformats.org/officeDocument/2006/relationships/notesSlide" Target="/ppt/notesSlides/notesSlide17.xml" Id="R48a76fe577eb458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dfa3f83a6494eab" /><Relationship Type="http://schemas.openxmlformats.org/officeDocument/2006/relationships/notesSlide" Target="/ppt/notesSlides/notesSlide18.xml" Id="R0a793f3d283c4b8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a08f024e95041a1" /><Relationship Type="http://schemas.openxmlformats.org/officeDocument/2006/relationships/notesSlide" Target="/ppt/notesSlides/notesSlide19.xml" Id="R51b90242141443f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3702626b0734093" /><Relationship Type="http://schemas.openxmlformats.org/officeDocument/2006/relationships/notesSlide" Target="/ppt/notesSlides/notesSlide20.xml" Id="Rcea33f9ec307495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972acd246924451" /><Relationship Type="http://schemas.openxmlformats.org/officeDocument/2006/relationships/notesSlide" Target="/ppt/notesSlides/notesSlide21.xml" Id="R9e8607368a124c9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07ab5f5c84c47e2" /><Relationship Type="http://schemas.openxmlformats.org/officeDocument/2006/relationships/notesSlide" Target="/ppt/notesSlides/notesSlide22.xml" Id="Rd7b53052e52844b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4b2735526d348b8" /><Relationship Type="http://schemas.openxmlformats.org/officeDocument/2006/relationships/notesSlide" Target="/ppt/notesSlides/notesSlide23.xml" Id="Rca91fee110584ee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66e445f30b247fe" /><Relationship Type="http://schemas.openxmlformats.org/officeDocument/2006/relationships/notesSlide" Target="/ppt/notesSlides/notesSlide24.xml" Id="Rf97070f0569b4ee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979bff9e8e04c6c" /><Relationship Type="http://schemas.openxmlformats.org/officeDocument/2006/relationships/notesSlide" Target="/ppt/notesSlides/notesSlide25.xml" Id="Raca05bc2850c4a8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17efbf1dde545a8" /><Relationship Type="http://schemas.openxmlformats.org/officeDocument/2006/relationships/notesSlide" Target="/ppt/notesSlides/notesSlide26.xml" Id="R71336d9c7a2141b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PCA</c:v>
          </c:tx>
          <c:spPr>
            <a:solidFill xmlns:a="http://schemas.openxmlformats.org/drawingml/2006/main">
              <a:srgbClr val="94A7B4"/>
            </a:solidFill>
          </c:spPr>
          <c:cat>
            <c:strRef>
              <c:f>'Chart Data'!$A$2:$A$4</c:f>
              <c:strCache>
                <c:ptCount val="3"/>
                <c:pt idx="0">
                  <c:v>Lorenz</c:v>
                </c:pt>
                <c:pt idx="1">
                  <c:v>Satellite-A</c:v>
                </c:pt>
                <c:pt idx="2">
                  <c:v>Satellite-B</c:v>
                </c:pt>
              </c:strCache>
            </c:strRef>
          </c:cat>
          <c:val>
            <c:numRef>
              <c:f>'Chart Data'!$B$2:$B$4</c:f>
              <c:numCache>
                <c:formatCode>0.0</c:formatCode>
                <c:ptCount val="3"/>
                <c:pt idx="0">
                  <c:v>0.5104</c:v>
                </c:pt>
                <c:pt idx="1">
                  <c:v>0.8852</c:v>
                </c:pt>
                <c:pt idx="2">
                  <c:v>0.9764</c:v>
                </c:pt>
              </c:numCache>
            </c:numRef>
          </c:val>
        </c:ser>
        <c:ser>
          <c:idx val="1"/>
          <c:order val="1"/>
          <c:tx>
            <c:v>AE</c:v>
          </c:tx>
          <c:spPr>
            <a:solidFill xmlns:a="http://schemas.openxmlformats.org/drawingml/2006/main">
              <a:srgbClr val="235C7B"/>
            </a:solidFill>
          </c:spPr>
          <c:cat>
            <c:strRef>
              <c:f>'Chart Data'!$C$2:$C$4</c:f>
              <c:strCache>
                <c:ptCount val="3"/>
                <c:pt idx="0">
                  <c:v>Lorenz</c:v>
                </c:pt>
                <c:pt idx="1">
                  <c:v>Satellite-A</c:v>
                </c:pt>
                <c:pt idx="2">
                  <c:v>Satellite-B</c:v>
                </c:pt>
              </c:strCache>
            </c:strRef>
          </c:cat>
          <c:val>
            <c:numRef>
              <c:f>'Chart Data'!$D$2:$D$4</c:f>
              <c:numCache>
                <c:formatCode>0.0</c:formatCode>
                <c:ptCount val="3"/>
                <c:pt idx="0">
                  <c:v>0.6473</c:v>
                </c:pt>
                <c:pt idx="1">
                  <c:v>0.8847</c:v>
                </c:pt>
                <c:pt idx="2">
                  <c:v>0.9763</c:v>
                </c:pt>
              </c:numCache>
            </c:numRef>
          </c:val>
        </c:ser>
        <c:ser>
          <c:idx val="2"/>
          <c:order val="2"/>
          <c:tx>
            <c:v>ノイズ除去AE</c:v>
          </c:tx>
          <c:spPr>
            <a:solidFill xmlns:a="http://schemas.openxmlformats.org/drawingml/2006/main">
              <a:srgbClr val="00A2A5"/>
            </a:solidFill>
          </c:spPr>
          <c:cat>
            <c:strRef>
              <c:f>'Chart Data'!$E$2:$E$4</c:f>
              <c:strCache>
                <c:ptCount val="3"/>
                <c:pt idx="0">
                  <c:v>Lorenz</c:v>
                </c:pt>
                <c:pt idx="1">
                  <c:v>Satellite-A</c:v>
                </c:pt>
                <c:pt idx="2">
                  <c:v>Satellite-B</c:v>
                </c:pt>
              </c:strCache>
            </c:strRef>
          </c:cat>
          <c:val>
            <c:numRef>
              <c:f>'Chart Data'!$F$2:$F$4</c:f>
              <c:numCache>
                <c:formatCode>0.0</c:formatCode>
                <c:ptCount val="3"/>
                <c:pt idx="0">
                  <c:v>0.7011</c:v>
                </c:pt>
                <c:pt idx="1">
                  <c:v>0.9354</c:v>
                </c:pt>
                <c:pt idx="2">
                  <c:v>0.8355</c:v>
                </c:pt>
              </c:numCache>
            </c:numRef>
          </c:val>
        </c:ser>
        <c:ser>
          <c:idx val="3"/>
          <c:order val="3"/>
          <c:tx>
            <c:v>Kernel PCA</c:v>
          </c:tx>
          <c:spPr>
            <a:solidFill xmlns:a="http://schemas.openxmlformats.org/drawingml/2006/main">
              <a:srgbClr val="E8AD46"/>
            </a:solidFill>
          </c:spPr>
          <c:cat>
            <c:strRef>
              <c:f>'Chart Data'!$G$2:$G$4</c:f>
              <c:strCache>
                <c:ptCount val="3"/>
                <c:pt idx="0">
                  <c:v>Lorenz</c:v>
                </c:pt>
                <c:pt idx="1">
                  <c:v>Satellite-A</c:v>
                </c:pt>
                <c:pt idx="2">
                  <c:v>Satellite-B</c:v>
                </c:pt>
              </c:strCache>
            </c:strRef>
          </c:cat>
          <c:val>
            <c:numRef>
              <c:f>'Chart Data'!$H$2:$H$4</c:f>
              <c:numCache>
                <c:formatCode>0.0</c:formatCode>
                <c:ptCount val="3"/>
                <c:pt idx="0">
                  <c:v>0.7045</c:v>
                </c:pt>
                <c:pt idx="1">
                  <c:v>0.8862</c:v>
                </c:pt>
                <c:pt idx="2">
                  <c:v>0.7689</c:v>
                </c:pt>
              </c:numCache>
            </c:numRef>
          </c:val>
        </c:ser>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Meiryo"/>
                <a:ea typeface="Meiryo"/>
                <a:cs typeface="Meiryo"/>
              </a:defRPr>
            </a:pPr>
          </a:p>
        </c:txPr>
        <c:crossAx val="48672768"/>
      </c:catAx>
      <c:valAx>
        <c:axId val="48672768"/>
        <c:scaling>
          <c:orientation val="minMax"/>
          <c:max val="1"/>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crossBetween val="between"/>
        <c:majorUnit val="0.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709B5E-BABA-40F0-B9DE-C5F44A988B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86d0129b637477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887E973-75EE-4E8F-BEE8-0858B58D9684}"/>
              </a:ext>
            </a:extLst>
          </p:cNvPr>
          <p:cNvSpPr>
            <a:spLocks xmlns:a="http://schemas.openxmlformats.org/drawingml/2006/main" noGrp="1"/>
          </p:cNvSpPr>
          <p:nvPr/>
        </p:nvSpPr>
        <p:spPr>
          <a:xfrm xmlns:a="http://schemas.openxmlformats.org/drawingml/2006/main">
            <a:off x="0" y="0"/>
            <a:ext cx="5000625" cy="6858000"/>
          </a:xfrm>
          <a:prstGeom xmlns:a="http://schemas.openxmlformats.org/drawingml/2006/main" prst="rect">
            <a:avLst/>
          </a:prstGeom>
          <a:solidFill xmlns:a="http://schemas.openxmlformats.org/drawingml/2006/main">
            <a:srgbClr val="08273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2ED73E1-6E1F-4F8C-B52E-563D9254619E}"/>
              </a:ext>
            </a:extLst>
          </p:cNvPr>
          <p:cNvSpPr>
            <a:spLocks xmlns:a="http://schemas.openxmlformats.org/drawingml/2006/main" noGrp="1"/>
          </p:cNvSpPr>
          <p:nvPr/>
        </p:nvSpPr>
        <p:spPr>
          <a:xfrm xmlns:a="http://schemas.openxmlformats.org/drawingml/2006/main">
            <a:off x="523875" y="9048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62D4D4"/>
                </a:solidFill>
                <a:latin typeface="Meiryo"/>
                <a:ea typeface="Meiryo"/>
                <a:cs typeface="Meiryo"/>
              </a:defRPr>
            </a:pPr>
            <a:r>
              <a:rPr sz="1725" b="1">
                <a:solidFill>
                  <a:srgbClr val="62D4D4"/>
                </a:solidFill>
                <a:latin typeface="Meiryo"/>
                <a:ea typeface="Meiryo"/>
                <a:cs typeface="Meiryo"/>
              </a:rPr>
              <a:t>実習 文献調査報告</a:t>
            </a:r>
          </a:p>
        </p:txBody>
      </p:sp>
      <p:sp>
        <p:nvSpPr>
          <p:cNvPr id="5" name="">
            <a:extLst xmlns:a="http://schemas.openxmlformats.org/drawingml/2006/main">
              <a:ext uri="{FF2B5EF4-FFF2-40B4-BE49-F238E27FC236}">
                <a16:creationId xmlns:a16="http://schemas.microsoft.com/office/drawing/2014/main" id="{564BEB4B-4BF9-4511-B271-96C3E5A7561E}"/>
              </a:ext>
            </a:extLst>
          </p:cNvPr>
          <p:cNvSpPr>
            <a:spLocks xmlns:a="http://schemas.openxmlformats.org/drawingml/2006/main" noGrp="1"/>
          </p:cNvSpPr>
          <p:nvPr/>
        </p:nvSpPr>
        <p:spPr>
          <a:xfrm xmlns:a="http://schemas.openxmlformats.org/drawingml/2006/main">
            <a:off x="523875" y="1962150"/>
            <a:ext cx="5619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FFFFFF"/>
                </a:solidFill>
                <a:latin typeface="Meiryo"/>
                <a:ea typeface="Meiryo"/>
                <a:cs typeface="Meiryo"/>
              </a:defRPr>
            </a:pPr>
            <a:r>
              <a:rPr sz="3600" b="1">
                <a:solidFill>
                  <a:srgbClr val="FFFFFF"/>
                </a:solidFill>
                <a:latin typeface="Meiryo"/>
                <a:ea typeface="Meiryo"/>
                <a:cs typeface="Meiryo"/>
              </a:rPr>
              <a:t>多変量回帰モデルの</a:t>
            </a:r>
          </a:p>
          <a:p xmlns:a="http://schemas.openxmlformats.org/drawingml/2006/main">
            <a:pPr>
              <a:defRPr sz="3600" b="1">
                <a:solidFill>
                  <a:srgbClr val="FFFFFF"/>
                </a:solidFill>
                <a:latin typeface="Meiryo"/>
                <a:ea typeface="Meiryo"/>
                <a:cs typeface="Meiryo"/>
              </a:defRPr>
            </a:pPr>
            <a:r>
              <a:rPr sz="3600" b="1">
                <a:solidFill>
                  <a:srgbClr val="FFFFFF"/>
                </a:solidFill>
                <a:latin typeface="Meiryo"/>
                <a:ea typeface="Meiryo"/>
                <a:cs typeface="Meiryo"/>
              </a:rPr>
              <a:t>学習外入力</a:t>
            </a:r>
          </a:p>
          <a:p xmlns:a="http://schemas.openxmlformats.org/drawingml/2006/main">
            <a:pPr>
              <a:defRPr sz="3600" b="1">
                <a:solidFill>
                  <a:srgbClr val="FFFFFF"/>
                </a:solidFill>
                <a:latin typeface="Meiryo"/>
                <a:ea typeface="Meiryo"/>
                <a:cs typeface="Meiryo"/>
              </a:defRPr>
            </a:pPr>
            <a:r>
              <a:rPr sz="3600" b="1">
                <a:solidFill>
                  <a:srgbClr val="FFFFFF"/>
                </a:solidFill>
                <a:latin typeface="Meiryo"/>
                <a:ea typeface="Meiryo"/>
                <a:cs typeface="Meiryo"/>
              </a:rPr>
              <a:t>データ検知</a:t>
            </a:r>
          </a:p>
        </p:txBody>
      </p:sp>
      <p:sp>
        <p:nvSpPr>
          <p:cNvPr id="6" name="">
            <a:extLst xmlns:a="http://schemas.openxmlformats.org/drawingml/2006/main">
              <a:ext uri="{FF2B5EF4-FFF2-40B4-BE49-F238E27FC236}">
                <a16:creationId xmlns:a16="http://schemas.microsoft.com/office/drawing/2014/main" id="{EBE998B5-1CEB-465B-A02C-6C690E6E5ED6}"/>
              </a:ext>
            </a:extLst>
          </p:cNvPr>
          <p:cNvSpPr>
            <a:spLocks xmlns:a="http://schemas.openxmlformats.org/drawingml/2006/main" noGrp="1"/>
          </p:cNvSpPr>
          <p:nvPr/>
        </p:nvSpPr>
        <p:spPr>
          <a:xfrm xmlns:a="http://schemas.openxmlformats.org/drawingml/2006/main">
            <a:off x="523875" y="4857750"/>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D9EEF2"/>
                </a:solidFill>
                <a:latin typeface="Meiryo"/>
                <a:ea typeface="Meiryo"/>
                <a:cs typeface="Meiryo"/>
              </a:defRPr>
            </a:pPr>
            <a:r>
              <a:rPr sz="1950" b="0">
                <a:solidFill>
                  <a:srgbClr val="D9EEF2"/>
                </a:solidFill>
                <a:latin typeface="Meiryo"/>
                <a:ea typeface="Meiryo"/>
                <a:cs typeface="Meiryo"/>
              </a:rPr>
              <a:t>定義・分類と既存手法の比較</a:t>
            </a:r>
          </a:p>
        </p:txBody>
      </p:sp>
      <p:sp>
        <p:nvSpPr>
          <p:cNvPr id="7" name="">
            <a:extLst xmlns:a="http://schemas.openxmlformats.org/drawingml/2006/main">
              <a:ext uri="{FF2B5EF4-FFF2-40B4-BE49-F238E27FC236}">
                <a16:creationId xmlns:a16="http://schemas.microsoft.com/office/drawing/2014/main" id="{8EBAEC1B-03D1-41C1-968F-BA26F1CD33C4}"/>
              </a:ext>
            </a:extLst>
          </p:cNvPr>
          <p:cNvSpPr>
            <a:spLocks xmlns:a="http://schemas.openxmlformats.org/drawingml/2006/main" noGrp="1"/>
          </p:cNvSpPr>
          <p:nvPr/>
        </p:nvSpPr>
        <p:spPr>
          <a:xfrm xmlns:a="http://schemas.openxmlformats.org/drawingml/2006/main">
            <a:off x="523875" y="6038850"/>
            <a:ext cx="742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A6C8D3"/>
                </a:solidFill>
                <a:latin typeface="Meiryo"/>
                <a:ea typeface="Meiryo"/>
                <a:cs typeface="Meiryo"/>
              </a:defRPr>
            </a:pPr>
            <a:r>
              <a:rPr sz="1350" b="0">
                <a:solidFill>
                  <a:srgbClr val="A6C8D3"/>
                </a:solidFill>
                <a:latin typeface="Meiryo"/>
                <a:ea typeface="Meiryo"/>
                <a:cs typeface="Meiryo"/>
              </a:rPr>
              <a:t>20分発表  |  S1・S3・S6・13・14・山原</a:t>
            </a:r>
          </a:p>
        </p:txBody>
      </p:sp>
    </p:spTree>
    <p:extLst>
      <p:ext uri="{BB962C8B-B14F-4D97-AF65-F5344CB8AC3E}">
        <p14:creationId xmlns:p14="http://schemas.microsoft.com/office/powerpoint/2010/main" val="79180214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7F4EBB7-8EDA-44FC-A39D-EDD4C1AEDE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E5DDDE-92F5-4309-8D79-4FF7ECC831E2}"/>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608CBD1F-EB63-4EDE-9A04-9BC658BA321E}"/>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対象モデルと調査範囲</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03022010df14711"/>
          <a:stretch xmlns:a="http://schemas.openxmlformats.org/drawingml/2006/main"/>
        </p:blipFill>
        <p:spPr>
          <a:xfrm xmlns:a="http://schemas.openxmlformats.org/drawingml/2006/main">
            <a:off x="3218863" y="1476375"/>
            <a:ext cx="5754274" cy="3238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71DF759-13E5-4596-A8BD-6A0ED72DFDC5}"/>
              </a:ext>
            </a:extLst>
          </p:cNvPr>
          <p:cNvSpPr>
            <a:spLocks xmlns:a="http://schemas.openxmlformats.org/drawingml/2006/main" noGrp="1"/>
          </p:cNvSpPr>
          <p:nvPr/>
        </p:nvSpPr>
        <p:spPr>
          <a:xfrm xmlns:a="http://schemas.openxmlformats.org/drawingml/2006/main">
            <a:off x="571500" y="47339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9384B"/>
                </a:solidFill>
                <a:latin typeface="Meiryo"/>
                <a:ea typeface="Meiryo"/>
                <a:cs typeface="Meiryo"/>
              </a:defRPr>
            </a:pPr>
            <a:r>
              <a:rPr sz="1875" b="1">
                <a:solidFill>
                  <a:srgbClr val="19384B"/>
                </a:solidFill>
                <a:latin typeface="Meiryo"/>
                <a:ea typeface="Meiryo"/>
                <a:cs typeface="Meiryo"/>
              </a:rPr>
              <a:t>配水：圧力・流量 → 特定地点の圧力</a:t>
            </a:r>
          </a:p>
        </p:txBody>
      </p:sp>
      <p:sp>
        <p:nvSpPr>
          <p:cNvPr id="6" name="">
            <a:extLst xmlns:a="http://schemas.openxmlformats.org/drawingml/2006/main">
              <a:ext uri="{FF2B5EF4-FFF2-40B4-BE49-F238E27FC236}">
                <a16:creationId xmlns:a16="http://schemas.microsoft.com/office/drawing/2014/main" id="{5BBB0060-15EA-411D-98AA-16DCAD4BE9B4}"/>
              </a:ext>
            </a:extLst>
          </p:cNvPr>
          <p:cNvSpPr>
            <a:spLocks xmlns:a="http://schemas.openxmlformats.org/drawingml/2006/main" noGrp="1"/>
          </p:cNvSpPr>
          <p:nvPr/>
        </p:nvSpPr>
        <p:spPr>
          <a:xfrm xmlns:a="http://schemas.openxmlformats.org/drawingml/2006/main">
            <a:off x="6381750" y="47339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9384B"/>
                </a:solidFill>
                <a:latin typeface="Meiryo"/>
                <a:ea typeface="Meiryo"/>
                <a:cs typeface="Meiryo"/>
              </a:defRPr>
            </a:pPr>
            <a:r>
              <a:rPr sz="1875" b="1">
                <a:solidFill>
                  <a:srgbClr val="19384B"/>
                </a:solidFill>
                <a:latin typeface="Meiryo"/>
                <a:ea typeface="Meiryo"/>
                <a:cs typeface="Meiryo"/>
              </a:rPr>
              <a:t>浄水：原水濁度・注入率 → 処理後濁度</a:t>
            </a:r>
          </a:p>
        </p:txBody>
      </p:sp>
      <p:sp>
        <p:nvSpPr>
          <p:cNvPr id="7" name="">
            <a:extLst xmlns:a="http://schemas.openxmlformats.org/drawingml/2006/main">
              <a:ext uri="{FF2B5EF4-FFF2-40B4-BE49-F238E27FC236}">
                <a16:creationId xmlns:a16="http://schemas.microsoft.com/office/drawing/2014/main" id="{9A16FB61-F5F0-478A-8FB0-B2B2D2562B8B}"/>
              </a:ext>
            </a:extLst>
          </p:cNvPr>
          <p:cNvSpPr>
            <a:spLocks xmlns:a="http://schemas.openxmlformats.org/drawingml/2006/main" noGrp="1"/>
          </p:cNvSpPr>
          <p:nvPr/>
        </p:nvSpPr>
        <p:spPr>
          <a:xfrm xmlns:a="http://schemas.openxmlformats.org/drawingml/2006/main">
            <a:off x="571500" y="52863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86E7C"/>
                </a:solidFill>
                <a:latin typeface="Meiryo"/>
                <a:ea typeface="Meiryo"/>
                <a:cs typeface="Meiryo"/>
              </a:defRPr>
            </a:pPr>
            <a:r>
              <a:rPr sz="1650" b="0">
                <a:solidFill>
                  <a:srgbClr val="586E7C"/>
                </a:solidFill>
                <a:latin typeface="Meiryo"/>
                <a:ea typeface="Meiryo"/>
                <a:cs typeface="Meiryo"/>
              </a:rPr>
              <a:t>現在の入力 xₜ を使用する構想</a:t>
            </a:r>
          </a:p>
        </p:txBody>
      </p:sp>
      <p:sp>
        <p:nvSpPr>
          <p:cNvPr id="8" name="">
            <a:extLst xmlns:a="http://schemas.openxmlformats.org/drawingml/2006/main">
              <a:ext uri="{FF2B5EF4-FFF2-40B4-BE49-F238E27FC236}">
                <a16:creationId xmlns:a16="http://schemas.microsoft.com/office/drawing/2014/main" id="{DEE6F8B6-27CE-406C-A44D-53BE321D2AB9}"/>
              </a:ext>
            </a:extLst>
          </p:cNvPr>
          <p:cNvSpPr>
            <a:spLocks xmlns:a="http://schemas.openxmlformats.org/drawingml/2006/main" noGrp="1"/>
          </p:cNvSpPr>
          <p:nvPr/>
        </p:nvSpPr>
        <p:spPr>
          <a:xfrm xmlns:a="http://schemas.openxmlformats.org/drawingml/2006/main">
            <a:off x="6381750" y="52863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86E7C"/>
                </a:solidFill>
                <a:latin typeface="Meiryo"/>
                <a:ea typeface="Meiryo"/>
                <a:cs typeface="Meiryo"/>
              </a:defRPr>
            </a:pPr>
            <a:r>
              <a:rPr sz="1650" b="0">
                <a:solidFill>
                  <a:srgbClr val="586E7C"/>
                </a:solidFill>
                <a:latin typeface="Meiryo"/>
                <a:ea typeface="Meiryo"/>
                <a:cs typeface="Meiryo"/>
              </a:rPr>
              <a:t>遅れ Δ と入力窓長は今後確定</a:t>
            </a:r>
          </a:p>
        </p:txBody>
      </p:sp>
      <p:sp>
        <p:nvSpPr>
          <p:cNvPr id="9" name="">
            <a:extLst xmlns:a="http://schemas.openxmlformats.org/drawingml/2006/main">
              <a:ext uri="{FF2B5EF4-FFF2-40B4-BE49-F238E27FC236}">
                <a16:creationId xmlns:a16="http://schemas.microsoft.com/office/drawing/2014/main" id="{CE72492F-8B1C-4877-AA15-6426D013D07A}"/>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BBACAB8-E89B-41D1-AC5F-1624A261E391}"/>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時系列データでも、モデル入力は「1時刻のベクトル」の場合がある</a:t>
            </a:r>
          </a:p>
        </p:txBody>
      </p:sp>
      <p:sp>
        <p:nvSpPr>
          <p:cNvPr id="11" name="">
            <a:extLst xmlns:a="http://schemas.openxmlformats.org/drawingml/2006/main">
              <a:ext uri="{FF2B5EF4-FFF2-40B4-BE49-F238E27FC236}">
                <a16:creationId xmlns:a16="http://schemas.microsoft.com/office/drawing/2014/main" id="{04138E0C-129E-478E-8C98-B3B4574E130D}"/>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実習要求、山原 §2、ユーザー提示のモデル構想｜説明用概念図（生成画像）</a:t>
            </a:r>
          </a:p>
        </p:txBody>
      </p:sp>
      <p:sp>
        <p:nvSpPr>
          <p:cNvPr id="12" name="">
            <a:extLst xmlns:a="http://schemas.openxmlformats.org/drawingml/2006/main">
              <a:ext uri="{FF2B5EF4-FFF2-40B4-BE49-F238E27FC236}">
                <a16:creationId xmlns:a16="http://schemas.microsoft.com/office/drawing/2014/main" id="{488F2E73-B245-42C0-AD75-B07CFDB5544B}"/>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02</a:t>
            </a:r>
          </a:p>
        </p:txBody>
      </p:sp>
    </p:spTree>
    <p:extLst>
      <p:ext uri="{BB962C8B-B14F-4D97-AF65-F5344CB8AC3E}">
        <p14:creationId xmlns:p14="http://schemas.microsoft.com/office/powerpoint/2010/main" val="210171984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ABE2E2-3DDD-485C-9985-04C3F8621D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D15E7D-142A-4C15-87CF-3C05F6DF516B}"/>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1A4327D7-473A-4E71-AE92-2948E5429A74}"/>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本調査における「学習外」の定義</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3341b8e9e9e47a8"/>
          <a:stretch xmlns:a="http://schemas.openxmlformats.org/drawingml/2006/main"/>
        </p:blipFill>
        <p:spPr>
          <a:xfrm xmlns:a="http://schemas.openxmlformats.org/drawingml/2006/main">
            <a:off x="2347260" y="1390650"/>
            <a:ext cx="7497481" cy="42195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952854D-5C69-4CD7-A212-DCA25981C71C}"/>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F0C6A70-4E45-4BA5-948E-B383BD96AE72}"/>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3つの条件は重なり得る。低密度だけで予測誤差の大きさは断定できない</a:t>
            </a:r>
          </a:p>
        </p:txBody>
      </p:sp>
      <p:sp>
        <p:nvSpPr>
          <p:cNvPr id="7" name="">
            <a:extLst xmlns:a="http://schemas.openxmlformats.org/drawingml/2006/main">
              <a:ext uri="{FF2B5EF4-FFF2-40B4-BE49-F238E27FC236}">
                <a16:creationId xmlns:a16="http://schemas.microsoft.com/office/drawing/2014/main" id="{4B636BF0-D520-475A-8A58-A6342B7EC329}"/>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実習要求「本調査における学習外の考え方」｜説明用概念図（生成画像）</a:t>
            </a:r>
          </a:p>
        </p:txBody>
      </p:sp>
      <p:sp>
        <p:nvSpPr>
          <p:cNvPr id="8" name="">
            <a:extLst xmlns:a="http://schemas.openxmlformats.org/drawingml/2006/main">
              <a:ext uri="{FF2B5EF4-FFF2-40B4-BE49-F238E27FC236}">
                <a16:creationId xmlns:a16="http://schemas.microsoft.com/office/drawing/2014/main" id="{95C6D3EA-7D9E-455D-9CF6-180DA87D8ED3}"/>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03</a:t>
            </a:r>
          </a:p>
        </p:txBody>
      </p:sp>
    </p:spTree>
    <p:extLst>
      <p:ext uri="{BB962C8B-B14F-4D97-AF65-F5344CB8AC3E}">
        <p14:creationId xmlns:p14="http://schemas.microsoft.com/office/powerpoint/2010/main" val="153027713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CDD434-6760-4573-98EF-177F0D1FF4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ADAA54-A116-4C77-B188-7FC8D5C57ACE}"/>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E7722E45-2356-4619-AE42-9971F7B1C8BB}"/>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読んだ文献と本報告での役割</a:t>
            </a:r>
          </a:p>
        </p:txBody>
      </p:sp>
      <p:graphicFrame>
        <p:nvGraphicFramePr>
          <p:cNvPr id="10" name=""/>
          <p:cNvGraphicFramePr/>
          <p:nvPr/>
        </p:nvGraphicFramePr>
        <p:xfrm>
          <a:off xmlns:a="http://schemas.openxmlformats.org/drawingml/2006/main" x="476250" y="1476375"/>
          <a:ext xmlns:a="http://schemas.openxmlformats.org/drawingml/2006/main" cx="11239500" cy="4286250"/>
        </p:xfrm>
        <a:graphic xmlns:a="http://schemas.openxmlformats.org/drawingml/2006/main">
          <a:graphicData uri="http://schemas.openxmlformats.org/drawingml/2006/table">
            <a:tbl>
              <a:tblPr/>
              <a:tblGrid>
                <a:gridCol w="1740006"/>
                <a:gridCol w="4937856"/>
                <a:gridCol w="4561638"/>
              </a:tblGrid>
              <a:tr h="612321">
                <a:tc>
                  <a:txBody>
                    <a:bodyPr/>
                    <a:lstStyle/>
                    <a:p>
                      <a:r>
                        <a:rPr sz="1650" b="1">
                          <a:solidFill>
                            <a:srgbClr val="FFFFFF"/>
                          </a:solidFill>
                          <a:latin typeface="Meiryo"/>
                          <a:ea typeface="Meiryo"/>
                          <a:cs typeface="Meiryo"/>
                        </a:rPr>
                        <a:t>文献</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対象と内容</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本報告での役割</a:t>
                      </a:r>
                    </a:p>
                  </a:txBody>
                  <a:tcPr marL="114300" marR="95250" marT="85725" marB="66675" anchor="ctr">
                    <a:solidFill>
                      <a:srgbClr val="08273C"/>
                    </a:solidFill>
                  </a:tcPr>
                </a:tc>
              </a:tr>
              <a:tr h="612321">
                <a:tc>
                  <a:txBody>
                    <a:bodyPr/>
                    <a:lstStyle/>
                    <a:p>
                      <a:r>
                        <a:rPr sz="1650" b="0">
                          <a:solidFill>
                            <a:srgbClr val="19384B"/>
                          </a:solidFill>
                          <a:latin typeface="Meiryo"/>
                          <a:ea typeface="Meiryo"/>
                          <a:cs typeface="Meiryo"/>
                        </a:rPr>
                        <a:t>S1 / 2022</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16手法・5データセットの比較評価</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複雑な手法の必要性を検討</a:t>
                      </a:r>
                    </a:p>
                  </a:txBody>
                  <a:tcPr marL="114300" marR="95250" marT="85725" marB="66675" anchor="ctr">
                    <a:solidFill>
                      <a:srgbClr val="F0F6F8"/>
                    </a:solidFill>
                  </a:tcPr>
                </a:tc>
              </a:tr>
              <a:tr h="612321">
                <a:tc>
                  <a:txBody>
                    <a:bodyPr/>
                    <a:lstStyle/>
                    <a:p>
                      <a:r>
                        <a:rPr sz="1650" b="0">
                          <a:solidFill>
                            <a:srgbClr val="19384B"/>
                          </a:solidFill>
                          <a:latin typeface="Meiryo"/>
                          <a:ea typeface="Meiryo"/>
                          <a:cs typeface="Meiryo"/>
                        </a:rPr>
                        <a:t>S3 / 2021</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時系列の外れ値検知レビュー</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異常の粒度・時間情報を整理</a:t>
                      </a:r>
                    </a:p>
                  </a:txBody>
                  <a:tcPr marL="114300" marR="95250" marT="85725" marB="66675" anchor="ctr">
                    <a:solidFill>
                      <a:srgbClr val="FFFFFF"/>
                    </a:solidFill>
                  </a:tcPr>
                </a:tc>
              </a:tr>
              <a:tr h="612321">
                <a:tc>
                  <a:txBody>
                    <a:bodyPr/>
                    <a:lstStyle/>
                    <a:p>
                      <a:r>
                        <a:rPr sz="1650" b="0">
                          <a:solidFill>
                            <a:srgbClr val="19384B"/>
                          </a:solidFill>
                          <a:latin typeface="Meiryo"/>
                          <a:ea typeface="Meiryo"/>
                          <a:cs typeface="Meiryo"/>
                        </a:rPr>
                        <a:t>S6 / 2025</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深層多変量時系列異常検知のサーベイ</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深層手法と変数間関係を整理</a:t>
                      </a:r>
                    </a:p>
                  </a:txBody>
                  <a:tcPr marL="114300" marR="95250" marT="85725" marB="66675" anchor="ctr">
                    <a:solidFill>
                      <a:srgbClr val="F0F6F8"/>
                    </a:solidFill>
                  </a:tcPr>
                </a:tc>
              </a:tr>
              <a:tr h="612321">
                <a:tc>
                  <a:txBody>
                    <a:bodyPr/>
                    <a:lstStyle/>
                    <a:p>
                      <a:r>
                        <a:rPr sz="1650" b="0">
                          <a:solidFill>
                            <a:srgbClr val="19384B"/>
                          </a:solidFill>
                          <a:latin typeface="Meiryo"/>
                          <a:ea typeface="Meiryo"/>
                          <a:cs typeface="Meiryo"/>
                        </a:rPr>
                        <a:t>13 / 2026</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回帰などに対するOutPro</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予測タスクを考慮したOOD検知</a:t>
                      </a:r>
                    </a:p>
                  </a:txBody>
                  <a:tcPr marL="114300" marR="95250" marT="85725" marB="66675" anchor="ctr">
                    <a:solidFill>
                      <a:srgbClr val="FFFFFF"/>
                    </a:solidFill>
                  </a:tcPr>
                </a:tc>
              </a:tr>
              <a:tr h="612321">
                <a:tc>
                  <a:txBody>
                    <a:bodyPr/>
                    <a:lstStyle/>
                    <a:p>
                      <a:r>
                        <a:rPr sz="1650" b="0">
                          <a:solidFill>
                            <a:srgbClr val="19384B"/>
                          </a:solidFill>
                          <a:latin typeface="Meiryo"/>
                          <a:ea typeface="Meiryo"/>
                          <a:cs typeface="Meiryo"/>
                        </a:rPr>
                        <a:t>14 / 2014</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AE・ノイズ除去AEによる異常検知</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1時刻入力に使える再構成型</a:t>
                      </a:r>
                    </a:p>
                  </a:txBody>
                  <a:tcPr marL="114300" marR="95250" marT="85725" marB="66675" anchor="ctr">
                    <a:solidFill>
                      <a:srgbClr val="F0F6F8"/>
                    </a:solidFill>
                  </a:tcPr>
                </a:tc>
              </a:tr>
              <a:tr h="612321">
                <a:tc>
                  <a:txBody>
                    <a:bodyPr/>
                    <a:lstStyle/>
                    <a:p>
                      <a:r>
                        <a:rPr sz="1650" b="0">
                          <a:solidFill>
                            <a:srgbClr val="19384B"/>
                          </a:solidFill>
                          <a:latin typeface="Meiryo"/>
                          <a:ea typeface="Meiryo"/>
                          <a:cs typeface="Meiryo"/>
                        </a:rPr>
                        <a:t>山原</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配水管網の圧力推定と適用領域</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社会インフラへの適用事例</a:t>
                      </a:r>
                    </a:p>
                  </a:txBody>
                  <a:tcPr marL="114300" marR="95250" marT="8572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0BDFD13-4037-442A-BC4A-1CD1ABAB3503}"/>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各論文の表題・要旨。正式な書誌情報は付録に記載</a:t>
            </a:r>
          </a:p>
        </p:txBody>
      </p:sp>
      <p:sp>
        <p:nvSpPr>
          <p:cNvPr id="6" name="">
            <a:extLst xmlns:a="http://schemas.openxmlformats.org/drawingml/2006/main">
              <a:ext uri="{FF2B5EF4-FFF2-40B4-BE49-F238E27FC236}">
                <a16:creationId xmlns:a16="http://schemas.microsoft.com/office/drawing/2014/main" id="{BE851760-CC72-478F-A360-CF45897A6B77}"/>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04</a:t>
            </a:r>
          </a:p>
        </p:txBody>
      </p:sp>
    </p:spTree>
    <p:extLst>
      <p:ext uri="{BB962C8B-B14F-4D97-AF65-F5344CB8AC3E}">
        <p14:creationId xmlns:p14="http://schemas.microsoft.com/office/powerpoint/2010/main" val="43352435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A6D221-DCF3-48C6-B185-B13D765D3C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F70865-88C7-4627-8E1E-D34508CDA4A1}"/>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70AC349B-CBAD-4BF1-B045-1E464B28A1B7}"/>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関連概念の定義と基準</a:t>
            </a:r>
          </a:p>
        </p:txBody>
      </p:sp>
      <p:graphicFrame>
        <p:nvGraphicFramePr>
          <p:cNvPr id="12" name=""/>
          <p:cNvGraphicFramePr/>
          <p:nvPr/>
        </p:nvGraphicFramePr>
        <p:xfrm>
          <a:off xmlns:a="http://schemas.openxmlformats.org/drawingml/2006/main" x="476250" y="1476375"/>
          <a:ext xmlns:a="http://schemas.openxmlformats.org/drawingml/2006/main" cx="11239500" cy="4000500"/>
        </p:xfrm>
        <a:graphic xmlns:a="http://schemas.openxmlformats.org/drawingml/2006/main">
          <a:graphicData uri="http://schemas.openxmlformats.org/drawingml/2006/table">
            <a:tbl>
              <a:tblPr/>
              <a:tblGrid>
                <a:gridCol w="2774605"/>
                <a:gridCol w="6301644"/>
                <a:gridCol w="2163251"/>
              </a:tblGrid>
              <a:tr h="666750">
                <a:tc>
                  <a:txBody>
                    <a:bodyPr/>
                    <a:lstStyle/>
                    <a:p>
                      <a:r>
                        <a:rPr sz="1650" b="1">
                          <a:solidFill>
                            <a:srgbClr val="FFFFFF"/>
                          </a:solidFill>
                          <a:latin typeface="Meiryo"/>
                          <a:ea typeface="Meiryo"/>
                          <a:cs typeface="Meiryo"/>
                        </a:rPr>
                        <a:t>概念</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何を基準にするか</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主な出典</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Anomaly / Outlier</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正常な挙動や参照する文脈からの逸脱</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S1・S3・S6</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Novelty detection</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学習した正常状態との不整合</a:t>
                      </a:r>
                    </a:p>
                    <a:p>
                      <a:r>
                        <a:rPr sz="1650" b="0">
                          <a:solidFill>
                            <a:srgbClr val="19384B"/>
                          </a:solidFill>
                          <a:latin typeface="Meiryo"/>
                          <a:ea typeface="Meiryo"/>
                          <a:cs typeface="Meiryo"/>
                        </a:rPr>
                        <a:t>14で使われる関連語</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14</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OOD detection</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訓練分布に対するテスト入力の支持</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13</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Applicability Domain</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期待するモデル性能を発揮する入力領域</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山原</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Distribution shift</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訓練時とテスト時の分布の違い</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13</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290FE3CF-CD80-41CE-8D64-0CEC4A4AA900}"/>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F11C2F3-0948-4392-BE80-BF087B9E48B3}"/>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異常、OOD、適用領域外、予測誤差の増大は同義ではない</a:t>
            </a:r>
          </a:p>
        </p:txBody>
      </p:sp>
      <p:sp>
        <p:nvSpPr>
          <p:cNvPr id="7" name="">
            <a:extLst xmlns:a="http://schemas.openxmlformats.org/drawingml/2006/main">
              <a:ext uri="{FF2B5EF4-FFF2-40B4-BE49-F238E27FC236}">
                <a16:creationId xmlns:a16="http://schemas.microsoft.com/office/drawing/2014/main" id="{6AC0844D-41B9-46E0-8DBC-6C47FD7EACDA}"/>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S1 §3、S3 §2、13 §1–2、14 §3、山原 §1</a:t>
            </a:r>
          </a:p>
        </p:txBody>
      </p:sp>
      <p:sp>
        <p:nvSpPr>
          <p:cNvPr id="8" name="">
            <a:extLst xmlns:a="http://schemas.openxmlformats.org/drawingml/2006/main">
              <a:ext uri="{FF2B5EF4-FFF2-40B4-BE49-F238E27FC236}">
                <a16:creationId xmlns:a16="http://schemas.microsoft.com/office/drawing/2014/main" id="{94B25747-BCC3-48D6-8D39-0C5E3B02769D}"/>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05</a:t>
            </a:r>
          </a:p>
        </p:txBody>
      </p:sp>
    </p:spTree>
    <p:extLst>
      <p:ext uri="{BB962C8B-B14F-4D97-AF65-F5344CB8AC3E}">
        <p14:creationId xmlns:p14="http://schemas.microsoft.com/office/powerpoint/2010/main" val="205924772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BA0E2DB-4CE9-4996-BAFD-8FA8127068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27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6CBC3A-2C65-44F4-8BF4-CB19F2FB6CB6}"/>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69EFA6ED-7027-4C64-AB4D-83C77C074DB1}"/>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FFFFFF"/>
                </a:solidFill>
                <a:latin typeface="Meiryo"/>
                <a:ea typeface="Meiryo"/>
                <a:cs typeface="Meiryo"/>
              </a:defRPr>
            </a:pPr>
            <a:r>
              <a:rPr sz="2550" b="1">
                <a:solidFill>
                  <a:srgbClr val="FFFFFF"/>
                </a:solidFill>
                <a:latin typeface="Meiryo"/>
                <a:ea typeface="Meiryo"/>
                <a:cs typeface="Meiryo"/>
              </a:rPr>
              <a:t>入力分布の変化と入出力関係の変化</a:t>
            </a:r>
          </a:p>
        </p:txBody>
      </p:sp>
      <p:sp>
        <p:nvSpPr>
          <p:cNvPr id="4" name="">
            <a:extLst xmlns:a="http://schemas.openxmlformats.org/drawingml/2006/main">
              <a:ext uri="{FF2B5EF4-FFF2-40B4-BE49-F238E27FC236}">
                <a16:creationId xmlns:a16="http://schemas.microsoft.com/office/drawing/2014/main" id="{8A1EE807-716F-4906-8C93-2704A1D3F063}"/>
              </a:ext>
            </a:extLst>
          </p:cNvPr>
          <p:cNvSpPr>
            <a:spLocks xmlns:a="http://schemas.openxmlformats.org/drawingml/2006/main" noGrp="1"/>
          </p:cNvSpPr>
          <p:nvPr/>
        </p:nvSpPr>
        <p:spPr>
          <a:xfrm xmlns:a="http://schemas.openxmlformats.org/drawingml/2006/main">
            <a:off x="5238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01</a:t>
            </a:r>
          </a:p>
        </p:txBody>
      </p:sp>
      <p:sp>
        <p:nvSpPr>
          <p:cNvPr id="5" name="">
            <a:extLst xmlns:a="http://schemas.openxmlformats.org/drawingml/2006/main">
              <a:ext uri="{FF2B5EF4-FFF2-40B4-BE49-F238E27FC236}">
                <a16:creationId xmlns:a16="http://schemas.microsoft.com/office/drawing/2014/main" id="{4C420379-DF45-457F-BE0F-10C1429A6FFB}"/>
              </a:ext>
            </a:extLst>
          </p:cNvPr>
          <p:cNvSpPr>
            <a:spLocks xmlns:a="http://schemas.openxmlformats.org/drawingml/2006/main" noGrp="1"/>
          </p:cNvSpPr>
          <p:nvPr/>
        </p:nvSpPr>
        <p:spPr>
          <a:xfrm xmlns:a="http://schemas.openxmlformats.org/drawingml/2006/main">
            <a:off x="5238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FFFF"/>
                </a:solidFill>
                <a:latin typeface="Meiryo"/>
                <a:ea typeface="Meiryo"/>
                <a:cs typeface="Meiryo"/>
              </a:defRPr>
            </a:pPr>
            <a:r>
              <a:rPr sz="2100" b="1">
                <a:solidFill>
                  <a:srgbClr val="FFFFFF"/>
                </a:solidFill>
                <a:latin typeface="Meiryo"/>
                <a:ea typeface="Meiryo"/>
                <a:cs typeface="Meiryo"/>
              </a:rPr>
              <a:t>Covariate shift</a:t>
            </a:r>
          </a:p>
        </p:txBody>
      </p:sp>
      <p:sp>
        <p:nvSpPr>
          <p:cNvPr id="6" name="">
            <a:extLst xmlns:a="http://schemas.openxmlformats.org/drawingml/2006/main">
              <a:ext uri="{FF2B5EF4-FFF2-40B4-BE49-F238E27FC236}">
                <a16:creationId xmlns:a16="http://schemas.microsoft.com/office/drawing/2014/main" id="{AC54E2FF-9865-42A1-865F-1B8E738722E3}"/>
              </a:ext>
            </a:extLst>
          </p:cNvPr>
          <p:cNvSpPr>
            <a:spLocks xmlns:a="http://schemas.openxmlformats.org/drawingml/2006/main" noGrp="1"/>
          </p:cNvSpPr>
          <p:nvPr/>
        </p:nvSpPr>
        <p:spPr>
          <a:xfrm xmlns:a="http://schemas.openxmlformats.org/drawingml/2006/main">
            <a:off x="5238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P(X) が変化</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P(Y｜X) は不変</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入力の分布から、変化の手掛かりを得られる。</a:t>
            </a:r>
          </a:p>
        </p:txBody>
      </p:sp>
      <p:sp>
        <p:nvSpPr>
          <p:cNvPr id="7" name="">
            <a:extLst xmlns:a="http://schemas.openxmlformats.org/drawingml/2006/main">
              <a:ext uri="{FF2B5EF4-FFF2-40B4-BE49-F238E27FC236}">
                <a16:creationId xmlns:a16="http://schemas.microsoft.com/office/drawing/2014/main" id="{778B21E5-9843-46CF-94E2-D828F8FC161F}"/>
              </a:ext>
            </a:extLst>
          </p:cNvPr>
          <p:cNvSpPr>
            <a:spLocks xmlns:a="http://schemas.openxmlformats.org/drawingml/2006/main" noGrp="1"/>
          </p:cNvSpPr>
          <p:nvPr/>
        </p:nvSpPr>
        <p:spPr>
          <a:xfrm xmlns:a="http://schemas.openxmlformats.org/drawingml/2006/main">
            <a:off x="64293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02</a:t>
            </a:r>
          </a:p>
        </p:txBody>
      </p:sp>
      <p:sp>
        <p:nvSpPr>
          <p:cNvPr id="8" name="">
            <a:extLst xmlns:a="http://schemas.openxmlformats.org/drawingml/2006/main">
              <a:ext uri="{FF2B5EF4-FFF2-40B4-BE49-F238E27FC236}">
                <a16:creationId xmlns:a16="http://schemas.microsoft.com/office/drawing/2014/main" id="{77DFBBCD-F9E9-4FF6-B8D6-AC779749DE85}"/>
              </a:ext>
            </a:extLst>
          </p:cNvPr>
          <p:cNvSpPr>
            <a:spLocks xmlns:a="http://schemas.openxmlformats.org/drawingml/2006/main" noGrp="1"/>
          </p:cNvSpPr>
          <p:nvPr/>
        </p:nvSpPr>
        <p:spPr>
          <a:xfrm xmlns:a="http://schemas.openxmlformats.org/drawingml/2006/main">
            <a:off x="64293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FFFF"/>
                </a:solidFill>
                <a:latin typeface="Meiryo"/>
                <a:ea typeface="Meiryo"/>
                <a:cs typeface="Meiryo"/>
              </a:defRPr>
            </a:pPr>
            <a:r>
              <a:rPr sz="2100" b="1">
                <a:solidFill>
                  <a:srgbClr val="FFFFFF"/>
                </a:solidFill>
                <a:latin typeface="Meiryo"/>
                <a:ea typeface="Meiryo"/>
                <a:cs typeface="Meiryo"/>
              </a:rPr>
              <a:t>Concept / conditional shift</a:t>
            </a:r>
          </a:p>
        </p:txBody>
      </p:sp>
      <p:sp>
        <p:nvSpPr>
          <p:cNvPr id="9" name="">
            <a:extLst xmlns:a="http://schemas.openxmlformats.org/drawingml/2006/main">
              <a:ext uri="{FF2B5EF4-FFF2-40B4-BE49-F238E27FC236}">
                <a16:creationId xmlns:a16="http://schemas.microsoft.com/office/drawing/2014/main" id="{9A875551-9D0F-45D3-8D0E-AA70AB2CA836}"/>
              </a:ext>
            </a:extLst>
          </p:cNvPr>
          <p:cNvSpPr>
            <a:spLocks xmlns:a="http://schemas.openxmlformats.org/drawingml/2006/main" noGrp="1"/>
          </p:cNvSpPr>
          <p:nvPr/>
        </p:nvSpPr>
        <p:spPr>
          <a:xfrm xmlns:a="http://schemas.openxmlformats.org/drawingml/2006/main">
            <a:off x="64293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P(Y｜X) が変化</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入力分布が不変の場合、</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入力だけに検知信号が現れない。</a:t>
            </a:r>
          </a:p>
        </p:txBody>
      </p:sp>
      <p:sp>
        <p:nvSpPr>
          <p:cNvPr id="10" name="">
            <a:extLst xmlns:a="http://schemas.openxmlformats.org/drawingml/2006/main">
              <a:ext uri="{FF2B5EF4-FFF2-40B4-BE49-F238E27FC236}">
                <a16:creationId xmlns:a16="http://schemas.microsoft.com/office/drawing/2014/main" id="{58673A97-4211-4B98-81F5-9AAD44734795}"/>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16425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57F8908-C0CF-4328-BCB7-8350F1BE8005}"/>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FFFFFF"/>
                </a:solidFill>
                <a:latin typeface="Meiryo"/>
                <a:ea typeface="Meiryo"/>
                <a:cs typeface="Meiryo"/>
              </a:defRPr>
            </a:pPr>
            <a:r>
              <a:rPr sz="1575" b="1">
                <a:solidFill>
                  <a:srgbClr val="FFFFFF"/>
                </a:solidFill>
                <a:latin typeface="Meiryo"/>
                <a:ea typeface="Meiryo"/>
                <a:cs typeface="Meiryo"/>
              </a:rPr>
              <a:t>13の定義は広いが、OutProは純粋なconcept shiftを検知できない</a:t>
            </a:r>
          </a:p>
        </p:txBody>
      </p:sp>
      <p:sp>
        <p:nvSpPr>
          <p:cNvPr id="12" name="">
            <a:extLst xmlns:a="http://schemas.openxmlformats.org/drawingml/2006/main">
              <a:ext uri="{FF2B5EF4-FFF2-40B4-BE49-F238E27FC236}">
                <a16:creationId xmlns:a16="http://schemas.microsoft.com/office/drawing/2014/main" id="{45DB7830-564D-4925-B849-89A0FCC25913}"/>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A9C5D0"/>
                </a:solidFill>
                <a:latin typeface="Meiryo"/>
                <a:ea typeface="Meiryo"/>
                <a:cs typeface="Meiryo"/>
              </a:defRPr>
            </a:pPr>
            <a:r>
              <a:rPr sz="825" b="0">
                <a:solidFill>
                  <a:srgbClr val="A9C5D0"/>
                </a:solidFill>
                <a:latin typeface="Meiryo"/>
                <a:ea typeface="Meiryo"/>
                <a:cs typeface="Meiryo"/>
              </a:rPr>
              <a:t>13 §1、§2.1、§7</a:t>
            </a:r>
          </a:p>
        </p:txBody>
      </p:sp>
      <p:sp>
        <p:nvSpPr>
          <p:cNvPr id="13" name="">
            <a:extLst xmlns:a="http://schemas.openxmlformats.org/drawingml/2006/main">
              <a:ext uri="{FF2B5EF4-FFF2-40B4-BE49-F238E27FC236}">
                <a16:creationId xmlns:a16="http://schemas.microsoft.com/office/drawing/2014/main" id="{21773D6C-3365-4323-AFBA-279B711E8C9A}"/>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06</a:t>
            </a:r>
          </a:p>
        </p:txBody>
      </p:sp>
    </p:spTree>
    <p:extLst>
      <p:ext uri="{BB962C8B-B14F-4D97-AF65-F5344CB8AC3E}">
        <p14:creationId xmlns:p14="http://schemas.microsoft.com/office/powerpoint/2010/main" val="88454033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DEB56A8-5E79-4CF3-BDA0-5FA8067567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895C8D-F21E-4029-91DC-DEE0A65D5575}"/>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AE0E8465-397B-4362-AF18-B4BCD96E216F}"/>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異常の種類は、論文ごとに分類軸が異なる</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e4041a1e4224241"/>
          <a:stretch xmlns:a="http://schemas.openxmlformats.org/drawingml/2006/main"/>
        </p:blipFill>
        <p:spPr>
          <a:xfrm xmlns:a="http://schemas.openxmlformats.org/drawingml/2006/main">
            <a:off x="457200" y="2314798"/>
            <a:ext cx="5524500" cy="156165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A1BF615-2635-4BF0-8688-49168D930B67}"/>
              </a:ext>
            </a:extLst>
          </p:cNvPr>
          <p:cNvSpPr>
            <a:spLocks xmlns:a="http://schemas.openxmlformats.org/drawingml/2006/main" noGrp="1"/>
          </p:cNvSpPr>
          <p:nvPr/>
        </p:nvSpPr>
        <p:spPr>
          <a:xfrm xmlns:a="http://schemas.openxmlformats.org/drawingml/2006/main">
            <a:off x="523875" y="483870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9384B"/>
                </a:solidFill>
                <a:latin typeface="Meiryo"/>
                <a:ea typeface="Meiryo"/>
                <a:cs typeface="Meiryo"/>
              </a:defRPr>
            </a:pPr>
            <a:r>
              <a:rPr sz="1725" b="1">
                <a:solidFill>
                  <a:srgbClr val="19384B"/>
                </a:solidFill>
                <a:latin typeface="Meiryo"/>
                <a:ea typeface="Meiryo"/>
                <a:cs typeface="Meiryo"/>
              </a:rPr>
              <a:t>S3：入力 × 異常の粒度 × 手法</a:t>
            </a:r>
          </a:p>
        </p:txBody>
      </p:sp>
      <p:sp>
        <p:nvSpPr>
          <p:cNvPr id="6" name="">
            <a:extLst xmlns:a="http://schemas.openxmlformats.org/drawingml/2006/main">
              <a:ext uri="{FF2B5EF4-FFF2-40B4-BE49-F238E27FC236}">
                <a16:creationId xmlns:a16="http://schemas.microsoft.com/office/drawing/2014/main" id="{A3288178-BE3D-454B-BF59-A42CD739209E}"/>
              </a:ext>
            </a:extLst>
          </p:cNvPr>
          <p:cNvSpPr>
            <a:spLocks xmlns:a="http://schemas.openxmlformats.org/drawingml/2006/main" noGrp="1"/>
          </p:cNvSpPr>
          <p:nvPr/>
        </p:nvSpPr>
        <p:spPr>
          <a:xfrm xmlns:a="http://schemas.openxmlformats.org/drawingml/2006/main">
            <a:off x="6524625" y="16287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8E99"/>
                </a:solidFill>
                <a:latin typeface="Meiryo"/>
                <a:ea typeface="Meiryo"/>
                <a:cs typeface="Meiryo"/>
              </a:defRPr>
            </a:pPr>
            <a:r>
              <a:rPr sz="2100" b="1">
                <a:solidFill>
                  <a:srgbClr val="008E99"/>
                </a:solidFill>
                <a:latin typeface="Meiryo"/>
                <a:ea typeface="Meiryo"/>
                <a:cs typeface="Meiryo"/>
              </a:rPr>
              <a:t>S1：何が異常か</a:t>
            </a:r>
          </a:p>
        </p:txBody>
      </p:sp>
      <p:sp>
        <p:nvSpPr>
          <p:cNvPr id="7" name="">
            <a:extLst xmlns:a="http://schemas.openxmlformats.org/drawingml/2006/main">
              <a:ext uri="{FF2B5EF4-FFF2-40B4-BE49-F238E27FC236}">
                <a16:creationId xmlns:a16="http://schemas.microsoft.com/office/drawing/2014/main" id="{11BB2F6D-278F-4F4F-9CD0-0347D55F9627}"/>
              </a:ext>
            </a:extLst>
          </p:cNvPr>
          <p:cNvSpPr>
            <a:spLocks xmlns:a="http://schemas.openxmlformats.org/drawingml/2006/main" noGrp="1"/>
          </p:cNvSpPr>
          <p:nvPr/>
        </p:nvSpPr>
        <p:spPr>
          <a:xfrm xmlns:a="http://schemas.openxmlformats.org/drawingml/2006/main">
            <a:off x="6524625" y="219075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Point / Contextual / Collective</a:t>
            </a:r>
          </a:p>
        </p:txBody>
      </p:sp>
      <p:sp>
        <p:nvSpPr>
          <p:cNvPr id="8" name="">
            <a:extLst xmlns:a="http://schemas.openxmlformats.org/drawingml/2006/main">
              <a:ext uri="{FF2B5EF4-FFF2-40B4-BE49-F238E27FC236}">
                <a16:creationId xmlns:a16="http://schemas.microsoft.com/office/drawing/2014/main" id="{7C5B9F43-119D-49CF-A667-94BBAAFE2448}"/>
              </a:ext>
            </a:extLst>
          </p:cNvPr>
          <p:cNvSpPr>
            <a:spLocks xmlns:a="http://schemas.openxmlformats.org/drawingml/2006/main" noGrp="1"/>
          </p:cNvSpPr>
          <p:nvPr/>
        </p:nvSpPr>
        <p:spPr>
          <a:xfrm xmlns:a="http://schemas.openxmlformats.org/drawingml/2006/main">
            <a:off x="6524625" y="32766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8E99"/>
                </a:solidFill>
                <a:latin typeface="Meiryo"/>
                <a:ea typeface="Meiryo"/>
                <a:cs typeface="Meiryo"/>
              </a:defRPr>
            </a:pPr>
            <a:r>
              <a:rPr sz="2100" b="1">
                <a:solidFill>
                  <a:srgbClr val="008E99"/>
                </a:solidFill>
                <a:latin typeface="Meiryo"/>
                <a:ea typeface="Meiryo"/>
                <a:cs typeface="Meiryo"/>
              </a:rPr>
              <a:t>S6：どの関係が崩れたか</a:t>
            </a:r>
          </a:p>
        </p:txBody>
      </p:sp>
      <p:sp>
        <p:nvSpPr>
          <p:cNvPr id="9" name="">
            <a:extLst xmlns:a="http://schemas.openxmlformats.org/drawingml/2006/main">
              <a:ext uri="{FF2B5EF4-FFF2-40B4-BE49-F238E27FC236}">
                <a16:creationId xmlns:a16="http://schemas.microsoft.com/office/drawing/2014/main" id="{A2295B45-77AE-49A9-B720-FA7CD389D34D}"/>
              </a:ext>
            </a:extLst>
          </p:cNvPr>
          <p:cNvSpPr>
            <a:spLocks xmlns:a="http://schemas.openxmlformats.org/drawingml/2006/main" noGrp="1"/>
          </p:cNvSpPr>
          <p:nvPr/>
        </p:nvSpPr>
        <p:spPr>
          <a:xfrm xmlns:a="http://schemas.openxmlformats.org/drawingml/2006/main">
            <a:off x="6524625" y="3876675"/>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Intra-metric：変数内の時間的挙動</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Inter-metric：変数間の依存関係</a:t>
            </a:r>
          </a:p>
        </p:txBody>
      </p:sp>
      <p:sp>
        <p:nvSpPr>
          <p:cNvPr id="10" name="">
            <a:extLst xmlns:a="http://schemas.openxmlformats.org/drawingml/2006/main">
              <a:ext uri="{FF2B5EF4-FFF2-40B4-BE49-F238E27FC236}">
                <a16:creationId xmlns:a16="http://schemas.microsoft.com/office/drawing/2014/main" id="{1814929A-1224-471F-AEE2-F8754DBE4CD4}"/>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9A2AC7E-F1C5-4F77-B467-08E6E010B66B}"/>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分類名を置き換えるだけでは、各論文の違いを表現できない</a:t>
            </a:r>
          </a:p>
        </p:txBody>
      </p:sp>
      <p:sp>
        <p:nvSpPr>
          <p:cNvPr id="12" name="">
            <a:extLst xmlns:a="http://schemas.openxmlformats.org/drawingml/2006/main">
              <a:ext uri="{FF2B5EF4-FFF2-40B4-BE49-F238E27FC236}">
                <a16:creationId xmlns:a16="http://schemas.microsoft.com/office/drawing/2014/main" id="{4A5BF4BE-CFE9-41AF-99C7-78181E94E1E6}"/>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S1 §3.2、S3 §2.2、S6 §2.2</a:t>
            </a:r>
          </a:p>
        </p:txBody>
      </p:sp>
      <p:sp>
        <p:nvSpPr>
          <p:cNvPr id="13" name="">
            <a:extLst xmlns:a="http://schemas.openxmlformats.org/drawingml/2006/main">
              <a:ext uri="{FF2B5EF4-FFF2-40B4-BE49-F238E27FC236}">
                <a16:creationId xmlns:a16="http://schemas.microsoft.com/office/drawing/2014/main" id="{7EFFFD7C-6F3B-46D4-89CD-5CEDBF3B7AA7}"/>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07</a:t>
            </a:r>
          </a:p>
        </p:txBody>
      </p:sp>
    </p:spTree>
    <p:extLst>
      <p:ext uri="{BB962C8B-B14F-4D97-AF65-F5344CB8AC3E}">
        <p14:creationId xmlns:p14="http://schemas.microsoft.com/office/powerpoint/2010/main" val="58030050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761CA68-4382-434E-A8FF-D2EEA66BED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27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256D70-A84C-44BD-8486-95C4F38C885A}"/>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69359ECF-F9C0-4EB5-8FED-A0723CE65A1C}"/>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FFFFFF"/>
                </a:solidFill>
                <a:latin typeface="Meiryo"/>
                <a:ea typeface="Meiryo"/>
                <a:cs typeface="Meiryo"/>
              </a:defRPr>
            </a:pPr>
            <a:r>
              <a:rPr sz="2550" b="1">
                <a:solidFill>
                  <a:srgbClr val="FFFFFF"/>
                </a:solidFill>
                <a:latin typeface="Meiryo"/>
                <a:ea typeface="Meiryo"/>
                <a:cs typeface="Meiryo"/>
              </a:rPr>
              <a:t>実習の定義と時系列の異常形態の対応</a:t>
            </a:r>
          </a:p>
        </p:txBody>
      </p:sp>
      <p:sp>
        <p:nvSpPr>
          <p:cNvPr id="4" name="">
            <a:extLst xmlns:a="http://schemas.openxmlformats.org/drawingml/2006/main">
              <a:ext uri="{FF2B5EF4-FFF2-40B4-BE49-F238E27FC236}">
                <a16:creationId xmlns:a16="http://schemas.microsoft.com/office/drawing/2014/main" id="{AC44E8D1-0D23-4EE2-82AB-3BDD6445EC15}"/>
              </a:ext>
            </a:extLst>
          </p:cNvPr>
          <p:cNvSpPr>
            <a:spLocks xmlns:a="http://schemas.openxmlformats.org/drawingml/2006/main" noGrp="1"/>
          </p:cNvSpPr>
          <p:nvPr/>
        </p:nvSpPr>
        <p:spPr>
          <a:xfrm xmlns:a="http://schemas.openxmlformats.org/drawingml/2006/main">
            <a:off x="5238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01</a:t>
            </a:r>
          </a:p>
        </p:txBody>
      </p:sp>
      <p:sp>
        <p:nvSpPr>
          <p:cNvPr id="5" name="">
            <a:extLst xmlns:a="http://schemas.openxmlformats.org/drawingml/2006/main">
              <a:ext uri="{FF2B5EF4-FFF2-40B4-BE49-F238E27FC236}">
                <a16:creationId xmlns:a16="http://schemas.microsoft.com/office/drawing/2014/main" id="{93AAAB2D-62BF-43D2-95F3-2AAB62F92C90}"/>
              </a:ext>
            </a:extLst>
          </p:cNvPr>
          <p:cNvSpPr>
            <a:spLocks xmlns:a="http://schemas.openxmlformats.org/drawingml/2006/main" noGrp="1"/>
          </p:cNvSpPr>
          <p:nvPr/>
        </p:nvSpPr>
        <p:spPr>
          <a:xfrm xmlns:a="http://schemas.openxmlformats.org/drawingml/2006/main">
            <a:off x="5238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FFFF"/>
                </a:solidFill>
                <a:latin typeface="Meiryo"/>
                <a:ea typeface="Meiryo"/>
                <a:cs typeface="Meiryo"/>
              </a:defRPr>
            </a:pPr>
            <a:r>
              <a:rPr sz="2100" b="1">
                <a:solidFill>
                  <a:srgbClr val="FFFFFF"/>
                </a:solidFill>
                <a:latin typeface="Meiryo"/>
                <a:ea typeface="Meiryo"/>
                <a:cs typeface="Meiryo"/>
              </a:rPr>
              <a:t>1時刻でも評価できる例</a:t>
            </a:r>
          </a:p>
        </p:txBody>
      </p:sp>
      <p:sp>
        <p:nvSpPr>
          <p:cNvPr id="6" name="">
            <a:extLst xmlns:a="http://schemas.openxmlformats.org/drawingml/2006/main">
              <a:ext uri="{FF2B5EF4-FFF2-40B4-BE49-F238E27FC236}">
                <a16:creationId xmlns:a16="http://schemas.microsoft.com/office/drawing/2014/main" id="{BE152B98-282E-42C9-8A7E-2F9EBD1D6B4F}"/>
              </a:ext>
            </a:extLst>
          </p:cNvPr>
          <p:cNvSpPr>
            <a:spLocks xmlns:a="http://schemas.openxmlformats.org/drawingml/2006/main" noGrp="1"/>
          </p:cNvSpPr>
          <p:nvPr/>
        </p:nvSpPr>
        <p:spPr>
          <a:xfrm xmlns:a="http://schemas.openxmlformats.org/drawingml/2006/main">
            <a:off x="5238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範囲を超える値</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複数変数の珍しい組合せ</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訓練サンプルから離れた入力</a:t>
            </a:r>
          </a:p>
        </p:txBody>
      </p:sp>
      <p:sp>
        <p:nvSpPr>
          <p:cNvPr id="7" name="">
            <a:extLst xmlns:a="http://schemas.openxmlformats.org/drawingml/2006/main">
              <a:ext uri="{FF2B5EF4-FFF2-40B4-BE49-F238E27FC236}">
                <a16:creationId xmlns:a16="http://schemas.microsoft.com/office/drawing/2014/main" id="{A2A874CF-8463-4FF2-94FA-E02728E8D2AA}"/>
              </a:ext>
            </a:extLst>
          </p:cNvPr>
          <p:cNvSpPr>
            <a:spLocks xmlns:a="http://schemas.openxmlformats.org/drawingml/2006/main" noGrp="1"/>
          </p:cNvSpPr>
          <p:nvPr/>
        </p:nvSpPr>
        <p:spPr>
          <a:xfrm xmlns:a="http://schemas.openxmlformats.org/drawingml/2006/main">
            <a:off x="64293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02</a:t>
            </a:r>
          </a:p>
        </p:txBody>
      </p:sp>
      <p:sp>
        <p:nvSpPr>
          <p:cNvPr id="8" name="">
            <a:extLst xmlns:a="http://schemas.openxmlformats.org/drawingml/2006/main">
              <a:ext uri="{FF2B5EF4-FFF2-40B4-BE49-F238E27FC236}">
                <a16:creationId xmlns:a16="http://schemas.microsoft.com/office/drawing/2014/main" id="{737D2BB0-8AB7-413C-B2BE-16F9E6C2D571}"/>
              </a:ext>
            </a:extLst>
          </p:cNvPr>
          <p:cNvSpPr>
            <a:spLocks xmlns:a="http://schemas.openxmlformats.org/drawingml/2006/main" noGrp="1"/>
          </p:cNvSpPr>
          <p:nvPr/>
        </p:nvSpPr>
        <p:spPr>
          <a:xfrm xmlns:a="http://schemas.openxmlformats.org/drawingml/2006/main">
            <a:off x="64293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FFFF"/>
                </a:solidFill>
                <a:latin typeface="Meiryo"/>
                <a:ea typeface="Meiryo"/>
                <a:cs typeface="Meiryo"/>
              </a:defRPr>
            </a:pPr>
            <a:r>
              <a:rPr sz="2100" b="1">
                <a:solidFill>
                  <a:srgbClr val="FFFFFF"/>
                </a:solidFill>
                <a:latin typeface="Meiryo"/>
                <a:ea typeface="Meiryo"/>
                <a:cs typeface="Meiryo"/>
              </a:rPr>
              <a:t>履歴が必要になる例</a:t>
            </a:r>
          </a:p>
        </p:txBody>
      </p:sp>
      <p:sp>
        <p:nvSpPr>
          <p:cNvPr id="9" name="">
            <a:extLst xmlns:a="http://schemas.openxmlformats.org/drawingml/2006/main">
              <a:ext uri="{FF2B5EF4-FFF2-40B4-BE49-F238E27FC236}">
                <a16:creationId xmlns:a16="http://schemas.microsoft.com/office/drawing/2014/main" id="{7FA04AAB-7660-4D89-858C-94CAA82C978D}"/>
              </a:ext>
            </a:extLst>
          </p:cNvPr>
          <p:cNvSpPr>
            <a:spLocks xmlns:a="http://schemas.openxmlformats.org/drawingml/2006/main" noGrp="1"/>
          </p:cNvSpPr>
          <p:nvPr/>
        </p:nvSpPr>
        <p:spPr>
          <a:xfrm xmlns:a="http://schemas.openxmlformats.org/drawingml/2006/main">
            <a:off x="64293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センサーの長時間の固定</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周期・傾向の変化</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複数時刻にわたる関係の崩れ</a:t>
            </a:r>
          </a:p>
        </p:txBody>
      </p:sp>
      <p:sp>
        <p:nvSpPr>
          <p:cNvPr id="10" name="">
            <a:extLst xmlns:a="http://schemas.openxmlformats.org/drawingml/2006/main">
              <a:ext uri="{FF2B5EF4-FFF2-40B4-BE49-F238E27FC236}">
                <a16:creationId xmlns:a16="http://schemas.microsoft.com/office/drawing/2014/main" id="{BAF52C19-C8A5-4BAA-A7E7-4980F5783D76}"/>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16425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04F2FA4-3C0F-4997-B150-B1645531A93A}"/>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FFFFFF"/>
                </a:solidFill>
                <a:latin typeface="Meiryo"/>
                <a:ea typeface="Meiryo"/>
                <a:cs typeface="Meiryo"/>
              </a:defRPr>
            </a:pPr>
            <a:r>
              <a:rPr sz="1575" b="1">
                <a:solidFill>
                  <a:srgbClr val="FFFFFF"/>
                </a:solidFill>
                <a:latin typeface="Meiryo"/>
                <a:ea typeface="Meiryo"/>
                <a:cs typeface="Meiryo"/>
              </a:rPr>
              <a:t>「学習外の条件」と「異常の形態」は別の軸として整理する</a:t>
            </a:r>
          </a:p>
        </p:txBody>
      </p:sp>
      <p:sp>
        <p:nvSpPr>
          <p:cNvPr id="12" name="">
            <a:extLst xmlns:a="http://schemas.openxmlformats.org/drawingml/2006/main">
              <a:ext uri="{FF2B5EF4-FFF2-40B4-BE49-F238E27FC236}">
                <a16:creationId xmlns:a16="http://schemas.microsoft.com/office/drawing/2014/main" id="{1F17F43B-7F36-4DBC-A5D6-4B0E52797D3F}"/>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A9C5D0"/>
                </a:solidFill>
                <a:latin typeface="Meiryo"/>
                <a:ea typeface="Meiryo"/>
                <a:cs typeface="Meiryo"/>
              </a:defRPr>
            </a:pPr>
            <a:r>
              <a:rPr sz="825" b="0">
                <a:solidFill>
                  <a:srgbClr val="A9C5D0"/>
                </a:solidFill>
                <a:latin typeface="Meiryo"/>
                <a:ea typeface="Meiryo"/>
                <a:cs typeface="Meiryo"/>
              </a:rPr>
              <a:t>実習要求、S1・S3・S6を基に本調査で整理</a:t>
            </a:r>
          </a:p>
        </p:txBody>
      </p:sp>
      <p:sp>
        <p:nvSpPr>
          <p:cNvPr id="13" name="">
            <a:extLst xmlns:a="http://schemas.openxmlformats.org/drawingml/2006/main">
              <a:ext uri="{FF2B5EF4-FFF2-40B4-BE49-F238E27FC236}">
                <a16:creationId xmlns:a16="http://schemas.microsoft.com/office/drawing/2014/main" id="{13209367-64E2-47A6-BA13-8E2C1234686F}"/>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08</a:t>
            </a:r>
          </a:p>
        </p:txBody>
      </p:sp>
    </p:spTree>
    <p:extLst>
      <p:ext uri="{BB962C8B-B14F-4D97-AF65-F5344CB8AC3E}">
        <p14:creationId xmlns:p14="http://schemas.microsoft.com/office/powerpoint/2010/main" val="188806753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07BD546-35DB-499A-9EA8-882F47D502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EE7289-76B3-4C22-8D60-8650D89101D3}"/>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F1BF9D67-9381-42EE-86A0-7F1E6EAE7B04}"/>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検知手法の分類も、目的に応じて異なる</a:t>
            </a:r>
          </a:p>
        </p:txBody>
      </p:sp>
      <p:graphicFrame>
        <p:nvGraphicFramePr>
          <p:cNvPr id="12" name=""/>
          <p:cNvGraphicFramePr/>
          <p:nvPr/>
        </p:nvGraphicFramePr>
        <p:xfrm>
          <a:off xmlns:a="http://schemas.openxmlformats.org/drawingml/2006/main" x="476250" y="1476375"/>
          <a:ext xmlns:a="http://schemas.openxmlformats.org/drawingml/2006/main" cx="11239500" cy="2667000"/>
        </p:xfrm>
        <a:graphic xmlns:a="http://schemas.openxmlformats.org/drawingml/2006/main">
          <a:graphicData uri="http://schemas.openxmlformats.org/drawingml/2006/table">
            <a:tbl>
              <a:tblPr/>
              <a:tblGrid>
                <a:gridCol w="1269734"/>
                <a:gridCol w="4984883"/>
                <a:gridCol w="4984883"/>
              </a:tblGrid>
              <a:tr h="666750">
                <a:tc>
                  <a:txBody>
                    <a:bodyPr/>
                    <a:lstStyle/>
                    <a:p>
                      <a:r>
                        <a:rPr sz="1650" b="1">
                          <a:solidFill>
                            <a:srgbClr val="FFFFFF"/>
                          </a:solidFill>
                          <a:latin typeface="Meiryo"/>
                          <a:ea typeface="Meiryo"/>
                          <a:cs typeface="Meiryo"/>
                        </a:rPr>
                        <a:t>文献</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分類の中心</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実習で確認したい点</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S1</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従来型 / 機械学習 / DNN</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複雑さに見合う効果があるか</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S3</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入力の種類 × 異常の粒度</a:t>
                      </a:r>
                    </a:p>
                    <a:p>
                      <a:r>
                        <a:rPr sz="1650" b="0">
                          <a:solidFill>
                            <a:srgbClr val="19384B"/>
                          </a:solidFill>
                          <a:latin typeface="Meiryo"/>
                          <a:ea typeface="Meiryo"/>
                          <a:cs typeface="Meiryo"/>
                        </a:rPr>
                        <a:t>× 単変量・多変量手法</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変数を共同で扱うか</a:t>
                      </a:r>
                    </a:p>
                    <a:p>
                      <a:r>
                        <a:rPr sz="1650" b="0">
                          <a:solidFill>
                            <a:srgbClr val="19384B"/>
                          </a:solidFill>
                          <a:latin typeface="Meiryo"/>
                          <a:ea typeface="Meiryo"/>
                          <a:cs typeface="Meiryo"/>
                        </a:rPr>
                        <a:t>時間情報・オンライン処理を使うか</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S6</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予測 / 再構成 / 対照学習</a:t>
                      </a:r>
                    </a:p>
                    <a:p>
                      <a:r>
                        <a:rPr sz="1650" b="0">
                          <a:solidFill>
                            <a:srgbClr val="19384B"/>
                          </a:solidFill>
                          <a:latin typeface="Meiryo"/>
                          <a:ea typeface="Meiryo"/>
                          <a:cs typeface="Meiryo"/>
                        </a:rPr>
                        <a:t>学習形態・構造・Point/Windowも整理</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異常スコアをどう作るか</a:t>
                      </a:r>
                    </a:p>
                    <a:p>
                      <a:r>
                        <a:rPr sz="1650" b="0">
                          <a:solidFill>
                            <a:srgbClr val="19384B"/>
                          </a:solidFill>
                          <a:latin typeface="Meiryo"/>
                          <a:ea typeface="Meiryo"/>
                          <a:cs typeface="Meiryo"/>
                        </a:rPr>
                        <a:t>過去の入力をどれだけ必要とするか</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7529D991-4EC6-4C2A-9FA2-8D8FA24232A2}"/>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99B7F7C-7B0C-47AD-BA93-C06365D59C86}"/>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S1のDNNは機械学習の一部でもあり、分類境界は完全には明確でない</a:t>
            </a:r>
          </a:p>
        </p:txBody>
      </p:sp>
      <p:sp>
        <p:nvSpPr>
          <p:cNvPr id="7" name="">
            <a:extLst xmlns:a="http://schemas.openxmlformats.org/drawingml/2006/main">
              <a:ext uri="{FF2B5EF4-FFF2-40B4-BE49-F238E27FC236}">
                <a16:creationId xmlns:a16="http://schemas.microsoft.com/office/drawing/2014/main" id="{BDD8DB77-5B3A-4795-A01D-A0C5DD940BAC}"/>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S1 §4.1、S3 §2–3、S6 §3・Table 1</a:t>
            </a:r>
          </a:p>
        </p:txBody>
      </p:sp>
      <p:sp>
        <p:nvSpPr>
          <p:cNvPr id="8" name="">
            <a:extLst xmlns:a="http://schemas.openxmlformats.org/drawingml/2006/main">
              <a:ext uri="{FF2B5EF4-FFF2-40B4-BE49-F238E27FC236}">
                <a16:creationId xmlns:a16="http://schemas.microsoft.com/office/drawing/2014/main" id="{A934724A-8F32-4C9A-B37B-3AADC0EAFB21}"/>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09</a:t>
            </a:r>
          </a:p>
        </p:txBody>
      </p:sp>
    </p:spTree>
    <p:extLst>
      <p:ext uri="{BB962C8B-B14F-4D97-AF65-F5344CB8AC3E}">
        <p14:creationId xmlns:p14="http://schemas.microsoft.com/office/powerpoint/2010/main" val="5186192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C7A71C-370A-445D-89E7-C2CDDBDCBF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7DB0C1-375A-4300-AA90-565F2C9726C1}"/>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7111E6CE-7E15-4BF1-9095-906A2E873A87}"/>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実習向けの共通比較軸</a:t>
            </a:r>
          </a:p>
        </p:txBody>
      </p:sp>
      <p:graphicFrame>
        <p:nvGraphicFramePr>
          <p:cNvPr id="10" name=""/>
          <p:cNvGraphicFramePr/>
          <p:nvPr/>
        </p:nvGraphicFramePr>
        <p:xfrm>
          <a:off xmlns:a="http://schemas.openxmlformats.org/drawingml/2006/main" x="476250" y="1476375"/>
          <a:ext xmlns:a="http://schemas.openxmlformats.org/drawingml/2006/main" cx="11239500" cy="4286250"/>
        </p:xfrm>
        <a:graphic xmlns:a="http://schemas.openxmlformats.org/drawingml/2006/main">
          <a:graphicData uri="http://schemas.openxmlformats.org/drawingml/2006/table">
            <a:tbl>
              <a:tblPr/>
              <a:tblGrid>
                <a:gridCol w="3432985"/>
                <a:gridCol w="4232448"/>
                <a:gridCol w="3574067"/>
              </a:tblGrid>
              <a:tr h="612321">
                <a:tc>
                  <a:txBody>
                    <a:bodyPr/>
                    <a:lstStyle/>
                    <a:p>
                      <a:r>
                        <a:rPr sz="1650" b="1">
                          <a:solidFill>
                            <a:srgbClr val="FFFFFF"/>
                          </a:solidFill>
                          <a:latin typeface="Meiryo"/>
                          <a:ea typeface="Meiryo"/>
                          <a:cs typeface="Meiryo"/>
                        </a:rPr>
                        <a:t>検知の根拠</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今回の位置付け</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追加で記録する条件</a:t>
                      </a:r>
                    </a:p>
                  </a:txBody>
                  <a:tcPr marL="114300" marR="95250" marT="85725" marB="66675" anchor="ctr">
                    <a:solidFill>
                      <a:srgbClr val="08273C"/>
                    </a:solidFill>
                  </a:tcPr>
                </a:tc>
              </a:tr>
              <a:tr h="612321">
                <a:tc>
                  <a:txBody>
                    <a:bodyPr/>
                    <a:lstStyle/>
                    <a:p>
                      <a:r>
                        <a:rPr sz="1650" b="0">
                          <a:solidFill>
                            <a:srgbClr val="19384B"/>
                          </a:solidFill>
                          <a:latin typeface="Meiryo"/>
                          <a:ea typeface="Meiryo"/>
                          <a:cs typeface="Meiryo"/>
                        </a:rPr>
                        <a:t>範囲・距離・近傍</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山原のAD手法、13のOutPro</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1時刻 / 過去窓</a:t>
                      </a:r>
                    </a:p>
                  </a:txBody>
                  <a:tcPr marL="114300" marR="95250" marT="85725" marB="66675" anchor="ctr">
                    <a:solidFill>
                      <a:srgbClr val="F0F6F8"/>
                    </a:solidFill>
                  </a:tcPr>
                </a:tc>
              </a:tr>
              <a:tr h="612321">
                <a:tc>
                  <a:txBody>
                    <a:bodyPr/>
                    <a:lstStyle/>
                    <a:p>
                      <a:r>
                        <a:rPr sz="1650" b="0">
                          <a:solidFill>
                            <a:srgbClr val="19384B"/>
                          </a:solidFill>
                          <a:latin typeface="Meiryo"/>
                          <a:ea typeface="Meiryo"/>
                          <a:cs typeface="Meiryo"/>
                        </a:rPr>
                        <a:t>密度・正常領域</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近傍密度などの候補群</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訓練時のX / Y / 異常ラベル</a:t>
                      </a:r>
                    </a:p>
                  </a:txBody>
                  <a:tcPr marL="114300" marR="95250" marT="85725" marB="66675" anchor="ctr">
                    <a:solidFill>
                      <a:srgbClr val="FFFFFF"/>
                    </a:solidFill>
                  </a:tcPr>
                </a:tc>
              </a:tr>
              <a:tr h="612321">
                <a:tc>
                  <a:txBody>
                    <a:bodyPr/>
                    <a:lstStyle/>
                    <a:p>
                      <a:r>
                        <a:rPr sz="1650" b="0">
                          <a:solidFill>
                            <a:srgbClr val="19384B"/>
                          </a:solidFill>
                          <a:latin typeface="Meiryo"/>
                          <a:ea typeface="Meiryo"/>
                          <a:cs typeface="Meiryo"/>
                        </a:rPr>
                        <a:t>次元削減・再構成誤差</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14のAE / ノイズ除去AE</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運用時の入力 / 内部情報 / 真値</a:t>
                      </a:r>
                    </a:p>
                  </a:txBody>
                  <a:tcPr marL="114300" marR="95250" marT="85725" marB="66675" anchor="ctr">
                    <a:solidFill>
                      <a:srgbClr val="F0F6F8"/>
                    </a:solidFill>
                  </a:tcPr>
                </a:tc>
              </a:tr>
              <a:tr h="612321">
                <a:tc>
                  <a:txBody>
                    <a:bodyPr/>
                    <a:lstStyle/>
                    <a:p>
                      <a:r>
                        <a:rPr sz="1650" b="0">
                          <a:solidFill>
                            <a:srgbClr val="19384B"/>
                          </a:solidFill>
                          <a:latin typeface="Meiryo"/>
                          <a:ea typeface="Meiryo"/>
                          <a:cs typeface="Meiryo"/>
                        </a:rPr>
                        <a:t>時間予測の残差</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S1・S6から追加調査</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必要な過去長・検知遅延</a:t>
                      </a:r>
                    </a:p>
                  </a:txBody>
                  <a:tcPr marL="114300" marR="95250" marT="85725" marB="66675" anchor="ctr">
                    <a:solidFill>
                      <a:srgbClr val="FFFFFF"/>
                    </a:solidFill>
                  </a:tcPr>
                </a:tc>
              </a:tr>
              <a:tr h="612321">
                <a:tc>
                  <a:txBody>
                    <a:bodyPr/>
                    <a:lstStyle/>
                    <a:p>
                      <a:r>
                        <a:rPr sz="1650" b="0">
                          <a:solidFill>
                            <a:srgbClr val="19384B"/>
                          </a:solidFill>
                          <a:latin typeface="Meiryo"/>
                          <a:ea typeface="Meiryo"/>
                          <a:cs typeface="Meiryo"/>
                        </a:rPr>
                        <a:t>予測不確かさ・モデル間差</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13の関連研究から追加調査</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対象回帰モデルへの依存</a:t>
                      </a:r>
                    </a:p>
                  </a:txBody>
                  <a:tcPr marL="114300" marR="95250" marT="85725" marB="66675" anchor="ctr">
                    <a:solidFill>
                      <a:srgbClr val="F0F6F8"/>
                    </a:solidFill>
                  </a:tcPr>
                </a:tc>
              </a:tr>
              <a:tr h="612321">
                <a:tc>
                  <a:txBody>
                    <a:bodyPr/>
                    <a:lstStyle/>
                    <a:p>
                      <a:r>
                        <a:rPr sz="1650" b="0">
                          <a:solidFill>
                            <a:srgbClr val="19384B"/>
                          </a:solidFill>
                          <a:latin typeface="Meiryo"/>
                          <a:ea typeface="Meiryo"/>
                          <a:cs typeface="Meiryo"/>
                        </a:rPr>
                        <a:t>時間的な分布変化</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追加調査の対象</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閾値・更新方法・誤検知率</a:t>
                      </a:r>
                    </a:p>
                  </a:txBody>
                  <a:tcPr marL="114300" marR="95250" marT="8572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AC337E8-754B-4632-A560-7925EA8E31AC}"/>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文献群を基にした本調査の整理。各行は排他的な分類ではない</a:t>
            </a:r>
          </a:p>
        </p:txBody>
      </p:sp>
      <p:sp>
        <p:nvSpPr>
          <p:cNvPr id="6" name="">
            <a:extLst xmlns:a="http://schemas.openxmlformats.org/drawingml/2006/main">
              <a:ext uri="{FF2B5EF4-FFF2-40B4-BE49-F238E27FC236}">
                <a16:creationId xmlns:a16="http://schemas.microsoft.com/office/drawing/2014/main" id="{32F4A53E-359A-4F37-9001-740748FBA766}"/>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10</a:t>
            </a:r>
          </a:p>
        </p:txBody>
      </p:sp>
    </p:spTree>
    <p:extLst>
      <p:ext uri="{BB962C8B-B14F-4D97-AF65-F5344CB8AC3E}">
        <p14:creationId xmlns:p14="http://schemas.microsoft.com/office/powerpoint/2010/main" val="63162897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2824A63-E727-4643-8CB0-EC0AB0242B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AC48FA-F811-4CF4-BEB4-22D618495D4C}"/>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02  文献とアルゴリズム</a:t>
            </a:r>
          </a:p>
        </p:txBody>
      </p:sp>
      <p:sp>
        <p:nvSpPr>
          <p:cNvPr id="3" name="">
            <a:extLst xmlns:a="http://schemas.openxmlformats.org/drawingml/2006/main">
              <a:ext uri="{FF2B5EF4-FFF2-40B4-BE49-F238E27FC236}">
                <a16:creationId xmlns:a16="http://schemas.microsoft.com/office/drawing/2014/main" id="{752791ED-A448-48EF-AF11-E72DED35B587}"/>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S1：深層手法が常に優れるわけではない</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4094345fde74fa6"/>
          <a:stretch xmlns:a="http://schemas.openxmlformats.org/drawingml/2006/main"/>
        </p:blipFill>
        <p:spPr>
          <a:xfrm xmlns:a="http://schemas.openxmlformats.org/drawingml/2006/main">
            <a:off x="381000" y="2601599"/>
            <a:ext cx="7620000" cy="187387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92EC9DF-A84C-477A-A34E-851640F61348}"/>
              </a:ext>
            </a:extLst>
          </p:cNvPr>
          <p:cNvSpPr>
            <a:spLocks xmlns:a="http://schemas.openxmlformats.org/drawingml/2006/main" noGrp="1"/>
          </p:cNvSpPr>
          <p:nvPr/>
        </p:nvSpPr>
        <p:spPr>
          <a:xfrm xmlns:a="http://schemas.openxmlformats.org/drawingml/2006/main">
            <a:off x="8324850" y="169545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8E99"/>
                </a:solidFill>
                <a:latin typeface="Meiryo"/>
                <a:ea typeface="Meiryo"/>
                <a:cs typeface="Meiryo"/>
              </a:defRPr>
            </a:pPr>
            <a:r>
              <a:rPr sz="2175" b="1">
                <a:solidFill>
                  <a:srgbClr val="008E99"/>
                </a:solidFill>
                <a:latin typeface="Meiryo"/>
                <a:ea typeface="Meiryo"/>
                <a:cs typeface="Meiryo"/>
              </a:rPr>
              <a:t>16手法 × 5データ</a:t>
            </a:r>
          </a:p>
        </p:txBody>
      </p:sp>
      <p:sp>
        <p:nvSpPr>
          <p:cNvPr id="6" name="">
            <a:extLst xmlns:a="http://schemas.openxmlformats.org/drawingml/2006/main">
              <a:ext uri="{FF2B5EF4-FFF2-40B4-BE49-F238E27FC236}">
                <a16:creationId xmlns:a16="http://schemas.microsoft.com/office/drawing/2014/main" id="{EA5EF9E8-3884-4810-AB5F-F74970F8D427}"/>
              </a:ext>
            </a:extLst>
          </p:cNvPr>
          <p:cNvSpPr>
            <a:spLocks xmlns:a="http://schemas.openxmlformats.org/drawingml/2006/main" noGrp="1"/>
          </p:cNvSpPr>
          <p:nvPr/>
        </p:nvSpPr>
        <p:spPr>
          <a:xfrm xmlns:a="http://schemas.openxmlformats.org/drawingml/2006/main">
            <a:off x="8324850" y="2533650"/>
            <a:ext cx="3333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全データで一貫して</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優れる手法群はない。</a:t>
            </a:r>
          </a:p>
          <a:p xmlns:a="http://schemas.openxmlformats.org/drawingml/2006/main">
            <a:r>
              <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F1は閾値走査の最大値。</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固定閾値の運用性能とは</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区別して読む。</a:t>
            </a:r>
          </a:p>
        </p:txBody>
      </p:sp>
      <p:sp>
        <p:nvSpPr>
          <p:cNvPr id="7" name="">
            <a:extLst xmlns:a="http://schemas.openxmlformats.org/drawingml/2006/main">
              <a:ext uri="{FF2B5EF4-FFF2-40B4-BE49-F238E27FC236}">
                <a16:creationId xmlns:a16="http://schemas.microsoft.com/office/drawing/2014/main" id="{F852F7A7-4D35-409B-84A7-512A90360921}"/>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E47507D-35B9-4ECF-8F74-60C674498205}"/>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候補には単純な基準手法も含め、同一の評価条件で比較する</a:t>
            </a:r>
          </a:p>
        </p:txBody>
      </p:sp>
      <p:sp>
        <p:nvSpPr>
          <p:cNvPr id="9" name="">
            <a:extLst xmlns:a="http://schemas.openxmlformats.org/drawingml/2006/main">
              <a:ext uri="{FF2B5EF4-FFF2-40B4-BE49-F238E27FC236}">
                <a16:creationId xmlns:a16="http://schemas.microsoft.com/office/drawing/2014/main" id="{C6B65851-3CB5-4ED7-B6E0-084044B7BD6E}"/>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S1 §5–6、Table 1–2</a:t>
            </a:r>
          </a:p>
        </p:txBody>
      </p:sp>
      <p:sp>
        <p:nvSpPr>
          <p:cNvPr id="10" name="">
            <a:extLst xmlns:a="http://schemas.openxmlformats.org/drawingml/2006/main">
              <a:ext uri="{FF2B5EF4-FFF2-40B4-BE49-F238E27FC236}">
                <a16:creationId xmlns:a16="http://schemas.microsoft.com/office/drawing/2014/main" id="{18376CD1-30A5-4B33-9A44-2EDEA797D2D7}"/>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11</a:t>
            </a:r>
          </a:p>
        </p:txBody>
      </p:sp>
    </p:spTree>
    <p:extLst>
      <p:ext uri="{BB962C8B-B14F-4D97-AF65-F5344CB8AC3E}">
        <p14:creationId xmlns:p14="http://schemas.microsoft.com/office/powerpoint/2010/main" val="155863448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2ED04C-C797-4CFA-A715-B187EF485A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3B33F5-DABE-48C7-A61C-DE9F0D645A9B}"/>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02  文献とアルゴリズム</a:t>
            </a:r>
          </a:p>
        </p:txBody>
      </p:sp>
      <p:sp>
        <p:nvSpPr>
          <p:cNvPr id="3" name="">
            <a:extLst xmlns:a="http://schemas.openxmlformats.org/drawingml/2006/main">
              <a:ext uri="{FF2B5EF4-FFF2-40B4-BE49-F238E27FC236}">
                <a16:creationId xmlns:a16="http://schemas.microsoft.com/office/drawing/2014/main" id="{AF4AC6F0-E249-48E4-8CD2-F961CFDEDF20}"/>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山原：末端圧力推定の適用領域</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970fc3ae4f9428b"/>
          <a:stretch xmlns:a="http://schemas.openxmlformats.org/drawingml/2006/main"/>
        </p:blipFill>
        <p:spPr>
          <a:xfrm xmlns:a="http://schemas.openxmlformats.org/drawingml/2006/main">
            <a:off x="428625" y="2058535"/>
            <a:ext cx="7000875" cy="264568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D4135C6-645C-4741-895C-48E2CBA1FE60}"/>
              </a:ext>
            </a:extLst>
          </p:cNvPr>
          <p:cNvSpPr>
            <a:spLocks xmlns:a="http://schemas.openxmlformats.org/drawingml/2006/main" noGrp="1"/>
          </p:cNvSpPr>
          <p:nvPr/>
        </p:nvSpPr>
        <p:spPr>
          <a:xfrm xmlns:a="http://schemas.openxmlformats.org/drawingml/2006/main">
            <a:off x="7858125" y="161925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8E99"/>
                </a:solidFill>
                <a:latin typeface="Meiryo"/>
                <a:ea typeface="Meiryo"/>
                <a:cs typeface="Meiryo"/>
              </a:defRPr>
            </a:pPr>
            <a:r>
              <a:rPr sz="2100" b="1">
                <a:solidFill>
                  <a:srgbClr val="008E99"/>
                </a:solidFill>
                <a:latin typeface="Meiryo"/>
                <a:ea typeface="Meiryo"/>
                <a:cs typeface="Meiryo"/>
              </a:rPr>
              <a:t>配水圧力モデルの実例</a:t>
            </a:r>
          </a:p>
        </p:txBody>
      </p:sp>
      <p:sp>
        <p:nvSpPr>
          <p:cNvPr id="6" name="">
            <a:extLst xmlns:a="http://schemas.openxmlformats.org/drawingml/2006/main">
              <a:ext uri="{FF2B5EF4-FFF2-40B4-BE49-F238E27FC236}">
                <a16:creationId xmlns:a16="http://schemas.microsoft.com/office/drawing/2014/main" id="{0F86291B-48EA-4E7B-A05F-A3814E79B7BF}"/>
              </a:ext>
            </a:extLst>
          </p:cNvPr>
          <p:cNvSpPr>
            <a:spLocks xmlns:a="http://schemas.openxmlformats.org/drawingml/2006/main" noGrp="1"/>
          </p:cNvSpPr>
          <p:nvPr/>
        </p:nvSpPr>
        <p:spPr>
          <a:xfrm xmlns:a="http://schemas.openxmlformats.org/drawingml/2006/main">
            <a:off x="7858125" y="2428875"/>
            <a:ext cx="3857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範囲・平均距離・近傍距離</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3系統、5方式を比較</a:t>
            </a:r>
          </a:p>
          <a:p xmlns:a="http://schemas.openxmlformats.org/drawingml/2006/main">
            <a:r>
              <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|推定誤差| &gt; 0.022 MPa</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を用いる代理ラベルも評価。</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真のOODラベルとは異なる。</a:t>
            </a:r>
          </a:p>
        </p:txBody>
      </p:sp>
      <p:sp>
        <p:nvSpPr>
          <p:cNvPr id="7" name="">
            <a:extLst xmlns:a="http://schemas.openxmlformats.org/drawingml/2006/main">
              <a:ext uri="{FF2B5EF4-FFF2-40B4-BE49-F238E27FC236}">
                <a16:creationId xmlns:a16="http://schemas.microsoft.com/office/drawing/2014/main" id="{5D54BE82-2B4A-441B-ADD2-312F63BCD2B0}"/>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A119969-58C9-41A9-910B-D6DF623C7957}"/>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AD内外の分類と、実際の圧力推定誤差との関係を評価する</a:t>
            </a:r>
          </a:p>
        </p:txBody>
      </p:sp>
      <p:sp>
        <p:nvSpPr>
          <p:cNvPr id="9" name="">
            <a:extLst xmlns:a="http://schemas.openxmlformats.org/drawingml/2006/main">
              <a:ext uri="{FF2B5EF4-FFF2-40B4-BE49-F238E27FC236}">
                <a16:creationId xmlns:a16="http://schemas.microsoft.com/office/drawing/2014/main" id="{BFB3AF4B-F154-4018-B201-CA85EF324F38}"/>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山原 §3–5、Fig. 3。図は提供されたスキャンから引用</a:t>
            </a:r>
          </a:p>
        </p:txBody>
      </p:sp>
      <p:sp>
        <p:nvSpPr>
          <p:cNvPr id="10" name="">
            <a:extLst xmlns:a="http://schemas.openxmlformats.org/drawingml/2006/main">
              <a:ext uri="{FF2B5EF4-FFF2-40B4-BE49-F238E27FC236}">
                <a16:creationId xmlns:a16="http://schemas.microsoft.com/office/drawing/2014/main" id="{5C28520D-573E-4DD7-9A19-71DE114D1001}"/>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12</a:t>
            </a:r>
          </a:p>
        </p:txBody>
      </p:sp>
    </p:spTree>
    <p:extLst>
      <p:ext uri="{BB962C8B-B14F-4D97-AF65-F5344CB8AC3E}">
        <p14:creationId xmlns:p14="http://schemas.microsoft.com/office/powerpoint/2010/main" val="185552414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89E90EB-FE65-456D-8ECA-8B9E13E68C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29D797-9C68-4AAA-98AB-938009EFB454}"/>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02  文献とアルゴリズム</a:t>
            </a:r>
          </a:p>
        </p:txBody>
      </p:sp>
      <p:sp>
        <p:nvSpPr>
          <p:cNvPr id="3" name="">
            <a:extLst xmlns:a="http://schemas.openxmlformats.org/drawingml/2006/main">
              <a:ext uri="{FF2B5EF4-FFF2-40B4-BE49-F238E27FC236}">
                <a16:creationId xmlns:a16="http://schemas.microsoft.com/office/drawing/2014/main" id="{533A60A3-07F2-4A99-A156-7A8000684082}"/>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14：再構成誤差による入力の検知</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28f5b7cd25d4135"/>
          <a:stretch xmlns:a="http://schemas.openxmlformats.org/drawingml/2006/main"/>
        </p:blipFill>
        <p:spPr>
          <a:xfrm xmlns:a="http://schemas.openxmlformats.org/drawingml/2006/main">
            <a:off x="980893" y="1362075"/>
            <a:ext cx="7277464" cy="4095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9991503-67FE-4A6F-B308-944E28A5C6C1}"/>
              </a:ext>
            </a:extLst>
          </p:cNvPr>
          <p:cNvSpPr>
            <a:spLocks xmlns:a="http://schemas.openxmlformats.org/drawingml/2006/main" noGrp="1"/>
          </p:cNvSpPr>
          <p:nvPr/>
        </p:nvSpPr>
        <p:spPr>
          <a:xfrm xmlns:a="http://schemas.openxmlformats.org/drawingml/2006/main">
            <a:off x="8763000" y="18669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8E99"/>
                </a:solidFill>
                <a:latin typeface="Meiryo"/>
                <a:ea typeface="Meiryo"/>
                <a:cs typeface="Meiryo"/>
              </a:defRPr>
            </a:pPr>
            <a:r>
              <a:rPr sz="1950" b="1">
                <a:solidFill>
                  <a:srgbClr val="008E99"/>
                </a:solidFill>
                <a:latin typeface="Meiryo"/>
                <a:ea typeface="Meiryo"/>
                <a:cs typeface="Meiryo"/>
              </a:rPr>
              <a:t>s(x) = ‖x − x̂‖₂</a:t>
            </a:r>
          </a:p>
        </p:txBody>
      </p:sp>
      <p:sp>
        <p:nvSpPr>
          <p:cNvPr id="6" name="">
            <a:extLst xmlns:a="http://schemas.openxmlformats.org/drawingml/2006/main">
              <a:ext uri="{FF2B5EF4-FFF2-40B4-BE49-F238E27FC236}">
                <a16:creationId xmlns:a16="http://schemas.microsoft.com/office/drawing/2014/main" id="{C24E5CC4-76BA-4B54-AB9E-6DC4C2822357}"/>
              </a:ext>
            </a:extLst>
          </p:cNvPr>
          <p:cNvSpPr>
            <a:spLocks xmlns:a="http://schemas.openxmlformats.org/drawingml/2006/main" noGrp="1"/>
          </p:cNvSpPr>
          <p:nvPr/>
        </p:nvSpPr>
        <p:spPr>
          <a:xfrm xmlns:a="http://schemas.openxmlformats.org/drawingml/2006/main">
            <a:off x="8858250" y="2667000"/>
            <a:ext cx="28575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学習：正常な X</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判定：現在の X</a:t>
            </a:r>
          </a:p>
          <a:p xmlns:a="http://schemas.openxmlformats.org/drawingml/2006/main">
            <a:r>
              <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真の Y は不要。</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原論文は時間順序を</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利用しない。</a:t>
            </a:r>
          </a:p>
        </p:txBody>
      </p:sp>
      <p:sp>
        <p:nvSpPr>
          <p:cNvPr id="7" name="">
            <a:extLst xmlns:a="http://schemas.openxmlformats.org/drawingml/2006/main">
              <a:ext uri="{FF2B5EF4-FFF2-40B4-BE49-F238E27FC236}">
                <a16:creationId xmlns:a16="http://schemas.microsoft.com/office/drawing/2014/main" id="{7588EB96-6935-499F-B161-899D1FCBB66E}"/>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775E5F5-642D-4E07-B445-7E983D103CB6}"/>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1時刻の多変量入力に適用でき、対象回帰モデルから独立に設置できる</a:t>
            </a:r>
          </a:p>
        </p:txBody>
      </p:sp>
      <p:sp>
        <p:nvSpPr>
          <p:cNvPr id="9" name="">
            <a:extLst xmlns:a="http://schemas.openxmlformats.org/drawingml/2006/main">
              <a:ext uri="{FF2B5EF4-FFF2-40B4-BE49-F238E27FC236}">
                <a16:creationId xmlns:a16="http://schemas.microsoft.com/office/drawing/2014/main" id="{6CB33EAD-1EFE-436B-AA54-F6AFCA58264F}"/>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14 §3、§6、Eq. (1)｜説明用概念図（生成画像）</a:t>
            </a:r>
          </a:p>
        </p:txBody>
      </p:sp>
      <p:sp>
        <p:nvSpPr>
          <p:cNvPr id="10" name="">
            <a:extLst xmlns:a="http://schemas.openxmlformats.org/drawingml/2006/main">
              <a:ext uri="{FF2B5EF4-FFF2-40B4-BE49-F238E27FC236}">
                <a16:creationId xmlns:a16="http://schemas.microsoft.com/office/drawing/2014/main" id="{7838CF1C-6305-4231-945E-B81E9E6A246C}"/>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13</a:t>
            </a:r>
          </a:p>
        </p:txBody>
      </p:sp>
    </p:spTree>
    <p:extLst>
      <p:ext uri="{BB962C8B-B14F-4D97-AF65-F5344CB8AC3E}">
        <p14:creationId xmlns:p14="http://schemas.microsoft.com/office/powerpoint/2010/main" val="109590499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00C6D55-EBC7-42BD-86D6-48E5E3029A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A744BA-BF81-4BD6-A44D-53A304402A4B}"/>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02  文献とアルゴリズム</a:t>
            </a:r>
          </a:p>
        </p:txBody>
      </p:sp>
      <p:sp>
        <p:nvSpPr>
          <p:cNvPr id="3" name="">
            <a:extLst xmlns:a="http://schemas.openxmlformats.org/drawingml/2006/main">
              <a:ext uri="{FF2B5EF4-FFF2-40B4-BE49-F238E27FC236}">
                <a16:creationId xmlns:a16="http://schemas.microsoft.com/office/drawing/2014/main" id="{07B104F4-A503-4E0A-971F-34D494A0CCE1}"/>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14：ノイズ除去学習の効果はデータに依存する</a:t>
            </a:r>
          </a:p>
        </p:txBody>
      </p:sp>
      <p:graphicFrame>
        <p:nvGraphicFramePr>
          <p:cNvPr id="15" name="Chart"/>
          <p:cNvGraphicFramePr/>
          <p:nvPr/>
        </p:nvGraphicFramePr>
        <p:xfrm>
          <a:off xmlns:a="http://schemas.openxmlformats.org/drawingml/2006/main" x="428625" y="1581150"/>
          <a:ext xmlns:a="http://schemas.openxmlformats.org/drawingml/2006/main" cx="7905750" cy="3943350"/>
        </p:xfrm>
        <a:graphic xmlns:a="http://schemas.openxmlformats.org/drawingml/2006/main">
          <a:graphicData uri="http://schemas.openxmlformats.org/drawingml/2006/chart">
            <c:chart xmlns:r="http://schemas.openxmlformats.org/officeDocument/2006/relationships" xmlns:c="http://schemas.openxmlformats.org/drawingml/2006/chart" r:id="R553b52d883da42af"/>
          </a:graphicData>
        </a:graphic>
      </p:graphicFrame>
      <p:sp>
        <p:nvSpPr>
          <p:cNvPr id="5" name="">
            <a:extLst xmlns:a="http://schemas.openxmlformats.org/drawingml/2006/main">
              <a:ext uri="{FF2B5EF4-FFF2-40B4-BE49-F238E27FC236}">
                <a16:creationId xmlns:a16="http://schemas.microsoft.com/office/drawing/2014/main" id="{DC067B73-5803-4EB7-8445-B8F79D36C46E}"/>
              </a:ext>
            </a:extLst>
          </p:cNvPr>
          <p:cNvSpPr>
            <a:spLocks xmlns:a="http://schemas.openxmlformats.org/drawingml/2006/main" noGrp="1"/>
          </p:cNvSpPr>
          <p:nvPr/>
        </p:nvSpPr>
        <p:spPr>
          <a:xfrm xmlns:a="http://schemas.openxmlformats.org/drawingml/2006/main">
            <a:off x="552450" y="13335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86E7C"/>
                </a:solidFill>
                <a:latin typeface="Meiryo"/>
                <a:ea typeface="Meiryo"/>
                <a:cs typeface="Meiryo"/>
              </a:defRPr>
            </a:pPr>
            <a:r>
              <a:rPr sz="1350" b="0">
                <a:solidFill>
                  <a:srgbClr val="586E7C"/>
                </a:solidFill>
                <a:latin typeface="Meiryo"/>
                <a:ea typeface="Meiryo"/>
                <a:cs typeface="Meiryo"/>
              </a:rPr>
              <a:t>AUC（原論文 Table 1）</a:t>
            </a:r>
          </a:p>
        </p:txBody>
      </p:sp>
      <p:sp>
        <p:nvSpPr>
          <p:cNvPr id="6" name="">
            <a:extLst xmlns:a="http://schemas.openxmlformats.org/drawingml/2006/main">
              <a:ext uri="{FF2B5EF4-FFF2-40B4-BE49-F238E27FC236}">
                <a16:creationId xmlns:a16="http://schemas.microsoft.com/office/drawing/2014/main" id="{3CB1D5F8-031F-4C73-A282-577566061DC4}"/>
              </a:ext>
            </a:extLst>
          </p:cNvPr>
          <p:cNvSpPr>
            <a:spLocks xmlns:a="http://schemas.openxmlformats.org/drawingml/2006/main" noGrp="1"/>
          </p:cNvSpPr>
          <p:nvPr/>
        </p:nvSpPr>
        <p:spPr>
          <a:xfrm xmlns:a="http://schemas.openxmlformats.org/drawingml/2006/main">
            <a:off x="8572500" y="18669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8E99"/>
                </a:solidFill>
                <a:latin typeface="Meiryo"/>
                <a:ea typeface="Meiryo"/>
                <a:cs typeface="Meiryo"/>
              </a:defRPr>
            </a:pPr>
            <a:r>
              <a:rPr sz="2175" b="1">
                <a:solidFill>
                  <a:srgbClr val="008E99"/>
                </a:solidFill>
                <a:latin typeface="Meiryo"/>
                <a:ea typeface="Meiryo"/>
                <a:cs typeface="Meiryo"/>
              </a:rPr>
              <a:t>改善はデータ依存</a:t>
            </a:r>
          </a:p>
        </p:txBody>
      </p:sp>
      <p:sp>
        <p:nvSpPr>
          <p:cNvPr id="7" name="">
            <a:extLst xmlns:a="http://schemas.openxmlformats.org/drawingml/2006/main">
              <a:ext uri="{FF2B5EF4-FFF2-40B4-BE49-F238E27FC236}">
                <a16:creationId xmlns:a16="http://schemas.microsoft.com/office/drawing/2014/main" id="{E7086E0A-614A-4D17-890F-C554E3708292}"/>
              </a:ext>
            </a:extLst>
          </p:cNvPr>
          <p:cNvSpPr>
            <a:spLocks xmlns:a="http://schemas.openxmlformats.org/drawingml/2006/main" noGrp="1"/>
          </p:cNvSpPr>
          <p:nvPr/>
        </p:nvSpPr>
        <p:spPr>
          <a:xfrm xmlns:a="http://schemas.openxmlformats.org/drawingml/2006/main">
            <a:off x="8572500" y="2619375"/>
            <a:ext cx="3143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ノイズ除去AEは</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Satellite-Aで改善。</a:t>
            </a:r>
          </a:p>
          <a:p xmlns:a="http://schemas.openxmlformats.org/drawingml/2006/main">
            <a:r>
              <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Satellite-Bでは</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通常AEを下回る。</a:t>
            </a:r>
          </a:p>
          <a:p xmlns:a="http://schemas.openxmlformats.org/drawingml/2006/main">
            <a:r>
              <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万能な優位性はない。</a:t>
            </a:r>
          </a:p>
        </p:txBody>
      </p:sp>
      <p:sp>
        <p:nvSpPr>
          <p:cNvPr id="8" name="">
            <a:extLst xmlns:a="http://schemas.openxmlformats.org/drawingml/2006/main">
              <a:ext uri="{FF2B5EF4-FFF2-40B4-BE49-F238E27FC236}">
                <a16:creationId xmlns:a16="http://schemas.microsoft.com/office/drawing/2014/main" id="{410A5F01-015C-4A05-8A6A-EEB304F125B6}"/>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A32BBF3-0FDE-483B-AAF7-5C5B71527AA0}"/>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Satellite-Aでは改善したが、Satellite-Bでは低下した</a:t>
            </a:r>
          </a:p>
        </p:txBody>
      </p:sp>
      <p:sp>
        <p:nvSpPr>
          <p:cNvPr id="10" name="">
            <a:extLst xmlns:a="http://schemas.openxmlformats.org/drawingml/2006/main">
              <a:ext uri="{FF2B5EF4-FFF2-40B4-BE49-F238E27FC236}">
                <a16:creationId xmlns:a16="http://schemas.microsoft.com/office/drawing/2014/main" id="{BBFA2B5E-0EFB-4A6E-A6B2-5AEB74DCA82B}"/>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14 §4–5、Table 1。対象：25次元合成、17次元・106次元の衛星データ</a:t>
            </a:r>
          </a:p>
        </p:txBody>
      </p:sp>
      <p:sp>
        <p:nvSpPr>
          <p:cNvPr id="11" name="">
            <a:extLst xmlns:a="http://schemas.openxmlformats.org/drawingml/2006/main">
              <a:ext uri="{FF2B5EF4-FFF2-40B4-BE49-F238E27FC236}">
                <a16:creationId xmlns:a16="http://schemas.microsoft.com/office/drawing/2014/main" id="{112B003E-DF4E-4FF1-BE8B-C057ECA3E1EA}"/>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14</a:t>
            </a:r>
          </a:p>
        </p:txBody>
      </p:sp>
    </p:spTree>
    <p:extLst>
      <p:ext uri="{BB962C8B-B14F-4D97-AF65-F5344CB8AC3E}">
        <p14:creationId xmlns:p14="http://schemas.microsoft.com/office/powerpoint/2010/main" val="93935646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FDF992F-8461-403F-8AC7-7A6ADE4FA6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9A45C9-C9AF-41B4-A752-08E3FF35535D}"/>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02  文献とアルゴリズム</a:t>
            </a:r>
          </a:p>
        </p:txBody>
      </p:sp>
      <p:sp>
        <p:nvSpPr>
          <p:cNvPr id="3" name="">
            <a:extLst xmlns:a="http://schemas.openxmlformats.org/drawingml/2006/main">
              <a:ext uri="{FF2B5EF4-FFF2-40B4-BE49-F238E27FC236}">
                <a16:creationId xmlns:a16="http://schemas.microsoft.com/office/drawing/2014/main" id="{F6A64443-09C9-4061-8FF5-E3EBCA720D1F}"/>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13：予測に関係する変数と近傍を使うOutPro</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c24bb7f5f2b475b"/>
          <a:stretch xmlns:a="http://schemas.openxmlformats.org/drawingml/2006/main"/>
        </p:blipFill>
        <p:spPr>
          <a:xfrm xmlns:a="http://schemas.openxmlformats.org/drawingml/2006/main">
            <a:off x="2668822" y="1428750"/>
            <a:ext cx="6854356" cy="3857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45635E1-9169-47D7-B0E8-5E979870DB34}"/>
              </a:ext>
            </a:extLst>
          </p:cNvPr>
          <p:cNvSpPr>
            <a:spLocks xmlns:a="http://schemas.openxmlformats.org/drawingml/2006/main" noGrp="1"/>
          </p:cNvSpPr>
          <p:nvPr/>
        </p:nvSpPr>
        <p:spPr>
          <a:xfrm xmlns:a="http://schemas.openxmlformats.org/drawingml/2006/main">
            <a:off x="619125" y="539115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8E99"/>
                </a:solidFill>
                <a:latin typeface="Meiryo"/>
                <a:ea typeface="Meiryo"/>
                <a:cs typeface="Meiryo"/>
              </a:defRPr>
            </a:pPr>
            <a:r>
              <a:rPr sz="1800" b="1">
                <a:solidFill>
                  <a:srgbClr val="008E99"/>
                </a:solidFill>
                <a:latin typeface="Meiryo"/>
                <a:ea typeface="Meiryo"/>
                <a:cs typeface="Meiryo"/>
              </a:rPr>
              <a:t>学習：IDの X・Y ＋ 教師あり森林</a:t>
            </a:r>
          </a:p>
        </p:txBody>
      </p:sp>
      <p:sp>
        <p:nvSpPr>
          <p:cNvPr id="6" name="">
            <a:extLst xmlns:a="http://schemas.openxmlformats.org/drawingml/2006/main">
              <a:ext uri="{FF2B5EF4-FFF2-40B4-BE49-F238E27FC236}">
                <a16:creationId xmlns:a16="http://schemas.microsoft.com/office/drawing/2014/main" id="{C9520E13-1613-4AE3-887E-65369510D6EA}"/>
              </a:ext>
            </a:extLst>
          </p:cNvPr>
          <p:cNvSpPr>
            <a:spLocks xmlns:a="http://schemas.openxmlformats.org/drawingml/2006/main" noGrp="1"/>
          </p:cNvSpPr>
          <p:nvPr/>
        </p:nvSpPr>
        <p:spPr>
          <a:xfrm xmlns:a="http://schemas.openxmlformats.org/drawingml/2006/main">
            <a:off x="6286500" y="5391150"/>
            <a:ext cx="547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8E99"/>
                </a:solidFill>
                <a:latin typeface="Meiryo"/>
                <a:ea typeface="Meiryo"/>
                <a:cs typeface="Meiryo"/>
              </a:defRPr>
            </a:pPr>
            <a:r>
              <a:rPr sz="1800" b="1">
                <a:solidFill>
                  <a:srgbClr val="008E99"/>
                </a:solidFill>
                <a:latin typeface="Meiryo"/>
                <a:ea typeface="Meiryo"/>
                <a:cs typeface="Meiryo"/>
              </a:rPr>
              <a:t>判定：現在の X ＋ 森林 ＋ 参照点</a:t>
            </a:r>
          </a:p>
        </p:txBody>
      </p:sp>
      <p:sp>
        <p:nvSpPr>
          <p:cNvPr id="7" name="">
            <a:extLst xmlns:a="http://schemas.openxmlformats.org/drawingml/2006/main">
              <a:ext uri="{FF2B5EF4-FFF2-40B4-BE49-F238E27FC236}">
                <a16:creationId xmlns:a16="http://schemas.microsoft.com/office/drawing/2014/main" id="{026CF057-5DE5-4F8E-8130-063109493142}"/>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56BA8BA-4E49-42D2-AE85-D073101CD9B6}"/>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一般的な距離検知と異なり、教師あり森林が変数選択と近傍形成に関与する</a:t>
            </a:r>
          </a:p>
        </p:txBody>
      </p:sp>
      <p:sp>
        <p:nvSpPr>
          <p:cNvPr id="9" name="">
            <a:extLst xmlns:a="http://schemas.openxmlformats.org/drawingml/2006/main">
              <a:ext uri="{FF2B5EF4-FFF2-40B4-BE49-F238E27FC236}">
                <a16:creationId xmlns:a16="http://schemas.microsoft.com/office/drawing/2014/main" id="{6A7E2A0B-4330-4EF8-B924-513F8EA7D319}"/>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13 §3、Algorithm 1。OutPro = OOD using variable priority｜説明用概念図（生成画像）</a:t>
            </a:r>
          </a:p>
        </p:txBody>
      </p:sp>
      <p:sp>
        <p:nvSpPr>
          <p:cNvPr id="10" name="">
            <a:extLst xmlns:a="http://schemas.openxmlformats.org/drawingml/2006/main">
              <a:ext uri="{FF2B5EF4-FFF2-40B4-BE49-F238E27FC236}">
                <a16:creationId xmlns:a16="http://schemas.microsoft.com/office/drawing/2014/main" id="{2FAF2B4A-1800-41E6-BAFF-5270DF0EDA3E}"/>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15</a:t>
            </a:r>
          </a:p>
        </p:txBody>
      </p:sp>
    </p:spTree>
    <p:extLst>
      <p:ext uri="{BB962C8B-B14F-4D97-AF65-F5344CB8AC3E}">
        <p14:creationId xmlns:p14="http://schemas.microsoft.com/office/powerpoint/2010/main" val="64562217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4E65D27-DB77-4A48-B931-5FD9AC1D2D1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08CA08-F3C1-4B74-8C8E-CADB03498BB8}"/>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02  文献とアルゴリズム</a:t>
            </a:r>
          </a:p>
        </p:txBody>
      </p:sp>
      <p:sp>
        <p:nvSpPr>
          <p:cNvPr id="3" name="">
            <a:extLst xmlns:a="http://schemas.openxmlformats.org/drawingml/2006/main">
              <a:ext uri="{FF2B5EF4-FFF2-40B4-BE49-F238E27FC236}">
                <a16:creationId xmlns:a16="http://schemas.microsoft.com/office/drawing/2014/main" id="{3106D6A3-8BD2-4681-8CC7-8B5D1648D5B6}"/>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13：回帰での有効性と適用上の制約</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11d6b629fe64d1e"/>
          <a:stretch xmlns:a="http://schemas.openxmlformats.org/drawingml/2006/main"/>
        </p:blipFill>
        <p:spPr>
          <a:xfrm xmlns:a="http://schemas.openxmlformats.org/drawingml/2006/main">
            <a:off x="381000" y="1550459"/>
            <a:ext cx="6905625" cy="1823506"/>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bd870c2ebb7462c"/>
          <a:stretch xmlns:a="http://schemas.openxmlformats.org/drawingml/2006/main"/>
        </p:blipFill>
        <p:spPr>
          <a:xfrm xmlns:a="http://schemas.openxmlformats.org/drawingml/2006/main">
            <a:off x="381000" y="3596791"/>
            <a:ext cx="6905625" cy="173134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DD14649-9870-4385-994E-6C7FD87A6668}"/>
              </a:ext>
            </a:extLst>
          </p:cNvPr>
          <p:cNvSpPr>
            <a:spLocks xmlns:a="http://schemas.openxmlformats.org/drawingml/2006/main" noGrp="1"/>
          </p:cNvSpPr>
          <p:nvPr/>
        </p:nvSpPr>
        <p:spPr>
          <a:xfrm xmlns:a="http://schemas.openxmlformats.org/drawingml/2006/main">
            <a:off x="7715250" y="16192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8E99"/>
                </a:solidFill>
                <a:latin typeface="Meiryo"/>
                <a:ea typeface="Meiryo"/>
                <a:cs typeface="Meiryo"/>
              </a:defRPr>
            </a:pPr>
            <a:r>
              <a:rPr sz="2175" b="1">
                <a:solidFill>
                  <a:srgbClr val="008E99"/>
                </a:solidFill>
                <a:latin typeface="Meiryo"/>
                <a:ea typeface="Meiryo"/>
                <a:cs typeface="Meiryo"/>
              </a:rPr>
              <a:t>61個の回帰データ</a:t>
            </a:r>
          </a:p>
        </p:txBody>
      </p:sp>
      <p:sp>
        <p:nvSpPr>
          <p:cNvPr id="7" name="">
            <a:extLst xmlns:a="http://schemas.openxmlformats.org/drawingml/2006/main">
              <a:ext uri="{FF2B5EF4-FFF2-40B4-BE49-F238E27FC236}">
                <a16:creationId xmlns:a16="http://schemas.microsoft.com/office/drawing/2014/main" id="{612E5811-F458-44F3-9F75-53423C43171D}"/>
              </a:ext>
            </a:extLst>
          </p:cNvPr>
          <p:cNvSpPr>
            <a:spLocks xmlns:a="http://schemas.openxmlformats.org/drawingml/2006/main" noGrp="1"/>
          </p:cNvSpPr>
          <p:nvPr/>
        </p:nvSpPr>
        <p:spPr>
          <a:xfrm xmlns:a="http://schemas.openxmlformats.org/drawingml/2006/main">
            <a:off x="7715250" y="2352675"/>
            <a:ext cx="3905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指標：AUC-PR</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順位は小さいほど上位。</a:t>
            </a:r>
          </a:p>
          <a:p xmlns:a="http://schemas.openxmlformats.org/drawingml/2006/main">
            <a:r>
              <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jointでOutProが上位。</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warpでは従来法も有力。</a:t>
            </a:r>
          </a:p>
          <a:p xmlns:a="http://schemas.openxmlformats.org/drawingml/2006/main">
            <a:r>
              <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時系列・水系での検証は</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別途必要。</a:t>
            </a:r>
          </a:p>
        </p:txBody>
      </p:sp>
      <p:sp>
        <p:nvSpPr>
          <p:cNvPr id="8" name="">
            <a:extLst xmlns:a="http://schemas.openxmlformats.org/drawingml/2006/main">
              <a:ext uri="{FF2B5EF4-FFF2-40B4-BE49-F238E27FC236}">
                <a16:creationId xmlns:a16="http://schemas.microsoft.com/office/drawing/2014/main" id="{01DB0247-67B1-4C82-BA54-E340C7E617D8}"/>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028F45B-AA78-49AD-AC2D-E59393FD5559}"/>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回帰への適用根拠はあるが、水処理・配水データでの有効性は未検証</a:t>
            </a:r>
          </a:p>
        </p:txBody>
      </p:sp>
      <p:sp>
        <p:nvSpPr>
          <p:cNvPr id="10" name="">
            <a:extLst xmlns:a="http://schemas.openxmlformats.org/drawingml/2006/main">
              <a:ext uri="{FF2B5EF4-FFF2-40B4-BE49-F238E27FC236}">
                <a16:creationId xmlns:a16="http://schemas.microsoft.com/office/drawing/2014/main" id="{C3E10328-F480-41CD-82C7-524384D50CC7}"/>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13 §5.2–5.3、§7</a:t>
            </a:r>
          </a:p>
        </p:txBody>
      </p:sp>
      <p:sp>
        <p:nvSpPr>
          <p:cNvPr id="11" name="">
            <a:extLst xmlns:a="http://schemas.openxmlformats.org/drawingml/2006/main">
              <a:ext uri="{FF2B5EF4-FFF2-40B4-BE49-F238E27FC236}">
                <a16:creationId xmlns:a16="http://schemas.microsoft.com/office/drawing/2014/main" id="{94876B13-6333-424B-A280-4534C9B421E5}"/>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16</a:t>
            </a:r>
          </a:p>
        </p:txBody>
      </p:sp>
    </p:spTree>
    <p:extLst>
      <p:ext uri="{BB962C8B-B14F-4D97-AF65-F5344CB8AC3E}">
        <p14:creationId xmlns:p14="http://schemas.microsoft.com/office/powerpoint/2010/main" val="199993436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D6623E-8881-45AA-8612-F86E053CF9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DFE4DA-6E03-45D0-996B-0E9959E319D2}"/>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03  比較と実習への適用</a:t>
            </a:r>
          </a:p>
        </p:txBody>
      </p:sp>
      <p:sp>
        <p:nvSpPr>
          <p:cNvPr id="3" name="">
            <a:extLst xmlns:a="http://schemas.openxmlformats.org/drawingml/2006/main">
              <a:ext uri="{FF2B5EF4-FFF2-40B4-BE49-F238E27FC236}">
                <a16:creationId xmlns:a16="http://schemas.microsoft.com/office/drawing/2014/main" id="{3A420EA5-B93E-4355-9B9C-C075DA879C3A}"/>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重点手法の比較</a:t>
            </a:r>
          </a:p>
        </p:txBody>
      </p:sp>
      <p:graphicFrame>
        <p:nvGraphicFramePr>
          <p:cNvPr id="10" name=""/>
          <p:cNvGraphicFramePr/>
          <p:nvPr/>
        </p:nvGraphicFramePr>
        <p:xfrm>
          <a:off xmlns:a="http://schemas.openxmlformats.org/drawingml/2006/main" x="476250" y="1476375"/>
          <a:ext xmlns:a="http://schemas.openxmlformats.org/drawingml/2006/main" cx="11239500" cy="4286250"/>
        </p:xfrm>
        <a:graphic xmlns:a="http://schemas.openxmlformats.org/drawingml/2006/main">
          <a:graphicData uri="http://schemas.openxmlformats.org/drawingml/2006/table">
            <a:tbl>
              <a:tblPr/>
              <a:tblGrid>
                <a:gridCol w="2163251"/>
                <a:gridCol w="2821632"/>
                <a:gridCol w="3056768"/>
                <a:gridCol w="3197849"/>
              </a:tblGrid>
              <a:tr h="612321">
                <a:tc>
                  <a:txBody>
                    <a:bodyPr/>
                    <a:lstStyle/>
                    <a:p>
                      <a:r>
                        <a:rPr sz="1575" b="1">
                          <a:solidFill>
                            <a:srgbClr val="FFFFFF"/>
                          </a:solidFill>
                          <a:latin typeface="Meiryo"/>
                          <a:ea typeface="Meiryo"/>
                          <a:cs typeface="Meiryo"/>
                        </a:rPr>
                        <a:t>比較項目</a:t>
                      </a:r>
                    </a:p>
                  </a:txBody>
                  <a:tcPr marL="114300" marR="95250" marT="85725" marB="66675" anchor="ctr">
                    <a:solidFill>
                      <a:srgbClr val="08273C"/>
                    </a:solidFill>
                  </a:tcPr>
                </a:tc>
                <a:tc>
                  <a:txBody>
                    <a:bodyPr/>
                    <a:lstStyle/>
                    <a:p>
                      <a:r>
                        <a:rPr sz="1575" b="1">
                          <a:solidFill>
                            <a:srgbClr val="FFFFFF"/>
                          </a:solidFill>
                          <a:latin typeface="Meiryo"/>
                          <a:ea typeface="Meiryo"/>
                          <a:cs typeface="Meiryo"/>
                        </a:rPr>
                        <a:t>山原のAD手法</a:t>
                      </a:r>
                    </a:p>
                  </a:txBody>
                  <a:tcPr marL="114300" marR="95250" marT="85725" marB="66675" anchor="ctr">
                    <a:solidFill>
                      <a:srgbClr val="08273C"/>
                    </a:solidFill>
                  </a:tcPr>
                </a:tc>
                <a:tc>
                  <a:txBody>
                    <a:bodyPr/>
                    <a:lstStyle/>
                    <a:p>
                      <a:r>
                        <a:rPr sz="1575" b="1">
                          <a:solidFill>
                            <a:srgbClr val="FFFFFF"/>
                          </a:solidFill>
                          <a:latin typeface="Meiryo"/>
                          <a:ea typeface="Meiryo"/>
                          <a:cs typeface="Meiryo"/>
                        </a:rPr>
                        <a:t>14：AE系</a:t>
                      </a:r>
                    </a:p>
                  </a:txBody>
                  <a:tcPr marL="114300" marR="95250" marT="85725" marB="66675" anchor="ctr">
                    <a:solidFill>
                      <a:srgbClr val="08273C"/>
                    </a:solidFill>
                  </a:tcPr>
                </a:tc>
                <a:tc>
                  <a:txBody>
                    <a:bodyPr/>
                    <a:lstStyle/>
                    <a:p>
                      <a:r>
                        <a:rPr sz="1575" b="1">
                          <a:solidFill>
                            <a:srgbClr val="FFFFFF"/>
                          </a:solidFill>
                          <a:latin typeface="Meiryo"/>
                          <a:ea typeface="Meiryo"/>
                          <a:cs typeface="Meiryo"/>
                        </a:rPr>
                        <a:t>13：OutPro</a:t>
                      </a:r>
                    </a:p>
                  </a:txBody>
                  <a:tcPr marL="114300" marR="95250" marT="85725" marB="66675" anchor="ctr">
                    <a:solidFill>
                      <a:srgbClr val="08273C"/>
                    </a:solidFill>
                  </a:tcPr>
                </a:tc>
              </a:tr>
              <a:tr h="612321">
                <a:tc>
                  <a:txBody>
                    <a:bodyPr/>
                    <a:lstStyle/>
                    <a:p>
                      <a:r>
                        <a:rPr sz="1575" b="0">
                          <a:solidFill>
                            <a:srgbClr val="19384B"/>
                          </a:solidFill>
                          <a:latin typeface="Meiryo"/>
                          <a:ea typeface="Meiryo"/>
                          <a:cs typeface="Meiryo"/>
                        </a:rPr>
                        <a:t>検知の根拠</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範囲・距離・近傍</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再構成誤差</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選択変数上の近傍距離</a:t>
                      </a:r>
                    </a:p>
                  </a:txBody>
                  <a:tcPr marL="114300" marR="95250" marT="85725" marB="66675" anchor="ctr">
                    <a:solidFill>
                      <a:srgbClr val="F0F6F8"/>
                    </a:solidFill>
                  </a:tcPr>
                </a:tc>
              </a:tr>
              <a:tr h="612321">
                <a:tc>
                  <a:txBody>
                    <a:bodyPr/>
                    <a:lstStyle/>
                    <a:p>
                      <a:r>
                        <a:rPr sz="1575" b="0">
                          <a:solidFill>
                            <a:srgbClr val="19384B"/>
                          </a:solidFill>
                          <a:latin typeface="Meiryo"/>
                          <a:ea typeface="Meiryo"/>
                          <a:cs typeface="Meiryo"/>
                        </a:rPr>
                        <a:t>1時刻入力</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対応</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対応（原文で明記）</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対応</a:t>
                      </a:r>
                    </a:p>
                  </a:txBody>
                  <a:tcPr marL="114300" marR="95250" marT="85725" marB="66675" anchor="ctr">
                    <a:solidFill>
                      <a:srgbClr val="FFFFFF"/>
                    </a:solidFill>
                  </a:tcPr>
                </a:tc>
              </a:tr>
              <a:tr h="612321">
                <a:tc>
                  <a:txBody>
                    <a:bodyPr/>
                    <a:lstStyle/>
                    <a:p>
                      <a:r>
                        <a:rPr sz="1575" b="0">
                          <a:solidFill>
                            <a:srgbClr val="19384B"/>
                          </a:solidFill>
                          <a:latin typeface="Meiryo"/>
                          <a:ea typeface="Meiryo"/>
                          <a:cs typeface="Meiryo"/>
                        </a:rPr>
                        <a:t>検知器の訓練情報</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主にX</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正常なX</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IDのXとY</a:t>
                      </a:r>
                    </a:p>
                  </a:txBody>
                  <a:tcPr marL="114300" marR="95250" marT="85725" marB="66675" anchor="ctr">
                    <a:solidFill>
                      <a:srgbClr val="F0F6F8"/>
                    </a:solidFill>
                  </a:tcPr>
                </a:tc>
              </a:tr>
              <a:tr h="612321">
                <a:tc>
                  <a:txBody>
                    <a:bodyPr/>
                    <a:lstStyle/>
                    <a:p>
                      <a:r>
                        <a:rPr sz="1575" b="0">
                          <a:solidFill>
                            <a:srgbClr val="19384B"/>
                          </a:solidFill>
                          <a:latin typeface="Meiryo"/>
                          <a:ea typeface="Meiryo"/>
                          <a:cs typeface="Meiryo"/>
                        </a:rPr>
                        <a:t>運用時のモデル情報</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回帰器の内部は不要</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回帰器の内部は不要</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教師あり森林を利用</a:t>
                      </a:r>
                    </a:p>
                  </a:txBody>
                  <a:tcPr marL="114300" marR="95250" marT="85725" marB="66675" anchor="ctr">
                    <a:solidFill>
                      <a:srgbClr val="FFFFFF"/>
                    </a:solidFill>
                  </a:tcPr>
                </a:tc>
              </a:tr>
              <a:tr h="612321">
                <a:tc>
                  <a:txBody>
                    <a:bodyPr/>
                    <a:lstStyle/>
                    <a:p>
                      <a:r>
                        <a:rPr sz="1575" b="0">
                          <a:solidFill>
                            <a:srgbClr val="19384B"/>
                          </a:solidFill>
                          <a:latin typeface="Meiryo"/>
                          <a:ea typeface="Meiryo"/>
                          <a:cs typeface="Meiryo"/>
                        </a:rPr>
                        <a:t>時間順序の利用</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判定自体は利用しない</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原文では利用しない</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原文では利用しない</a:t>
                      </a:r>
                    </a:p>
                  </a:txBody>
                  <a:tcPr marL="114300" marR="95250" marT="85725" marB="66675" anchor="ctr">
                    <a:solidFill>
                      <a:srgbClr val="F0F6F8"/>
                    </a:solidFill>
                  </a:tcPr>
                </a:tc>
              </a:tr>
              <a:tr h="612321">
                <a:tc>
                  <a:txBody>
                    <a:bodyPr/>
                    <a:lstStyle/>
                    <a:p>
                      <a:r>
                        <a:rPr sz="1575" b="0">
                          <a:solidFill>
                            <a:srgbClr val="19384B"/>
                          </a:solidFill>
                          <a:latin typeface="Meiryo"/>
                          <a:ea typeface="Meiryo"/>
                          <a:cs typeface="Meiryo"/>
                        </a:rPr>
                        <a:t>適用の証拠</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配水圧力の事例</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多変量の数値異常検知</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回帰のOOD評価</a:t>
                      </a:r>
                    </a:p>
                  </a:txBody>
                  <a:tcPr marL="114300" marR="95250" marT="8572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C3B4271-C60A-41DC-ABC9-DECB304E858D}"/>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山原 §3–5、14 §3–6、13 §3–5</a:t>
            </a:r>
          </a:p>
        </p:txBody>
      </p:sp>
      <p:sp>
        <p:nvSpPr>
          <p:cNvPr id="6" name="">
            <a:extLst xmlns:a="http://schemas.openxmlformats.org/drawingml/2006/main">
              <a:ext uri="{FF2B5EF4-FFF2-40B4-BE49-F238E27FC236}">
                <a16:creationId xmlns:a16="http://schemas.microsoft.com/office/drawing/2014/main" id="{C307C89A-A644-43E1-9EDC-F764D04EBDF1}"/>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17</a:t>
            </a:r>
          </a:p>
        </p:txBody>
      </p:sp>
    </p:spTree>
    <p:extLst>
      <p:ext uri="{BB962C8B-B14F-4D97-AF65-F5344CB8AC3E}">
        <p14:creationId xmlns:p14="http://schemas.microsoft.com/office/powerpoint/2010/main" val="124956761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105314-9013-4D5C-A9CD-5D813969106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CB886D-A21D-49C6-ABBC-D4D2B4600BF9}"/>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03  比較と実習への適用</a:t>
            </a:r>
          </a:p>
        </p:txBody>
      </p:sp>
      <p:sp>
        <p:nvSpPr>
          <p:cNvPr id="3" name="">
            <a:extLst xmlns:a="http://schemas.openxmlformats.org/drawingml/2006/main">
              <a:ext uri="{FF2B5EF4-FFF2-40B4-BE49-F238E27FC236}">
                <a16:creationId xmlns:a16="http://schemas.microsoft.com/office/drawing/2014/main" id="{E63F1B7A-6415-4A85-8BD9-A69078964057}"/>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評価データ候補とラベルの意味</a:t>
            </a:r>
          </a:p>
        </p:txBody>
      </p:sp>
      <p:graphicFrame>
        <p:nvGraphicFramePr>
          <p:cNvPr id="12" name=""/>
          <p:cNvGraphicFramePr/>
          <p:nvPr/>
        </p:nvGraphicFramePr>
        <p:xfrm>
          <a:off xmlns:a="http://schemas.openxmlformats.org/drawingml/2006/main" x="476250" y="1476375"/>
          <a:ext xmlns:a="http://schemas.openxmlformats.org/drawingml/2006/main" cx="11239500" cy="3333750"/>
        </p:xfrm>
        <a:graphic xmlns:a="http://schemas.openxmlformats.org/drawingml/2006/main">
          <a:graphicData uri="http://schemas.openxmlformats.org/drawingml/2006/table">
            <a:tbl>
              <a:tblPr/>
              <a:tblGrid>
                <a:gridCol w="3103795"/>
                <a:gridCol w="4138393"/>
                <a:gridCol w="3997312"/>
              </a:tblGrid>
              <a:tr h="666750">
                <a:tc>
                  <a:txBody>
                    <a:bodyPr/>
                    <a:lstStyle/>
                    <a:p>
                      <a:r>
                        <a:rPr sz="1650" b="1">
                          <a:solidFill>
                            <a:srgbClr val="FFFFFF"/>
                          </a:solidFill>
                          <a:latin typeface="Meiryo"/>
                          <a:ea typeface="Meiryo"/>
                          <a:cs typeface="Meiryo"/>
                        </a:rPr>
                        <a:t>データ</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用途</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確認が必要な点</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SWaT / WADI</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水処理・配水に近い多変量時系列</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攻撃ラベルと学習外条件の対応</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SMD / SMAP / MSL</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他分野での検知性能の比較</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系列構成・ラベル品質・入力の定義</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PMLB</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数値回帰に対するOOD評価</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時間構造は前提にできない</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Lorenz合成データ</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変化の仕組みを制御した評価</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実際の運転状態をどこまで再現するか</a:t>
                      </a:r>
                    </a:p>
                  </a:txBody>
                  <a:tcPr marL="114300" marR="95250" marT="8572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D354E47-FED9-46F4-8BB2-7A8C037D0F19}"/>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B290A18-F95B-4265-8A36-C6F6838097CF}"/>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故障・攻撃、人工OOD、予測誤差超過のラベルは分けて扱う</a:t>
            </a:r>
          </a:p>
        </p:txBody>
      </p:sp>
      <p:sp>
        <p:nvSpPr>
          <p:cNvPr id="7" name="">
            <a:extLst xmlns:a="http://schemas.openxmlformats.org/drawingml/2006/main">
              <a:ext uri="{FF2B5EF4-FFF2-40B4-BE49-F238E27FC236}">
                <a16:creationId xmlns:a16="http://schemas.microsoft.com/office/drawing/2014/main" id="{6DF7EC46-24C0-4191-96BF-F96F8D006532}"/>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S1 Table 1、S6 §5、13 §5、14 §4。公開条件の確認状況は付録参照</a:t>
            </a:r>
          </a:p>
        </p:txBody>
      </p:sp>
      <p:sp>
        <p:nvSpPr>
          <p:cNvPr id="8" name="">
            <a:extLst xmlns:a="http://schemas.openxmlformats.org/drawingml/2006/main">
              <a:ext uri="{FF2B5EF4-FFF2-40B4-BE49-F238E27FC236}">
                <a16:creationId xmlns:a16="http://schemas.microsoft.com/office/drawing/2014/main" id="{B34D7D7B-D9A4-4B74-BEDA-FB329D203832}"/>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18</a:t>
            </a:r>
          </a:p>
        </p:txBody>
      </p:sp>
    </p:spTree>
    <p:extLst>
      <p:ext uri="{BB962C8B-B14F-4D97-AF65-F5344CB8AC3E}">
        <p14:creationId xmlns:p14="http://schemas.microsoft.com/office/powerpoint/2010/main" val="108618060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A389BA0-D62D-42B5-BBEC-28275615DF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F7D428-B86C-4F46-A18B-B9D71EFE44C1}"/>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03  比較と実習への適用</a:t>
            </a:r>
          </a:p>
        </p:txBody>
      </p:sp>
      <p:sp>
        <p:nvSpPr>
          <p:cNvPr id="3" name="">
            <a:extLst xmlns:a="http://schemas.openxmlformats.org/drawingml/2006/main">
              <a:ext uri="{FF2B5EF4-FFF2-40B4-BE49-F238E27FC236}">
                <a16:creationId xmlns:a16="http://schemas.microsoft.com/office/drawing/2014/main" id="{FB167926-0292-4D4B-AA84-ABDFF892AD63}"/>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実習モデルでの評価案</a:t>
            </a:r>
          </a:p>
        </p:txBody>
      </p:sp>
      <p:sp>
        <p:nvSpPr>
          <p:cNvPr id="4" name="">
            <a:extLst xmlns:a="http://schemas.openxmlformats.org/drawingml/2006/main">
              <a:ext uri="{FF2B5EF4-FFF2-40B4-BE49-F238E27FC236}">
                <a16:creationId xmlns:a16="http://schemas.microsoft.com/office/drawing/2014/main" id="{FC19D7D1-0C18-4365-86E7-3499EF485550}"/>
              </a:ext>
            </a:extLst>
          </p:cNvPr>
          <p:cNvSpPr>
            <a:spLocks xmlns:a="http://schemas.openxmlformats.org/drawingml/2006/main" noGrp="1"/>
          </p:cNvSpPr>
          <p:nvPr/>
        </p:nvSpPr>
        <p:spPr>
          <a:xfrm xmlns:a="http://schemas.openxmlformats.org/drawingml/2006/main">
            <a:off x="5238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01</a:t>
            </a:r>
          </a:p>
        </p:txBody>
      </p:sp>
      <p:sp>
        <p:nvSpPr>
          <p:cNvPr id="5" name="">
            <a:extLst xmlns:a="http://schemas.openxmlformats.org/drawingml/2006/main">
              <a:ext uri="{FF2B5EF4-FFF2-40B4-BE49-F238E27FC236}">
                <a16:creationId xmlns:a16="http://schemas.microsoft.com/office/drawing/2014/main" id="{00BB2422-1EF2-435F-92C4-DF3E04CFD75F}"/>
              </a:ext>
            </a:extLst>
          </p:cNvPr>
          <p:cNvSpPr>
            <a:spLocks xmlns:a="http://schemas.openxmlformats.org/drawingml/2006/main" noGrp="1"/>
          </p:cNvSpPr>
          <p:nvPr/>
        </p:nvSpPr>
        <p:spPr>
          <a:xfrm xmlns:a="http://schemas.openxmlformats.org/drawingml/2006/main">
            <a:off x="5238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9384B"/>
                </a:solidFill>
                <a:latin typeface="Meiryo"/>
                <a:ea typeface="Meiryo"/>
                <a:cs typeface="Meiryo"/>
              </a:defRPr>
            </a:pPr>
            <a:r>
              <a:rPr sz="2100" b="1">
                <a:solidFill>
                  <a:srgbClr val="19384B"/>
                </a:solidFill>
                <a:latin typeface="Meiryo"/>
                <a:ea typeface="Meiryo"/>
                <a:cs typeface="Meiryo"/>
              </a:rPr>
              <a:t>データと閾値</a:t>
            </a:r>
          </a:p>
        </p:txBody>
      </p:sp>
      <p:sp>
        <p:nvSpPr>
          <p:cNvPr id="6" name="">
            <a:extLst xmlns:a="http://schemas.openxmlformats.org/drawingml/2006/main">
              <a:ext uri="{FF2B5EF4-FFF2-40B4-BE49-F238E27FC236}">
                <a16:creationId xmlns:a16="http://schemas.microsoft.com/office/drawing/2014/main" id="{DBD1FBE5-3977-4846-B749-1466F639C189}"/>
              </a:ext>
            </a:extLst>
          </p:cNvPr>
          <p:cNvSpPr>
            <a:spLocks xmlns:a="http://schemas.openxmlformats.org/drawingml/2006/main" noGrp="1"/>
          </p:cNvSpPr>
          <p:nvPr/>
        </p:nvSpPr>
        <p:spPr>
          <a:xfrm xmlns:a="http://schemas.openxmlformats.org/drawingml/2006/main">
            <a:off x="5238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時間順に訓練・校正・テストを分離</a:t>
            </a:r>
          </a:p>
          <a:p xmlns:a="http://schemas.openxmlformats.org/drawingml/2006/main">
            <a:r>
              <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範囲外・低密度・未知の関係を区別</a:t>
            </a:r>
          </a:p>
          <a:p xmlns:a="http://schemas.openxmlformats.org/drawingml/2006/main">
            <a:r>
              <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校正データで閾値を固定し、テストで検知率と誤検知率を評価</a:t>
            </a:r>
          </a:p>
        </p:txBody>
      </p:sp>
      <p:sp>
        <p:nvSpPr>
          <p:cNvPr id="7" name="">
            <a:extLst xmlns:a="http://schemas.openxmlformats.org/drawingml/2006/main">
              <a:ext uri="{FF2B5EF4-FFF2-40B4-BE49-F238E27FC236}">
                <a16:creationId xmlns:a16="http://schemas.microsoft.com/office/drawing/2014/main" id="{056DEDB4-51DB-4C59-92A1-4F1A774A6DF6}"/>
              </a:ext>
            </a:extLst>
          </p:cNvPr>
          <p:cNvSpPr>
            <a:spLocks xmlns:a="http://schemas.openxmlformats.org/drawingml/2006/main" noGrp="1"/>
          </p:cNvSpPr>
          <p:nvPr/>
        </p:nvSpPr>
        <p:spPr>
          <a:xfrm xmlns:a="http://schemas.openxmlformats.org/drawingml/2006/main">
            <a:off x="64293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02</a:t>
            </a:r>
          </a:p>
        </p:txBody>
      </p:sp>
      <p:sp>
        <p:nvSpPr>
          <p:cNvPr id="8" name="">
            <a:extLst xmlns:a="http://schemas.openxmlformats.org/drawingml/2006/main">
              <a:ext uri="{FF2B5EF4-FFF2-40B4-BE49-F238E27FC236}">
                <a16:creationId xmlns:a16="http://schemas.microsoft.com/office/drawing/2014/main" id="{DD279FD0-405F-4FD1-B480-552E9FC937B8}"/>
              </a:ext>
            </a:extLst>
          </p:cNvPr>
          <p:cNvSpPr>
            <a:spLocks xmlns:a="http://schemas.openxmlformats.org/drawingml/2006/main" noGrp="1"/>
          </p:cNvSpPr>
          <p:nvPr/>
        </p:nvSpPr>
        <p:spPr>
          <a:xfrm xmlns:a="http://schemas.openxmlformats.org/drawingml/2006/main">
            <a:off x="64293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9384B"/>
                </a:solidFill>
                <a:latin typeface="Meiryo"/>
                <a:ea typeface="Meiryo"/>
                <a:cs typeface="Meiryo"/>
              </a:defRPr>
            </a:pPr>
            <a:r>
              <a:rPr sz="2100" b="1">
                <a:solidFill>
                  <a:srgbClr val="19384B"/>
                </a:solidFill>
                <a:latin typeface="Meiryo"/>
                <a:ea typeface="Meiryo"/>
                <a:cs typeface="Meiryo"/>
              </a:rPr>
              <a:t>運用上の有用性</a:t>
            </a:r>
          </a:p>
        </p:txBody>
      </p:sp>
      <p:sp>
        <p:nvSpPr>
          <p:cNvPr id="9" name="">
            <a:extLst xmlns:a="http://schemas.openxmlformats.org/drawingml/2006/main">
              <a:ext uri="{FF2B5EF4-FFF2-40B4-BE49-F238E27FC236}">
                <a16:creationId xmlns:a16="http://schemas.microsoft.com/office/drawing/2014/main" id="{6FB06CAC-B69B-42F4-9601-0EC97851F5C0}"/>
              </a:ext>
            </a:extLst>
          </p:cNvPr>
          <p:cNvSpPr>
            <a:spLocks xmlns:a="http://schemas.openxmlformats.org/drawingml/2006/main" noGrp="1"/>
          </p:cNvSpPr>
          <p:nvPr/>
        </p:nvSpPr>
        <p:spPr>
          <a:xfrm xmlns:a="http://schemas.openxmlformats.org/drawingml/2006/main">
            <a:off x="64293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学習外判定と回帰誤差の関係</a:t>
            </a:r>
          </a:p>
          <a:p xmlns:a="http://schemas.openxmlformats.org/drawingml/2006/main">
            <a:r>
              <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見逃した大誤差と、不要な警報の数</a:t>
            </a:r>
          </a:p>
          <a:p xmlns:a="http://schemas.openxmlformats.org/drawingml/2006/main">
            <a:r>
              <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推論時間・履歴長・検知遅延</a:t>
            </a:r>
          </a:p>
        </p:txBody>
      </p:sp>
      <p:sp>
        <p:nvSpPr>
          <p:cNvPr id="10" name="">
            <a:extLst xmlns:a="http://schemas.openxmlformats.org/drawingml/2006/main">
              <a:ext uri="{FF2B5EF4-FFF2-40B4-BE49-F238E27FC236}">
                <a16:creationId xmlns:a16="http://schemas.microsoft.com/office/drawing/2014/main" id="{5AEAB5DE-67D1-4104-B3C9-F3D558092CC0}"/>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04CAE35-8C60-4683-9C26-4B50AC278753}"/>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正解がない場合は、留出した運転条件・合成変化・専門家確認を併用する</a:t>
            </a:r>
          </a:p>
        </p:txBody>
      </p:sp>
      <p:sp>
        <p:nvSpPr>
          <p:cNvPr id="12" name="">
            <a:extLst xmlns:a="http://schemas.openxmlformats.org/drawingml/2006/main">
              <a:ext uri="{FF2B5EF4-FFF2-40B4-BE49-F238E27FC236}">
                <a16:creationId xmlns:a16="http://schemas.microsoft.com/office/drawing/2014/main" id="{279F4001-6E19-4567-8F3D-FB93BA895E84}"/>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実習要求、山原の評価観点を基にした提案。実施結果ではない</a:t>
            </a:r>
          </a:p>
        </p:txBody>
      </p:sp>
      <p:sp>
        <p:nvSpPr>
          <p:cNvPr id="13" name="">
            <a:extLst xmlns:a="http://schemas.openxmlformats.org/drawingml/2006/main">
              <a:ext uri="{FF2B5EF4-FFF2-40B4-BE49-F238E27FC236}">
                <a16:creationId xmlns:a16="http://schemas.microsoft.com/office/drawing/2014/main" id="{B545B109-7996-4088-A820-808BD1732EB5}"/>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19</a:t>
            </a:r>
          </a:p>
        </p:txBody>
      </p:sp>
    </p:spTree>
    <p:extLst>
      <p:ext uri="{BB962C8B-B14F-4D97-AF65-F5344CB8AC3E}">
        <p14:creationId xmlns:p14="http://schemas.microsoft.com/office/powerpoint/2010/main" val="121308070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2C9740D-3446-415D-B944-E04B9103FF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27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EB330F-E295-4455-95E1-1DB064B465B9}"/>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03  比較と実習への適用</a:t>
            </a:r>
          </a:p>
        </p:txBody>
      </p:sp>
      <p:sp>
        <p:nvSpPr>
          <p:cNvPr id="3" name="">
            <a:extLst xmlns:a="http://schemas.openxmlformats.org/drawingml/2006/main">
              <a:ext uri="{FF2B5EF4-FFF2-40B4-BE49-F238E27FC236}">
                <a16:creationId xmlns:a16="http://schemas.microsoft.com/office/drawing/2014/main" id="{491544E9-A553-4D6E-BF1E-A0F1A2517288}"/>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FFFFFF"/>
                </a:solidFill>
                <a:latin typeface="Meiryo"/>
                <a:ea typeface="Meiryo"/>
                <a:cs typeface="Meiryo"/>
              </a:defRPr>
            </a:pPr>
            <a:r>
              <a:rPr sz="2550" b="1">
                <a:solidFill>
                  <a:srgbClr val="FFFFFF"/>
                </a:solidFill>
                <a:latin typeface="Meiryo"/>
                <a:ea typeface="Meiryo"/>
                <a:cs typeface="Meiryo"/>
              </a:rPr>
              <a:t>現時点の整理と次の確認事項</a:t>
            </a:r>
          </a:p>
        </p:txBody>
      </p:sp>
      <p:sp>
        <p:nvSpPr>
          <p:cNvPr id="4" name="">
            <a:extLst xmlns:a="http://schemas.openxmlformats.org/drawingml/2006/main">
              <a:ext uri="{FF2B5EF4-FFF2-40B4-BE49-F238E27FC236}">
                <a16:creationId xmlns:a16="http://schemas.microsoft.com/office/drawing/2014/main" id="{448A20AB-74A3-4275-B2EE-78D0D196D352}"/>
              </a:ext>
            </a:extLst>
          </p:cNvPr>
          <p:cNvSpPr>
            <a:spLocks xmlns:a="http://schemas.openxmlformats.org/drawingml/2006/main" noGrp="1"/>
          </p:cNvSpPr>
          <p:nvPr/>
        </p:nvSpPr>
        <p:spPr>
          <a:xfrm xmlns:a="http://schemas.openxmlformats.org/drawingml/2006/main">
            <a:off x="5238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01</a:t>
            </a:r>
          </a:p>
        </p:txBody>
      </p:sp>
      <p:sp>
        <p:nvSpPr>
          <p:cNvPr id="5" name="">
            <a:extLst xmlns:a="http://schemas.openxmlformats.org/drawingml/2006/main">
              <a:ext uri="{FF2B5EF4-FFF2-40B4-BE49-F238E27FC236}">
                <a16:creationId xmlns:a16="http://schemas.microsoft.com/office/drawing/2014/main" id="{8BAF9BC3-FB3F-4A6A-A7DA-DA32EBFF31DD}"/>
              </a:ext>
            </a:extLst>
          </p:cNvPr>
          <p:cNvSpPr>
            <a:spLocks xmlns:a="http://schemas.openxmlformats.org/drawingml/2006/main" noGrp="1"/>
          </p:cNvSpPr>
          <p:nvPr/>
        </p:nvSpPr>
        <p:spPr>
          <a:xfrm xmlns:a="http://schemas.openxmlformats.org/drawingml/2006/main">
            <a:off x="5238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FFFF"/>
                </a:solidFill>
                <a:latin typeface="Meiryo"/>
                <a:ea typeface="Meiryo"/>
                <a:cs typeface="Meiryo"/>
              </a:defRPr>
            </a:pPr>
            <a:r>
              <a:rPr sz="2100" b="1">
                <a:solidFill>
                  <a:srgbClr val="FFFFFF"/>
                </a:solidFill>
                <a:latin typeface="Meiryo"/>
                <a:ea typeface="Meiryo"/>
                <a:cs typeface="Meiryo"/>
              </a:rPr>
              <a:t>文献から得られたこと</a:t>
            </a:r>
          </a:p>
        </p:txBody>
      </p:sp>
      <p:sp>
        <p:nvSpPr>
          <p:cNvPr id="6" name="">
            <a:extLst xmlns:a="http://schemas.openxmlformats.org/drawingml/2006/main">
              <a:ext uri="{FF2B5EF4-FFF2-40B4-BE49-F238E27FC236}">
                <a16:creationId xmlns:a16="http://schemas.microsoft.com/office/drawing/2014/main" id="{43B691D6-69B6-4D7D-8077-C085E169DD8F}"/>
              </a:ext>
            </a:extLst>
          </p:cNvPr>
          <p:cNvSpPr>
            <a:spLocks xmlns:a="http://schemas.openxmlformats.org/drawingml/2006/main" noGrp="1"/>
          </p:cNvSpPr>
          <p:nvPr/>
        </p:nvSpPr>
        <p:spPr>
          <a:xfrm xmlns:a="http://schemas.openxmlformats.org/drawingml/2006/main">
            <a:off x="5238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1時刻の多変量入力でも検知は可能。</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範囲・変数関係・予測タスクとの関係を分けて比較できる。</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異常検知の評価だけでは、回帰の安全性を保証できない。</a:t>
            </a:r>
          </a:p>
        </p:txBody>
      </p:sp>
      <p:sp>
        <p:nvSpPr>
          <p:cNvPr id="7" name="">
            <a:extLst xmlns:a="http://schemas.openxmlformats.org/drawingml/2006/main">
              <a:ext uri="{FF2B5EF4-FFF2-40B4-BE49-F238E27FC236}">
                <a16:creationId xmlns:a16="http://schemas.microsoft.com/office/drawing/2014/main" id="{DFE2F15C-C48F-45BC-8A99-A90B8A261F74}"/>
              </a:ext>
            </a:extLst>
          </p:cNvPr>
          <p:cNvSpPr>
            <a:spLocks xmlns:a="http://schemas.openxmlformats.org/drawingml/2006/main" noGrp="1"/>
          </p:cNvSpPr>
          <p:nvPr/>
        </p:nvSpPr>
        <p:spPr>
          <a:xfrm xmlns:a="http://schemas.openxmlformats.org/drawingml/2006/main">
            <a:off x="64293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02</a:t>
            </a:r>
          </a:p>
        </p:txBody>
      </p:sp>
      <p:sp>
        <p:nvSpPr>
          <p:cNvPr id="8" name="">
            <a:extLst xmlns:a="http://schemas.openxmlformats.org/drawingml/2006/main">
              <a:ext uri="{FF2B5EF4-FFF2-40B4-BE49-F238E27FC236}">
                <a16:creationId xmlns:a16="http://schemas.microsoft.com/office/drawing/2014/main" id="{E1726E33-492B-4D27-BBF3-C723253B3159}"/>
              </a:ext>
            </a:extLst>
          </p:cNvPr>
          <p:cNvSpPr>
            <a:spLocks xmlns:a="http://schemas.openxmlformats.org/drawingml/2006/main" noGrp="1"/>
          </p:cNvSpPr>
          <p:nvPr/>
        </p:nvSpPr>
        <p:spPr>
          <a:xfrm xmlns:a="http://schemas.openxmlformats.org/drawingml/2006/main">
            <a:off x="64293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FFFF"/>
                </a:solidFill>
                <a:latin typeface="Meiryo"/>
                <a:ea typeface="Meiryo"/>
                <a:cs typeface="Meiryo"/>
              </a:defRPr>
            </a:pPr>
            <a:r>
              <a:rPr sz="2100" b="1">
                <a:solidFill>
                  <a:srgbClr val="FFFFFF"/>
                </a:solidFill>
                <a:latin typeface="Meiryo"/>
                <a:ea typeface="Meiryo"/>
                <a:cs typeface="Meiryo"/>
              </a:rPr>
              <a:t>次に確認すること</a:t>
            </a:r>
          </a:p>
        </p:txBody>
      </p:sp>
      <p:sp>
        <p:nvSpPr>
          <p:cNvPr id="9" name="">
            <a:extLst xmlns:a="http://schemas.openxmlformats.org/drawingml/2006/main">
              <a:ext uri="{FF2B5EF4-FFF2-40B4-BE49-F238E27FC236}">
                <a16:creationId xmlns:a16="http://schemas.microsoft.com/office/drawing/2014/main" id="{A8050982-6902-4236-AC8C-7EEDEBC37648}"/>
              </a:ext>
            </a:extLst>
          </p:cNvPr>
          <p:cNvSpPr>
            <a:spLocks xmlns:a="http://schemas.openxmlformats.org/drawingml/2006/main" noGrp="1"/>
          </p:cNvSpPr>
          <p:nvPr/>
        </p:nvSpPr>
        <p:spPr>
          <a:xfrm xmlns:a="http://schemas.openxmlformats.org/drawingml/2006/main">
            <a:off x="64293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実際の入力変数・回帰器・履歴の仕様</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閾値と評価ラベルの統一</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予測不確かさ・時間的分布変化の原論文を追加調査</a:t>
            </a:r>
          </a:p>
        </p:txBody>
      </p:sp>
      <p:sp>
        <p:nvSpPr>
          <p:cNvPr id="10" name="">
            <a:extLst xmlns:a="http://schemas.openxmlformats.org/drawingml/2006/main">
              <a:ext uri="{FF2B5EF4-FFF2-40B4-BE49-F238E27FC236}">
                <a16:creationId xmlns:a16="http://schemas.microsoft.com/office/drawing/2014/main" id="{AD936633-72C6-4F7F-A8A6-0F3823703C4E}"/>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16425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CE04174-1A3D-44DB-A5F3-FF5CC941DD0B}"/>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FFFFFF"/>
                </a:solidFill>
                <a:latin typeface="Meiryo"/>
                <a:ea typeface="Meiryo"/>
                <a:cs typeface="Meiryo"/>
              </a:defRPr>
            </a:pPr>
            <a:r>
              <a:rPr sz="1575" b="1">
                <a:solidFill>
                  <a:srgbClr val="FFFFFF"/>
                </a:solidFill>
                <a:latin typeface="Meiryo"/>
                <a:ea typeface="Meiryo"/>
                <a:cs typeface="Meiryo"/>
              </a:rPr>
              <a:t>山原の基準手法、AE系、OutProを比較候補として検討する</a:t>
            </a:r>
          </a:p>
        </p:txBody>
      </p:sp>
      <p:sp>
        <p:nvSpPr>
          <p:cNvPr id="12" name="">
            <a:extLst xmlns:a="http://schemas.openxmlformats.org/drawingml/2006/main">
              <a:ext uri="{FF2B5EF4-FFF2-40B4-BE49-F238E27FC236}">
                <a16:creationId xmlns:a16="http://schemas.microsoft.com/office/drawing/2014/main" id="{F068E273-2F76-4112-8478-D785153EE6CA}"/>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A9C5D0"/>
                </a:solidFill>
                <a:latin typeface="Meiryo"/>
                <a:ea typeface="Meiryo"/>
                <a:cs typeface="Meiryo"/>
              </a:defRPr>
            </a:pPr>
            <a:r>
              <a:rPr sz="825" b="0">
                <a:solidFill>
                  <a:srgbClr val="A9C5D0"/>
                </a:solidFill>
                <a:latin typeface="Meiryo"/>
                <a:ea typeface="Meiryo"/>
                <a:cs typeface="Meiryo"/>
              </a:rPr>
              <a:t>本調査の整理。最適手法の決定や実データでの検証は今後の課題</a:t>
            </a:r>
          </a:p>
        </p:txBody>
      </p:sp>
      <p:sp>
        <p:nvSpPr>
          <p:cNvPr id="13" name="">
            <a:extLst xmlns:a="http://schemas.openxmlformats.org/drawingml/2006/main">
              <a:ext uri="{FF2B5EF4-FFF2-40B4-BE49-F238E27FC236}">
                <a16:creationId xmlns:a16="http://schemas.microsoft.com/office/drawing/2014/main" id="{4E8BF00F-9C7C-4E98-87D3-3988181DE600}"/>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20</a:t>
            </a:r>
          </a:p>
        </p:txBody>
      </p:sp>
    </p:spTree>
    <p:extLst>
      <p:ext uri="{BB962C8B-B14F-4D97-AF65-F5344CB8AC3E}">
        <p14:creationId xmlns:p14="http://schemas.microsoft.com/office/powerpoint/2010/main" val="42402640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47A407-C2E0-4ECC-BA9C-77585EC5B3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0541E5-805F-4022-A1CC-1CBDBE344E43}"/>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3" name="">
            <a:extLst xmlns:a="http://schemas.openxmlformats.org/drawingml/2006/main">
              <a:ext uri="{FF2B5EF4-FFF2-40B4-BE49-F238E27FC236}">
                <a16:creationId xmlns:a16="http://schemas.microsoft.com/office/drawing/2014/main" id="{A85F399F-B334-4769-B1C3-E9948533E3E8}"/>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付録A　各論文の分類を並べて読む</a:t>
            </a:r>
          </a:p>
        </p:txBody>
      </p:sp>
      <p:graphicFrame>
        <p:nvGraphicFramePr>
          <p:cNvPr id="10" name=""/>
          <p:cNvGraphicFramePr/>
          <p:nvPr/>
        </p:nvGraphicFramePr>
        <p:xfrm>
          <a:off xmlns:a="http://schemas.openxmlformats.org/drawingml/2006/main" x="476250" y="1476375"/>
          <a:ext xmlns:a="http://schemas.openxmlformats.org/drawingml/2006/main" cx="11239500" cy="4000500"/>
        </p:xfrm>
        <a:graphic xmlns:a="http://schemas.openxmlformats.org/drawingml/2006/main">
          <a:graphicData uri="http://schemas.openxmlformats.org/drawingml/2006/table">
            <a:tbl>
              <a:tblPr/>
              <a:tblGrid>
                <a:gridCol w="1928115"/>
                <a:gridCol w="4232448"/>
                <a:gridCol w="5078937"/>
              </a:tblGrid>
              <a:tr h="666750">
                <a:tc>
                  <a:txBody>
                    <a:bodyPr/>
                    <a:lstStyle/>
                    <a:p>
                      <a:r>
                        <a:rPr sz="1650" b="1">
                          <a:solidFill>
                            <a:srgbClr val="FFFFFF"/>
                          </a:solidFill>
                          <a:latin typeface="Meiryo"/>
                          <a:ea typeface="Meiryo"/>
                          <a:cs typeface="Meiryo"/>
                        </a:rPr>
                        <a:t>出典</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上位の整理</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詳細・注意点</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S1 §3.2</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Point / Contextual / Collective</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文脈には他変数との関係も含まれる</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S3 §2</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入力 / 外れ値の種類 / 手法の性質</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単変量・多変量、点・部分列・系列</a:t>
                      </a:r>
                    </a:p>
                    <a:p>
                      <a:r>
                        <a:rPr sz="1650" b="0">
                          <a:solidFill>
                            <a:srgbClr val="19384B"/>
                          </a:solidFill>
                          <a:latin typeface="Meiryo"/>
                          <a:ea typeface="Meiryo"/>
                          <a:cs typeface="Meiryo"/>
                        </a:rPr>
                        <a:t>時間順序とstreamingも別途確認</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S6 §2.2</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Intra-metric</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Global / Local point</a:t>
                      </a:r>
                    </a:p>
                    <a:p>
                      <a:r>
                        <a:rPr sz="1650" b="0">
                          <a:solidFill>
                            <a:srgbClr val="19384B"/>
                          </a:solidFill>
                          <a:latin typeface="Meiryo"/>
                          <a:ea typeface="Meiryo"/>
                          <a:cs typeface="Meiryo"/>
                        </a:rPr>
                        <a:t>Shapelet / Trend / Cycle</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S6 §2.2</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Inter-metric</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Global / Local / Temporal-local</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S6 §3</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Forecasting / Reconstruction / Contrastive</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ネットワーク構造、学習形態、</a:t>
                      </a:r>
                    </a:p>
                    <a:p>
                      <a:r>
                        <a:rPr sz="1650" b="0">
                          <a:solidFill>
                            <a:srgbClr val="19384B"/>
                          </a:solidFill>
                          <a:latin typeface="Meiryo"/>
                          <a:ea typeface="Meiryo"/>
                          <a:cs typeface="Meiryo"/>
                        </a:rPr>
                        <a:t>時間・周波数領域、Point / Window</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8E356F82-B603-4C12-A9B9-20D8EAE682A6}"/>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S1 §3–4、S3 §2–3、S6 §2–3</a:t>
            </a:r>
          </a:p>
        </p:txBody>
      </p:sp>
      <p:sp>
        <p:nvSpPr>
          <p:cNvPr id="6" name="">
            <a:extLst xmlns:a="http://schemas.openxmlformats.org/drawingml/2006/main">
              <a:ext uri="{FF2B5EF4-FFF2-40B4-BE49-F238E27FC236}">
                <a16:creationId xmlns:a16="http://schemas.microsoft.com/office/drawing/2014/main" id="{46EAB4FF-66A6-4EBE-8564-24F3C8BF0B45}"/>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21</a:t>
            </a:r>
          </a:p>
        </p:txBody>
      </p:sp>
    </p:spTree>
    <p:extLst>
      <p:ext uri="{BB962C8B-B14F-4D97-AF65-F5344CB8AC3E}">
        <p14:creationId xmlns:p14="http://schemas.microsoft.com/office/powerpoint/2010/main" val="199399099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AC7286-1281-4C72-9BEC-450C565D79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02F554-7D6B-445D-8E6A-F99EFB88363E}"/>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3" name="">
            <a:extLst xmlns:a="http://schemas.openxmlformats.org/drawingml/2006/main">
              <a:ext uri="{FF2B5EF4-FFF2-40B4-BE49-F238E27FC236}">
                <a16:creationId xmlns:a16="http://schemas.microsoft.com/office/drawing/2014/main" id="{77D0CCF4-8E30-4D0A-A631-4D47FCEBFAFD}"/>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付録B　OutProの情報要件と未確認事項</a:t>
            </a:r>
          </a:p>
        </p:txBody>
      </p:sp>
      <p:graphicFrame>
        <p:nvGraphicFramePr>
          <p:cNvPr id="10" name=""/>
          <p:cNvGraphicFramePr/>
          <p:nvPr/>
        </p:nvGraphicFramePr>
        <p:xfrm>
          <a:off xmlns:a="http://schemas.openxmlformats.org/drawingml/2006/main" x="476250" y="1476375"/>
          <a:ext xmlns:a="http://schemas.openxmlformats.org/drawingml/2006/main" cx="11239500" cy="4000500"/>
        </p:xfrm>
        <a:graphic xmlns:a="http://schemas.openxmlformats.org/drawingml/2006/main">
          <a:graphicData uri="http://schemas.openxmlformats.org/drawingml/2006/table">
            <a:tbl>
              <a:tblPr/>
              <a:tblGrid>
                <a:gridCol w="2210278"/>
                <a:gridCol w="9029222"/>
              </a:tblGrid>
              <a:tr h="666750">
                <a:tc>
                  <a:txBody>
                    <a:bodyPr/>
                    <a:lstStyle/>
                    <a:p>
                      <a:r>
                        <a:rPr sz="1650" b="1">
                          <a:solidFill>
                            <a:srgbClr val="FFFFFF"/>
                          </a:solidFill>
                          <a:latin typeface="Meiryo"/>
                          <a:ea typeface="Meiryo"/>
                          <a:cs typeface="Meiryo"/>
                        </a:rPr>
                        <a:t>項目</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整理内容</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必要情報</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訓練：IDのX,Y、教師あり森林、VarPro</a:t>
                      </a:r>
                    </a:p>
                    <a:p>
                      <a:r>
                        <a:rPr sz="1650" b="0">
                          <a:solidFill>
                            <a:srgbClr val="19384B"/>
                          </a:solidFill>
                          <a:latin typeface="Meiryo"/>
                          <a:ea typeface="Meiryo"/>
                          <a:cs typeface="Meiryo"/>
                        </a:rPr>
                        <a:t>運用：現在のX、森林ルール、参照訓練点</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スコア</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通常は選択変数S上でK近傍への距離を平均</a:t>
                      </a:r>
                    </a:p>
                    <a:p>
                      <a:r>
                        <a:rPr sz="1650" b="0">
                          <a:solidFill>
                            <a:srgbClr val="19384B"/>
                          </a:solidFill>
                          <a:latin typeface="Meiryo"/>
                          <a:ea typeface="Meiryo"/>
                          <a:cs typeface="Meiryo"/>
                        </a:rPr>
                        <a:t>OPTICS版は到達可能性のスコアを使用</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近傍の選び方</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変数制約を解放した領域内の出現回数と</a:t>
                      </a:r>
                    </a:p>
                    <a:p>
                      <a:r>
                        <a:rPr sz="1650" b="0">
                          <a:solidFill>
                            <a:srgbClr val="19384B"/>
                          </a:solidFill>
                          <a:latin typeface="Meiryo"/>
                          <a:ea typeface="Meiryo"/>
                          <a:cs typeface="Meiryo"/>
                        </a:rPr>
                        <a:t>変数間の頻度分布を用いて順位付け</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閾値</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AUC-PR評価は閾値を固定しない</a:t>
                      </a:r>
                    </a:p>
                    <a:p>
                      <a:r>
                        <a:rPr sz="1650" b="0">
                          <a:solidFill>
                            <a:srgbClr val="19384B"/>
                          </a:solidFill>
                          <a:latin typeface="Meiryo"/>
                          <a:ea typeface="Meiryo"/>
                          <a:cs typeface="Meiryo"/>
                        </a:rPr>
                        <a:t>臨床例の分位値は実習へ直接転用しない</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制約</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森林による変数選択に依存、時間依存を未評価</a:t>
                      </a:r>
                    </a:p>
                    <a:p>
                      <a:r>
                        <a:rPr sz="1650" b="0">
                          <a:solidFill>
                            <a:srgbClr val="19384B"/>
                          </a:solidFill>
                          <a:latin typeface="Meiryo"/>
                          <a:ea typeface="Meiryo"/>
                          <a:cs typeface="Meiryo"/>
                        </a:rPr>
                        <a:t>純粋なconcept shiftは検知対象外</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694D37D9-F4CB-48DE-ACB9-C0A082E1DED2}"/>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13 §3、§5、§6、§7</a:t>
            </a:r>
          </a:p>
        </p:txBody>
      </p:sp>
      <p:sp>
        <p:nvSpPr>
          <p:cNvPr id="6" name="">
            <a:extLst xmlns:a="http://schemas.openxmlformats.org/drawingml/2006/main">
              <a:ext uri="{FF2B5EF4-FFF2-40B4-BE49-F238E27FC236}">
                <a16:creationId xmlns:a16="http://schemas.microsoft.com/office/drawing/2014/main" id="{9309DFE7-303C-4200-A1FF-7611A20FBB20}"/>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22</a:t>
            </a:r>
          </a:p>
        </p:txBody>
      </p:sp>
    </p:spTree>
    <p:extLst>
      <p:ext uri="{BB962C8B-B14F-4D97-AF65-F5344CB8AC3E}">
        <p14:creationId xmlns:p14="http://schemas.microsoft.com/office/powerpoint/2010/main" val="205104874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DC6FB2-F423-4530-A4F5-9EAAD86E71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387B8E-C9D3-4FF3-B061-76107EAC1178}"/>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3" name="">
            <a:extLst xmlns:a="http://schemas.openxmlformats.org/drawingml/2006/main">
              <a:ext uri="{FF2B5EF4-FFF2-40B4-BE49-F238E27FC236}">
                <a16:creationId xmlns:a16="http://schemas.microsoft.com/office/drawing/2014/main" id="{1AD5B7C5-E20E-45DD-BA80-AA82E088D334}"/>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付録C　AE系の情報要件と未確認事項</a:t>
            </a:r>
          </a:p>
        </p:txBody>
      </p:sp>
      <p:graphicFrame>
        <p:nvGraphicFramePr>
          <p:cNvPr id="10" name=""/>
          <p:cNvGraphicFramePr/>
          <p:nvPr/>
        </p:nvGraphicFramePr>
        <p:xfrm>
          <a:off xmlns:a="http://schemas.openxmlformats.org/drawingml/2006/main" x="476250" y="1476375"/>
          <a:ext xmlns:a="http://schemas.openxmlformats.org/drawingml/2006/main" cx="11239500" cy="4000500"/>
        </p:xfrm>
        <a:graphic xmlns:a="http://schemas.openxmlformats.org/drawingml/2006/main">
          <a:graphicData uri="http://schemas.openxmlformats.org/drawingml/2006/table">
            <a:tbl>
              <a:tblPr/>
              <a:tblGrid>
                <a:gridCol w="2210278"/>
                <a:gridCol w="9029222"/>
              </a:tblGrid>
              <a:tr h="666750">
                <a:tc>
                  <a:txBody>
                    <a:bodyPr/>
                    <a:lstStyle/>
                    <a:p>
                      <a:r>
                        <a:rPr sz="1650" b="1">
                          <a:solidFill>
                            <a:srgbClr val="FFFFFF"/>
                          </a:solidFill>
                          <a:latin typeface="Meiryo"/>
                          <a:ea typeface="Meiryo"/>
                          <a:cs typeface="Meiryo"/>
                        </a:rPr>
                        <a:t>項目</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整理内容</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必要情報</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訓練：正常なX</a:t>
                      </a:r>
                    </a:p>
                    <a:p>
                      <a:r>
                        <a:rPr sz="1650" b="0">
                          <a:solidFill>
                            <a:srgbClr val="19384B"/>
                          </a:solidFill>
                          <a:latin typeface="Meiryo"/>
                          <a:ea typeface="Meiryo"/>
                          <a:cs typeface="Meiryo"/>
                        </a:rPr>
                        <a:t>運用：現在のXと学習済みAE</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スコア</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元の観測空間での再構成誤差のL2ノルム</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学習設定</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通常AEと、入力の一部を0にするノイズ除去AEを比較</a:t>
                      </a:r>
                    </a:p>
                    <a:p>
                      <a:r>
                        <a:rPr sz="1650" b="0">
                          <a:solidFill>
                            <a:srgbClr val="19384B"/>
                          </a:solidFill>
                          <a:latin typeface="Meiryo"/>
                          <a:ea typeface="Meiryo"/>
                          <a:cs typeface="Meiryo"/>
                        </a:rPr>
                        <a:t>潜在次元などのパラメータは手動で調整</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評価と閾値</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合成・衛星データで平均AUCを報告</a:t>
                      </a:r>
                    </a:p>
                    <a:p>
                      <a:r>
                        <a:rPr sz="1650" b="0">
                          <a:solidFill>
                            <a:srgbClr val="19384B"/>
                          </a:solidFill>
                          <a:latin typeface="Meiryo"/>
                          <a:ea typeface="Meiryo"/>
                          <a:cs typeface="Meiryo"/>
                        </a:rPr>
                        <a:t>運用向けの汎用的な閾値決定手順は未提示</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制約</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正常時の関係を学習できることが前提</a:t>
                      </a:r>
                    </a:p>
                    <a:p>
                      <a:r>
                        <a:rPr sz="1650" b="0">
                          <a:solidFill>
                            <a:srgbClr val="19384B"/>
                          </a:solidFill>
                          <a:latin typeface="Meiryo"/>
                          <a:ea typeface="Meiryo"/>
                          <a:cs typeface="Meiryo"/>
                        </a:rPr>
                        <a:t>低密度の全領域や大回帰誤差を必ず検知する保証はない</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D857A54D-64C2-4AAF-AC7F-7480ACD3758A}"/>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14 §3–6、Table 1</a:t>
            </a:r>
          </a:p>
        </p:txBody>
      </p:sp>
      <p:sp>
        <p:nvSpPr>
          <p:cNvPr id="6" name="">
            <a:extLst xmlns:a="http://schemas.openxmlformats.org/drawingml/2006/main">
              <a:ext uri="{FF2B5EF4-FFF2-40B4-BE49-F238E27FC236}">
                <a16:creationId xmlns:a16="http://schemas.microsoft.com/office/drawing/2014/main" id="{B6A678C5-3646-4D61-9B3F-514FEDB84E5E}"/>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23</a:t>
            </a:r>
          </a:p>
        </p:txBody>
      </p:sp>
    </p:spTree>
    <p:extLst>
      <p:ext uri="{BB962C8B-B14F-4D97-AF65-F5344CB8AC3E}">
        <p14:creationId xmlns:p14="http://schemas.microsoft.com/office/powerpoint/2010/main" val="211021923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0BCE27-44A1-4066-9039-E9A5037CB8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AF6FA3-831B-4CFD-9A6C-17BACAC12C18}"/>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3" name="">
            <a:extLst xmlns:a="http://schemas.openxmlformats.org/drawingml/2006/main">
              <a:ext uri="{FF2B5EF4-FFF2-40B4-BE49-F238E27FC236}">
                <a16:creationId xmlns:a16="http://schemas.microsoft.com/office/drawing/2014/main" id="{B1B55674-5B83-44BD-855F-67FB9A89F829}"/>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付録D　データセット情報の確認状況</a:t>
            </a:r>
          </a:p>
        </p:txBody>
      </p:sp>
      <p:graphicFrame>
        <p:nvGraphicFramePr>
          <p:cNvPr id="10" name=""/>
          <p:cNvGraphicFramePr/>
          <p:nvPr/>
        </p:nvGraphicFramePr>
        <p:xfrm>
          <a:off xmlns:a="http://schemas.openxmlformats.org/drawingml/2006/main" x="476250" y="1476375"/>
          <a:ext xmlns:a="http://schemas.openxmlformats.org/drawingml/2006/main" cx="11239500" cy="4000500"/>
        </p:xfrm>
        <a:graphic xmlns:a="http://schemas.openxmlformats.org/drawingml/2006/main">
          <a:graphicData uri="http://schemas.openxmlformats.org/drawingml/2006/table">
            <a:tbl>
              <a:tblPr/>
              <a:tblGrid>
                <a:gridCol w="3150822"/>
                <a:gridCol w="5220019"/>
                <a:gridCol w="2868659"/>
              </a:tblGrid>
              <a:tr h="666750">
                <a:tc>
                  <a:txBody>
                    <a:bodyPr/>
                    <a:lstStyle/>
                    <a:p>
                      <a:r>
                        <a:rPr sz="1650" b="1">
                          <a:solidFill>
                            <a:srgbClr val="FFFFFF"/>
                          </a:solidFill>
                          <a:latin typeface="Meiryo"/>
                          <a:ea typeface="Meiryo"/>
                          <a:cs typeface="Meiryo"/>
                        </a:rPr>
                        <a:t>データ</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論文に記載された規模・分割</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追加確認</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SWaT</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訓練496,800 / テスト449,919、51変数</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時間粒度・対象Y・版</a:t>
                      </a:r>
                    </a:p>
                    <a:p>
                      <a:r>
                        <a:rPr sz="1650" b="0">
                          <a:solidFill>
                            <a:srgbClr val="19384B"/>
                          </a:solidFill>
                          <a:latin typeface="Meiryo"/>
                          <a:ea typeface="Meiryo"/>
                          <a:cs typeface="Meiryo"/>
                        </a:rPr>
                        <a:t>利用許諾</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WADI</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訓練1,209,601 / テスト172,801、123変数</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時間粒度・対象Y・版</a:t>
                      </a:r>
                    </a:p>
                    <a:p>
                      <a:r>
                        <a:rPr sz="1650" b="0">
                          <a:solidFill>
                            <a:srgbClr val="19384B"/>
                          </a:solidFill>
                          <a:latin typeface="Meiryo"/>
                          <a:ea typeface="Meiryo"/>
                          <a:cs typeface="Meiryo"/>
                        </a:rPr>
                        <a:t>利用許諾</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PMLB（13の選択集合）</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61データ、n=47–1,066、d=10–124</a:t>
                      </a:r>
                    </a:p>
                    <a:p>
                      <a:r>
                        <a:rPr sz="1650" b="0">
                          <a:solidFill>
                            <a:srgbClr val="19384B"/>
                          </a:solidFill>
                          <a:latin typeface="Meiryo"/>
                          <a:ea typeface="Meiryo"/>
                          <a:cs typeface="Meiryo"/>
                        </a:rPr>
                        <a:t>80% / 20%分割</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各データの来歴</a:t>
                      </a:r>
                    </a:p>
                    <a:p>
                      <a:r>
                        <a:rPr sz="1650" b="0">
                          <a:solidFill>
                            <a:srgbClr val="19384B"/>
                          </a:solidFill>
                          <a:latin typeface="Meiryo"/>
                          <a:ea typeface="Meiryo"/>
                          <a:cs typeface="Meiryo"/>
                        </a:rPr>
                        <a:t>ライセンス</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Lorenz（14）</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1,000点、25次元、0.1秒間隔</a:t>
                      </a:r>
                    </a:p>
                    <a:p>
                      <a:r>
                        <a:rPr sz="1650" b="0">
                          <a:solidFill>
                            <a:srgbClr val="19384B"/>
                          </a:solidFill>
                          <a:latin typeface="Meiryo"/>
                          <a:ea typeface="Meiryo"/>
                          <a:cs typeface="Meiryo"/>
                        </a:rPr>
                        <a:t>訓練700 / テスト300</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生成の再現条件・乱数設定</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Satellite-A / B</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17変数 / 106変数</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取得方法・ラベル定義</a:t>
                      </a:r>
                    </a:p>
                    <a:p>
                      <a:r>
                        <a:rPr sz="1650" b="0">
                          <a:solidFill>
                            <a:srgbClr val="19384B"/>
                          </a:solidFill>
                          <a:latin typeface="Meiryo"/>
                          <a:ea typeface="Meiryo"/>
                          <a:cs typeface="Meiryo"/>
                        </a:rPr>
                        <a:t>利用条件</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422ECA86-8D81-4ED0-ADF6-9177C3B3774C}"/>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S1 Table 1、13 §5.3、14 §4。数値は各論文の使用版に限る</a:t>
            </a:r>
          </a:p>
        </p:txBody>
      </p:sp>
      <p:sp>
        <p:nvSpPr>
          <p:cNvPr id="6" name="">
            <a:extLst xmlns:a="http://schemas.openxmlformats.org/drawingml/2006/main">
              <a:ext uri="{FF2B5EF4-FFF2-40B4-BE49-F238E27FC236}">
                <a16:creationId xmlns:a16="http://schemas.microsoft.com/office/drawing/2014/main" id="{2770C200-B13E-44E2-BE03-313E91068096}"/>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24</a:t>
            </a:r>
          </a:p>
        </p:txBody>
      </p:sp>
    </p:spTree>
    <p:extLst>
      <p:ext uri="{BB962C8B-B14F-4D97-AF65-F5344CB8AC3E}">
        <p14:creationId xmlns:p14="http://schemas.microsoft.com/office/powerpoint/2010/main" val="59611527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4B5E11-A4E0-4BE9-A6DA-62DE658FB5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194076-CF9A-408B-9EDB-2A68E34605A5}"/>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3" name="">
            <a:extLst xmlns:a="http://schemas.openxmlformats.org/drawingml/2006/main">
              <a:ext uri="{FF2B5EF4-FFF2-40B4-BE49-F238E27FC236}">
                <a16:creationId xmlns:a16="http://schemas.microsoft.com/office/drawing/2014/main" id="{5B52C1C3-5ABC-4878-A6B6-298F9DB855D1}"/>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参考文献</a:t>
            </a:r>
          </a:p>
        </p:txBody>
      </p:sp>
      <p:sp>
        <p:nvSpPr>
          <p:cNvPr id="4" name="">
            <a:extLst xmlns:a="http://schemas.openxmlformats.org/drawingml/2006/main">
              <a:ext uri="{FF2B5EF4-FFF2-40B4-BE49-F238E27FC236}">
                <a16:creationId xmlns:a16="http://schemas.microsoft.com/office/drawing/2014/main" id="{F057CCCD-4FEA-4040-90BD-D1AF79CBDC62}"/>
              </a:ext>
            </a:extLst>
          </p:cNvPr>
          <p:cNvSpPr>
            <a:spLocks xmlns:a="http://schemas.openxmlformats.org/drawingml/2006/main" noGrp="1"/>
          </p:cNvSpPr>
          <p:nvPr/>
        </p:nvSpPr>
        <p:spPr>
          <a:xfrm xmlns:a="http://schemas.openxmlformats.org/drawingml/2006/main">
            <a:off x="523875" y="1562100"/>
            <a:ext cx="111442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9384B"/>
                </a:solidFill>
                <a:latin typeface="Meiryo"/>
                <a:ea typeface="Meiryo"/>
                <a:cs typeface="Meiryo"/>
              </a:defRPr>
            </a:pPr>
            <a:r>
              <a:rPr sz="1650" b="0">
                <a:solidFill>
                  <a:srgbClr val="19384B"/>
                </a:solidFill>
                <a:latin typeface="Meiryo"/>
                <a:ea typeface="Meiryo"/>
                <a:cs typeface="Meiryo"/>
              </a:rPr>
              <a:t>[S1] Audibert, J., Michiardi, P., Guyard, F., Marti, S., Zuluaga, M. A. (2022). Do Deep Neural Networks Contribute to Multivariate Time Series Anomaly Detection? Pattern Recognition.</a:t>
            </a:r>
          </a:p>
        </p:txBody>
      </p:sp>
      <p:sp>
        <p:nvSpPr>
          <p:cNvPr id="5" name="">
            <a:extLst xmlns:a="http://schemas.openxmlformats.org/drawingml/2006/main">
              <a:ext uri="{FF2B5EF4-FFF2-40B4-BE49-F238E27FC236}">
                <a16:creationId xmlns:a16="http://schemas.microsoft.com/office/drawing/2014/main" id="{175D28E0-6BC6-4C02-88A2-6FF6EEC48AE9}"/>
              </a:ext>
            </a:extLst>
          </p:cNvPr>
          <p:cNvSpPr>
            <a:spLocks xmlns:a="http://schemas.openxmlformats.org/drawingml/2006/main" noGrp="1"/>
          </p:cNvSpPr>
          <p:nvPr/>
        </p:nvSpPr>
        <p:spPr>
          <a:xfrm xmlns:a="http://schemas.openxmlformats.org/drawingml/2006/main">
            <a:off x="523875" y="2914650"/>
            <a:ext cx="111442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9384B"/>
                </a:solidFill>
                <a:latin typeface="Meiryo"/>
                <a:ea typeface="Meiryo"/>
                <a:cs typeface="Meiryo"/>
              </a:defRPr>
            </a:pPr>
            <a:r>
              <a:rPr sz="1650" b="0">
                <a:solidFill>
                  <a:srgbClr val="19384B"/>
                </a:solidFill>
                <a:latin typeface="Meiryo"/>
                <a:ea typeface="Meiryo"/>
                <a:cs typeface="Meiryo"/>
              </a:rPr>
              <a:t>[S3] Blázquez-García, A., Conde, A., Mori, U., Lozano, J. A. (2021). A Review on Outlier/Anomaly Detection in Time Series Data. ACM Computing Surveys, 54(3), Article 56. DOI: 10.1145/3444690.</a:t>
            </a:r>
          </a:p>
        </p:txBody>
      </p:sp>
      <p:sp>
        <p:nvSpPr>
          <p:cNvPr id="6" name="">
            <a:extLst xmlns:a="http://schemas.openxmlformats.org/drawingml/2006/main">
              <a:ext uri="{FF2B5EF4-FFF2-40B4-BE49-F238E27FC236}">
                <a16:creationId xmlns:a16="http://schemas.microsoft.com/office/drawing/2014/main" id="{9FC5795B-7901-4BDD-AB9E-7F6D1D17B38F}"/>
              </a:ext>
            </a:extLst>
          </p:cNvPr>
          <p:cNvSpPr>
            <a:spLocks xmlns:a="http://schemas.openxmlformats.org/drawingml/2006/main" noGrp="1"/>
          </p:cNvSpPr>
          <p:nvPr/>
        </p:nvSpPr>
        <p:spPr>
          <a:xfrm xmlns:a="http://schemas.openxmlformats.org/drawingml/2006/main">
            <a:off x="523875" y="4267200"/>
            <a:ext cx="111442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9384B"/>
                </a:solidFill>
                <a:latin typeface="Meiryo"/>
                <a:ea typeface="Meiryo"/>
                <a:cs typeface="Meiryo"/>
              </a:defRPr>
            </a:pPr>
            <a:r>
              <a:rPr sz="1650" b="0">
                <a:solidFill>
                  <a:srgbClr val="19384B"/>
                </a:solidFill>
                <a:latin typeface="Meiryo"/>
                <a:ea typeface="Meiryo"/>
                <a:cs typeface="Meiryo"/>
              </a:rPr>
              <a:t>[S6] Wang, F., Jiang, Y., Zhang, R., Wei, A., Xie, J., Pang, X. (2025). A Survey of Deep Anomaly Detection in Multivariate Time Series: Taxonomy, Applications, and Directions. Sensors, 25, 190. DOI: 10.3390/s25010190.</a:t>
            </a:r>
          </a:p>
        </p:txBody>
      </p:sp>
      <p:sp>
        <p:nvSpPr>
          <p:cNvPr id="7" name="">
            <a:extLst xmlns:a="http://schemas.openxmlformats.org/drawingml/2006/main">
              <a:ext uri="{FF2B5EF4-FFF2-40B4-BE49-F238E27FC236}">
                <a16:creationId xmlns:a16="http://schemas.microsoft.com/office/drawing/2014/main" id="{C2CF5DAA-4B10-4707-B40C-5C8FC7FA1FAD}"/>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ユーザー提供PDFの書誌情報</a:t>
            </a:r>
          </a:p>
        </p:txBody>
      </p:sp>
      <p:sp>
        <p:nvSpPr>
          <p:cNvPr id="8" name="">
            <a:extLst xmlns:a="http://schemas.openxmlformats.org/drawingml/2006/main">
              <a:ext uri="{FF2B5EF4-FFF2-40B4-BE49-F238E27FC236}">
                <a16:creationId xmlns:a16="http://schemas.microsoft.com/office/drawing/2014/main" id="{FB6240E2-D044-4E13-91AE-E83C7662FE28}"/>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25</a:t>
            </a:r>
          </a:p>
        </p:txBody>
      </p:sp>
    </p:spTree>
    <p:extLst>
      <p:ext uri="{BB962C8B-B14F-4D97-AF65-F5344CB8AC3E}">
        <p14:creationId xmlns:p14="http://schemas.microsoft.com/office/powerpoint/2010/main" val="1875080546"/>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4731019-B4C1-4B78-92CF-B7549D7D86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7F6F8B-CEC7-4738-879F-967608F669F5}"/>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3" name="">
            <a:extLst xmlns:a="http://schemas.openxmlformats.org/drawingml/2006/main">
              <a:ext uri="{FF2B5EF4-FFF2-40B4-BE49-F238E27FC236}">
                <a16:creationId xmlns:a16="http://schemas.microsoft.com/office/drawing/2014/main" id="{F566354E-2337-4B40-AF1A-C1114886C4B6}"/>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参考文献と調査要件</a:t>
            </a:r>
          </a:p>
        </p:txBody>
      </p:sp>
      <p:sp>
        <p:nvSpPr>
          <p:cNvPr id="4" name="">
            <a:extLst xmlns:a="http://schemas.openxmlformats.org/drawingml/2006/main">
              <a:ext uri="{FF2B5EF4-FFF2-40B4-BE49-F238E27FC236}">
                <a16:creationId xmlns:a16="http://schemas.microsoft.com/office/drawing/2014/main" id="{8A6A592F-5A3F-4169-960C-1CE99045C33E}"/>
              </a:ext>
            </a:extLst>
          </p:cNvPr>
          <p:cNvSpPr>
            <a:spLocks xmlns:a="http://schemas.openxmlformats.org/drawingml/2006/main" noGrp="1"/>
          </p:cNvSpPr>
          <p:nvPr/>
        </p:nvSpPr>
        <p:spPr>
          <a:xfrm xmlns:a="http://schemas.openxmlformats.org/drawingml/2006/main">
            <a:off x="523875" y="1562100"/>
            <a:ext cx="11144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9384B"/>
                </a:solidFill>
                <a:latin typeface="Meiryo"/>
                <a:ea typeface="Meiryo"/>
                <a:cs typeface="Meiryo"/>
              </a:defRPr>
            </a:pPr>
            <a:r>
              <a:rPr sz="1650" b="0">
                <a:solidFill>
                  <a:srgbClr val="19384B"/>
                </a:solidFill>
                <a:latin typeface="Meiryo"/>
                <a:ea typeface="Meiryo"/>
                <a:cs typeface="Meiryo"/>
              </a:rPr>
              <a:t>[13] Lu, M., Ishwaran, H. (2026). General OOD detection via model-aware and subspace-aware variable priority. Knowledge and Information Systems, 68:250. DOI: 10.1007/s10115-026-02872-5.</a:t>
            </a:r>
          </a:p>
        </p:txBody>
      </p:sp>
      <p:sp>
        <p:nvSpPr>
          <p:cNvPr id="5" name="">
            <a:extLst xmlns:a="http://schemas.openxmlformats.org/drawingml/2006/main">
              <a:ext uri="{FF2B5EF4-FFF2-40B4-BE49-F238E27FC236}">
                <a16:creationId xmlns:a16="http://schemas.microsoft.com/office/drawing/2014/main" id="{105CE98E-1862-4BC2-8E7E-73AD0EEE0B44}"/>
              </a:ext>
            </a:extLst>
          </p:cNvPr>
          <p:cNvSpPr>
            <a:spLocks xmlns:a="http://schemas.openxmlformats.org/drawingml/2006/main" noGrp="1"/>
          </p:cNvSpPr>
          <p:nvPr/>
        </p:nvSpPr>
        <p:spPr>
          <a:xfrm xmlns:a="http://schemas.openxmlformats.org/drawingml/2006/main">
            <a:off x="523875" y="2619375"/>
            <a:ext cx="11144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9384B"/>
                </a:solidFill>
                <a:latin typeface="Meiryo"/>
                <a:ea typeface="Meiryo"/>
                <a:cs typeface="Meiryo"/>
              </a:defRPr>
            </a:pPr>
            <a:r>
              <a:rPr sz="1650" b="0">
                <a:solidFill>
                  <a:srgbClr val="19384B"/>
                </a:solidFill>
                <a:latin typeface="Meiryo"/>
                <a:ea typeface="Meiryo"/>
                <a:cs typeface="Meiryo"/>
              </a:rPr>
              <a:t>[14] Sakurada, M., Yairi, T. (2014). Anomaly Detection Using Autoencoders with Nonlinear Dimensionality Reduction. MLSDA ’14.</a:t>
            </a:r>
          </a:p>
        </p:txBody>
      </p:sp>
      <p:sp>
        <p:nvSpPr>
          <p:cNvPr id="6" name="">
            <a:extLst xmlns:a="http://schemas.openxmlformats.org/drawingml/2006/main">
              <a:ext uri="{FF2B5EF4-FFF2-40B4-BE49-F238E27FC236}">
                <a16:creationId xmlns:a16="http://schemas.microsoft.com/office/drawing/2014/main" id="{D1CBBE38-674F-489F-B7D1-D26B5F5AB2E2}"/>
              </a:ext>
            </a:extLst>
          </p:cNvPr>
          <p:cNvSpPr>
            <a:spLocks xmlns:a="http://schemas.openxmlformats.org/drawingml/2006/main" noGrp="1"/>
          </p:cNvSpPr>
          <p:nvPr/>
        </p:nvSpPr>
        <p:spPr>
          <a:xfrm xmlns:a="http://schemas.openxmlformats.org/drawingml/2006/main">
            <a:off x="523875" y="3676650"/>
            <a:ext cx="11144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9384B"/>
                </a:solidFill>
                <a:latin typeface="Meiryo"/>
                <a:ea typeface="Meiryo"/>
                <a:cs typeface="Meiryo"/>
              </a:defRPr>
            </a:pPr>
            <a:r>
              <a:rPr sz="1650" b="0">
                <a:solidFill>
                  <a:srgbClr val="19384B"/>
                </a:solidFill>
                <a:latin typeface="Meiryo"/>
                <a:ea typeface="Meiryo"/>
                <a:cs typeface="Meiryo"/>
              </a:rPr>
              <a:t>[山原] 山原裕之・横山雄・金谷道昭. 配水管網における圧力推定のための機械学習モデルの適用領域の検討. 刊行年・発表先は提供資料では未確認。</a:t>
            </a:r>
          </a:p>
        </p:txBody>
      </p:sp>
      <p:sp>
        <p:nvSpPr>
          <p:cNvPr id="7" name="">
            <a:extLst xmlns:a="http://schemas.openxmlformats.org/drawingml/2006/main">
              <a:ext uri="{FF2B5EF4-FFF2-40B4-BE49-F238E27FC236}">
                <a16:creationId xmlns:a16="http://schemas.microsoft.com/office/drawing/2014/main" id="{D06D3DBD-3303-4C48-AC6D-F549361E856E}"/>
              </a:ext>
            </a:extLst>
          </p:cNvPr>
          <p:cNvSpPr>
            <a:spLocks xmlns:a="http://schemas.openxmlformats.org/drawingml/2006/main" noGrp="1"/>
          </p:cNvSpPr>
          <p:nvPr/>
        </p:nvSpPr>
        <p:spPr>
          <a:xfrm xmlns:a="http://schemas.openxmlformats.org/drawingml/2006/main">
            <a:off x="523875" y="4733925"/>
            <a:ext cx="11144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9384B"/>
                </a:solidFill>
                <a:latin typeface="Meiryo"/>
                <a:ea typeface="Meiryo"/>
                <a:cs typeface="Meiryo"/>
              </a:defRPr>
            </a:pPr>
            <a:r>
              <a:rPr sz="1650" b="0">
                <a:solidFill>
                  <a:srgbClr val="19384B"/>
                </a:solidFill>
                <a:latin typeface="Meiryo"/>
                <a:ea typeface="Meiryo"/>
                <a:cs typeface="Meiryo"/>
              </a:rPr>
              <a:t>[調査要件] 「学習外入力データ検知手法 調査要求」（実习要求.docx）および読解項目の整理（论文要总结内容.docx）。</a:t>
            </a:r>
          </a:p>
        </p:txBody>
      </p:sp>
      <p:sp>
        <p:nvSpPr>
          <p:cNvPr id="8" name="">
            <a:extLst xmlns:a="http://schemas.openxmlformats.org/drawingml/2006/main">
              <a:ext uri="{FF2B5EF4-FFF2-40B4-BE49-F238E27FC236}">
                <a16:creationId xmlns:a16="http://schemas.microsoft.com/office/drawing/2014/main" id="{74765878-2B6A-4CED-BE45-D9FFA5B83784}"/>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ユーザー提供PDF・DOCX</a:t>
            </a:r>
          </a:p>
        </p:txBody>
      </p:sp>
      <p:sp>
        <p:nvSpPr>
          <p:cNvPr id="9" name="">
            <a:extLst xmlns:a="http://schemas.openxmlformats.org/drawingml/2006/main">
              <a:ext uri="{FF2B5EF4-FFF2-40B4-BE49-F238E27FC236}">
                <a16:creationId xmlns:a16="http://schemas.microsoft.com/office/drawing/2014/main" id="{6F1DD5E7-478A-4852-9A96-39E2B25BFC3F}"/>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26</a:t>
            </a:r>
          </a:p>
        </p:txBody>
      </p:sp>
    </p:spTree>
    <p:extLst>
      <p:ext uri="{BB962C8B-B14F-4D97-AF65-F5344CB8AC3E}">
        <p14:creationId xmlns:p14="http://schemas.microsoft.com/office/powerpoint/2010/main" val="4242049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2026-09-13T15:22:18.7880000Z</dcterms:created>
  <dcterms:modified xsi:type="dcterms:W3CDTF">2026-09-13T15:22:18.7880000Z</dcterms:modified>
</coreProperties>
</file>