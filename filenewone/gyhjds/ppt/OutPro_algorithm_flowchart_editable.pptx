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" y="566928"/>
            <a:ext cx="11750040" cy="192024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69A0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" y="3108960"/>
            <a:ext cx="11750040" cy="3429000"/>
          </a:xfrm>
          <a:prstGeom prst="roundRect">
            <a:avLst/>
          </a:prstGeom>
          <a:solidFill>
            <a:srgbClr val="FAFFFC"/>
          </a:solidFill>
          <a:ln w="12700">
            <a:solidFill>
              <a:srgbClr val="78BE9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4691"/>
                </a:solidFill>
                <a:latin typeface="Cambria"/>
              </a:rPr>
              <a:t>Training phase
(offline)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432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643C"/>
                </a:solidFill>
                <a:latin typeface="Cambria"/>
              </a:rPr>
              <a:t>Test phase
(online)</a:t>
            </a:r>
          </a:p>
        </p:txBody>
      </p:sp>
      <p:sp>
        <p:nvSpPr>
          <p:cNvPr id="6" name="Can 5"/>
          <p:cNvSpPr/>
          <p:nvPr/>
        </p:nvSpPr>
        <p:spPr>
          <a:xfrm>
            <a:off x="411480" y="1170432"/>
            <a:ext cx="1417320" cy="987552"/>
          </a:xfrm>
          <a:prstGeom prst="can">
            <a:avLst/>
          </a:prstGeom>
          <a:solidFill>
            <a:srgbClr val="E5F0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2D54"/>
                </a:solidFill>
                <a:latin typeface="Cambria"/>
              </a:rPr>
              <a:t>Training data
D = {(xᵢ, yᵢ)}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1664208"/>
            <a:ext cx="475488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04288" y="960120"/>
            <a:ext cx="2331720" cy="1325880"/>
          </a:xfrm>
          <a:prstGeom prst="roundRect">
            <a:avLst/>
          </a:prstGeom>
          <a:solidFill>
            <a:srgbClr val="E5F0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02D54"/>
                </a:solidFill>
                <a:latin typeface="Cambria"/>
              </a:rPr>
              <a:t>Train prediction model
(Random Forest)
f(·)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93491" y="1664208"/>
            <a:ext cx="141733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35224" y="1664208"/>
            <a:ext cx="141732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19791" y="1851294"/>
            <a:ext cx="73700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93491" y="1851294"/>
            <a:ext cx="73701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003255" y="1851294"/>
            <a:ext cx="73701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76956" y="1851294"/>
            <a:ext cx="73700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894076" y="1623060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52344" y="1810146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35808" y="1810146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78643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26044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62107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09508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3890772" y="1664208"/>
            <a:ext cx="141731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32503" y="1664208"/>
            <a:ext cx="141732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817071" y="1851294"/>
            <a:ext cx="73701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90772" y="1851294"/>
            <a:ext cx="73700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100535" y="1851294"/>
            <a:ext cx="73700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74235" y="1851294"/>
            <a:ext cx="73701" cy="187086"/>
          </a:xfrm>
          <a:prstGeom prst="line">
            <a:avLst/>
          </a:prstGeom>
          <a:ln w="10160">
            <a:solidFill>
              <a:srgbClr val="507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991355" y="1623060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49624" y="1810146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33087" y="1810146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75923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23324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59387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06788" y="1997232"/>
            <a:ext cx="82296" cy="82296"/>
          </a:xfrm>
          <a:prstGeom prst="ellipse">
            <a:avLst/>
          </a:prstGeom>
          <a:solidFill>
            <a:srgbClr val="AAD2F5"/>
          </a:solidFill>
          <a:ln>
            <a:solidFill>
              <a:srgbClr val="41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636008" y="1664208"/>
            <a:ext cx="347472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983480" y="841248"/>
            <a:ext cx="1874519" cy="1627632"/>
          </a:xfrm>
          <a:prstGeom prst="roundRect">
            <a:avLst/>
          </a:prstGeom>
          <a:solidFill>
            <a:srgbClr val="FDEBEB"/>
          </a:solidFill>
          <a:ln w="13970"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E3C3C"/>
                </a:solidFill>
                <a:latin typeface="Cambria"/>
              </a:rPr>
              <a:t>Variable
Prioritization
(VarPro)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85232" y="2167128"/>
            <a:ext cx="1143000" cy="0"/>
          </a:xfrm>
          <a:prstGeom prst="line">
            <a:avLst/>
          </a:prstGeom>
          <a:ln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85232" y="1508760"/>
            <a:ext cx="0" cy="658368"/>
          </a:xfrm>
          <a:prstGeom prst="line">
            <a:avLst/>
          </a:prstGeom>
          <a:ln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94960" y="1679277"/>
            <a:ext cx="91440" cy="487850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09260" y="1797388"/>
            <a:ext cx="91440" cy="369739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23560" y="1889823"/>
            <a:ext cx="91440" cy="277304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37860" y="1977122"/>
            <a:ext cx="91440" cy="190005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2038746"/>
            <a:ext cx="91440" cy="128381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66460" y="2105504"/>
            <a:ext cx="91440" cy="61623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2115775"/>
            <a:ext cx="91440" cy="51352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95060" y="2023340"/>
            <a:ext cx="91440" cy="143787"/>
          </a:xfrm>
          <a:prstGeom prst="rect">
            <a:avLst/>
          </a:prstGeom>
          <a:solidFill>
            <a:srgbClr val="78AAE1"/>
          </a:solidFill>
          <a:ln>
            <a:solidFill>
              <a:srgbClr val="78A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0952" y="2194560"/>
            <a:ext cx="11430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02D54"/>
                </a:solidFill>
                <a:latin typeface="Cambria"/>
              </a:rPr>
              <a:t>v₁ ≥ v₂ ≥ … ≥ vₚ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858000" y="1664208"/>
            <a:ext cx="365760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223760" y="1143000"/>
            <a:ext cx="2057400" cy="1005840"/>
          </a:xfrm>
          <a:prstGeom prst="roundRect">
            <a:avLst/>
          </a:prstGeom>
          <a:solidFill>
            <a:srgbClr val="FFF7E1"/>
          </a:solidFill>
          <a:ln w="13970">
            <a:solidFill>
              <a:srgbClr val="D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Select important
subspace S
S = {xᵢ₁, xᵢ₂, …, xᵢₖ}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81160" y="1664208"/>
            <a:ext cx="393192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n 50"/>
          <p:cNvSpPr/>
          <p:nvPr/>
        </p:nvSpPr>
        <p:spPr>
          <a:xfrm>
            <a:off x="9674352" y="868680"/>
            <a:ext cx="1965960" cy="1417320"/>
          </a:xfrm>
          <a:prstGeom prst="can">
            <a:avLst/>
          </a:prstGeom>
          <a:solidFill>
            <a:srgbClr val="E5F0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02D54"/>
                </a:solidFill>
                <a:latin typeface="Cambria"/>
              </a:rPr>
              <a:t>Reference set
X_train⁽S⁾
(projected on S)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652760" y="2286000"/>
            <a:ext cx="0" cy="1024128"/>
          </a:xfrm>
          <a:prstGeom prst="bentConnector3">
            <a:avLst/>
          </a:prstGeom>
          <a:ln w="15240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212848" y="3310128"/>
            <a:ext cx="8439912" cy="0"/>
          </a:xfrm>
          <a:prstGeom prst="bentConnector3">
            <a:avLst/>
          </a:prstGeom>
          <a:ln w="15240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12848" y="3310128"/>
            <a:ext cx="0" cy="457200"/>
          </a:xfrm>
          <a:prstGeom prst="line">
            <a:avLst/>
          </a:prstGeom>
          <a:ln w="15240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75488" y="3794760"/>
            <a:ext cx="1600200" cy="960120"/>
          </a:xfrm>
          <a:prstGeom prst="roundRect">
            <a:avLst/>
          </a:prstGeom>
          <a:solidFill>
            <a:srgbClr val="E5F0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Test input
x_new
[x₁, x₂, …, xₚ]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075688" y="4279392"/>
            <a:ext cx="466344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542032" y="3840480"/>
            <a:ext cx="1737360" cy="868680"/>
          </a:xfrm>
          <a:prstGeom prst="roundRect">
            <a:avLst/>
          </a:prstGeom>
          <a:solidFill>
            <a:srgbClr val="FFF7E1"/>
          </a:solidFill>
          <a:ln w="13970">
            <a:solidFill>
              <a:srgbClr val="D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2D54"/>
                </a:solidFill>
                <a:latin typeface="Cambria"/>
              </a:rPr>
              <a:t>Project onto
subspace S
x_new⁽S⁾=[xᵢ₁,…,xᵢₖ]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279392" y="4279392"/>
            <a:ext cx="338328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617720" y="3456432"/>
            <a:ext cx="2057400" cy="1536192"/>
          </a:xfrm>
          <a:prstGeom prst="roundRect">
            <a:avLst/>
          </a:prstGeom>
          <a:solidFill>
            <a:srgbClr val="F6F0FF"/>
          </a:solidFill>
          <a:ln w="13970">
            <a:solidFill>
              <a:srgbClr val="A58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Find reference
neighborhood
𝒩_K(x_new⁽S⁾)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800600" y="4754880"/>
            <a:ext cx="1417320" cy="0"/>
          </a:xfrm>
          <a:prstGeom prst="line">
            <a:avLst/>
          </a:prstGeom>
          <a:ln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00600" y="4041648"/>
            <a:ext cx="0" cy="713232"/>
          </a:xfrm>
          <a:prstGeom prst="line">
            <a:avLst/>
          </a:prstGeom>
          <a:ln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001768" y="4206240"/>
            <a:ext cx="963777" cy="413674"/>
          </a:xfrm>
          <a:prstGeom prst="ellipse">
            <a:avLst/>
          </a:prstGeom>
          <a:solidFill>
            <a:srgbClr val="DCEBFA"/>
          </a:solidFill>
          <a:ln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214677" y="4461110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141326" y="4489011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02755" y="4150429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82351" y="4487977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163124" y="451693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915788" y="4139446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695148" y="427560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51019" y="423783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741068" y="4193081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646466" y="4345666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407418" y="4277913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13387" y="425416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853575" y="413224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791870" y="4239591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572930" y="437463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401190" y="450100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54393" y="454991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27431" y="4364366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857343" y="418658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284074" y="4494913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430877" y="4432181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626285" y="440007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094270" y="445581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551100" y="4337701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231659" y="4546577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738820" y="419445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781411" y="435232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415999" y="4372883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511670" y="435787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727800" y="4291027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391824" y="4389538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853012" y="4273003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069603" y="4458413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53040" y="4470608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886342" y="4229588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060655" y="456571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585517" y="436887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450667" y="4260292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199069" y="443260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518871" y="4384376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275684" y="452472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393492" y="4304870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776106" y="4315567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255219" y="4488948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351096" y="4509260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213636" y="4496044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889755" y="4099700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5683996" y="4248307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425086" y="4402875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884625" y="4137020"/>
            <a:ext cx="32004" cy="32004"/>
          </a:xfrm>
          <a:prstGeom prst="ellipse">
            <a:avLst/>
          </a:prstGeom>
          <a:solidFill>
            <a:srgbClr val="419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906109" y="4291279"/>
            <a:ext cx="86868" cy="86868"/>
          </a:xfrm>
          <a:prstGeom prst="ellipse">
            <a:avLst/>
          </a:prstGeom>
          <a:solidFill>
            <a:srgbClr val="D71919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 flipH="1">
            <a:off x="5622645" y="4332427"/>
            <a:ext cx="324612" cy="37307"/>
          </a:xfrm>
          <a:prstGeom prst="line">
            <a:avLst/>
          </a:prstGeom>
          <a:ln w="10160">
            <a:solidFill>
              <a:srgbClr val="468C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5590641" y="4337730"/>
            <a:ext cx="64008" cy="64008"/>
          </a:xfrm>
          <a:prstGeom prst="ellipse">
            <a:avLst/>
          </a:prstGeom>
          <a:solidFill>
            <a:srgbClr val="5AAA5A"/>
          </a:solidFill>
          <a:ln>
            <a:solidFill>
              <a:srgbClr val="5AA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 flipH="1">
            <a:off x="5537606" y="4332427"/>
            <a:ext cx="409651" cy="108630"/>
          </a:xfrm>
          <a:prstGeom prst="line">
            <a:avLst/>
          </a:prstGeom>
          <a:ln w="10160">
            <a:solidFill>
              <a:srgbClr val="468C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5505602" y="4409053"/>
            <a:ext cx="64008" cy="64008"/>
          </a:xfrm>
          <a:prstGeom prst="ellipse">
            <a:avLst/>
          </a:prstGeom>
          <a:solidFill>
            <a:srgbClr val="5AAA5A"/>
          </a:solidFill>
          <a:ln>
            <a:solidFill>
              <a:srgbClr val="5AA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 flipH="1" flipV="1">
            <a:off x="5480913" y="4319808"/>
            <a:ext cx="466344" cy="12619"/>
          </a:xfrm>
          <a:prstGeom prst="line">
            <a:avLst/>
          </a:prstGeom>
          <a:ln w="10160">
            <a:solidFill>
              <a:srgbClr val="468C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5448909" y="4287804"/>
            <a:ext cx="64008" cy="64008"/>
          </a:xfrm>
          <a:prstGeom prst="ellipse">
            <a:avLst/>
          </a:prstGeom>
          <a:solidFill>
            <a:srgbClr val="5AAA5A"/>
          </a:solidFill>
          <a:ln>
            <a:solidFill>
              <a:srgbClr val="5AA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92724" y="4170029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BE3C3C"/>
                </a:solidFill>
                <a:latin typeface="Cambria"/>
              </a:rPr>
              <a:t>x⁽S⁾new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48072" y="4892040"/>
            <a:ext cx="1051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102D54"/>
                </a:solidFill>
                <a:latin typeface="Cambria"/>
              </a:rPr>
              <a:t>K nearest neighbors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675120" y="4279392"/>
            <a:ext cx="347472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7022592" y="3767328"/>
            <a:ext cx="2697480" cy="1005840"/>
          </a:xfrm>
          <a:prstGeom prst="roundRect">
            <a:avLst/>
          </a:prstGeom>
          <a:solidFill>
            <a:srgbClr val="F6F0FF"/>
          </a:solidFill>
          <a:ln w="13970">
            <a:solidFill>
              <a:srgbClr val="A58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Compute OOD score
s(x_new)= 1/K  Σ  d(x_new⁽S⁾, x)
        x∈𝒩_K(x_new⁽S⁾)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720072" y="4279392"/>
            <a:ext cx="320040" cy="0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10040112" y="3858768"/>
            <a:ext cx="1627632" cy="841248"/>
          </a:xfrm>
          <a:prstGeom prst="roundRect">
            <a:avLst/>
          </a:prstGeom>
          <a:solidFill>
            <a:srgbClr val="EEF9F3"/>
          </a:solidFill>
          <a:ln w="13970">
            <a:solidFill>
              <a:srgbClr val="78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Compare
with threshold
s(x_new) &gt; θ ?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0853928" y="4700016"/>
            <a:ext cx="0" cy="493776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Diamond 126"/>
          <p:cNvSpPr/>
          <p:nvPr/>
        </p:nvSpPr>
        <p:spPr>
          <a:xfrm>
            <a:off x="10497312" y="5193792"/>
            <a:ext cx="713232" cy="566928"/>
          </a:xfrm>
          <a:prstGeom prst="diamond">
            <a:avLst/>
          </a:prstGeom>
          <a:solidFill>
            <a:srgbClr val="E5F0FC"/>
          </a:solidFill>
          <a:ln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04120" y="514807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BE3C3C"/>
                </a:solidFill>
                <a:latin typeface="Cambria"/>
              </a:rPr>
              <a:t>Yes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01400" y="514807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02D54"/>
                </a:solidFill>
                <a:latin typeface="Cambria"/>
              </a:rPr>
              <a:t>No</a:t>
            </a:r>
          </a:p>
        </p:txBody>
      </p:sp>
      <p:cxnSp>
        <p:nvCxnSpPr>
          <p:cNvPr id="130" name="Connector 129"/>
          <p:cNvCxnSpPr/>
          <p:nvPr/>
        </p:nvCxnSpPr>
        <p:spPr>
          <a:xfrm flipH="1">
            <a:off x="9738360" y="5532120"/>
            <a:ext cx="850392" cy="265176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109960" y="5532120"/>
            <a:ext cx="521208" cy="265176"/>
          </a:xfrm>
          <a:prstGeom prst="line">
            <a:avLst/>
          </a:prstGeom>
          <a:ln w="17145">
            <a:solidFill>
              <a:srgbClr val="102D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8412480" y="5760720"/>
            <a:ext cx="1783080" cy="530352"/>
          </a:xfrm>
          <a:prstGeom prst="roundRect">
            <a:avLst/>
          </a:prstGeom>
          <a:solidFill>
            <a:srgbClr val="FDEBEB"/>
          </a:solidFill>
          <a:ln w="13970"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E3C3C"/>
                </a:solidFill>
                <a:latin typeface="Cambria"/>
              </a:rPr>
              <a:t>Out-of-distribution
(OOD)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652760" y="5760720"/>
            <a:ext cx="1325880" cy="530352"/>
          </a:xfrm>
          <a:prstGeom prst="roundRect">
            <a:avLst/>
          </a:prstGeom>
          <a:solidFill>
            <a:srgbClr val="E5F0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2D54"/>
                </a:solidFill>
                <a:latin typeface="Cambria"/>
              </a:rPr>
              <a:t>In-distribution
(ID)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