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9.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2a9926ec72741d7" /><Relationship Type="http://schemas.openxmlformats.org/officeDocument/2006/relationships/extended-properties" Target="/docProps/app.xml" Id="R497853718b5a4d5f" /><Relationship Type="http://schemas.openxmlformats.org/officeDocument/2006/relationships/officeDocument" Target="/ppt/presentation.xml" Id="R70fc727d1e9143db" /></Relationships>
</file>

<file path=ppt/presentation.xml><?xml version="1.0" encoding="utf-8"?>
<p:presentation xmlns:p="http://schemas.openxmlformats.org/presentationml/2006/main">
  <p:sldMasterIdLst>
    <p:sldMasterId xmlns:r="http://schemas.openxmlformats.org/officeDocument/2006/relationships" id="2147483648" r:id="R1e804d1509a44433"/>
  </p:sldMasterIdLst>
  <p:notesMasterIdLst>
    <p:notesMasterId xmlns:r="http://schemas.openxmlformats.org/officeDocument/2006/relationships" r:id="Rf637da2a7d0d4d13"/>
  </p:notesMasterIdLst>
  <p:sldIdLst>
    <p:sldId xmlns:r="http://schemas.openxmlformats.org/officeDocument/2006/relationships" id="256" r:id="Ra33cf51ad09e475a"/>
    <p:sldId xmlns:r="http://schemas.openxmlformats.org/officeDocument/2006/relationships" id="257" r:id="Rc863179cb3a34513"/>
    <p:sldId xmlns:r="http://schemas.openxmlformats.org/officeDocument/2006/relationships" id="258" r:id="R05da5c93753a4a12"/>
    <p:sldId xmlns:r="http://schemas.openxmlformats.org/officeDocument/2006/relationships" id="259" r:id="R7e02190d195a4355"/>
    <p:sldId xmlns:r="http://schemas.openxmlformats.org/officeDocument/2006/relationships" id="260" r:id="Rb9f7cf3bef92460a"/>
    <p:sldId xmlns:r="http://schemas.openxmlformats.org/officeDocument/2006/relationships" id="261" r:id="R65585cce36d44e70"/>
    <p:sldId xmlns:r="http://schemas.openxmlformats.org/officeDocument/2006/relationships" id="262" r:id="R1a71091fe5384e1c"/>
    <p:sldId xmlns:r="http://schemas.openxmlformats.org/officeDocument/2006/relationships" id="263" r:id="R976e2b2fa886430d"/>
    <p:sldId xmlns:r="http://schemas.openxmlformats.org/officeDocument/2006/relationships" id="264" r:id="Re05d4b44de9c479a"/>
    <p:sldId xmlns:r="http://schemas.openxmlformats.org/officeDocument/2006/relationships" id="265" r:id="R510ac033dfd2466e"/>
    <p:sldId xmlns:r="http://schemas.openxmlformats.org/officeDocument/2006/relationships" id="266" r:id="R2699a845909c4ec9"/>
    <p:sldId xmlns:r="http://schemas.openxmlformats.org/officeDocument/2006/relationships" id="267" r:id="R04ebe6806cdb4aaa"/>
    <p:sldId xmlns:r="http://schemas.openxmlformats.org/officeDocument/2006/relationships" id="268" r:id="Ra3c27a3da0984772"/>
    <p:sldId xmlns:r="http://schemas.openxmlformats.org/officeDocument/2006/relationships" id="269" r:id="Rf43fd0d0f69342c8"/>
    <p:sldId xmlns:r="http://schemas.openxmlformats.org/officeDocument/2006/relationships" id="270" r:id="R63d5e49d1be24c30"/>
    <p:sldId xmlns:r="http://schemas.openxmlformats.org/officeDocument/2006/relationships" id="271" r:id="R71985d92688e4eb6"/>
    <p:sldId xmlns:r="http://schemas.openxmlformats.org/officeDocument/2006/relationships" id="272" r:id="R1d3a102b30ca48a3"/>
    <p:sldId xmlns:r="http://schemas.openxmlformats.org/officeDocument/2006/relationships" id="273" r:id="Rd390036f9a7449e7"/>
    <p:sldId xmlns:r="http://schemas.openxmlformats.org/officeDocument/2006/relationships" id="274" r:id="R288e71ec7fe94edd"/>
    <p:sldId xmlns:r="http://schemas.openxmlformats.org/officeDocument/2006/relationships" id="275" r:id="R303eea95ccd04734"/>
    <p:sldId xmlns:r="http://schemas.openxmlformats.org/officeDocument/2006/relationships" id="276" r:id="R8252a79acfd64aaa"/>
    <p:sldId xmlns:r="http://schemas.openxmlformats.org/officeDocument/2006/relationships" id="277" r:id="Rbd1a40a011de461b"/>
    <p:sldId xmlns:r="http://schemas.openxmlformats.org/officeDocument/2006/relationships" id="278" r:id="R75ba907e4e654290"/>
    <p:sldId xmlns:r="http://schemas.openxmlformats.org/officeDocument/2006/relationships" id="279" r:id="Rd13964c2d9c040d6"/>
    <p:sldId xmlns:r="http://schemas.openxmlformats.org/officeDocument/2006/relationships" id="280" r:id="R02081d1f14074af9"/>
    <p:sldId xmlns:r="http://schemas.openxmlformats.org/officeDocument/2006/relationships" id="281" r:id="R8b0189266fa9495a"/>
    <p:sldId xmlns:r="http://schemas.openxmlformats.org/officeDocument/2006/relationships" id="282" r:id="R8353ab180bb649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aacd9dce5452d" /><Relationship Type="http://schemas.openxmlformats.org/officeDocument/2006/relationships/slideMaster" Target="/ppt/slideMasters/slideMaster1.xml" Id="R1e804d1509a44433" /><Relationship Type="http://schemas.openxmlformats.org/officeDocument/2006/relationships/notesMaster" Target="/ppt/notesMasters/notesMaster1.xml" Id="Rf637da2a7d0d4d13" /><Relationship Type="http://schemas.openxmlformats.org/officeDocument/2006/relationships/presProps" Target="/ppt/presProps.xml" Id="R8164dfd06a8a4c8c" /><Relationship Type="http://schemas.openxmlformats.org/officeDocument/2006/relationships/tableStyles" Target="/ppt/tableStyles.xml" Id="R8cb91c554ea0481d" /><Relationship Type="http://schemas.openxmlformats.org/officeDocument/2006/relationships/slide" Target="/ppt/slides/slide1.xml" Id="Ra33cf51ad09e475a" /><Relationship Type="http://schemas.openxmlformats.org/officeDocument/2006/relationships/slide" Target="/ppt/slides/slide2.xml" Id="Rc863179cb3a34513" /><Relationship Type="http://schemas.openxmlformats.org/officeDocument/2006/relationships/slide" Target="/ppt/slides/slide3.xml" Id="R05da5c93753a4a12" /><Relationship Type="http://schemas.openxmlformats.org/officeDocument/2006/relationships/slide" Target="/ppt/slides/slide4.xml" Id="R7e02190d195a4355" /><Relationship Type="http://schemas.openxmlformats.org/officeDocument/2006/relationships/slide" Target="/ppt/slides/slide5.xml" Id="Rb9f7cf3bef92460a" /><Relationship Type="http://schemas.openxmlformats.org/officeDocument/2006/relationships/slide" Target="/ppt/slides/slide6.xml" Id="R65585cce36d44e70" /><Relationship Type="http://schemas.openxmlformats.org/officeDocument/2006/relationships/slide" Target="/ppt/slides/slide7.xml" Id="R1a71091fe5384e1c" /><Relationship Type="http://schemas.openxmlformats.org/officeDocument/2006/relationships/slide" Target="/ppt/slides/slide8.xml" Id="R976e2b2fa886430d" /><Relationship Type="http://schemas.openxmlformats.org/officeDocument/2006/relationships/slide" Target="/ppt/slides/slide9.xml" Id="Re05d4b44de9c479a" /><Relationship Type="http://schemas.openxmlformats.org/officeDocument/2006/relationships/slide" Target="/ppt/slides/slide10.xml" Id="R510ac033dfd2466e" /><Relationship Type="http://schemas.openxmlformats.org/officeDocument/2006/relationships/slide" Target="/ppt/slides/slide11.xml" Id="R2699a845909c4ec9" /><Relationship Type="http://schemas.openxmlformats.org/officeDocument/2006/relationships/slide" Target="/ppt/slides/slide12.xml" Id="R04ebe6806cdb4aaa" /><Relationship Type="http://schemas.openxmlformats.org/officeDocument/2006/relationships/slide" Target="/ppt/slides/slide13.xml" Id="Ra3c27a3da0984772" /><Relationship Type="http://schemas.openxmlformats.org/officeDocument/2006/relationships/slide" Target="/ppt/slides/slide14.xml" Id="Rf43fd0d0f69342c8" /><Relationship Type="http://schemas.openxmlformats.org/officeDocument/2006/relationships/slide" Target="/ppt/slides/slide15.xml" Id="R63d5e49d1be24c30" /><Relationship Type="http://schemas.openxmlformats.org/officeDocument/2006/relationships/slide" Target="/ppt/slides/slide16.xml" Id="R71985d92688e4eb6" /><Relationship Type="http://schemas.openxmlformats.org/officeDocument/2006/relationships/slide" Target="/ppt/slides/slide17.xml" Id="R1d3a102b30ca48a3" /><Relationship Type="http://schemas.openxmlformats.org/officeDocument/2006/relationships/slide" Target="/ppt/slides/slide18.xml" Id="Rd390036f9a7449e7" /><Relationship Type="http://schemas.openxmlformats.org/officeDocument/2006/relationships/slide" Target="/ppt/slides/slide19.xml" Id="R288e71ec7fe94edd" /><Relationship Type="http://schemas.openxmlformats.org/officeDocument/2006/relationships/slide" Target="/ppt/slides/slide20.xml" Id="R303eea95ccd04734" /><Relationship Type="http://schemas.openxmlformats.org/officeDocument/2006/relationships/slide" Target="/ppt/slides/slide21.xml" Id="R8252a79acfd64aaa" /><Relationship Type="http://schemas.openxmlformats.org/officeDocument/2006/relationships/slide" Target="/ppt/slides/slide22.xml" Id="Rbd1a40a011de461b" /><Relationship Type="http://schemas.openxmlformats.org/officeDocument/2006/relationships/slide" Target="/ppt/slides/slide23.xml" Id="R75ba907e4e654290" /><Relationship Type="http://schemas.openxmlformats.org/officeDocument/2006/relationships/slide" Target="/ppt/slides/slide24.xml" Id="Rd13964c2d9c040d6" /><Relationship Type="http://schemas.openxmlformats.org/officeDocument/2006/relationships/slide" Target="/ppt/slides/slide25.xml" Id="R02081d1f14074af9" /><Relationship Type="http://schemas.openxmlformats.org/officeDocument/2006/relationships/slide" Target="/ppt/slides/slide26.xml" Id="R8b0189266fa9495a" /><Relationship Type="http://schemas.openxmlformats.org/officeDocument/2006/relationships/slide" Target="/ppt/slides/slide27.xml" Id="R8353ab180bb649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19a33779d745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b4ed9cb1434c25" /><Relationship Type="http://schemas.openxmlformats.org/officeDocument/2006/relationships/notesMaster" Target="/ppt/notesMasters/notesMaster1.xml" Id="R3883bbbc71c849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ea62b1d9e44b5a" /><Relationship Type="http://schemas.openxmlformats.org/officeDocument/2006/relationships/notesMaster" Target="/ppt/notesMasters/notesMaster1.xml" Id="R21d3a37c57364f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9875c9c49a410c" /><Relationship Type="http://schemas.openxmlformats.org/officeDocument/2006/relationships/notesMaster" Target="/ppt/notesMasters/notesMaster1.xml" Id="Rf9aa5508f84e4b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0f338cea7d446e" /><Relationship Type="http://schemas.openxmlformats.org/officeDocument/2006/relationships/notesMaster" Target="/ppt/notesMasters/notesMaster1.xml" Id="Rae58897ac6da47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f6ad51f2ca4e75" /><Relationship Type="http://schemas.openxmlformats.org/officeDocument/2006/relationships/notesMaster" Target="/ppt/notesMasters/notesMaster1.xml" Id="R92597ce0ed7f45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aedcf7d34d4093" /><Relationship Type="http://schemas.openxmlformats.org/officeDocument/2006/relationships/notesMaster" Target="/ppt/notesMasters/notesMaster1.xml" Id="R1fbe291cfa9c43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0f1f792295446f" /><Relationship Type="http://schemas.openxmlformats.org/officeDocument/2006/relationships/notesMaster" Target="/ppt/notesMasters/notesMaster1.xml" Id="Rbb1ee7c074b747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6b82de7f73462d" /><Relationship Type="http://schemas.openxmlformats.org/officeDocument/2006/relationships/notesMaster" Target="/ppt/notesMasters/notesMaster1.xml" Id="Raf4a597e154343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e69594c85249f8" /><Relationship Type="http://schemas.openxmlformats.org/officeDocument/2006/relationships/notesMaster" Target="/ppt/notesMasters/notesMaster1.xml" Id="R63ab7405cb234c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1aba4a7feb4c1c" /><Relationship Type="http://schemas.openxmlformats.org/officeDocument/2006/relationships/notesMaster" Target="/ppt/notesMasters/notesMaster1.xml" Id="R8e41bbf85af74d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b5a09ec1b049d4" /><Relationship Type="http://schemas.openxmlformats.org/officeDocument/2006/relationships/notesMaster" Target="/ppt/notesMasters/notesMaster1.xml" Id="R9b73c740c05242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f7305b11b84f1a" /><Relationship Type="http://schemas.openxmlformats.org/officeDocument/2006/relationships/notesMaster" Target="/ppt/notesMasters/notesMaster1.xml" Id="R75887d21b90e4b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980f86200e4e59" /><Relationship Type="http://schemas.openxmlformats.org/officeDocument/2006/relationships/notesMaster" Target="/ppt/notesMasters/notesMaster1.xml" Id="Rf44a0bca6dce4e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46d838259d41bf" /><Relationship Type="http://schemas.openxmlformats.org/officeDocument/2006/relationships/notesMaster" Target="/ppt/notesMasters/notesMaster1.xml" Id="Ra0c6a8c74a2745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c59a336b5a48c4" /><Relationship Type="http://schemas.openxmlformats.org/officeDocument/2006/relationships/notesMaster" Target="/ppt/notesMasters/notesMaster1.xml" Id="R7c405e0df5a243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96688f607145b4" /><Relationship Type="http://schemas.openxmlformats.org/officeDocument/2006/relationships/notesMaster" Target="/ppt/notesMasters/notesMaster1.xml" Id="Rb05577167c104b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c217249bec4776" /><Relationship Type="http://schemas.openxmlformats.org/officeDocument/2006/relationships/notesMaster" Target="/ppt/notesMasters/notesMaster1.xml" Id="R95ffc4b34d524d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28605b37834a7a" /><Relationship Type="http://schemas.openxmlformats.org/officeDocument/2006/relationships/notesMaster" Target="/ppt/notesMasters/notesMaster1.xml" Id="R20a39bbfcf9e43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f42e1407614def" /><Relationship Type="http://schemas.openxmlformats.org/officeDocument/2006/relationships/notesMaster" Target="/ppt/notesMasters/notesMaster1.xml" Id="R35ac297d6a26405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0e7ac9d19f4f71" /><Relationship Type="http://schemas.openxmlformats.org/officeDocument/2006/relationships/notesMaster" Target="/ppt/notesMasters/notesMaster1.xml" Id="R32c926e1944e4a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76315c4feb542b6" /><Relationship Type="http://schemas.openxmlformats.org/officeDocument/2006/relationships/notesMaster" Target="/ppt/notesMasters/notesMaster1.xml" Id="Rf15c4cca270c41b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d5c1ead579d4c09" /><Relationship Type="http://schemas.openxmlformats.org/officeDocument/2006/relationships/notesMaster" Target="/ppt/notesMasters/notesMaster1.xml" Id="R3c0de0871159464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4c31ecc0324009" /><Relationship Type="http://schemas.openxmlformats.org/officeDocument/2006/relationships/notesMaster" Target="/ppt/notesMasters/notesMaster1.xml" Id="R0490824cf595409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be18026a89a40e6" /><Relationship Type="http://schemas.openxmlformats.org/officeDocument/2006/relationships/notesMaster" Target="/ppt/notesMasters/notesMaster1.xml" Id="R9285b41374ff49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a6c2bd30c04afa" /><Relationship Type="http://schemas.openxmlformats.org/officeDocument/2006/relationships/notesMaster" Target="/ppt/notesMasters/notesMaster1.xml" Id="R4f2d481730fe4f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d67340bf294e05" /><Relationship Type="http://schemas.openxmlformats.org/officeDocument/2006/relationships/notesMaster" Target="/ppt/notesMasters/notesMaster1.xml" Id="R7ae0f6155a084b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531d04d1954c0c" /><Relationship Type="http://schemas.openxmlformats.org/officeDocument/2006/relationships/notesMaster" Target="/ppt/notesMasters/notesMaster1.xml" Id="Rdc86bd36b6a549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0:00–0:20（20秒）</a:t>
            </a:r>
          </a:p>
          <a:p xmlns:a="http://schemas.openxmlformats.org/drawingml/2006/main">
            <a:r>
              <a:t/>
            </a:r>
          </a:p>
          <a:p xmlns:a="http://schemas.openxmlformats.org/drawingml/2006/main">
            <a:r>
              <a:t>本日は、多変量回帰モデルにおける学習外入力データ検知手法の調査について報告します。社会インフラ監視制御システムへの適用を念頭に、対象条件、関連概念、具体的手法の順に説明します。氏名・所属・実習期間は提供情報にないため、事実として補っていません。</a:t>
            </a:r>
          </a:p>
          <a:p xmlns:a="http://schemas.openxmlformats.org/drawingml/2006/main">
            <a:r>
              <a:t/>
            </a:r>
          </a:p>
          <a:p xmlns:a="http://schemas.openxmlformats.org/drawingml/2006/main">
            <a:r>
              <a:t>出典：実習要求、ユーザー改訂構成案。背景は説明用の生成画像。</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0:20–1:30（70秒）</a:t>
            </a:r>
          </a:p>
          <a:p xmlns:a="http://schemas.openxmlformats.org/drawingml/2006/main">
            <a:r>
              <a:t/>
            </a:r>
          </a:p>
          <a:p xmlns:a="http://schemas.openxmlformats.org/drawingml/2006/main">
            <a:r>
              <a:t>学習時には、過去の入力と目的変数から回帰モデルを構築します。一方、実環境では、学習時に十分含まれていなかった入力が来る可能性があります。そこで、入力が訓練データに支持されているかを検知器で確認し、結果に応じて予測の利用や運転員への警告につなげることを考えます。この図は一つの運用構成案です。判定が正常であっても予測精度を保証するわけではなく、警告時に必ず停止することを提案しているわけでもありません。回帰モデルと検知器の学習は別であり、検知器に必要な情報は後で比較します。</a:t>
            </a:r>
          </a:p>
          <a:p xmlns:a="http://schemas.openxmlformats.org/drawingml/2006/main">
            <a:r>
              <a:t/>
            </a:r>
          </a:p>
          <a:p xmlns:a="http://schemas.openxmlformats.org/drawingml/2006/main">
            <a:r>
              <a:t>出典：実習要求・ユーザー改訂構成案。</a:t>
            </a:r>
          </a:p>
          <a:p xmlns:a="http://schemas.openxmlformats.org/drawingml/2006/main">
            <a:r>
              <a:t>構成：Presentation構成案_文字起こし.docxを基に再構成。</a:t>
            </a:r>
          </a:p>
          <a:p xmlns:a="http://schemas.openxmlformats.org/drawingml/2006/main">
            <a:r>
              <a:t>この詳細図は運用設計案です。回帰器と検知器は別工程で学習・構築します。訓練データから回帰器と検知器へ分岐させ、別々の学習工程であることを示しています。入力確認に失敗した場合はスコア判定とは別の異常として扱う設計を検討します。前処理、回帰器、検知器のパラメータと参照点、校正閾値を運用開始前に固定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1:30–2:55（85秒）</a:t>
            </a:r>
          </a:p>
          <a:p xmlns:a="http://schemas.openxmlformats.org/drawingml/2006/main">
            <a:r>
              <a:t/>
            </a:r>
          </a:p>
          <a:p xmlns:a="http://schemas.openxmlformats.org/drawingml/2006/main">
            <a:r>
              <a:t>対象は2変数以上の数値入力を持つ回帰・予測モデルです。画像分類を対象とした手法をそのまま候補にするのではなく、この入力条件で利用できるかを確認します。例は、流量と圧力から配水先の圧力を推定するモデルと、原水濁度と薬品注入率から処理後の濁度を予測するモデルです。時系列データであることと、複数時刻をまとめて入力することは同じではありません。1時刻のベクトルだけで判定できる方法も必要です。回帰器自体は限定せず、検知器が特定モデルに依存する場合は制約として記録します。図中のΔは処理後までの遅れで、具体値は未確定です。</a:t>
            </a:r>
          </a:p>
          <a:p xmlns:a="http://schemas.openxmlformats.org/drawingml/2006/main">
            <a:r>
              <a:t/>
            </a:r>
          </a:p>
          <a:p xmlns:a="http://schemas.openxmlformats.org/drawingml/2006/main">
            <a:r>
              <a:t>出典：実習要求・改訂構成案・山原 §2。</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2:55–3:45（50秒）</a:t>
            </a:r>
          </a:p>
          <a:p xmlns:a="http://schemas.openxmlformats.org/drawingml/2006/main">
            <a:r>
              <a:t/>
            </a:r>
          </a:p>
          <a:p xmlns:a="http://schemas.openxmlformats.org/drawingml/2006/main">
            <a:r>
              <a:t>読んだ5編を紹介します。S1はレビュー的な整理を含む比較実験、S3は時系列の外れ値検知全体、S6は深層多変量時系列異常検知のサーベイです。具体的な手法として、13のOutProと14のAEを読みました。山原論文は配水圧力推定への適用の参考として位置づけ、詳細は附録に残しています。ここでは各論文の詳細ではなく、今回の調査で何に使ったかを押さえます。改訂構成案中のI3・I4表記は、提供ファイル名に合わせ13・14に統一しています。</a:t>
            </a:r>
          </a:p>
          <a:p xmlns:a="http://schemas.openxmlformats.org/drawingml/2006/main">
            <a:r>
              <a:t/>
            </a:r>
          </a:p>
          <a:p xmlns:a="http://schemas.openxmlformats.org/drawingml/2006/main">
            <a:r>
              <a:t>出典：各論文の表題・要旨。</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3:45–4:35（50秒）</a:t>
            </a:r>
          </a:p>
          <a:p xmlns:a="http://schemas.openxmlformats.org/drawingml/2006/main">
            <a:r>
              <a:t/>
            </a:r>
          </a:p>
          <a:p xmlns:a="http://schemas.openxmlformats.org/drawingml/2006/main">
            <a:r>
              <a:t>関連語にはOutlier、Anomaly、Novelty、OOD、Distribution shift、Data driftがあります。ただし、すべて完全な同義語ではありません。本調査では、新しい入力が訓練データに支持されているかという観点から三ケースに整理します。第一は分布や範囲の外、第二は近くに訓練例が少ない領域、第三は各値が範囲内でも組合せや相関が未知の入力です。三つは重なり得ます。また、データが疎であることから予測誤差を断定することはできません。S3の導入では、解析目的による二つの意味が示されます。一つはセンサー通信エラーなど、修正や除去の対象となる不要なデータです。もう一つは不正など、異常事象そのものが調査対象になる場合で、しばしばanomalyと呼ばれます。これを用語の排他的定義とは解釈しません。Data driftは関連語として挙げ、ここで未確認の独立した定義を付け加えていません。</a:t>
            </a:r>
          </a:p>
          <a:p xmlns:a="http://schemas.openxmlformats.org/drawingml/2006/main">
            <a:r>
              <a:t/>
            </a:r>
          </a:p>
          <a:p xmlns:a="http://schemas.openxmlformats.org/drawingml/2006/main">
            <a:r>
              <a:t>出典：S3 §1 PDF2頁の二つの意味に関する段落、実習要求、13 §1–2。</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4:35–5:25（50秒）</a:t>
            </a:r>
          </a:p>
          <a:p xmlns:a="http://schemas.openxmlformats.org/drawingml/2006/main">
            <a:r>
              <a:t>単変量の確認では、流量2も圧力8も訓練時の範囲内です。しかし、同じ訓練点を二変量の散点図で見ると、流量2の付近の圧力は低い値に集中し、圧力8との組合せは離れています。このため、各変数の範囲だけを調べる方法は見逃す可能性があります。数値と正の関係は説明用の合成例であり、水系の一般的な物理法則を示しません。</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5:25–7:05（100秒）</a:t>
            </a:r>
          </a:p>
          <a:p xmlns:a="http://schemas.openxmlformats.org/drawingml/2006/main">
            <a:r>
              <a:t/>
            </a:r>
          </a:p>
          <a:p xmlns:a="http://schemas.openxmlformats.org/drawingml/2006/main">
            <a:r>
              <a:t>ここでは論文ごとの分類軸を比較します。S1のPointは点そのもの、Contextualは時間や他の変数などの文脈に依存する異常、Collectiveは点をまとめて見たときに現れる異常です。S3は、異常とみなす対象の粒度をPoint、Subsequence、Time seriesに分けます。掲載図はそのうち点異常の例です。S6は変数内の時間的挙動と、変数間の依存関係を大きく分けています。前者はGlobal/Local point、Shapelet、Trend、Cycle、後者はGlobal、Local、Temporal-local intermetricです。似た名前があっても、分類の目的や基準が違うため単純な置換はできません。前頁の三ケースとも別軸です。</a:t>
            </a:r>
          </a:p>
          <a:p xmlns:a="http://schemas.openxmlformats.org/drawingml/2006/main">
            <a:r>
              <a:t/>
            </a:r>
          </a:p>
          <a:p xmlns:a="http://schemas.openxmlformats.org/drawingml/2006/main">
            <a:r>
              <a:t>出典：S1 §3.2 Fig.1、S3 §2 Fig.3、S6 §2.2 Fig.1–3。</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7:05–8:35（90秒）</a:t>
            </a:r>
          </a:p>
          <a:p xmlns:a="http://schemas.openxmlformats.org/drawingml/2006/main">
            <a:r>
              <a:t/>
            </a:r>
          </a:p>
          <a:p xmlns:a="http://schemas.openxmlformats.org/drawingml/2006/main">
            <a:r>
              <a:t>異常の種類に加え、検知手法の分類も文献で異なります。S1の整理は従来型、機械学習、DNNという手法群です。ただしDNNは機械学習の一部であり、厳密に独立な集合ではありません。S3では入力、異常の粒度、手法の性質を組み合わせ、時間順序やオンライン処理も確認します。S6は深層手法を予測、再構成、対照学習というスコアの作り方で整理し、構造や学習形態も扱います。本調査では、これらを一つの分類木に統合せず、検知の根拠、必要なデータ、履歴、回帰器への依存という比較軸に整理します。学習形態の用語には文献差があるため、実際に必要なX、Y、異常ラベルを明記します。</a:t>
            </a:r>
          </a:p>
          <a:p xmlns:a="http://schemas.openxmlformats.org/drawingml/2006/main">
            <a:r>
              <a:t/>
            </a:r>
          </a:p>
          <a:p xmlns:a="http://schemas.openxmlformats.org/drawingml/2006/main">
            <a:r>
              <a:t>出典：S1 §4、S3 §2–3、S6 §3。</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8:35–10:55（140秒）</a:t>
            </a:r>
          </a:p>
          <a:p xmlns:a="http://schemas.openxmlformats.org/drawingml/2006/main">
            <a:r>
              <a:t/>
            </a:r>
          </a:p>
          <a:p xmlns:a="http://schemas.openxmlformats.org/drawingml/2006/main">
            <a:r>
              <a:t>AEは、入力を低次元に圧縮し、そこから元の入力を再構成します。正常な多変量入力を使って、この再構成誤差が小さくなるように学習します。運用ではAEのパラメータを固定し、新しい入力と再構成値との差のL2ノルムをスコアにします。正常時の変数関係を再現できない場合、誤差が大きくなることを期待します。ただし、右側は説明用の傾向であり、すべてのOODの誤差が大きくなる保証ではありません。閾値、正常学習データのカバレッジ、AEの汎化能力が結果に影響します。原論文は各時刻を独立に扱い、時間順序を使用しないため、1時刻の多変量入力という対象条件に対応します。検知器の学習に回帰の目的変数Yは不要で、対象回帰器とは別に設置できます。ノイズ除去AEは訓練時に入力の一部を0にし、元の入力を再構成する方法です。原実験では改善がデータに依存し、万能ではありません。附録のAUC結果も参照できます。</a:t>
            </a:r>
          </a:p>
          <a:p xmlns:a="http://schemas.openxmlformats.org/drawingml/2006/main">
            <a:r>
              <a:t/>
            </a:r>
          </a:p>
          <a:p xmlns:a="http://schemas.openxmlformats.org/drawingml/2006/main">
            <a:r>
              <a:t>出典：14 §3–6、Eq.(1)、Table1。適用判断は本調査による。</a:t>
            </a:r>
          </a:p>
          <a:p xmlns:a="http://schemas.openxmlformats.org/drawingml/2006/main">
            <a:r>
              <a:t>構成：Presentation構成案_文字起こし.docxを基に再構成。</a:t>
            </a:r>
          </a:p>
          <a:p xmlns:a="http://schemas.openxmlformats.org/drawingml/2006/main">
            <a:r>
              <a:t>前処理と正常校正期間を明示したのは実習への適用設計です。14の再構成検知の原理と区別してください。学習中は誤差を逆伝播してEncoderとDecoderの両方のパラメータを更新します。校正と運用時にはAEを固定します。ノイズ除去AEでは学習時だけ入力の一部をマスクし、元の正常入力を再構成する拡張を用います。図の順序だけから標準化後の距離と原論文の観測空間の距離を同一視せず、スコアを計算する空間を実装時にそろ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10:55–13:25（150秒）</a:t>
            </a:r>
          </a:p>
          <a:p xmlns:a="http://schemas.openxmlformats.org/drawingml/2006/main">
            <a:r>
              <a:t/>
            </a:r>
          </a:p>
          <a:p xmlns:a="http://schemas.openxmlformats.org/drawingml/2006/main">
            <a:r>
              <a:t>OutProは全変数を同等に扱わず、予測に関係する変数に着目します。まずIDのXとYで教師ありランダムフォレストを学習し、終端ノードのルールを取得します。VarProはルールの変数制約を解放したときの目的変数の挙動を利用して、signal set Sと重要度を求めます。運用時にはテスト点xを含むルールを取り出し、選択変数の制約を一つずつ外します。各訓練点がその領域に現れる頻度nₛを数え、合計nと、変数間の頻度分布のGini impurity GからW=nGを計算します。このWの上位K点を参照点とします。普通のユークリッド距離だけで近傍を選ぶ方法とは異なります。最後に、標準化した選択変数空間で、通常は参照点までの距離を平均します。距離によって重要度の重み付けを用い、OPTICS版は例外として到達可能性スコアを直接用います。訓練時にはYが必要ですが、運用時の新しい真のYは不要です。補助森林が捉える重要変数と対象回帰器との整合性、水系時系列への適用は確認が必要です。P(X)が変わらずP(Y|X)だけが変わる純粋なconcept shiftは入力のみから検知できません。</a:t>
            </a:r>
          </a:p>
          <a:p xmlns:a="http://schemas.openxmlformats.org/drawingml/2006/main">
            <a:r>
              <a:t/>
            </a:r>
          </a:p>
          <a:p xmlns:a="http://schemas.openxmlformats.org/drawingml/2006/main">
            <a:r>
              <a:t>出典：13 §3 Algorithm1 PDF7頁、Fig1、§7。</a:t>
            </a:r>
          </a:p>
          <a:p xmlns:a="http://schemas.openxmlformats.org/drawingml/2006/main">
            <a:r>
              <a:t>構成：Presentation構成案_文字起こし.docxを基に再構成。</a:t>
            </a:r>
          </a:p>
          <a:p xmlns:a="http://schemas.openxmlformats.org/drawingml/2006/main">
            <a:r>
              <a:t>矢印は上段を左から右、下段を右から左へ読みます。規則ごと・選択変数ごとに制約を解放し、訓練点が解放領域に現れる回数nₛを集計します。続いて各点のW=nGを計算し、上位K点だけを参照近傍とします。距離を使うのはこの参照近傍を選んだ後です。訓練データに基づく標準化と、適用する距離に応じた重要度の重み付けも必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13:25–14:20（55秒）</a:t>
            </a:r>
          </a:p>
          <a:p xmlns:a="http://schemas.openxmlformats.org/drawingml/2006/main">
            <a:r>
              <a:t/>
            </a:r>
          </a:p>
          <a:p xmlns:a="http://schemas.openxmlformats.org/drawingml/2006/main">
            <a:r>
              <a:t>前半の分類に二手法を対応付けます。S1の分類ではAE系はDNN群で扱われますが、2014年の原論文のAEが深い構造であると断定する意味ではありません。OutProは森林と距離を組み合わせる機械学習系と位置づけられます。S3の三軸では、どちらも多変量入力を共同で扱い、一つの入力点にスコアを付ける方法です。S6の深層手法分類には、AEは再構成型・Point入力として対応付けられます。一方、OutProは深層学習による予測・再構成・対照学習のいずれかに無理に分類しません。これは今回の対応付けであり、2026年のOutProが2021年から2025年のサーベイに収録されていたという説明ではありません。</a:t>
            </a:r>
          </a:p>
          <a:p xmlns:a="http://schemas.openxmlformats.org/drawingml/2006/main">
            <a:r>
              <a:t/>
            </a:r>
          </a:p>
          <a:p xmlns:a="http://schemas.openxmlformats.org/drawingml/2006/main">
            <a:r>
              <a:t>出典：S1 §4、S3 §2、S6 §3、13 §3、14 §3・6。</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14:20–15:25（65秒）</a:t>
            </a:r>
          </a:p>
          <a:p xmlns:a="http://schemas.openxmlformats.org/drawingml/2006/main">
            <a:r>
              <a:t/>
            </a:r>
          </a:p>
          <a:p xmlns:a="http://schemas.openxmlformats.org/drawingml/2006/main">
            <a:r>
              <a:t>両手法とも、多変量数値入力、非線形関係、1時刻の入力という対象条件に対応します。過去時系列は原論文の方式では必須ではなく、運用時の真の回帰出力Yも不要です。ただし時間的な固定や周期異常を、そのまま検知できることを意味しません。未知の組合せに対する能力は条件付きです。AEではその関係を正常学習から獲得できるか、OODを再構成してしまわないかが問題になります。OutProでは、変化が選択変数に現れるか、参照領域で差が捉えられるかに依存します。この表は必要条件の整理であり、性能保証や数値比較ではありません。</a:t>
            </a:r>
          </a:p>
          <a:p xmlns:a="http://schemas.openxmlformats.org/drawingml/2006/main">
            <a:r>
              <a:t/>
            </a:r>
          </a:p>
          <a:p xmlns:a="http://schemas.openxmlformats.org/drawingml/2006/main">
            <a:r>
              <a:t>出典：14 §3–6、13 §3–5・7。</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15:25–16:20（55秒）</a:t>
            </a:r>
          </a:p>
          <a:p xmlns:a="http://schemas.openxmlformats.org/drawingml/2006/main">
            <a:r>
              <a:t/>
            </a:r>
          </a:p>
          <a:p xmlns:a="http://schemas.openxmlformats.org/drawingml/2006/main">
            <a:r>
              <a:t>AEは対象回帰器の内部を必要とせず、正常Xで検知器を別に学習します。OutProは教師あり森林の情報を利用します。対象回帰器が別のモデルであれば補助森林を構成することになりますが、その重要変数が対象モデルにも重要かは確認が必要です。どちらも解釈の手掛かりは得られますが、誤差や重要度から故障原因や因果関係を断定できません。計算はAEでは順伝播、OutProではルール探索や参照点の頻度集計を含みます。しかし原論文の異なる実験から速度の優劣は言えません。入力次元、モデル規模、サンプル数をそろえて測ります。閾値と必要データ量も今回の用途で校正・確認が必要です。</a:t>
            </a:r>
          </a:p>
          <a:p xmlns:a="http://schemas.openxmlformats.org/drawingml/2006/main">
            <a:r>
              <a:t/>
            </a:r>
          </a:p>
          <a:p xmlns:a="http://schemas.openxmlformats.org/drawingml/2006/main">
            <a:r>
              <a:t>出典：14 §3–6、13 §3・7。</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16:20–17:40（80秒）</a:t>
            </a:r>
          </a:p>
          <a:p xmlns:a="http://schemas.openxmlformats.org/drawingml/2006/main">
            <a:r>
              <a:t/>
            </a:r>
          </a:p>
          <a:p xmlns:a="http://schemas.openxmlformats.org/drawingml/2006/main">
            <a:r>
              <a:t>性能値を読むときには、何を正解の異常としたかを確認します。SWaTとWADIは水系に近い多変量時系列ですが、検知用の攻撃ラベルがそのまま学習外の三条件や大きな回帰誤差を表すわけではありません。また今回の回帰出力をどの信号とするかを決める必要があります。PMLBは連続目的変数を持つ数値回帰データですが、時系列構造を前提にできません。13では人工的なwarp、joint、supportを用います。指標の基本はPrecisionとRecallです。Precisionは出した警報のうち正しいものの割合、Recallは実際の異常をどれだけ捕捉したかです。F1は二者の調和平均、FPRは正常に対する誤警報率、FPR@TPRは所定の検出率での誤警報率です。AUROCはROC曲線、AUPRCはPrecision–Recall曲線の面積です。S1のAPと一般のPR面積は集計方法が異なり得るため混同しません。クラス比率と閾値、時間窓による判定方法も合わせて確認します。各データの入力項目名、全分割数、出力項目、取得条件の詳細は追加確認が必要です。</a:t>
            </a:r>
          </a:p>
          <a:p xmlns:a="http://schemas.openxmlformats.org/drawingml/2006/main">
            <a:r>
              <a:t/>
            </a:r>
          </a:p>
          <a:p xmlns:a="http://schemas.openxmlformats.org/drawingml/2006/main">
            <a:r>
              <a:t>出典：S1 §5 Table1、13 §5、14 §4。</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17:40–19:00（80秒）</a:t>
            </a:r>
          </a:p>
          <a:p xmlns:a="http://schemas.openxmlformats.org/drawingml/2006/main">
            <a:r>
              <a:t/>
            </a:r>
          </a:p>
          <a:p xmlns:a="http://schemas.openxmlformats.org/drawingml/2006/main">
            <a:r>
              <a:t>この図は測定結果ではなく、構築時に何を使うかと、表現する関係の複雑さを整理した概念図です。単純な範囲判定は説明しやすい一方、変数間関係を直接捉えません。ただし距離系をすべて同じとせず、マハラノビス距離は共分散、近傍距離は局所的な分布を利用する点を区別します。AEは正常Xから非線形な再構成関係を学びます。OutProはX、Yと森林ルールを利用しますが、複雑な方法ほど必ず高精度、または必ず低解釈性とは主張しません。社会インフラでは検出精度のほか、実機での遅延、誤警報、必要データ量、保守、季節や運転条件による閾値の安定性を考慮します。複数手法の併用は候補ですが、それ自体の有効性を検証する必要があります。</a:t>
            </a:r>
          </a:p>
          <a:p xmlns:a="http://schemas.openxmlformats.org/drawingml/2006/main">
            <a:r>
              <a:t/>
            </a:r>
          </a:p>
          <a:p xmlns:a="http://schemas.openxmlformats.org/drawingml/2006/main">
            <a:r>
              <a:t>出典：実習要求、山原 §3–5、13・14を基にした本調査の考察。</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 19:00–20:00（60秒）</a:t>
            </a:r>
          </a:p>
          <a:p xmlns:a="http://schemas.openxmlformats.org/drawingml/2006/main">
            <a:r>
              <a:t/>
            </a:r>
          </a:p>
          <a:p xmlns:a="http://schemas.openxmlformats.org/drawingml/2006/main">
            <a:r>
              <a:t>まとめです。学習外入力は範囲外だけでなく、低密度や未知の変数関係も考慮します。既存手法は距離、再構成、モデル情報などの根拠と必要情報で比較できます。今回の対象では、特に1時刻の多変量数値入力に適用できることが重要です。AEとOutProはいずれも候補ですが、対象回帰器への依存、必要データ、検知できる変化に違いがあります。今後は入力変数、回帰器、履歴、真のYが得られる時点を確定し、時間順に訓練・校正・テストを分割します。校正期間で閾値を固定し、三条件ごとの検知性能、回帰誤差との関係、実機遅延を評価します。合成入力だけでは正しいYがない場合があるため、入力のOOD評価と回帰誤差評価は分けます。</a:t>
            </a:r>
          </a:p>
          <a:p xmlns:a="http://schemas.openxmlformats.org/drawingml/2006/main">
            <a:r>
              <a:t/>
            </a:r>
          </a:p>
          <a:p xmlns:a="http://schemas.openxmlformats.org/drawingml/2006/main">
            <a:r>
              <a:t>出典：実習要求・改訂構成案・本調査の整理。</a:t>
            </a:r>
          </a:p>
          <a:p xmlns:a="http://schemas.openxmlformats.org/drawingml/2006/main">
            <a:r>
              <a:t>構成：Presentation構成案_文字起こし.docxを基に再構成。</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附録。20分の本文には含めない。AEのネットワーク構造と再構成の比較。節点数・棒グラフは説明用。出典14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附録。20分の本文には含めない。OutProの原論文Fig1と頻度プロファイルの数式。出典13 Algorithm1・Fig1。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1。20分の本文には含めない。質疑応答・結果確認用。</a:t>
            </a:r>
          </a:p>
          <a:p xmlns:a="http://schemas.openxmlformats.org/drawingml/2006/main">
            <a:r>
              <a:t>数値は原論文Table 1に忠実に記載。本文はAUCと記載しており、ここではAUC-PRと読み替えない。Lorenzは1000点のうち700点を訓練、300点をテストに使用。潜在変数z3の850–1000番を逆順にして合成異常を作る。原論文の評価は標準的な正常／異常の分離を調べており、実習定義の3条件を網羅する保証はない。閾値、潜在次元、正則化等は実習データで検討が必要。</a:t>
            </a:r>
          </a:p>
          <a:p xmlns:a="http://schemas.openxmlformats.org/drawingml/2006/main">
            <a:r>
              <a:t>出典：14 §4–5、Table 1。対象：25次元合成、17次元・106次元の衛星データ</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2。20分の本文には含めない。質疑応答・結果確認用。</a:t>
            </a:r>
          </a:p>
          <a:p xmlns:a="http://schemas.openxmlformats.org/drawingml/2006/main">
            <a:r>
              <a:t>PMLBは連続目的変数かつ10変数以上の61データセットで、n=47–1066、d=10–124。合成OODは予測に関連する上位10%の変数に適用される。warpは周辺分布の尾部、jointは依存構造、supportは観測範囲の外への変化を意図する。jointについて周辺分布そのものが厳密に不変とまでは主張しない。入力2–3変数で変数選択の利点がどれほどあるかも未確認。純粋なconcept shiftの限界は第6頁参照。</a:t>
            </a:r>
          </a:p>
          <a:p xmlns:a="http://schemas.openxmlformats.org/drawingml/2006/main">
            <a:r>
              <a:t>出典：13 §5.2–5.3、§7</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3。20分の本文には含めない。質疑応答・結果確認用。</a:t>
            </a:r>
          </a:p>
          <a:p xmlns:a="http://schemas.openxmlformats.org/drawingml/2006/main">
            <a:r>
              <a:t>原図の手書き記入も提供資料の一部として残っている。密度に基づく方法はk近傍の平均距離を用い、本文ではk=5。到平均距離の閾値は訓練中の最大距離。近傍方式では訓練各点の近傍平均距離の最大値を使う。絶対誤差が0.022 MPaより大きい点をAD外と仮定した評価も実施している。これは真の分布外ラベルではなく、推定誤差に基づく代理ラベル。総合的にはkNN_Mahを支持するが、当該データ・基準下での結論である。</a:t>
            </a:r>
          </a:p>
          <a:p xmlns:a="http://schemas.openxmlformats.org/drawingml/2006/main">
            <a:r>
              <a:t>出典：山原 §3–5、Fig. 3。図は提供されたスキャンから引用</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4。20分の本文には含めない。質疑応答・結果確認用。</a:t>
            </a:r>
          </a:p>
          <a:p xmlns:a="http://schemas.openxmlformats.org/drawingml/2006/main">
            <a:r>
              <a:t>S3のglobal/localは参照する文脈の範囲にもとづく区別。S6の学習形態では用語の説明に文献依存の差があるため、本報告では必要なデータとラベルを具体的に記載する。分類は本来異なる軸を含み、単一の木に無理に統合しない。</a:t>
            </a:r>
          </a:p>
          <a:p xmlns:a="http://schemas.openxmlformats.org/drawingml/2006/main">
            <a:r>
              <a:t>出典：S1 §3–4、S3 §2–3、S6 §2–3</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5。20分の本文には含めない。質疑応答・結果確認用。</a:t>
            </a:r>
          </a:p>
          <a:p xmlns:a="http://schemas.openxmlformats.org/drawingml/2006/main">
            <a:r>
              <a:t>臨床例では95、99パーセンタイルを用いた議論があるが、その選択は当該例に依存する。一般的な校正保証は示していない。conformal calibrationは今後の課題として記載される。最低必要サンプル数や実機でのリアルタイム性を確定する根拠は今回の読解から得られていない。</a:t>
            </a:r>
          </a:p>
          <a:p xmlns:a="http://schemas.openxmlformats.org/drawingml/2006/main">
            <a:r>
              <a:t>出典：13 §3、§5、§6、§7</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6。20分の本文には含めない。質疑応答・結果確認用。</a:t>
            </a:r>
          </a:p>
          <a:p xmlns:a="http://schemas.openxmlformats.org/drawingml/2006/main">
            <a:r>
              <a:t>原文ではKernel PCAに対する計算上の利点を議論し、実験全体の所要時間にも言及する。ただし、その結果を現在の配水モデルの1件当たりレイテンシへ読み替えない。Satelliteデータの公開条件や明示的なアノテーション手順は本論文のみから十分に確定できない。</a:t>
            </a:r>
          </a:p>
          <a:p xmlns:a="http://schemas.openxmlformats.org/drawingml/2006/main">
            <a:r>
              <a:t>出典：14 §3–6、Table 1</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7。20分の本文には含めない。質疑応答・結果確認用。</a:t>
            </a:r>
          </a:p>
          <a:p xmlns:a="http://schemas.openxmlformats.org/drawingml/2006/main">
            <a:r>
              <a:t>S1 Table 1の異常比率はSWaT 11.98%、WADI 5.99%。S1には配布先としてSUTD iTrustのデータセットページ、SMDにはOmniAnomalyリポジトリ、SMAP/MSLにはTelemanom配布データの参照がある。本報告ではリンクの現時点の有効性・利用条件は未確認。PMLBはhttps://github.com/EpistasisLab/pmlb が文献で示されるプロジェクト名に対応するが、本報告では実際の取得を行っていない。時間窓長はデータ固有の属性ではなく、各検知器の前処理・入力仕様として別途記録する。</a:t>
            </a:r>
          </a:p>
          <a:p xmlns:a="http://schemas.openxmlformats.org/drawingml/2006/main">
            <a:r>
              <a:t>出典：S1 Table 1、13 §5.3、14 §4。数値は各論文の使用版に限る</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8。20分の本文には含めない。質疑応答・結果確認用。</a:t>
            </a:r>
          </a:p>
          <a:p xmlns:a="http://schemas.openxmlformats.org/drawingml/2006/main">
            <a:r>
              <a:t>S1の提供版は2022年5月31日付の著者原稿で、Pattern Recognitionに提出された原稿として表記され、Version of Recordへのリンクがある。S3は2021年4月刊行の表示。書誌情報は提供された各PDFに基づく。</a:t>
            </a:r>
          </a:p>
          <a:p xmlns:a="http://schemas.openxmlformats.org/drawingml/2006/main">
            <a:r>
              <a:t>出典：ユーザー提供PDFの書誌情報</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附録 9。20分の本文には含めない。質疑応答・結果確認用。</a:t>
            </a:r>
          </a:p>
          <a:p xmlns:a="http://schemas.openxmlformats.org/drawingml/2006/main">
            <a:r>
              <a:t>13、14、山原のファイル番号はユーザーのファイル名に対応し、本報告内の参照記号である。提示された資料に含まれる記述と、本報告で提案した適用判断・評価案を区別している。</a:t>
            </a:r>
          </a:p>
          <a:p xmlns:a="http://schemas.openxmlformats.org/drawingml/2006/main">
            <a:r>
              <a:t>出典：ユーザー提供PDF・DOCX</a:t>
            </a:r>
          </a:p>
          <a:p xmlns:a="http://schemas.openxmlformats.org/drawingml/2006/main">
            <a:r>
              <a:t>原図・表の出典はスライド下部および参考文献を参照。旧版の頁番号への言及は本改訂版には適用しない。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340fd2d71442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fad33ea7dd4605" /><Relationship Type="http://schemas.openxmlformats.org/officeDocument/2006/relationships/slideLayout" Target="/ppt/slideLayouts/slideLayout1.xml" Id="Rcbcac25fda7142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cac25fda7142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550fa054d44f11" /><Relationship Type="http://schemas.openxmlformats.org/officeDocument/2006/relationships/image" Target="/ppt/media/image.png" Id="Rb1ff7e07b9434947" /><Relationship Type="http://schemas.openxmlformats.org/officeDocument/2006/relationships/notesSlide" Target="/ppt/notesSlides/notesSlide1.xml" Id="Rc7c9eacc8f2e43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a68d027fd043a1" /><Relationship Type="http://schemas.openxmlformats.org/officeDocument/2006/relationships/notesSlide" Target="/ppt/notesSlides/notesSlide2.xml" Id="R4d1b6bb3a03248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783a2d0cac4b44" /><Relationship Type="http://schemas.openxmlformats.org/officeDocument/2006/relationships/notesSlide" Target="/ppt/notesSlides/notesSlide3.xml" Id="Rd9b97acc511948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636192cad74fff" /><Relationship Type="http://schemas.openxmlformats.org/officeDocument/2006/relationships/notesSlide" Target="/ppt/notesSlides/notesSlide4.xml" Id="Rcf99383bbd7c4d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fe4524f8c145ae" /><Relationship Type="http://schemas.openxmlformats.org/officeDocument/2006/relationships/chart" Target="/ppt/slides/charts/chart1.xml" Id="Re9d0e56698964026" /><Relationship Type="http://schemas.openxmlformats.org/officeDocument/2006/relationships/chart" Target="/ppt/slides/charts/chart2.xml" Id="R326bd609f6474ed0" /><Relationship Type="http://schemas.openxmlformats.org/officeDocument/2006/relationships/chart" Target="/ppt/slides/charts/chart3.xml" Id="Rf99b5a8e31e44029" /><Relationship Type="http://schemas.openxmlformats.org/officeDocument/2006/relationships/notesSlide" Target="/ppt/notesSlides/notesSlide5.xml" Id="Rd2477bb708f346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5d83db6f094057" /><Relationship Type="http://schemas.openxmlformats.org/officeDocument/2006/relationships/chart" Target="/ppt/slides/charts/chart4.xml" Id="R2b5d7fb733fc4b8a" /><Relationship Type="http://schemas.openxmlformats.org/officeDocument/2006/relationships/chart" Target="/ppt/slides/charts/chart5.xml" Id="R93e7e1bada92438e" /><Relationship Type="http://schemas.openxmlformats.org/officeDocument/2006/relationships/chart" Target="/ppt/slides/charts/chart6.xml" Id="R629a971a549f43e5" /><Relationship Type="http://schemas.openxmlformats.org/officeDocument/2006/relationships/notesSlide" Target="/ppt/notesSlides/notesSlide6.xml" Id="Raeacb4ee0d8148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de05c3e7c04e64" /><Relationship Type="http://schemas.openxmlformats.org/officeDocument/2006/relationships/image" Target="/ppt/media/image2.png" Id="Re0ea910367c748a5" /><Relationship Type="http://schemas.openxmlformats.org/officeDocument/2006/relationships/image" Target="/ppt/media/image3.png" Id="R895651f5e0ed4dc5" /><Relationship Type="http://schemas.openxmlformats.org/officeDocument/2006/relationships/image" Target="/ppt/media/image4.png" Id="R4fcd1d5d04944c55" /><Relationship Type="http://schemas.openxmlformats.org/officeDocument/2006/relationships/notesSlide" Target="/ppt/notesSlides/notesSlide7.xml" Id="R6ae3c9e8d3be4d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267a6d43324e38" /><Relationship Type="http://schemas.openxmlformats.org/officeDocument/2006/relationships/notesSlide" Target="/ppt/notesSlides/notesSlide8.xml" Id="Re765fcc3c56f44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4b0bbfbf504b72" /><Relationship Type="http://schemas.openxmlformats.org/officeDocument/2006/relationships/notesSlide" Target="/ppt/notesSlides/notesSlide9.xml" Id="R1e263916f11a49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edcfd9ca134e9a" /><Relationship Type="http://schemas.openxmlformats.org/officeDocument/2006/relationships/notesSlide" Target="/ppt/notesSlides/notesSlide10.xml" Id="Ra34e667c42e948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a5a704c52d45e8" /><Relationship Type="http://schemas.openxmlformats.org/officeDocument/2006/relationships/notesSlide" Target="/ppt/notesSlides/notesSlide11.xml" Id="R0ad50b7d18504f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2f8402f0eb407b" /><Relationship Type="http://schemas.openxmlformats.org/officeDocument/2006/relationships/notesSlide" Target="/ppt/notesSlides/notesSlide12.xml" Id="R507dfd530ce94e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87e97b609a24fbb" /><Relationship Type="http://schemas.openxmlformats.org/officeDocument/2006/relationships/notesSlide" Target="/ppt/notesSlides/notesSlide13.xml" Id="R9cf1edc7e4c44e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3756ab0c5a64d5e" /><Relationship Type="http://schemas.openxmlformats.org/officeDocument/2006/relationships/notesSlide" Target="/ppt/notesSlides/notesSlide14.xml" Id="Rb25a11cea3c145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c9b80974fae4fe3" /><Relationship Type="http://schemas.openxmlformats.org/officeDocument/2006/relationships/notesSlide" Target="/ppt/notesSlides/notesSlide15.xml" Id="Re530535ec9fe40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2789fbb36f46bc" /><Relationship Type="http://schemas.openxmlformats.org/officeDocument/2006/relationships/notesSlide" Target="/ppt/notesSlides/notesSlide16.xml" Id="Ra0081b77776845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2a7f552c7114d2b" /><Relationship Type="http://schemas.openxmlformats.org/officeDocument/2006/relationships/chart" Target="/ppt/slides/charts/chart7.xml" Id="R9abb8417139f4369" /><Relationship Type="http://schemas.openxmlformats.org/officeDocument/2006/relationships/chart" Target="/ppt/slides/charts/chart8.xml" Id="R88f83ddabfd34e44" /><Relationship Type="http://schemas.openxmlformats.org/officeDocument/2006/relationships/notesSlide" Target="/ppt/notesSlides/notesSlide17.xml" Id="R03c03f25ad8949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0ced7153454b0c" /><Relationship Type="http://schemas.openxmlformats.org/officeDocument/2006/relationships/image" Target="/ppt/media/image5.png" Id="Re132c2cca1684f2b" /><Relationship Type="http://schemas.openxmlformats.org/officeDocument/2006/relationships/image" Target="/ppt/media/image6.png" Id="Re7a36fbe59a64d62" /><Relationship Type="http://schemas.openxmlformats.org/officeDocument/2006/relationships/image" Target="/ppt/media/image7.png" Id="Rc004887841be45b2" /><Relationship Type="http://schemas.openxmlformats.org/officeDocument/2006/relationships/notesSlide" Target="/ppt/notesSlides/notesSlide18.xml" Id="Rf26eff7b634b45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6f8dc74d2f403f" /><Relationship Type="http://schemas.openxmlformats.org/officeDocument/2006/relationships/chart" Target="/ppt/slides/charts/chart9.xml" Id="R9f4e1c807aac4343" /><Relationship Type="http://schemas.openxmlformats.org/officeDocument/2006/relationships/notesSlide" Target="/ppt/notesSlides/notesSlide19.xml" Id="Rd2affb7b819f46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7d89e42d3b41f5" /><Relationship Type="http://schemas.openxmlformats.org/officeDocument/2006/relationships/image" Target="/ppt/media/image8.png" Id="R56d906a998814cb4" /><Relationship Type="http://schemas.openxmlformats.org/officeDocument/2006/relationships/image" Target="/ppt/media/image9.png" Id="R4b0efd41802c492c" /><Relationship Type="http://schemas.openxmlformats.org/officeDocument/2006/relationships/notesSlide" Target="/ppt/notesSlides/notesSlide20.xml" Id="Rf23fbf110fb641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315c6079864d94" /><Relationship Type="http://schemas.openxmlformats.org/officeDocument/2006/relationships/image" Target="/ppt/media/image10.png" Id="Rb44728854cbe4108" /><Relationship Type="http://schemas.openxmlformats.org/officeDocument/2006/relationships/notesSlide" Target="/ppt/notesSlides/notesSlide21.xml" Id="R07be16110f414bd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e43b74ff2774b1a" /><Relationship Type="http://schemas.openxmlformats.org/officeDocument/2006/relationships/notesSlide" Target="/ppt/notesSlides/notesSlide22.xml" Id="Re1af16d09d914b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2dc021c25a24d77" /><Relationship Type="http://schemas.openxmlformats.org/officeDocument/2006/relationships/notesSlide" Target="/ppt/notesSlides/notesSlide23.xml" Id="R89a2a87a9a6847c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8ffa46d7bec4969" /><Relationship Type="http://schemas.openxmlformats.org/officeDocument/2006/relationships/notesSlide" Target="/ppt/notesSlides/notesSlide24.xml" Id="R13a565176ef64e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ea5a0e0b17e4945" /><Relationship Type="http://schemas.openxmlformats.org/officeDocument/2006/relationships/notesSlide" Target="/ppt/notesSlides/notesSlide25.xml" Id="R0c89c80b59b14f2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f4e7f91de814afc" /><Relationship Type="http://schemas.openxmlformats.org/officeDocument/2006/relationships/notesSlide" Target="/ppt/notesSlides/notesSlide26.xml" Id="Rc351d7042ee44e6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f8ec5576c864f2e" /><Relationship Type="http://schemas.openxmlformats.org/officeDocument/2006/relationships/notesSlide" Target="/ppt/notesSlides/notesSlide27.xml" Id="R86784d7dbaa34481" /></Relationships>
</file>

<file path=ppt/slides/charts/_rels/chart1.xml.rels><Relationships xmlns="http://schemas.openxmlformats.org/package/2006/relationships"><Relationship Id="rIdChartSnapshot1" Type="http://schemas.openxmlformats.org/officeDocument/2006/relationships/package" Target="../../embeddings/chart-data-snapshot-004.xlsx"/></Relationships>
</file>

<file path=ppt/slides/charts/_rels/chart2.xml.rels><Relationships xmlns="http://schemas.openxmlformats.org/package/2006/relationships"><Relationship Id="rIdChartSnapshot1" Type="http://schemas.openxmlformats.org/officeDocument/2006/relationships/package" Target="../../embeddings/chart-data-snapshot-005.xlsx"/></Relationships>
</file>

<file path=ppt/slides/charts/_rels/chart3.xml.rels><Relationships xmlns="http://schemas.openxmlformats.org/package/2006/relationships"><Relationship Id="rIdChartSnapshot1" Type="http://schemas.openxmlformats.org/officeDocument/2006/relationships/package" Target="../../embeddings/chart-data-snapshot-006.xlsx"/></Relationships>
</file>

<file path=ppt/slides/charts/_rels/chart4.xml.rels><Relationships xmlns="http://schemas.openxmlformats.org/package/2006/relationships"><Relationship Id="rIdChartSnapshot1" Type="http://schemas.openxmlformats.org/officeDocument/2006/relationships/package" Target="../../embeddings/chart-data-snapshot-007.xlsx"/></Relationships>
</file>

<file path=ppt/slides/charts/_rels/chart5.xml.rels><Relationships xmlns="http://schemas.openxmlformats.org/package/2006/relationships"><Relationship Id="rIdChartSnapshot1" Type="http://schemas.openxmlformats.org/officeDocument/2006/relationships/package" Target="../../embeddings/chart-data-snapshot-008.xlsx"/></Relationships>
</file>

<file path=ppt/slides/charts/_rels/chart6.xml.rels><Relationships xmlns="http://schemas.openxmlformats.org/package/2006/relationships"><Relationship Id="rIdChartSnapshot1" Type="http://schemas.openxmlformats.org/officeDocument/2006/relationships/package" Target="../../embeddings/chart-data-snapshot-009.xlsx"/></Relationships>
</file>

<file path=ppt/slides/charts/_rels/chart7.xml.rels><Relationships xmlns="http://schemas.openxmlformats.org/package/2006/relationships"><Relationship Id="rIdChartSnapshot1" Type="http://schemas.openxmlformats.org/officeDocument/2006/relationships/package" Target="../../embeddings/chart-data-snapshot-002.xlsx"/></Relationships>
</file>

<file path=ppt/slides/charts/_rels/chart8.xml.rels><Relationships xmlns="http://schemas.openxmlformats.org/package/2006/relationships"><Relationship Id="rIdChartSnapshot1" Type="http://schemas.openxmlformats.org/officeDocument/2006/relationships/package" Target="../../embeddings/chart-data-snapshot-003.xlsx"/></Relationships>
</file>

<file path=ppt/slides/charts/_rels/chart9.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訓練入力</c:v>
          </c:tx>
          <c:spPr>
            <a:solidFill xmlns:a="http://schemas.openxmlformats.org/drawingml/2006/main">
              <a:srgbClr val="007E87"/>
            </a:solidFill>
            <a:ln xmlns:a="http://schemas.openxmlformats.org/drawingml/2006/main" w="0">
              <a:noFill/>
            </a:ln>
          </c:spPr>
          <c:marker>
            <c:symbol val="circle"/>
            <c:size val="4"/>
            <c:spPr>
              <a:noFill xmlns:a="http://schemas.openxmlformats.org/drawingml/2006/main"/>
            </c:spPr>
          </c:marker>
          <c:xVal>
            <c:numRef>
              <c:f>'Chart Data'!$A$2:$A$71</c:f>
              <c:numCache>
                <c:formatCode>General</c:formatCode>
                <c:ptCount val="70"/>
                <c:pt idx="0">
                  <c:v>0.3355</c:v>
                </c:pt>
                <c:pt idx="1">
                  <c:v>0.4928</c:v>
                </c:pt>
                <c:pt idx="2">
                  <c:v>0.417</c:v>
                </c:pt>
                <c:pt idx="3">
                  <c:v>0.3538</c:v>
                </c:pt>
                <c:pt idx="4">
                  <c:v>-0.0059</c:v>
                </c:pt>
                <c:pt idx="5">
                  <c:v>0.3696</c:v>
                </c:pt>
                <c:pt idx="6">
                  <c:v>-0.6379</c:v>
                </c:pt>
                <c:pt idx="7">
                  <c:v>-0.1029</c:v>
                </c:pt>
                <c:pt idx="8">
                  <c:v>0.2256</c:v>
                </c:pt>
                <c:pt idx="9">
                  <c:v>-0.2985</c:v>
                </c:pt>
                <c:pt idx="10">
                  <c:v>-0.0362</c:v>
                </c:pt>
                <c:pt idx="11">
                  <c:v>-0.4141</c:v>
                </c:pt>
                <c:pt idx="12">
                  <c:v>-0.4808</c:v>
                </c:pt>
                <c:pt idx="13">
                  <c:v>-0.0243</c:v>
                </c:pt>
                <c:pt idx="14">
                  <c:v>-0.4404</c:v>
                </c:pt>
                <c:pt idx="15">
                  <c:v>0.0659</c:v>
                </c:pt>
                <c:pt idx="16">
                  <c:v>1.1309</c:v>
                </c:pt>
                <c:pt idx="17">
                  <c:v>0.7019</c:v>
                </c:pt>
                <c:pt idx="18">
                  <c:v>-0.3372</c:v>
                </c:pt>
                <c:pt idx="19">
                  <c:v>-0.2237</c:v>
                </c:pt>
                <c:pt idx="20">
                  <c:v>-0.59</c:v>
                </c:pt>
                <c:pt idx="21">
                  <c:v>-0.1122</c:v>
                </c:pt>
                <c:pt idx="22">
                  <c:v>-0.2393</c:v>
                </c:pt>
                <c:pt idx="23">
                  <c:v>0.7254</c:v>
                </c:pt>
                <c:pt idx="24">
                  <c:v>-0.2667</c:v>
                </c:pt>
                <c:pt idx="25">
                  <c:v>-0.3752</c:v>
                </c:pt>
                <c:pt idx="26">
                  <c:v>0.2351</c:v>
                </c:pt>
                <c:pt idx="27">
                  <c:v>-0.7834</c:v>
                </c:pt>
                <c:pt idx="28">
                  <c:v>-0.1329</c:v>
                </c:pt>
                <c:pt idx="29">
                  <c:v>-0.657</c:v>
                </c:pt>
                <c:pt idx="30">
                  <c:v>-0.6384</c:v>
                </c:pt>
                <c:pt idx="31">
                  <c:v>-0.0437</c:v>
                </c:pt>
                <c:pt idx="32">
                  <c:v>-0.3108</c:v>
                </c:pt>
                <c:pt idx="33">
                  <c:v>0.2187</c:v>
                </c:pt>
                <c:pt idx="34">
                  <c:v>1.0054</c:v>
                </c:pt>
                <c:pt idx="35">
                  <c:v>-0.0848</c:v>
                </c:pt>
                <c:pt idx="36">
                  <c:v>-0.7673</c:v>
                </c:pt>
                <c:pt idx="37">
                  <c:v>0.6312</c:v>
                </c:pt>
                <c:pt idx="38">
                  <c:v>-0.0298</c:v>
                </c:pt>
                <c:pt idx="39">
                  <c:v>1.0812</c:v>
                </c:pt>
                <c:pt idx="40">
                  <c:v>-0.2076</c:v>
                </c:pt>
                <c:pt idx="41">
                  <c:v>1.2555</c:v>
                </c:pt>
                <c:pt idx="42">
                  <c:v>-0.1865</c:v>
                </c:pt>
                <c:pt idx="43">
                  <c:v>-0.0326</c:v>
                </c:pt>
                <c:pt idx="44">
                  <c:v>-1.3678</c:v>
                </c:pt>
                <c:pt idx="45">
                  <c:v>0.9795</c:v>
                </c:pt>
                <c:pt idx="46">
                  <c:v>-0.3402</c:v>
                </c:pt>
                <c:pt idx="47">
                  <c:v>-1.055</c:v>
                </c:pt>
                <c:pt idx="48">
                  <c:v>0.1448</c:v>
                </c:pt>
                <c:pt idx="49">
                  <c:v>-0.6564</c:v>
                </c:pt>
                <c:pt idx="50">
                  <c:v>0.0794</c:v>
                </c:pt>
                <c:pt idx="51">
                  <c:v>-0.0591</c:v>
                </c:pt>
                <c:pt idx="52">
                  <c:v>0.2658</c:v>
                </c:pt>
                <c:pt idx="53">
                  <c:v>0.6197</c:v>
                </c:pt>
                <c:pt idx="54">
                  <c:v>-0.4367</c:v>
                </c:pt>
                <c:pt idx="55">
                  <c:v>0.1258</c:v>
                </c:pt>
                <c:pt idx="56">
                  <c:v>0.1531</c:v>
                </c:pt>
                <c:pt idx="57">
                  <c:v>0.1284</c:v>
                </c:pt>
                <c:pt idx="58">
                  <c:v>-0.6142</c:v>
                </c:pt>
                <c:pt idx="59">
                  <c:v>-0.296</c:v>
                </c:pt>
                <c:pt idx="60">
                  <c:v>-0.0989</c:v>
                </c:pt>
                <c:pt idx="61">
                  <c:v>0.1742</c:v>
                </c:pt>
                <c:pt idx="62">
                  <c:v>-0.0014</c:v>
                </c:pt>
                <c:pt idx="63">
                  <c:v>-0.3715</c:v>
                </c:pt>
                <c:pt idx="64">
                  <c:v>-0.0256</c:v>
                </c:pt>
                <c:pt idx="65">
                  <c:v>0.0616</c:v>
                </c:pt>
                <c:pt idx="66">
                  <c:v>-0.3824</c:v>
                </c:pt>
                <c:pt idx="67">
                  <c:v>0.481</c:v>
                </c:pt>
                <c:pt idx="68">
                  <c:v>-0.6738</c:v>
                </c:pt>
                <c:pt idx="69">
                  <c:v>-0.7689</c:v>
                </c:pt>
              </c:numCache>
            </c:numRef>
          </c:xVal>
          <c:yVal>
            <c:numRef>
              <c:f>'Chart Data'!$B$2:$B$71</c:f>
              <c:numCache>
                <c:formatCode>0</c:formatCode>
                <c:ptCount val="70"/>
                <c:pt idx="0">
                  <c:v>-0.1914</c:v>
                </c:pt>
                <c:pt idx="1">
                  <c:v>0.5954</c:v>
                </c:pt>
                <c:pt idx="2">
                  <c:v>0.1837</c:v>
                </c:pt>
                <c:pt idx="3">
                  <c:v>0.3064</c:v>
                </c:pt>
                <c:pt idx="4">
                  <c:v>0.3388</c:v>
                </c:pt>
                <c:pt idx="5">
                  <c:v>-0.7945</c:v>
                </c:pt>
                <c:pt idx="6">
                  <c:v>0.115</c:v>
                </c:pt>
                <c:pt idx="7">
                  <c:v>0.2748</c:v>
                </c:pt>
                <c:pt idx="8">
                  <c:v>-0.2659</c:v>
                </c:pt>
                <c:pt idx="9">
                  <c:v>-0.3726</c:v>
                </c:pt>
                <c:pt idx="10">
                  <c:v>0.167</c:v>
                </c:pt>
                <c:pt idx="11">
                  <c:v>0.2882</c:v>
                </c:pt>
                <c:pt idx="12">
                  <c:v>-0.6665</c:v>
                </c:pt>
                <c:pt idx="13">
                  <c:v>-0.958</c:v>
                </c:pt>
                <c:pt idx="14">
                  <c:v>-0.1118</c:v>
                </c:pt>
                <c:pt idx="15">
                  <c:v>-0.4814</c:v>
                </c:pt>
                <c:pt idx="16">
                  <c:v>-0.2862</c:v>
                </c:pt>
                <c:pt idx="17">
                  <c:v>0.2407</c:v>
                </c:pt>
                <c:pt idx="18">
                  <c:v>-0.074</c:v>
                </c:pt>
                <c:pt idx="19">
                  <c:v>-0.3373</c:v>
                </c:pt>
                <c:pt idx="20">
                  <c:v>0.1792</c:v>
                </c:pt>
                <c:pt idx="21">
                  <c:v>0.2698</c:v>
                </c:pt>
                <c:pt idx="22">
                  <c:v>-0.2432</c:v>
                </c:pt>
                <c:pt idx="23">
                  <c:v>0.5822</c:v>
                </c:pt>
                <c:pt idx="24">
                  <c:v>0.251</c:v>
                </c:pt>
                <c:pt idx="25">
                  <c:v>0.1472</c:v>
                </c:pt>
                <c:pt idx="26">
                  <c:v>0.7056</c:v>
                </c:pt>
                <c:pt idx="27">
                  <c:v>0.2632</c:v>
                </c:pt>
                <c:pt idx="28">
                  <c:v>-0.3032</c:v>
                </c:pt>
                <c:pt idx="29">
                  <c:v>-0.5447</c:v>
                </c:pt>
                <c:pt idx="30">
                  <c:v>-0.3397</c:v>
                </c:pt>
                <c:pt idx="31">
                  <c:v>0.1305</c:v>
                </c:pt>
                <c:pt idx="32">
                  <c:v>0.3993</c:v>
                </c:pt>
                <c:pt idx="33">
                  <c:v>-0.2586</c:v>
                </c:pt>
                <c:pt idx="34">
                  <c:v>0.8671</c:v>
                </c:pt>
                <c:pt idx="35">
                  <c:v>0.6102</c:v>
                </c:pt>
                <c:pt idx="36">
                  <c:v>-0.3707</c:v>
                </c:pt>
                <c:pt idx="37">
                  <c:v>0.3819</c:v>
                </c:pt>
                <c:pt idx="38">
                  <c:v>0.8324</c:v>
                </c:pt>
                <c:pt idx="39">
                  <c:v>0.4804</c:v>
                </c:pt>
                <c:pt idx="40">
                  <c:v>0.7394</c:v>
                </c:pt>
                <c:pt idx="41">
                  <c:v>-0.2949</c:v>
                </c:pt>
                <c:pt idx="42">
                  <c:v>-0.3819</c:v>
                </c:pt>
                <c:pt idx="43">
                  <c:v>0.2384</c:v>
                </c:pt>
                <c:pt idx="44">
                  <c:v>0.0354</c:v>
                </c:pt>
                <c:pt idx="45">
                  <c:v>0.0013</c:v>
                </c:pt>
                <c:pt idx="46">
                  <c:v>-0.1799</c:v>
                </c:pt>
                <c:pt idx="47">
                  <c:v>-0.4806</c:v>
                </c:pt>
                <c:pt idx="48">
                  <c:v>-0.2636</c:v>
                </c:pt>
                <c:pt idx="49">
                  <c:v>-0.1135</c:v>
                </c:pt>
                <c:pt idx="50">
                  <c:v>-0.0565</c:v>
                </c:pt>
                <c:pt idx="51">
                  <c:v>-0.251</c:v>
                </c:pt>
                <c:pt idx="52">
                  <c:v>0.1216</c:v>
                </c:pt>
                <c:pt idx="53">
                  <c:v>0.0619</c:v>
                </c:pt>
                <c:pt idx="54">
                  <c:v>-0.5732</c:v>
                </c:pt>
                <c:pt idx="55">
                  <c:v>-0.1341</c:v>
                </c:pt>
                <c:pt idx="56">
                  <c:v>-0.1757</c:v>
                </c:pt>
                <c:pt idx="57">
                  <c:v>0.0301</c:v>
                </c:pt>
                <c:pt idx="58">
                  <c:v>0.2807</c:v>
                </c:pt>
                <c:pt idx="59">
                  <c:v>-0.1886</c:v>
                </c:pt>
                <c:pt idx="60">
                  <c:v>1.0349</c:v>
                </c:pt>
                <c:pt idx="61">
                  <c:v>-0.4368</c:v>
                </c:pt>
                <c:pt idx="62">
                  <c:v>-0.5961</c:v>
                </c:pt>
                <c:pt idx="63">
                  <c:v>0.0267</c:v>
                </c:pt>
                <c:pt idx="64">
                  <c:v>-0.0278</c:v>
                </c:pt>
                <c:pt idx="65">
                  <c:v>0.3327</c:v>
                </c:pt>
                <c:pt idx="66">
                  <c:v>-0.8668</c:v>
                </c:pt>
                <c:pt idx="67">
                  <c:v>0.8396</c:v>
                </c:pt>
                <c:pt idx="68">
                  <c:v>0.5353</c:v>
                </c:pt>
                <c:pt idx="69">
                  <c:v>-0.2773</c:v>
                </c:pt>
              </c:numCache>
            </c:numRef>
          </c:yVal>
        </c:ser>
        <c:ser>
          <c:idx val="1"/>
          <c:order val="1"/>
          <c:tx>
            <c:v>新規入力</c:v>
          </c:tx>
          <c:spPr>
            <a:solidFill xmlns:a="http://schemas.openxmlformats.org/drawingml/2006/main">
              <a:srgbClr val="C17824"/>
            </a:solidFill>
            <a:ln xmlns:a="http://schemas.openxmlformats.org/drawingml/2006/main" w="0">
              <a:noFill/>
            </a:ln>
          </c:spPr>
          <c:marker>
            <c:symbol val="circle"/>
            <c:size val="10"/>
            <c:spPr>
              <a:noFill xmlns:a="http://schemas.openxmlformats.org/drawingml/2006/main"/>
            </c:spPr>
          </c:marker>
          <c:xVal>
            <c:numRef>
              <c:f>'Chart Data'!$C$2:$C$2</c:f>
              <c:numCache>
                <c:formatCode>General</c:formatCode>
                <c:ptCount val="1"/>
                <c:pt idx="0">
                  <c:v>2.6</c:v>
                </c:pt>
              </c:numCache>
            </c:numRef>
          </c:xVal>
          <c:yVal>
            <c:numRef>
              <c:f>'Chart Data'!$D$2:$D$2</c:f>
              <c:numCache>
                <c:formatCode>0</c:formatCode>
                <c:ptCount val="1"/>
                <c:pt idx="0">
                  <c:v>1.6</c:v>
                </c:pt>
              </c:numCache>
            </c:numRef>
          </c:yVal>
        </c:ser>
        <c:axId val="48650112"/>
        <c:axId val="48672768"/>
      </c:scatterChart>
      <c:valAx>
        <c:axId val="48672768"/>
        <c:scaling>
          <c:orientation val="minMax"/>
          <c:max val="3"/>
          <c:min val="-3"/>
        </c:scaling>
        <c:delete val="0"/>
        <c:axPos val="l"/>
        <c:title>
          <c:tx>
            <c:rich>
              <a:bodyPr xmlns:a="http://schemas.openxmlformats.org/drawingml/2006/main"/>
              <a:lstStyle xmlns:a="http://schemas.openxmlformats.org/drawingml/2006/main"/>
              <a:p xmlns:a="http://schemas.openxmlformats.org/drawingml/2006/main">
                <a:r>
                  <a:rPr sz="1350">
                    <a:latin typeface="Meiryo"/>
                    <a:ea typeface="Meiryo"/>
                    <a:cs typeface="Meiryo"/>
                  </a:rPr>
                  <a:t>x₂</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eiryo"/>
                <a:ea typeface="Meiryo"/>
                <a:cs typeface="Meiryo"/>
              </a:defRPr>
            </a:pPr>
          </a:p>
        </c:txPr>
        <c:crossAx val="48650112"/>
        <c:majorUnit val="1"/>
      </c:valAx>
      <c:valAx>
        <c:axId val="48650112"/>
        <c:scaling>
          <c:orientation val="minMax"/>
          <c:max val="3"/>
          <c:min val="-3"/>
        </c:scaling>
        <c:delete val="0"/>
        <c:axPos val="b"/>
        <c:title>
          <c:tx>
            <c:rich>
              <a:bodyPr xmlns:a="http://schemas.openxmlformats.org/drawingml/2006/main"/>
              <a:lstStyle xmlns:a="http://schemas.openxmlformats.org/drawingml/2006/main"/>
              <a:p xmlns:a="http://schemas.openxmlformats.org/drawingml/2006/main">
                <a:r>
                  <a:rPr sz="1350">
                    <a:latin typeface="Meiryo"/>
                    <a:ea typeface="Meiryo"/>
                    <a:cs typeface="Meiryo"/>
                  </a:rPr>
                  <a:t>x₁</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eiryo"/>
                <a:ea typeface="Meiryo"/>
                <a:cs typeface="Meiryo"/>
              </a:defRPr>
            </a:pPr>
          </a:p>
        </c:txPr>
        <c:crossAx val="48672768"/>
        <c:majorUnit val="1"/>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訓練入力</c:v>
          </c:tx>
          <c:spPr>
            <a:solidFill xmlns:a="http://schemas.openxmlformats.org/drawingml/2006/main">
              <a:srgbClr val="007E87"/>
            </a:solidFill>
            <a:ln xmlns:a="http://schemas.openxmlformats.org/drawingml/2006/main" w="0">
              <a:noFill/>
            </a:ln>
          </c:spPr>
          <c:marker>
            <c:symbol val="circle"/>
            <c:size val="4"/>
            <c:spPr>
              <a:noFill xmlns:a="http://schemas.openxmlformats.org/drawingml/2006/main"/>
            </c:spPr>
          </c:marker>
          <c:xVal>
            <c:numRef>
              <c:f>'Chart Data'!$A$2:$A$71</c:f>
              <c:numCache>
                <c:formatCode>General</c:formatCode>
                <c:ptCount val="70"/>
                <c:pt idx="0">
                  <c:v>-1.0859</c:v>
                </c:pt>
                <c:pt idx="1">
                  <c:v>1.3675</c:v>
                </c:pt>
                <c:pt idx="2">
                  <c:v>-1.0582</c:v>
                </c:pt>
                <c:pt idx="3">
                  <c:v>1.3203</c:v>
                </c:pt>
                <c:pt idx="4">
                  <c:v>-1.202</c:v>
                </c:pt>
                <c:pt idx="5">
                  <c:v>1.3257</c:v>
                </c:pt>
                <c:pt idx="6">
                  <c:v>-1.4169</c:v>
                </c:pt>
                <c:pt idx="7">
                  <c:v>1.165</c:v>
                </c:pt>
                <c:pt idx="8">
                  <c:v>-1.1233</c:v>
                </c:pt>
                <c:pt idx="9">
                  <c:v>1.0985</c:v>
                </c:pt>
                <c:pt idx="10">
                  <c:v>-1.2123</c:v>
                </c:pt>
                <c:pt idx="11">
                  <c:v>1.0592</c:v>
                </c:pt>
                <c:pt idx="12">
                  <c:v>-1.3635</c:v>
                </c:pt>
                <c:pt idx="13">
                  <c:v>1.1917</c:v>
                </c:pt>
                <c:pt idx="14">
                  <c:v>-1.3497</c:v>
                </c:pt>
                <c:pt idx="15">
                  <c:v>1.2224</c:v>
                </c:pt>
                <c:pt idx="16">
                  <c:v>-0.8155</c:v>
                </c:pt>
                <c:pt idx="17">
                  <c:v>1.4387</c:v>
                </c:pt>
                <c:pt idx="18">
                  <c:v>-1.3146</c:v>
                </c:pt>
                <c:pt idx="19">
                  <c:v>1.1239</c:v>
                </c:pt>
                <c:pt idx="20">
                  <c:v>-1.4006</c:v>
                </c:pt>
                <c:pt idx="21">
                  <c:v>1.1618</c:v>
                </c:pt>
                <c:pt idx="22">
                  <c:v>-1.2814</c:v>
                </c:pt>
                <c:pt idx="23">
                  <c:v>1.4466</c:v>
                </c:pt>
                <c:pt idx="24">
                  <c:v>-1.2907</c:v>
                </c:pt>
                <c:pt idx="25">
                  <c:v>1.0724</c:v>
                </c:pt>
                <c:pt idx="26">
                  <c:v>-1.1201</c:v>
                </c:pt>
                <c:pt idx="27">
                  <c:v>0.9336</c:v>
                </c:pt>
                <c:pt idx="28">
                  <c:v>-1.2452</c:v>
                </c:pt>
                <c:pt idx="29">
                  <c:v>0.9766</c:v>
                </c:pt>
                <c:pt idx="30">
                  <c:v>-1.4171</c:v>
                </c:pt>
                <c:pt idx="31">
                  <c:v>1.1851</c:v>
                </c:pt>
                <c:pt idx="32">
                  <c:v>-1.3057</c:v>
                </c:pt>
                <c:pt idx="33">
                  <c:v>1.2744</c:v>
                </c:pt>
                <c:pt idx="34">
                  <c:v>-0.8582</c:v>
                </c:pt>
                <c:pt idx="35">
                  <c:v>1.1712</c:v>
                </c:pt>
                <c:pt idx="36">
                  <c:v>-1.4609</c:v>
                </c:pt>
                <c:pt idx="37">
                  <c:v>1.4146</c:v>
                </c:pt>
                <c:pt idx="38">
                  <c:v>-1.2101</c:v>
                </c:pt>
                <c:pt idx="39">
                  <c:v>1.5676</c:v>
                </c:pt>
                <c:pt idx="40">
                  <c:v>-1.2706</c:v>
                </c:pt>
                <c:pt idx="41">
                  <c:v>1.6269</c:v>
                </c:pt>
                <c:pt idx="42">
                  <c:v>-1.2634</c:v>
                </c:pt>
                <c:pt idx="43">
                  <c:v>1.1889</c:v>
                </c:pt>
                <c:pt idx="44">
                  <c:v>-1.665</c:v>
                </c:pt>
                <c:pt idx="45">
                  <c:v>1.533</c:v>
                </c:pt>
                <c:pt idx="46">
                  <c:v>-1.3157</c:v>
                </c:pt>
                <c:pt idx="47">
                  <c:v>0.8413</c:v>
                </c:pt>
                <c:pt idx="48">
                  <c:v>-1.1508</c:v>
                </c:pt>
                <c:pt idx="49">
                  <c:v>0.9768</c:v>
                </c:pt>
                <c:pt idx="50">
                  <c:v>-1.173</c:v>
                </c:pt>
                <c:pt idx="51">
                  <c:v>1.1799</c:v>
                </c:pt>
                <c:pt idx="52">
                  <c:v>-1.1096</c:v>
                </c:pt>
                <c:pt idx="53">
                  <c:v>1.4107</c:v>
                </c:pt>
                <c:pt idx="54">
                  <c:v>-1.3485</c:v>
                </c:pt>
                <c:pt idx="55">
                  <c:v>1.2428</c:v>
                </c:pt>
                <c:pt idx="56">
                  <c:v>-1.1479</c:v>
                </c:pt>
                <c:pt idx="57">
                  <c:v>1.2437</c:v>
                </c:pt>
                <c:pt idx="58">
                  <c:v>-1.4088</c:v>
                </c:pt>
                <c:pt idx="59">
                  <c:v>1.0994</c:v>
                </c:pt>
                <c:pt idx="60">
                  <c:v>-1.2336</c:v>
                </c:pt>
                <c:pt idx="61">
                  <c:v>1.2592</c:v>
                </c:pt>
                <c:pt idx="62">
                  <c:v>-1.2005</c:v>
                </c:pt>
                <c:pt idx="63">
                  <c:v>1.0737</c:v>
                </c:pt>
                <c:pt idx="64">
                  <c:v>-1.2087</c:v>
                </c:pt>
                <c:pt idx="65">
                  <c:v>1.2209</c:v>
                </c:pt>
                <c:pt idx="66">
                  <c:v>-1.33</c:v>
                </c:pt>
                <c:pt idx="67">
                  <c:v>1.3635</c:v>
                </c:pt>
                <c:pt idx="68">
                  <c:v>-1.4291</c:v>
                </c:pt>
                <c:pt idx="69">
                  <c:v>0.9386</c:v>
                </c:pt>
              </c:numCache>
            </c:numRef>
          </c:xVal>
          <c:yVal>
            <c:numRef>
              <c:f>'Chart Data'!$B$2:$B$71</c:f>
              <c:numCache>
                <c:formatCode>0</c:formatCode>
                <c:ptCount val="70"/>
                <c:pt idx="0">
                  <c:v>-1.2723</c:v>
                </c:pt>
                <c:pt idx="1">
                  <c:v>1.4249</c:v>
                </c:pt>
                <c:pt idx="2">
                  <c:v>-1.1306</c:v>
                </c:pt>
                <c:pt idx="3">
                  <c:v>1.3158</c:v>
                </c:pt>
                <c:pt idx="4">
                  <c:v>-1.072</c:v>
                </c:pt>
                <c:pt idx="5">
                  <c:v>0.8998</c:v>
                </c:pt>
                <c:pt idx="6">
                  <c:v>-1.1566</c:v>
                </c:pt>
                <c:pt idx="7">
                  <c:v>1.3038</c:v>
                </c:pt>
                <c:pt idx="8">
                  <c:v>-1.3004</c:v>
                </c:pt>
                <c:pt idx="9">
                  <c:v>1.0592</c:v>
                </c:pt>
                <c:pt idx="10">
                  <c:v>-1.1369</c:v>
                </c:pt>
                <c:pt idx="11">
                  <c:v>1.3089</c:v>
                </c:pt>
                <c:pt idx="12">
                  <c:v>-1.4518</c:v>
                </c:pt>
                <c:pt idx="13">
                  <c:v>0.8381</c:v>
                </c:pt>
                <c:pt idx="14">
                  <c:v>-1.2422</c:v>
                </c:pt>
                <c:pt idx="15">
                  <c:v>1.0181</c:v>
                </c:pt>
                <c:pt idx="16">
                  <c:v>-1.3081</c:v>
                </c:pt>
                <c:pt idx="17">
                  <c:v>1.2909</c:v>
                </c:pt>
                <c:pt idx="18">
                  <c:v>-1.228</c:v>
                </c:pt>
                <c:pt idx="19">
                  <c:v>1.0726</c:v>
                </c:pt>
                <c:pt idx="20">
                  <c:v>-1.1323</c:v>
                </c:pt>
                <c:pt idx="21">
                  <c:v>1.3019</c:v>
                </c:pt>
                <c:pt idx="22">
                  <c:v>-1.2919</c:v>
                </c:pt>
                <c:pt idx="23">
                  <c:v>1.42</c:v>
                </c:pt>
                <c:pt idx="24">
                  <c:v>-1.1052</c:v>
                </c:pt>
                <c:pt idx="25">
                  <c:v>1.2556</c:v>
                </c:pt>
                <c:pt idx="26">
                  <c:v>-0.9334</c:v>
                </c:pt>
                <c:pt idx="27">
                  <c:v>1.2994</c:v>
                </c:pt>
                <c:pt idx="28">
                  <c:v>-1.3145</c:v>
                </c:pt>
                <c:pt idx="29">
                  <c:v>0.9942</c:v>
                </c:pt>
                <c:pt idx="30">
                  <c:v>-1.3283</c:v>
                </c:pt>
                <c:pt idx="31">
                  <c:v>1.2493</c:v>
                </c:pt>
                <c:pt idx="32">
                  <c:v>-1.0491</c:v>
                </c:pt>
                <c:pt idx="33">
                  <c:v>1.1023</c:v>
                </c:pt>
                <c:pt idx="34">
                  <c:v>-0.8724</c:v>
                </c:pt>
                <c:pt idx="35">
                  <c:v>1.4305</c:v>
                </c:pt>
                <c:pt idx="36">
                  <c:v>-1.34</c:v>
                </c:pt>
                <c:pt idx="37">
                  <c:v>1.3443</c:v>
                </c:pt>
                <c:pt idx="38">
                  <c:v>-0.8856</c:v>
                </c:pt>
                <c:pt idx="39">
                  <c:v>1.3815</c:v>
                </c:pt>
                <c:pt idx="40">
                  <c:v>-0.9207</c:v>
                </c:pt>
                <c:pt idx="41">
                  <c:v>1.0886</c:v>
                </c:pt>
                <c:pt idx="42">
                  <c:v>-1.3443</c:v>
                </c:pt>
                <c:pt idx="43">
                  <c:v>1.29</c:v>
                </c:pt>
                <c:pt idx="44">
                  <c:v>-1.1866</c:v>
                </c:pt>
                <c:pt idx="45">
                  <c:v>1.2005</c:v>
                </c:pt>
                <c:pt idx="46">
                  <c:v>-1.268</c:v>
                </c:pt>
                <c:pt idx="47">
                  <c:v>1.0184</c:v>
                </c:pt>
                <c:pt idx="48">
                  <c:v>-1.2996</c:v>
                </c:pt>
                <c:pt idx="49">
                  <c:v>1.1571</c:v>
                </c:pt>
                <c:pt idx="50">
                  <c:v>-1.2213</c:v>
                </c:pt>
                <c:pt idx="51">
                  <c:v>1.1052</c:v>
                </c:pt>
                <c:pt idx="52">
                  <c:v>-1.1541</c:v>
                </c:pt>
                <c:pt idx="53">
                  <c:v>1.2234</c:v>
                </c:pt>
                <c:pt idx="54">
                  <c:v>-1.4166</c:v>
                </c:pt>
                <c:pt idx="55">
                  <c:v>1.1493</c:v>
                </c:pt>
                <c:pt idx="56">
                  <c:v>-1.2664</c:v>
                </c:pt>
                <c:pt idx="57">
                  <c:v>1.2114</c:v>
                </c:pt>
                <c:pt idx="58">
                  <c:v>-1.094</c:v>
                </c:pt>
                <c:pt idx="59">
                  <c:v>1.1288</c:v>
                </c:pt>
                <c:pt idx="60">
                  <c:v>-0.809</c:v>
                </c:pt>
                <c:pt idx="61">
                  <c:v>1.035</c:v>
                </c:pt>
                <c:pt idx="62">
                  <c:v>-1.4252</c:v>
                </c:pt>
                <c:pt idx="63">
                  <c:v>1.2101</c:v>
                </c:pt>
                <c:pt idx="64">
                  <c:v>-1.2105</c:v>
                </c:pt>
                <c:pt idx="65">
                  <c:v>1.3257</c:v>
                </c:pt>
                <c:pt idx="66">
                  <c:v>-1.5275</c:v>
                </c:pt>
                <c:pt idx="67">
                  <c:v>1.5172</c:v>
                </c:pt>
                <c:pt idx="68">
                  <c:v>-0.9978</c:v>
                </c:pt>
                <c:pt idx="69">
                  <c:v>1.0953</c:v>
                </c:pt>
              </c:numCache>
            </c:numRef>
          </c:yVal>
        </c:ser>
        <c:ser>
          <c:idx val="1"/>
          <c:order val="1"/>
          <c:tx>
            <c:v>新規入力</c:v>
          </c:tx>
          <c:spPr>
            <a:solidFill xmlns:a="http://schemas.openxmlformats.org/drawingml/2006/main">
              <a:srgbClr val="C17824"/>
            </a:solidFill>
            <a:ln xmlns:a="http://schemas.openxmlformats.org/drawingml/2006/main" w="0">
              <a:noFill/>
            </a:ln>
          </c:spPr>
          <c:marker>
            <c:symbol val="circle"/>
            <c:size val="10"/>
            <c:spPr>
              <a:noFill xmlns:a="http://schemas.openxmlformats.org/drawingml/2006/main"/>
            </c:spPr>
          </c:marker>
          <c:xVal>
            <c:numRef>
              <c:f>'Chart Data'!$C$2:$C$2</c:f>
              <c:numCache>
                <c:formatCode>General</c:formatCode>
                <c:ptCount val="1"/>
                <c:pt idx="0">
                  <c:v>0</c:v>
                </c:pt>
              </c:numCache>
            </c:numRef>
          </c:xVal>
          <c:yVal>
            <c:numRef>
              <c:f>'Chart Data'!$D$2:$D$2</c:f>
              <c:numCache>
                <c:formatCode>0</c:formatCode>
                <c:ptCount val="1"/>
                <c:pt idx="0">
                  <c:v>0</c:v>
                </c:pt>
              </c:numCache>
            </c:numRef>
          </c:yVal>
        </c:ser>
        <c:axId val="48650112"/>
        <c:axId val="48672768"/>
      </c:scatterChart>
      <c:valAx>
        <c:axId val="48672768"/>
        <c:scaling>
          <c:orientation val="minMax"/>
          <c:max val="3"/>
          <c:min val="-3"/>
        </c:scaling>
        <c:delete val="0"/>
        <c:axPos val="l"/>
        <c:title>
          <c:tx>
            <c:rich>
              <a:bodyPr xmlns:a="http://schemas.openxmlformats.org/drawingml/2006/main"/>
              <a:lstStyle xmlns:a="http://schemas.openxmlformats.org/drawingml/2006/main"/>
              <a:p xmlns:a="http://schemas.openxmlformats.org/drawingml/2006/main">
                <a:r>
                  <a:rPr sz="1350">
                    <a:latin typeface="Meiryo"/>
                    <a:ea typeface="Meiryo"/>
                    <a:cs typeface="Meiryo"/>
                  </a:rPr>
                  <a:t>x₂</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eiryo"/>
                <a:ea typeface="Meiryo"/>
                <a:cs typeface="Meiryo"/>
              </a:defRPr>
            </a:pPr>
          </a:p>
        </c:txPr>
        <c:crossAx val="48650112"/>
        <c:majorUnit val="1"/>
      </c:valAx>
      <c:valAx>
        <c:axId val="48650112"/>
        <c:scaling>
          <c:orientation val="minMax"/>
          <c:max val="3"/>
          <c:min val="-3"/>
        </c:scaling>
        <c:delete val="0"/>
        <c:axPos val="b"/>
        <c:title>
          <c:tx>
            <c:rich>
              <a:bodyPr xmlns:a="http://schemas.openxmlformats.org/drawingml/2006/main"/>
              <a:lstStyle xmlns:a="http://schemas.openxmlformats.org/drawingml/2006/main"/>
              <a:p xmlns:a="http://schemas.openxmlformats.org/drawingml/2006/main">
                <a:r>
                  <a:rPr sz="1350">
                    <a:latin typeface="Meiryo"/>
                    <a:ea typeface="Meiryo"/>
                    <a:cs typeface="Meiryo"/>
                  </a:rPr>
                  <a:t>x₁</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eiryo"/>
                <a:ea typeface="Meiryo"/>
                <a:cs typeface="Meiryo"/>
              </a:defRPr>
            </a:pPr>
          </a:p>
        </c:txPr>
        <c:crossAx val="48672768"/>
        <c:majorUnit val="1"/>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訓練入力</c:v>
          </c:tx>
          <c:spPr>
            <a:solidFill xmlns:a="http://schemas.openxmlformats.org/drawingml/2006/main">
              <a:srgbClr val="007E87"/>
            </a:solidFill>
            <a:ln xmlns:a="http://schemas.openxmlformats.org/drawingml/2006/main" w="0">
              <a:noFill/>
            </a:ln>
          </c:spPr>
          <c:marker>
            <c:symbol val="circle"/>
            <c:size val="4"/>
            <c:spPr>
              <a:noFill xmlns:a="http://schemas.openxmlformats.org/drawingml/2006/main"/>
            </c:spPr>
          </c:marker>
          <c:xVal>
            <c:numRef>
              <c:f>'Chart Data'!$A$2:$A$71</c:f>
              <c:numCache>
                <c:formatCode>General</c:formatCode>
                <c:ptCount val="70"/>
                <c:pt idx="0">
                  <c:v>0.4228</c:v>
                </c:pt>
                <c:pt idx="1">
                  <c:v>0.6209</c:v>
                </c:pt>
                <c:pt idx="2">
                  <c:v>0.5254</c:v>
                </c:pt>
                <c:pt idx="3">
                  <c:v>0.4458</c:v>
                </c:pt>
                <c:pt idx="4">
                  <c:v>-0.0074</c:v>
                </c:pt>
                <c:pt idx="5">
                  <c:v>0.4656</c:v>
                </c:pt>
                <c:pt idx="6">
                  <c:v>-0.8038</c:v>
                </c:pt>
                <c:pt idx="7">
                  <c:v>-0.1296</c:v>
                </c:pt>
                <c:pt idx="8">
                  <c:v>0.2842</c:v>
                </c:pt>
                <c:pt idx="9">
                  <c:v>-0.3761</c:v>
                </c:pt>
                <c:pt idx="10">
                  <c:v>-0.0456</c:v>
                </c:pt>
                <c:pt idx="11">
                  <c:v>-0.5217</c:v>
                </c:pt>
                <c:pt idx="12">
                  <c:v>-0.6058</c:v>
                </c:pt>
                <c:pt idx="13">
                  <c:v>-0.0307</c:v>
                </c:pt>
                <c:pt idx="14">
                  <c:v>-0.5549</c:v>
                </c:pt>
                <c:pt idx="15">
                  <c:v>0.0831</c:v>
                </c:pt>
                <c:pt idx="16">
                  <c:v>1.4249</c:v>
                </c:pt>
                <c:pt idx="17">
                  <c:v>0.8844</c:v>
                </c:pt>
                <c:pt idx="18">
                  <c:v>-0.4248</c:v>
                </c:pt>
                <c:pt idx="19">
                  <c:v>-0.2819</c:v>
                </c:pt>
                <c:pt idx="20">
                  <c:v>-0.7434</c:v>
                </c:pt>
                <c:pt idx="21">
                  <c:v>-0.1414</c:v>
                </c:pt>
                <c:pt idx="22">
                  <c:v>-0.3015</c:v>
                </c:pt>
                <c:pt idx="23">
                  <c:v>0.914</c:v>
                </c:pt>
                <c:pt idx="24">
                  <c:v>-0.336</c:v>
                </c:pt>
                <c:pt idx="25">
                  <c:v>-0.4728</c:v>
                </c:pt>
                <c:pt idx="26">
                  <c:v>0.2962</c:v>
                </c:pt>
                <c:pt idx="27">
                  <c:v>-0.9871</c:v>
                </c:pt>
                <c:pt idx="28">
                  <c:v>-0.1675</c:v>
                </c:pt>
                <c:pt idx="29">
                  <c:v>-0.8278</c:v>
                </c:pt>
                <c:pt idx="30">
                  <c:v>-0.8044</c:v>
                </c:pt>
                <c:pt idx="31">
                  <c:v>-0.0551</c:v>
                </c:pt>
                <c:pt idx="32">
                  <c:v>-0.3916</c:v>
                </c:pt>
                <c:pt idx="33">
                  <c:v>0.2756</c:v>
                </c:pt>
                <c:pt idx="34">
                  <c:v>1.2669</c:v>
                </c:pt>
                <c:pt idx="35">
                  <c:v>-0.1069</c:v>
                </c:pt>
                <c:pt idx="36">
                  <c:v>-0.9668</c:v>
                </c:pt>
                <c:pt idx="37">
                  <c:v>0.7953</c:v>
                </c:pt>
                <c:pt idx="38">
                  <c:v>-0.0376</c:v>
                </c:pt>
                <c:pt idx="39">
                  <c:v>1.3623</c:v>
                </c:pt>
                <c:pt idx="40">
                  <c:v>-0.2616</c:v>
                </c:pt>
                <c:pt idx="41">
                  <c:v>1.582</c:v>
                </c:pt>
                <c:pt idx="42">
                  <c:v>-0.235</c:v>
                </c:pt>
                <c:pt idx="43">
                  <c:v>-0.0411</c:v>
                </c:pt>
                <c:pt idx="44">
                  <c:v>-1.7234</c:v>
                </c:pt>
                <c:pt idx="45">
                  <c:v>1.2342</c:v>
                </c:pt>
                <c:pt idx="46">
                  <c:v>-0.4286</c:v>
                </c:pt>
                <c:pt idx="47">
                  <c:v>-1.3293</c:v>
                </c:pt>
                <c:pt idx="48">
                  <c:v>0.1825</c:v>
                </c:pt>
                <c:pt idx="49">
                  <c:v>-0.8271</c:v>
                </c:pt>
                <c:pt idx="50">
                  <c:v>0.1</c:v>
                </c:pt>
                <c:pt idx="51">
                  <c:v>-0.0745</c:v>
                </c:pt>
                <c:pt idx="52">
                  <c:v>0.335</c:v>
                </c:pt>
                <c:pt idx="53">
                  <c:v>0.7809</c:v>
                </c:pt>
                <c:pt idx="54">
                  <c:v>-0.5502</c:v>
                </c:pt>
                <c:pt idx="55">
                  <c:v>0.1585</c:v>
                </c:pt>
                <c:pt idx="56">
                  <c:v>0.1929</c:v>
                </c:pt>
                <c:pt idx="57">
                  <c:v>0.1618</c:v>
                </c:pt>
                <c:pt idx="58">
                  <c:v>-0.7739</c:v>
                </c:pt>
                <c:pt idx="59">
                  <c:v>-0.3729</c:v>
                </c:pt>
                <c:pt idx="60">
                  <c:v>-0.1246</c:v>
                </c:pt>
                <c:pt idx="61">
                  <c:v>0.2195</c:v>
                </c:pt>
                <c:pt idx="62">
                  <c:v>-0.0018</c:v>
                </c:pt>
                <c:pt idx="63">
                  <c:v>-0.468</c:v>
                </c:pt>
                <c:pt idx="64">
                  <c:v>-0.0323</c:v>
                </c:pt>
                <c:pt idx="65">
                  <c:v>0.0776</c:v>
                </c:pt>
                <c:pt idx="66">
                  <c:v>-0.4818</c:v>
                </c:pt>
                <c:pt idx="67">
                  <c:v>0.606</c:v>
                </c:pt>
                <c:pt idx="68">
                  <c:v>-0.8489</c:v>
                </c:pt>
                <c:pt idx="69">
                  <c:v>-0.9688</c:v>
                </c:pt>
              </c:numCache>
            </c:numRef>
          </c:xVal>
          <c:yVal>
            <c:numRef>
              <c:f>'Chart Data'!$B$2:$B$71</c:f>
              <c:numCache>
                <c:formatCode>0</c:formatCode>
                <c:ptCount val="70"/>
                <c:pt idx="0">
                  <c:v>0.3113</c:v>
                </c:pt>
                <c:pt idx="1">
                  <c:v>0.691</c:v>
                </c:pt>
                <c:pt idx="2">
                  <c:v>0.4993</c:v>
                </c:pt>
                <c:pt idx="3">
                  <c:v>0.4639</c:v>
                </c:pt>
                <c:pt idx="4">
                  <c:v>0.084</c:v>
                </c:pt>
                <c:pt idx="5">
                  <c:v>0.1873</c:v>
                </c:pt>
                <c:pt idx="6">
                  <c:v>-0.6583</c:v>
                </c:pt>
                <c:pt idx="7">
                  <c:v>-0.0378</c:v>
                </c:pt>
                <c:pt idx="8">
                  <c:v>0.1727</c:v>
                </c:pt>
                <c:pt idx="9">
                  <c:v>-0.4218</c:v>
                </c:pt>
                <c:pt idx="10">
                  <c:v>0.0055</c:v>
                </c:pt>
                <c:pt idx="11">
                  <c:v>-0.3703</c:v>
                </c:pt>
                <c:pt idx="12">
                  <c:v>-0.697</c:v>
                </c:pt>
                <c:pt idx="13">
                  <c:v>-0.2817</c:v>
                </c:pt>
                <c:pt idx="14">
                  <c:v>-0.5055</c:v>
                </c:pt>
                <c:pt idx="15">
                  <c:v>-0.0572</c:v>
                </c:pt>
                <c:pt idx="16">
                  <c:v>1.145</c:v>
                </c:pt>
                <c:pt idx="17">
                  <c:v>0.8223</c:v>
                </c:pt>
                <c:pt idx="18">
                  <c:v>-0.3839</c:v>
                </c:pt>
                <c:pt idx="19">
                  <c:v>-0.3315</c:v>
                </c:pt>
                <c:pt idx="20">
                  <c:v>-0.5894</c:v>
                </c:pt>
                <c:pt idx="21">
                  <c:v>-0.0492</c:v>
                </c:pt>
                <c:pt idx="22">
                  <c:v>-0.3233</c:v>
                </c:pt>
                <c:pt idx="23">
                  <c:v>0.9387</c:v>
                </c:pt>
                <c:pt idx="24">
                  <c:v>-0.2211</c:v>
                </c:pt>
                <c:pt idx="25">
                  <c:v>-0.366</c:v>
                </c:pt>
                <c:pt idx="26">
                  <c:v>0.442</c:v>
                </c:pt>
                <c:pt idx="27">
                  <c:v>-0.7759</c:v>
                </c:pt>
                <c:pt idx="28">
                  <c:v>-0.2244</c:v>
                </c:pt>
                <c:pt idx="29">
                  <c:v>-0.8548</c:v>
                </c:pt>
                <c:pt idx="30">
                  <c:v>-0.7801</c:v>
                </c:pt>
                <c:pt idx="31">
                  <c:v>-0.0124</c:v>
                </c:pt>
                <c:pt idx="32">
                  <c:v>-0.2292</c:v>
                </c:pt>
                <c:pt idx="33">
                  <c:v>0.1673</c:v>
                </c:pt>
                <c:pt idx="34">
                  <c:v>1.3171</c:v>
                </c:pt>
                <c:pt idx="35">
                  <c:v>0.0711</c:v>
                </c:pt>
                <c:pt idx="36">
                  <c:v>-0.9275</c:v>
                </c:pt>
                <c:pt idx="37">
                  <c:v>0.7836</c:v>
                </c:pt>
                <c:pt idx="38">
                  <c:v>0.1898</c:v>
                </c:pt>
                <c:pt idx="39">
                  <c:v>1.2958</c:v>
                </c:pt>
                <c:pt idx="40">
                  <c:v>-0.027</c:v>
                </c:pt>
                <c:pt idx="41">
                  <c:v>1.2773</c:v>
                </c:pt>
                <c:pt idx="42">
                  <c:v>-0.3033</c:v>
                </c:pt>
                <c:pt idx="43">
                  <c:v>0.0284</c:v>
                </c:pt>
                <c:pt idx="44">
                  <c:v>-1.4678</c:v>
                </c:pt>
                <c:pt idx="45">
                  <c:v>1.0582</c:v>
                </c:pt>
                <c:pt idx="46">
                  <c:v>-0.4154</c:v>
                </c:pt>
                <c:pt idx="47">
                  <c:v>-1.2676</c:v>
                </c:pt>
                <c:pt idx="48">
                  <c:v>0.0861</c:v>
                </c:pt>
                <c:pt idx="49">
                  <c:v>-0.7392</c:v>
                </c:pt>
                <c:pt idx="50">
                  <c:v>0.0707</c:v>
                </c:pt>
                <c:pt idx="51">
                  <c:v>-0.1308</c:v>
                </c:pt>
                <c:pt idx="52">
                  <c:v>0.3195</c:v>
                </c:pt>
                <c:pt idx="53">
                  <c:v>0.6858</c:v>
                </c:pt>
                <c:pt idx="54">
                  <c:v>-0.6245</c:v>
                </c:pt>
                <c:pt idx="55">
                  <c:v>0.1001</c:v>
                </c:pt>
                <c:pt idx="56">
                  <c:v>0.1185</c:v>
                </c:pt>
                <c:pt idx="57">
                  <c:v>0.1468</c:v>
                </c:pt>
                <c:pt idx="58">
                  <c:v>-0.5885</c:v>
                </c:pt>
                <c:pt idx="59">
                  <c:v>-0.3699</c:v>
                </c:pt>
                <c:pt idx="60">
                  <c:v>0.1692</c:v>
                </c:pt>
                <c:pt idx="61">
                  <c:v>0.0717</c:v>
                </c:pt>
                <c:pt idx="62">
                  <c:v>-0.1605</c:v>
                </c:pt>
                <c:pt idx="63">
                  <c:v>-0.3941</c:v>
                </c:pt>
                <c:pt idx="64">
                  <c:v>-0.0351</c:v>
                </c:pt>
                <c:pt idx="65">
                  <c:v>0.1552</c:v>
                </c:pt>
                <c:pt idx="66">
                  <c:v>-0.6441</c:v>
                </c:pt>
                <c:pt idx="67">
                  <c:v>0.7433</c:v>
                </c:pt>
                <c:pt idx="68">
                  <c:v>-0.5849</c:v>
                </c:pt>
                <c:pt idx="69">
                  <c:v>-0.9043</c:v>
                </c:pt>
              </c:numCache>
            </c:numRef>
          </c:yVal>
        </c:ser>
        <c:ser>
          <c:idx val="1"/>
          <c:order val="1"/>
          <c:tx>
            <c:v>新規入力</c:v>
          </c:tx>
          <c:spPr>
            <a:solidFill xmlns:a="http://schemas.openxmlformats.org/drawingml/2006/main">
              <a:srgbClr val="C17824"/>
            </a:solidFill>
            <a:ln xmlns:a="http://schemas.openxmlformats.org/drawingml/2006/main" w="0">
              <a:noFill/>
            </a:ln>
          </c:spPr>
          <c:marker>
            <c:symbol val="circle"/>
            <c:size val="10"/>
            <c:spPr>
              <a:noFill xmlns:a="http://schemas.openxmlformats.org/drawingml/2006/main"/>
            </c:spPr>
          </c:marker>
          <c:xVal>
            <c:numRef>
              <c:f>'Chart Data'!$C$2:$C$2</c:f>
              <c:numCache>
                <c:formatCode>General</c:formatCode>
                <c:ptCount val="1"/>
                <c:pt idx="0">
                  <c:v>-1.1</c:v>
                </c:pt>
              </c:numCache>
            </c:numRef>
          </c:xVal>
          <c:yVal>
            <c:numRef>
              <c:f>'Chart Data'!$D$2:$D$2</c:f>
              <c:numCache>
                <c:formatCode>0</c:formatCode>
                <c:ptCount val="1"/>
                <c:pt idx="0">
                  <c:v>1.1</c:v>
                </c:pt>
              </c:numCache>
            </c:numRef>
          </c:yVal>
        </c:ser>
        <c:axId val="48650112"/>
        <c:axId val="48672768"/>
      </c:scatterChart>
      <c:valAx>
        <c:axId val="48672768"/>
        <c:scaling>
          <c:orientation val="minMax"/>
          <c:max val="3"/>
          <c:min val="-3"/>
        </c:scaling>
        <c:delete val="0"/>
        <c:axPos val="l"/>
        <c:title>
          <c:tx>
            <c:rich>
              <a:bodyPr xmlns:a="http://schemas.openxmlformats.org/drawingml/2006/main"/>
              <a:lstStyle xmlns:a="http://schemas.openxmlformats.org/drawingml/2006/main"/>
              <a:p xmlns:a="http://schemas.openxmlformats.org/drawingml/2006/main">
                <a:r>
                  <a:rPr sz="1350">
                    <a:latin typeface="Meiryo"/>
                    <a:ea typeface="Meiryo"/>
                    <a:cs typeface="Meiryo"/>
                  </a:rPr>
                  <a:t>x₂</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eiryo"/>
                <a:ea typeface="Meiryo"/>
                <a:cs typeface="Meiryo"/>
              </a:defRPr>
            </a:pPr>
          </a:p>
        </c:txPr>
        <c:crossAx val="48650112"/>
        <c:majorUnit val="1"/>
      </c:valAx>
      <c:valAx>
        <c:axId val="48650112"/>
        <c:scaling>
          <c:orientation val="minMax"/>
          <c:max val="3"/>
          <c:min val="-3"/>
        </c:scaling>
        <c:delete val="0"/>
        <c:axPos val="b"/>
        <c:title>
          <c:tx>
            <c:rich>
              <a:bodyPr xmlns:a="http://schemas.openxmlformats.org/drawingml/2006/main"/>
              <a:lstStyle xmlns:a="http://schemas.openxmlformats.org/drawingml/2006/main"/>
              <a:p xmlns:a="http://schemas.openxmlformats.org/drawingml/2006/main">
                <a:r>
                  <a:rPr sz="1350">
                    <a:latin typeface="Meiryo"/>
                    <a:ea typeface="Meiryo"/>
                    <a:cs typeface="Meiryo"/>
                  </a:rPr>
                  <a:t>x₁</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eiryo"/>
                <a:ea typeface="Meiryo"/>
                <a:cs typeface="Meiryo"/>
              </a:defRPr>
            </a:pPr>
          </a:p>
        </c:txPr>
        <c:crossAx val="48672768"/>
        <c:majorUnit val="1"/>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訓練入力</c:v>
          </c:tx>
          <c:spPr>
            <a:solidFill xmlns:a="http://schemas.openxmlformats.org/drawingml/2006/main">
              <a:srgbClr val="007E87"/>
            </a:solidFill>
            <a:ln xmlns:a="http://schemas.openxmlformats.org/drawingml/2006/main" w="0">
              <a:noFill/>
            </a:ln>
          </c:spPr>
          <c:marker>
            <c:symbol val="circle"/>
            <c:size val="4"/>
            <c:spPr>
              <a:noFill xmlns:a="http://schemas.openxmlformats.org/drawingml/2006/main"/>
            </c:spPr>
          </c:marker>
          <c:xVal>
            <c:numRef>
              <c:f>'Chart Data'!$A$2:$A$46</c:f>
              <c:numCache>
                <c:formatCode>General</c:formatCode>
                <c:ptCount val="45"/>
                <c:pt idx="0">
                  <c:v>1</c:v>
                </c:pt>
                <c:pt idx="1">
                  <c:v>1.182</c:v>
                </c:pt>
                <c:pt idx="2">
                  <c:v>1.364</c:v>
                </c:pt>
                <c:pt idx="3">
                  <c:v>1.545</c:v>
                </c:pt>
                <c:pt idx="4">
                  <c:v>1.727</c:v>
                </c:pt>
                <c:pt idx="5">
                  <c:v>1.909</c:v>
                </c:pt>
                <c:pt idx="6">
                  <c:v>2.091</c:v>
                </c:pt>
                <c:pt idx="7">
                  <c:v>2.273</c:v>
                </c:pt>
                <c:pt idx="8">
                  <c:v>2.455</c:v>
                </c:pt>
                <c:pt idx="9">
                  <c:v>2.636</c:v>
                </c:pt>
                <c:pt idx="10">
                  <c:v>2.818</c:v>
                </c:pt>
                <c:pt idx="11">
                  <c:v>3</c:v>
                </c:pt>
                <c:pt idx="12">
                  <c:v>3.182</c:v>
                </c:pt>
                <c:pt idx="13">
                  <c:v>3.364</c:v>
                </c:pt>
                <c:pt idx="14">
                  <c:v>3.545</c:v>
                </c:pt>
                <c:pt idx="15">
                  <c:v>3.727</c:v>
                </c:pt>
                <c:pt idx="16">
                  <c:v>3.909</c:v>
                </c:pt>
                <c:pt idx="17">
                  <c:v>4.091</c:v>
                </c:pt>
                <c:pt idx="18">
                  <c:v>4.273</c:v>
                </c:pt>
                <c:pt idx="19">
                  <c:v>4.455</c:v>
                </c:pt>
                <c:pt idx="20">
                  <c:v>4.636</c:v>
                </c:pt>
                <c:pt idx="21">
                  <c:v>4.818</c:v>
                </c:pt>
                <c:pt idx="22">
                  <c:v>5</c:v>
                </c:pt>
                <c:pt idx="23">
                  <c:v>5.182</c:v>
                </c:pt>
                <c:pt idx="24">
                  <c:v>5.364</c:v>
                </c:pt>
                <c:pt idx="25">
                  <c:v>5.545</c:v>
                </c:pt>
                <c:pt idx="26">
                  <c:v>5.727</c:v>
                </c:pt>
                <c:pt idx="27">
                  <c:v>5.909</c:v>
                </c:pt>
                <c:pt idx="28">
                  <c:v>6.091</c:v>
                </c:pt>
                <c:pt idx="29">
                  <c:v>6.273</c:v>
                </c:pt>
                <c:pt idx="30">
                  <c:v>6.455</c:v>
                </c:pt>
                <c:pt idx="31">
                  <c:v>6.636</c:v>
                </c:pt>
                <c:pt idx="32">
                  <c:v>6.818</c:v>
                </c:pt>
                <c:pt idx="33">
                  <c:v>7</c:v>
                </c:pt>
                <c:pt idx="34">
                  <c:v>7.182</c:v>
                </c:pt>
                <c:pt idx="35">
                  <c:v>7.364</c:v>
                </c:pt>
                <c:pt idx="36">
                  <c:v>7.545</c:v>
                </c:pt>
                <c:pt idx="37">
                  <c:v>7.727</c:v>
                </c:pt>
                <c:pt idx="38">
                  <c:v>7.909</c:v>
                </c:pt>
                <c:pt idx="39">
                  <c:v>8.091</c:v>
                </c:pt>
                <c:pt idx="40">
                  <c:v>8.273</c:v>
                </c:pt>
                <c:pt idx="41">
                  <c:v>8.455</c:v>
                </c:pt>
                <c:pt idx="42">
                  <c:v>8.636</c:v>
                </c:pt>
                <c:pt idx="43">
                  <c:v>8.818</c:v>
                </c:pt>
                <c:pt idx="44">
                  <c:v>9</c:v>
                </c:pt>
              </c:numCache>
            </c:numRef>
          </c:xVal>
          <c:yVal>
            <c:numRef>
              <c:f>'Chart Data'!$B$2:$B$46</c:f>
              <c:numCache>
                <c:formatCode>0</c:formatCode>
                <c:ptCount val="45"/>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pt idx="15">
                  <c:v>5</c:v>
                </c:pt>
                <c:pt idx="16">
                  <c:v>5</c:v>
                </c:pt>
                <c:pt idx="17">
                  <c:v>5</c:v>
                </c:pt>
                <c:pt idx="18">
                  <c:v>5</c:v>
                </c:pt>
                <c:pt idx="19">
                  <c:v>5</c:v>
                </c:pt>
                <c:pt idx="20">
                  <c:v>5</c:v>
                </c:pt>
                <c:pt idx="21">
                  <c:v>5</c:v>
                </c:pt>
                <c:pt idx="22">
                  <c:v>5</c:v>
                </c:pt>
                <c:pt idx="23">
                  <c:v>5</c:v>
                </c:pt>
                <c:pt idx="24">
                  <c:v>5</c:v>
                </c:pt>
                <c:pt idx="25">
                  <c:v>5</c:v>
                </c:pt>
                <c:pt idx="26">
                  <c:v>5</c:v>
                </c:pt>
                <c:pt idx="27">
                  <c:v>5</c:v>
                </c:pt>
                <c:pt idx="28">
                  <c:v>5</c:v>
                </c:pt>
                <c:pt idx="29">
                  <c:v>5</c:v>
                </c:pt>
                <c:pt idx="30">
                  <c:v>5</c:v>
                </c:pt>
                <c:pt idx="31">
                  <c:v>5</c:v>
                </c:pt>
                <c:pt idx="32">
                  <c:v>5</c:v>
                </c:pt>
                <c:pt idx="33">
                  <c:v>5</c:v>
                </c:pt>
                <c:pt idx="34">
                  <c:v>5</c:v>
                </c:pt>
                <c:pt idx="35">
                  <c:v>5</c:v>
                </c:pt>
                <c:pt idx="36">
                  <c:v>5</c:v>
                </c:pt>
                <c:pt idx="37">
                  <c:v>5</c:v>
                </c:pt>
                <c:pt idx="38">
                  <c:v>5</c:v>
                </c:pt>
                <c:pt idx="39">
                  <c:v>5</c:v>
                </c:pt>
                <c:pt idx="40">
                  <c:v>5</c:v>
                </c:pt>
                <c:pt idx="41">
                  <c:v>5</c:v>
                </c:pt>
                <c:pt idx="42">
                  <c:v>5</c:v>
                </c:pt>
                <c:pt idx="43">
                  <c:v>5</c:v>
                </c:pt>
                <c:pt idx="44">
                  <c:v>5</c:v>
                </c:pt>
              </c:numCache>
            </c:numRef>
          </c:yVal>
        </c:ser>
        <c:ser>
          <c:idx val="1"/>
          <c:order val="1"/>
          <c:tx>
            <c:v>新規入力</c:v>
          </c:tx>
          <c:spPr>
            <a:solidFill xmlns:a="http://schemas.openxmlformats.org/drawingml/2006/main">
              <a:srgbClr val="C17824"/>
            </a:solidFill>
            <a:ln xmlns:a="http://schemas.openxmlformats.org/drawingml/2006/main" w="0">
              <a:noFill/>
            </a:ln>
          </c:spPr>
          <c:marker>
            <c:symbol val="circle"/>
            <c:size val="10"/>
            <c:spPr>
              <a:noFill xmlns:a="http://schemas.openxmlformats.org/drawingml/2006/main"/>
            </c:spPr>
          </c:marker>
          <c:xVal>
            <c:numRef>
              <c:f>'Chart Data'!$C$2:$C$2</c:f>
              <c:numCache>
                <c:formatCode>General</c:formatCode>
                <c:ptCount val="1"/>
                <c:pt idx="0">
                  <c:v>2</c:v>
                </c:pt>
              </c:numCache>
            </c:numRef>
          </c:xVal>
          <c:yVal>
            <c:numRef>
              <c:f>'Chart Data'!$D$2:$D$2</c:f>
              <c:numCache>
                <c:formatCode>0</c:formatCode>
                <c:ptCount val="1"/>
                <c:pt idx="0">
                  <c:v>5</c:v>
                </c:pt>
              </c:numCache>
            </c:numRef>
          </c:yVal>
        </c:ser>
        <c:axId val="48650112"/>
        <c:axId val="48672768"/>
      </c:scatterChart>
      <c:valAx>
        <c:axId val="48672768"/>
        <c:scaling>
          <c:orientation val="minMax"/>
          <c:max val="1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50112"/>
        <c:majorUnit val="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sz="1350">
                    <a:latin typeface="Meiryo"/>
                    <a:ea typeface="Meiryo"/>
                    <a:cs typeface="Meiryo"/>
                  </a:rPr>
                  <a:t>流量（任意単位）</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72768"/>
        <c:majorUnit val="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訓練入力</c:v>
          </c:tx>
          <c:spPr>
            <a:solidFill xmlns:a="http://schemas.openxmlformats.org/drawingml/2006/main">
              <a:srgbClr val="007E87"/>
            </a:solidFill>
            <a:ln xmlns:a="http://schemas.openxmlformats.org/drawingml/2006/main" w="0">
              <a:noFill/>
            </a:ln>
          </c:spPr>
          <c:marker>
            <c:symbol val="circle"/>
            <c:size val="4"/>
            <c:spPr>
              <a:noFill xmlns:a="http://schemas.openxmlformats.org/drawingml/2006/main"/>
            </c:spPr>
          </c:marker>
          <c:xVal>
            <c:numRef>
              <c:f>'Chart Data'!$A$2:$A$46</c:f>
              <c:numCache>
                <c:formatCode>General</c:formatCode>
                <c:ptCount val="45"/>
                <c:pt idx="0">
                  <c:v>1.8</c:v>
                </c:pt>
                <c:pt idx="1">
                  <c:v>2.031</c:v>
                </c:pt>
                <c:pt idx="2">
                  <c:v>1.936</c:v>
                </c:pt>
                <c:pt idx="3">
                  <c:v>2.43</c:v>
                </c:pt>
                <c:pt idx="4">
                  <c:v>2.186</c:v>
                </c:pt>
                <c:pt idx="5">
                  <c:v>2.688</c:v>
                </c:pt>
                <c:pt idx="6">
                  <c:v>2.578</c:v>
                </c:pt>
                <c:pt idx="7">
                  <c:v>2.828</c:v>
                </c:pt>
                <c:pt idx="8">
                  <c:v>3.04</c:v>
                </c:pt>
                <c:pt idx="9">
                  <c:v>2.961</c:v>
                </c:pt>
                <c:pt idx="10">
                  <c:v>3.446</c:v>
                </c:pt>
                <c:pt idx="11">
                  <c:v>3.202</c:v>
                </c:pt>
                <c:pt idx="12">
                  <c:v>3.712</c:v>
                </c:pt>
                <c:pt idx="13">
                  <c:v>3.588</c:v>
                </c:pt>
                <c:pt idx="14">
                  <c:v>3.857</c:v>
                </c:pt>
                <c:pt idx="15">
                  <c:v>4.049</c:v>
                </c:pt>
                <c:pt idx="16">
                  <c:v>3.986</c:v>
                </c:pt>
                <c:pt idx="17">
                  <c:v>4.461</c:v>
                </c:pt>
                <c:pt idx="18">
                  <c:v>4.219</c:v>
                </c:pt>
                <c:pt idx="19">
                  <c:v>4.736</c:v>
                </c:pt>
                <c:pt idx="20">
                  <c:v>4.597</c:v>
                </c:pt>
                <c:pt idx="21">
                  <c:v>4.885</c:v>
                </c:pt>
                <c:pt idx="22">
                  <c:v>5.057</c:v>
                </c:pt>
                <c:pt idx="23">
                  <c:v>5.012</c:v>
                </c:pt>
                <c:pt idx="24">
                  <c:v>5.475</c:v>
                </c:pt>
                <c:pt idx="25">
                  <c:v>5.237</c:v>
                </c:pt>
                <c:pt idx="26">
                  <c:v>5.759</c:v>
                </c:pt>
                <c:pt idx="27">
                  <c:v>5.607</c:v>
                </c:pt>
                <c:pt idx="28">
                  <c:v>5.913</c:v>
                </c:pt>
                <c:pt idx="29">
                  <c:v>6.066</c:v>
                </c:pt>
                <c:pt idx="30">
                  <c:v>6.038</c:v>
                </c:pt>
                <c:pt idx="31">
                  <c:v>6.489</c:v>
                </c:pt>
                <c:pt idx="32">
                  <c:v>6.255</c:v>
                </c:pt>
                <c:pt idx="33">
                  <c:v>6.781</c:v>
                </c:pt>
                <c:pt idx="34">
                  <c:v>6.618</c:v>
                </c:pt>
                <c:pt idx="35">
                  <c:v>6.941</c:v>
                </c:pt>
                <c:pt idx="36">
                  <c:v>7.074</c:v>
                </c:pt>
                <c:pt idx="37">
                  <c:v>7.064</c:v>
                </c:pt>
                <c:pt idx="38">
                  <c:v>7.503</c:v>
                </c:pt>
                <c:pt idx="39">
                  <c:v>7.273</c:v>
                </c:pt>
                <c:pt idx="40">
                  <c:v>7.804</c:v>
                </c:pt>
                <c:pt idx="41">
                  <c:v>7.628</c:v>
                </c:pt>
                <c:pt idx="42">
                  <c:v>7.969</c:v>
                </c:pt>
                <c:pt idx="43">
                  <c:v>8.082</c:v>
                </c:pt>
                <c:pt idx="44">
                  <c:v>8.09</c:v>
                </c:pt>
              </c:numCache>
            </c:numRef>
          </c:xVal>
          <c:yVal>
            <c:numRef>
              <c:f>'Chart Data'!$B$2:$B$46</c:f>
              <c:numCache>
                <c:formatCode>0</c:formatCode>
                <c:ptCount val="45"/>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pt idx="15">
                  <c:v>5</c:v>
                </c:pt>
                <c:pt idx="16">
                  <c:v>5</c:v>
                </c:pt>
                <c:pt idx="17">
                  <c:v>5</c:v>
                </c:pt>
                <c:pt idx="18">
                  <c:v>5</c:v>
                </c:pt>
                <c:pt idx="19">
                  <c:v>5</c:v>
                </c:pt>
                <c:pt idx="20">
                  <c:v>5</c:v>
                </c:pt>
                <c:pt idx="21">
                  <c:v>5</c:v>
                </c:pt>
                <c:pt idx="22">
                  <c:v>5</c:v>
                </c:pt>
                <c:pt idx="23">
                  <c:v>5</c:v>
                </c:pt>
                <c:pt idx="24">
                  <c:v>5</c:v>
                </c:pt>
                <c:pt idx="25">
                  <c:v>5</c:v>
                </c:pt>
                <c:pt idx="26">
                  <c:v>5</c:v>
                </c:pt>
                <c:pt idx="27">
                  <c:v>5</c:v>
                </c:pt>
                <c:pt idx="28">
                  <c:v>5</c:v>
                </c:pt>
                <c:pt idx="29">
                  <c:v>5</c:v>
                </c:pt>
                <c:pt idx="30">
                  <c:v>5</c:v>
                </c:pt>
                <c:pt idx="31">
                  <c:v>5</c:v>
                </c:pt>
                <c:pt idx="32">
                  <c:v>5</c:v>
                </c:pt>
                <c:pt idx="33">
                  <c:v>5</c:v>
                </c:pt>
                <c:pt idx="34">
                  <c:v>5</c:v>
                </c:pt>
                <c:pt idx="35">
                  <c:v>5</c:v>
                </c:pt>
                <c:pt idx="36">
                  <c:v>5</c:v>
                </c:pt>
                <c:pt idx="37">
                  <c:v>5</c:v>
                </c:pt>
                <c:pt idx="38">
                  <c:v>5</c:v>
                </c:pt>
                <c:pt idx="39">
                  <c:v>5</c:v>
                </c:pt>
                <c:pt idx="40">
                  <c:v>5</c:v>
                </c:pt>
                <c:pt idx="41">
                  <c:v>5</c:v>
                </c:pt>
                <c:pt idx="42">
                  <c:v>5</c:v>
                </c:pt>
                <c:pt idx="43">
                  <c:v>5</c:v>
                </c:pt>
                <c:pt idx="44">
                  <c:v>5</c:v>
                </c:pt>
              </c:numCache>
            </c:numRef>
          </c:yVal>
        </c:ser>
        <c:ser>
          <c:idx val="1"/>
          <c:order val="1"/>
          <c:tx>
            <c:v>新規入力</c:v>
          </c:tx>
          <c:spPr>
            <a:solidFill xmlns:a="http://schemas.openxmlformats.org/drawingml/2006/main">
              <a:srgbClr val="C17824"/>
            </a:solidFill>
            <a:ln xmlns:a="http://schemas.openxmlformats.org/drawingml/2006/main" w="0">
              <a:noFill/>
            </a:ln>
          </c:spPr>
          <c:marker>
            <c:symbol val="circle"/>
            <c:size val="10"/>
            <c:spPr>
              <a:noFill xmlns:a="http://schemas.openxmlformats.org/drawingml/2006/main"/>
            </c:spPr>
          </c:marker>
          <c:xVal>
            <c:numRef>
              <c:f>'Chart Data'!$C$2:$C$2</c:f>
              <c:numCache>
                <c:formatCode>General</c:formatCode>
                <c:ptCount val="1"/>
                <c:pt idx="0">
                  <c:v>8</c:v>
                </c:pt>
              </c:numCache>
            </c:numRef>
          </c:xVal>
          <c:yVal>
            <c:numRef>
              <c:f>'Chart Data'!$D$2:$D$2</c:f>
              <c:numCache>
                <c:formatCode>0</c:formatCode>
                <c:ptCount val="1"/>
                <c:pt idx="0">
                  <c:v>5</c:v>
                </c:pt>
              </c:numCache>
            </c:numRef>
          </c:yVal>
        </c:ser>
        <c:axId val="48650112"/>
        <c:axId val="48672768"/>
      </c:scatterChart>
      <c:valAx>
        <c:axId val="48672768"/>
        <c:scaling>
          <c:orientation val="minMax"/>
          <c:max val="1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50112"/>
        <c:majorUnit val="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sz="1350">
                    <a:latin typeface="Meiryo"/>
                    <a:ea typeface="Meiryo"/>
                    <a:cs typeface="Meiryo"/>
                  </a:rPr>
                  <a:t>圧力（任意単位）</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72768"/>
        <c:majorUnit val="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訓練入力</c:v>
          </c:tx>
          <c:spPr>
            <a:solidFill xmlns:a="http://schemas.openxmlformats.org/drawingml/2006/main">
              <a:srgbClr val="007E87"/>
            </a:solidFill>
            <a:ln xmlns:a="http://schemas.openxmlformats.org/drawingml/2006/main" w="0">
              <a:noFill/>
            </a:ln>
          </c:spPr>
          <c:marker>
            <c:symbol val="circle"/>
            <c:size val="5"/>
            <c:spPr>
              <a:noFill xmlns:a="http://schemas.openxmlformats.org/drawingml/2006/main"/>
            </c:spPr>
          </c:marker>
          <c:xVal>
            <c:numRef>
              <c:f>'Chart Data'!$A$2:$A$46</c:f>
              <c:numCache>
                <c:formatCode>General</c:formatCode>
                <c:ptCount val="45"/>
                <c:pt idx="0">
                  <c:v>1</c:v>
                </c:pt>
                <c:pt idx="1">
                  <c:v>1.182</c:v>
                </c:pt>
                <c:pt idx="2">
                  <c:v>1.364</c:v>
                </c:pt>
                <c:pt idx="3">
                  <c:v>1.545</c:v>
                </c:pt>
                <c:pt idx="4">
                  <c:v>1.727</c:v>
                </c:pt>
                <c:pt idx="5">
                  <c:v>1.909</c:v>
                </c:pt>
                <c:pt idx="6">
                  <c:v>2.091</c:v>
                </c:pt>
                <c:pt idx="7">
                  <c:v>2.273</c:v>
                </c:pt>
                <c:pt idx="8">
                  <c:v>2.455</c:v>
                </c:pt>
                <c:pt idx="9">
                  <c:v>2.636</c:v>
                </c:pt>
                <c:pt idx="10">
                  <c:v>2.818</c:v>
                </c:pt>
                <c:pt idx="11">
                  <c:v>3</c:v>
                </c:pt>
                <c:pt idx="12">
                  <c:v>3.182</c:v>
                </c:pt>
                <c:pt idx="13">
                  <c:v>3.364</c:v>
                </c:pt>
                <c:pt idx="14">
                  <c:v>3.545</c:v>
                </c:pt>
                <c:pt idx="15">
                  <c:v>3.727</c:v>
                </c:pt>
                <c:pt idx="16">
                  <c:v>3.909</c:v>
                </c:pt>
                <c:pt idx="17">
                  <c:v>4.091</c:v>
                </c:pt>
                <c:pt idx="18">
                  <c:v>4.273</c:v>
                </c:pt>
                <c:pt idx="19">
                  <c:v>4.455</c:v>
                </c:pt>
                <c:pt idx="20">
                  <c:v>4.636</c:v>
                </c:pt>
                <c:pt idx="21">
                  <c:v>4.818</c:v>
                </c:pt>
                <c:pt idx="22">
                  <c:v>5</c:v>
                </c:pt>
                <c:pt idx="23">
                  <c:v>5.182</c:v>
                </c:pt>
                <c:pt idx="24">
                  <c:v>5.364</c:v>
                </c:pt>
                <c:pt idx="25">
                  <c:v>5.545</c:v>
                </c:pt>
                <c:pt idx="26">
                  <c:v>5.727</c:v>
                </c:pt>
                <c:pt idx="27">
                  <c:v>5.909</c:v>
                </c:pt>
                <c:pt idx="28">
                  <c:v>6.091</c:v>
                </c:pt>
                <c:pt idx="29">
                  <c:v>6.273</c:v>
                </c:pt>
                <c:pt idx="30">
                  <c:v>6.455</c:v>
                </c:pt>
                <c:pt idx="31">
                  <c:v>6.636</c:v>
                </c:pt>
                <c:pt idx="32">
                  <c:v>6.818</c:v>
                </c:pt>
                <c:pt idx="33">
                  <c:v>7</c:v>
                </c:pt>
                <c:pt idx="34">
                  <c:v>7.182</c:v>
                </c:pt>
                <c:pt idx="35">
                  <c:v>7.364</c:v>
                </c:pt>
                <c:pt idx="36">
                  <c:v>7.545</c:v>
                </c:pt>
                <c:pt idx="37">
                  <c:v>7.727</c:v>
                </c:pt>
                <c:pt idx="38">
                  <c:v>7.909</c:v>
                </c:pt>
                <c:pt idx="39">
                  <c:v>8.091</c:v>
                </c:pt>
                <c:pt idx="40">
                  <c:v>8.273</c:v>
                </c:pt>
                <c:pt idx="41">
                  <c:v>8.455</c:v>
                </c:pt>
                <c:pt idx="42">
                  <c:v>8.636</c:v>
                </c:pt>
                <c:pt idx="43">
                  <c:v>8.818</c:v>
                </c:pt>
                <c:pt idx="44">
                  <c:v>9</c:v>
                </c:pt>
              </c:numCache>
            </c:numRef>
          </c:xVal>
          <c:yVal>
            <c:numRef>
              <c:f>'Chart Data'!$B$2:$B$46</c:f>
              <c:numCache>
                <c:formatCode>0</c:formatCode>
                <c:ptCount val="45"/>
                <c:pt idx="0">
                  <c:v>1.8</c:v>
                </c:pt>
                <c:pt idx="1">
                  <c:v>2.031</c:v>
                </c:pt>
                <c:pt idx="2">
                  <c:v>1.936</c:v>
                </c:pt>
                <c:pt idx="3">
                  <c:v>2.43</c:v>
                </c:pt>
                <c:pt idx="4">
                  <c:v>2.186</c:v>
                </c:pt>
                <c:pt idx="5">
                  <c:v>2.688</c:v>
                </c:pt>
                <c:pt idx="6">
                  <c:v>2.578</c:v>
                </c:pt>
                <c:pt idx="7">
                  <c:v>2.828</c:v>
                </c:pt>
                <c:pt idx="8">
                  <c:v>3.04</c:v>
                </c:pt>
                <c:pt idx="9">
                  <c:v>2.961</c:v>
                </c:pt>
                <c:pt idx="10">
                  <c:v>3.446</c:v>
                </c:pt>
                <c:pt idx="11">
                  <c:v>3.202</c:v>
                </c:pt>
                <c:pt idx="12">
                  <c:v>3.712</c:v>
                </c:pt>
                <c:pt idx="13">
                  <c:v>3.588</c:v>
                </c:pt>
                <c:pt idx="14">
                  <c:v>3.857</c:v>
                </c:pt>
                <c:pt idx="15">
                  <c:v>4.049</c:v>
                </c:pt>
                <c:pt idx="16">
                  <c:v>3.986</c:v>
                </c:pt>
                <c:pt idx="17">
                  <c:v>4.461</c:v>
                </c:pt>
                <c:pt idx="18">
                  <c:v>4.219</c:v>
                </c:pt>
                <c:pt idx="19">
                  <c:v>4.736</c:v>
                </c:pt>
                <c:pt idx="20">
                  <c:v>4.597</c:v>
                </c:pt>
                <c:pt idx="21">
                  <c:v>4.885</c:v>
                </c:pt>
                <c:pt idx="22">
                  <c:v>5.057</c:v>
                </c:pt>
                <c:pt idx="23">
                  <c:v>5.012</c:v>
                </c:pt>
                <c:pt idx="24">
                  <c:v>5.475</c:v>
                </c:pt>
                <c:pt idx="25">
                  <c:v>5.237</c:v>
                </c:pt>
                <c:pt idx="26">
                  <c:v>5.759</c:v>
                </c:pt>
                <c:pt idx="27">
                  <c:v>5.607</c:v>
                </c:pt>
                <c:pt idx="28">
                  <c:v>5.913</c:v>
                </c:pt>
                <c:pt idx="29">
                  <c:v>6.066</c:v>
                </c:pt>
                <c:pt idx="30">
                  <c:v>6.038</c:v>
                </c:pt>
                <c:pt idx="31">
                  <c:v>6.489</c:v>
                </c:pt>
                <c:pt idx="32">
                  <c:v>6.255</c:v>
                </c:pt>
                <c:pt idx="33">
                  <c:v>6.781</c:v>
                </c:pt>
                <c:pt idx="34">
                  <c:v>6.618</c:v>
                </c:pt>
                <c:pt idx="35">
                  <c:v>6.941</c:v>
                </c:pt>
                <c:pt idx="36">
                  <c:v>7.074</c:v>
                </c:pt>
                <c:pt idx="37">
                  <c:v>7.064</c:v>
                </c:pt>
                <c:pt idx="38">
                  <c:v>7.503</c:v>
                </c:pt>
                <c:pt idx="39">
                  <c:v>7.273</c:v>
                </c:pt>
                <c:pt idx="40">
                  <c:v>7.804</c:v>
                </c:pt>
                <c:pt idx="41">
                  <c:v>7.628</c:v>
                </c:pt>
                <c:pt idx="42">
                  <c:v>7.969</c:v>
                </c:pt>
                <c:pt idx="43">
                  <c:v>8.082</c:v>
                </c:pt>
                <c:pt idx="44">
                  <c:v>8.09</c:v>
                </c:pt>
              </c:numCache>
            </c:numRef>
          </c:yVal>
        </c:ser>
        <c:ser>
          <c:idx val="1"/>
          <c:order val="1"/>
          <c:tx>
            <c:v>流量の位置</c:v>
          </c:tx>
          <c:spPr>
            <a:ln xmlns:a="http://schemas.openxmlformats.org/drawingml/2006/main" w="9525">
              <a:solidFill>
                <a:srgbClr val="B0B8BD"/>
              </a:solidFill>
              <a:prstDash val="dash"/>
            </a:ln>
          </c:spPr>
          <c:marker>
            <c:symbol val="none"/>
            <c:size val="2"/>
          </c:marker>
          <c:xVal>
            <c:numRef>
              <c:f>'Chart Data'!$C$2:$C$3</c:f>
              <c:numCache>
                <c:formatCode>General</c:formatCode>
                <c:ptCount val="2"/>
                <c:pt idx="0">
                  <c:v>2</c:v>
                </c:pt>
                <c:pt idx="1">
                  <c:v>2</c:v>
                </c:pt>
              </c:numCache>
            </c:numRef>
          </c:xVal>
          <c:yVal>
            <c:numRef>
              <c:f>'Chart Data'!$D$2:$D$3</c:f>
              <c:numCache>
                <c:formatCode>0</c:formatCode>
                <c:ptCount val="2"/>
                <c:pt idx="0">
                  <c:v>0</c:v>
                </c:pt>
                <c:pt idx="1">
                  <c:v>8</c:v>
                </c:pt>
              </c:numCache>
            </c:numRef>
          </c:yVal>
        </c:ser>
        <c:ser>
          <c:idx val="2"/>
          <c:order val="2"/>
          <c:tx>
            <c:v>圧力の位置</c:v>
          </c:tx>
          <c:spPr>
            <a:ln xmlns:a="http://schemas.openxmlformats.org/drawingml/2006/main" w="9525">
              <a:solidFill>
                <a:srgbClr val="B0B8BD"/>
              </a:solidFill>
              <a:prstDash val="dash"/>
            </a:ln>
          </c:spPr>
          <c:marker>
            <c:symbol val="none"/>
            <c:size val="2"/>
          </c:marker>
          <c:xVal>
            <c:numRef>
              <c:f>'Chart Data'!$E$2:$E$3</c:f>
              <c:numCache>
                <c:formatCode>General</c:formatCode>
                <c:ptCount val="2"/>
                <c:pt idx="0">
                  <c:v>0</c:v>
                </c:pt>
                <c:pt idx="1">
                  <c:v>2</c:v>
                </c:pt>
              </c:numCache>
            </c:numRef>
          </c:xVal>
          <c:yVal>
            <c:numRef>
              <c:f>'Chart Data'!$F$2:$F$3</c:f>
              <c:numCache>
                <c:formatCode>0</c:formatCode>
                <c:ptCount val="2"/>
                <c:pt idx="0">
                  <c:v>8</c:v>
                </c:pt>
                <c:pt idx="1">
                  <c:v>8</c:v>
                </c:pt>
              </c:numCache>
            </c:numRef>
          </c:yVal>
        </c:ser>
        <c:ser>
          <c:idx val="3"/>
          <c:order val="3"/>
          <c:tx>
            <c:v>新規入力</c:v>
          </c:tx>
          <c:spPr>
            <a:solidFill xmlns:a="http://schemas.openxmlformats.org/drawingml/2006/main">
              <a:srgbClr val="C17824"/>
            </a:solidFill>
            <a:ln xmlns:a="http://schemas.openxmlformats.org/drawingml/2006/main" w="0">
              <a:noFill/>
            </a:ln>
          </c:spPr>
          <c:marker>
            <c:symbol val="circle"/>
            <c:size val="11"/>
            <c:spPr>
              <a:noFill xmlns:a="http://schemas.openxmlformats.org/drawingml/2006/main"/>
            </c:spPr>
          </c:marker>
          <c:xVal>
            <c:numRef>
              <c:f>'Chart Data'!$G$2:$G$2</c:f>
              <c:numCache>
                <c:formatCode>General</c:formatCode>
                <c:ptCount val="1"/>
                <c:pt idx="0">
                  <c:v>2</c:v>
                </c:pt>
              </c:numCache>
            </c:numRef>
          </c:xVal>
          <c:yVal>
            <c:numRef>
              <c:f>'Chart Data'!$H$2:$H$2</c:f>
              <c:numCache>
                <c:formatCode>0</c:formatCode>
                <c:ptCount val="1"/>
                <c:pt idx="0">
                  <c:v>8</c:v>
                </c:pt>
              </c:numCache>
            </c:numRef>
          </c:yVal>
        </c:ser>
        <c:axId val="48650112"/>
        <c:axId val="48672768"/>
      </c:scatterChart>
      <c:valAx>
        <c:axId val="48672768"/>
        <c:scaling>
          <c:orientation val="minMax"/>
          <c:max val="10"/>
          <c:min val="0"/>
        </c:scaling>
        <c:delete val="0"/>
        <c:axPos val="l"/>
        <c:title>
          <c:tx>
            <c:rich>
              <a:bodyPr xmlns:a="http://schemas.openxmlformats.org/drawingml/2006/main"/>
              <a:lstStyle xmlns:a="http://schemas.openxmlformats.org/drawingml/2006/main"/>
              <a:p xmlns:a="http://schemas.openxmlformats.org/drawingml/2006/main">
                <a:r>
                  <a:rPr sz="1350">
                    <a:latin typeface="Meiryo"/>
                    <a:ea typeface="Meiryo"/>
                    <a:cs typeface="Meiryo"/>
                  </a:rPr>
                  <a:t>圧力（任意単位）</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50112"/>
        <c:majorUnit val="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sz="1350">
                    <a:latin typeface="Meiryo"/>
                    <a:ea typeface="Meiryo"/>
                    <a:cs typeface="Meiryo"/>
                  </a:rPr>
                  <a:t>流量（任意単位）</a:t>
                </a:r>
              </a:p>
            </c:rich>
          </c:tx>
          <c:overlay val="0"/>
          <c:txPr>
            <a:bodyPr xmlns:a="http://schemas.openxmlformats.org/drawingml/2006/main" anchorCtr="1"/>
            <a:lstStyle xmlns:a="http://schemas.openxmlformats.org/drawingml/2006/main"/>
            <a:p xmlns:a="http://schemas.openxmlformats.org/drawingml/2006/main">
              <a:pPr>
                <a:defRPr sz="1350">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72768"/>
        <c:majorUnit val="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入力</c:v>
          </c:tx>
          <c:spPr>
            <a:solidFill xmlns:a="http://schemas.openxmlformats.org/drawingml/2006/main">
              <a:srgbClr val="08273C"/>
            </a:solidFill>
          </c:spPr>
          <c:cat>
            <c:strRef>
              <c:f>'Chart Data'!$A$2:$A$5</c:f>
              <c:strCache>
                <c:ptCount val="4"/>
                <c:pt idx="0">
                  <c:v>x₁</c:v>
                </c:pt>
                <c:pt idx="1">
                  <c:v>x₂</c:v>
                </c:pt>
                <c:pt idx="2">
                  <c:v>x₃</c:v>
                </c:pt>
                <c:pt idx="3">
                  <c:v>x₄</c:v>
                </c:pt>
              </c:strCache>
            </c:strRef>
          </c:cat>
          <c:val>
            <c:numRef>
              <c:f>'Chart Data'!$B$2:$B$5</c:f>
              <c:numCache>
                <c:formatCode>0.0</c:formatCode>
                <c:ptCount val="4"/>
                <c:pt idx="0">
                  <c:v>0.2</c:v>
                </c:pt>
                <c:pt idx="1">
                  <c:v>0.8</c:v>
                </c:pt>
                <c:pt idx="2">
                  <c:v>0.4</c:v>
                </c:pt>
                <c:pt idx="3">
                  <c:v>0.6</c:v>
                </c:pt>
              </c:numCache>
            </c:numRef>
          </c:val>
        </c:ser>
        <c:ser>
          <c:idx val="1"/>
          <c:order val="1"/>
          <c:tx>
            <c:v>再構成</c:v>
          </c:tx>
          <c:spPr>
            <a:solidFill xmlns:a="http://schemas.openxmlformats.org/drawingml/2006/main">
              <a:srgbClr val="3DBAB9"/>
            </a:solidFill>
          </c:spPr>
          <c:cat>
            <c:strRef>
              <c:f>'Chart Data'!$C$2:$C$5</c:f>
              <c:strCache>
                <c:ptCount val="4"/>
                <c:pt idx="0">
                  <c:v>x₁</c:v>
                </c:pt>
                <c:pt idx="1">
                  <c:v>x₂</c:v>
                </c:pt>
                <c:pt idx="2">
                  <c:v>x₃</c:v>
                </c:pt>
                <c:pt idx="3">
                  <c:v>x₄</c:v>
                </c:pt>
              </c:strCache>
            </c:strRef>
          </c:cat>
          <c:val>
            <c:numRef>
              <c:f>'Chart Data'!$D$2:$D$5</c:f>
              <c:numCache>
                <c:formatCode>0.0</c:formatCode>
                <c:ptCount val="4"/>
                <c:pt idx="0">
                  <c:v>0.22</c:v>
                </c:pt>
                <c:pt idx="1">
                  <c:v>0.77</c:v>
                </c:pt>
                <c:pt idx="2">
                  <c:v>0.42</c:v>
                </c:pt>
                <c:pt idx="3">
                  <c:v>0.57</c:v>
                </c:pt>
              </c:numCache>
            </c:numRef>
          </c:val>
        </c:ser>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Meiryo"/>
                <a:ea typeface="Meiryo"/>
                <a:cs typeface="Meiryo"/>
              </a:defRPr>
            </a:pPr>
          </a:p>
        </c:txPr>
        <c:crossAx val="48650112"/>
        <c:crossBetween val="between"/>
        <c:majorUnit val="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入力</c:v>
          </c:tx>
          <c:spPr>
            <a:solidFill xmlns:a="http://schemas.openxmlformats.org/drawingml/2006/main">
              <a:srgbClr val="08273C"/>
            </a:solidFill>
          </c:spPr>
          <c:cat>
            <c:strRef>
              <c:f>'Chart Data'!$A$2:$A$5</c:f>
              <c:strCache>
                <c:ptCount val="4"/>
                <c:pt idx="0">
                  <c:v>x₁</c:v>
                </c:pt>
                <c:pt idx="1">
                  <c:v>x₂</c:v>
                </c:pt>
                <c:pt idx="2">
                  <c:v>x₃</c:v>
                </c:pt>
                <c:pt idx="3">
                  <c:v>x₄</c:v>
                </c:pt>
              </c:strCache>
            </c:strRef>
          </c:cat>
          <c:val>
            <c:numRef>
              <c:f>'Chart Data'!$B$2:$B$5</c:f>
              <c:numCache>
                <c:formatCode>0.0</c:formatCode>
                <c:ptCount val="4"/>
                <c:pt idx="0">
                  <c:v>0.2</c:v>
                </c:pt>
                <c:pt idx="1">
                  <c:v>0.2</c:v>
                </c:pt>
                <c:pt idx="2">
                  <c:v>0.9</c:v>
                </c:pt>
                <c:pt idx="3">
                  <c:v>0.6</c:v>
                </c:pt>
              </c:numCache>
            </c:numRef>
          </c:val>
        </c:ser>
        <c:ser>
          <c:idx val="1"/>
          <c:order val="1"/>
          <c:tx>
            <c:v>再構成</c:v>
          </c:tx>
          <c:spPr>
            <a:solidFill xmlns:a="http://schemas.openxmlformats.org/drawingml/2006/main">
              <a:srgbClr val="3DBAB9"/>
            </a:solidFill>
          </c:spPr>
          <c:cat>
            <c:strRef>
              <c:f>'Chart Data'!$C$2:$C$5</c:f>
              <c:strCache>
                <c:ptCount val="4"/>
                <c:pt idx="0">
                  <c:v>x₁</c:v>
                </c:pt>
                <c:pt idx="1">
                  <c:v>x₂</c:v>
                </c:pt>
                <c:pt idx="2">
                  <c:v>x₃</c:v>
                </c:pt>
                <c:pt idx="3">
                  <c:v>x₄</c:v>
                </c:pt>
              </c:strCache>
            </c:strRef>
          </c:cat>
          <c:val>
            <c:numRef>
              <c:f>'Chart Data'!$D$2:$D$5</c:f>
              <c:numCache>
                <c:formatCode>0.0</c:formatCode>
                <c:ptCount val="4"/>
                <c:pt idx="0">
                  <c:v>0.22</c:v>
                </c:pt>
                <c:pt idx="1">
                  <c:v>0.77</c:v>
                </c:pt>
                <c:pt idx="2">
                  <c:v>0.42</c:v>
                </c:pt>
                <c:pt idx="3">
                  <c:v>0.57</c:v>
                </c:pt>
              </c:numCache>
            </c:numRef>
          </c:val>
        </c:ser>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eiryo"/>
                <a:ea typeface="Meiryo"/>
                <a:cs typeface="Meiryo"/>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Meiryo"/>
                <a:ea typeface="Meiryo"/>
                <a:cs typeface="Meiryo"/>
              </a:defRPr>
            </a:pPr>
          </a:p>
        </c:txPr>
        <c:crossAx val="48650112"/>
        <c:crossBetween val="between"/>
        <c:majorUnit val="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PCA</c:v>
          </c:tx>
          <c:spPr>
            <a:solidFill xmlns:a="http://schemas.openxmlformats.org/drawingml/2006/main">
              <a:srgbClr val="94A7B4"/>
            </a:solidFill>
          </c:spPr>
          <c:cat>
            <c:strRef>
              <c:f>'Chart Data'!$A$2:$A$4</c:f>
              <c:strCache>
                <c:ptCount val="3"/>
                <c:pt idx="0">
                  <c:v>Lorenz</c:v>
                </c:pt>
                <c:pt idx="1">
                  <c:v>Satellite-A</c:v>
                </c:pt>
                <c:pt idx="2">
                  <c:v>Satellite-B</c:v>
                </c:pt>
              </c:strCache>
            </c:strRef>
          </c:cat>
          <c:val>
            <c:numRef>
              <c:f>'Chart Data'!$B$2:$B$4</c:f>
              <c:numCache>
                <c:formatCode>0.0</c:formatCode>
                <c:ptCount val="3"/>
                <c:pt idx="0">
                  <c:v>0.5104</c:v>
                </c:pt>
                <c:pt idx="1">
                  <c:v>0.8852</c:v>
                </c:pt>
                <c:pt idx="2">
                  <c:v>0.9764</c:v>
                </c:pt>
              </c:numCache>
            </c:numRef>
          </c:val>
        </c:ser>
        <c:ser>
          <c:idx val="1"/>
          <c:order val="1"/>
          <c:tx>
            <c:v>AE</c:v>
          </c:tx>
          <c:spPr>
            <a:solidFill xmlns:a="http://schemas.openxmlformats.org/drawingml/2006/main">
              <a:srgbClr val="235C7B"/>
            </a:solidFill>
          </c:spPr>
          <c:cat>
            <c:strRef>
              <c:f>'Chart Data'!$C$2:$C$4</c:f>
              <c:strCache>
                <c:ptCount val="3"/>
                <c:pt idx="0">
                  <c:v>Lorenz</c:v>
                </c:pt>
                <c:pt idx="1">
                  <c:v>Satellite-A</c:v>
                </c:pt>
                <c:pt idx="2">
                  <c:v>Satellite-B</c:v>
                </c:pt>
              </c:strCache>
            </c:strRef>
          </c:cat>
          <c:val>
            <c:numRef>
              <c:f>'Chart Data'!$D$2:$D$4</c:f>
              <c:numCache>
                <c:formatCode>0.0</c:formatCode>
                <c:ptCount val="3"/>
                <c:pt idx="0">
                  <c:v>0.6473</c:v>
                </c:pt>
                <c:pt idx="1">
                  <c:v>0.8847</c:v>
                </c:pt>
                <c:pt idx="2">
                  <c:v>0.9763</c:v>
                </c:pt>
              </c:numCache>
            </c:numRef>
          </c:val>
        </c:ser>
        <c:ser>
          <c:idx val="2"/>
          <c:order val="2"/>
          <c:tx>
            <c:v>ノイズ除去AE</c:v>
          </c:tx>
          <c:spPr>
            <a:solidFill xmlns:a="http://schemas.openxmlformats.org/drawingml/2006/main">
              <a:srgbClr val="00A2A5"/>
            </a:solidFill>
          </c:spPr>
          <c:cat>
            <c:strRef>
              <c:f>'Chart Data'!$E$2:$E$4</c:f>
              <c:strCache>
                <c:ptCount val="3"/>
                <c:pt idx="0">
                  <c:v>Lorenz</c:v>
                </c:pt>
                <c:pt idx="1">
                  <c:v>Satellite-A</c:v>
                </c:pt>
                <c:pt idx="2">
                  <c:v>Satellite-B</c:v>
                </c:pt>
              </c:strCache>
            </c:strRef>
          </c:cat>
          <c:val>
            <c:numRef>
              <c:f>'Chart Data'!$F$2:$F$4</c:f>
              <c:numCache>
                <c:formatCode>0.0</c:formatCode>
                <c:ptCount val="3"/>
                <c:pt idx="0">
                  <c:v>0.7011</c:v>
                </c:pt>
                <c:pt idx="1">
                  <c:v>0.9354</c:v>
                </c:pt>
                <c:pt idx="2">
                  <c:v>0.8355</c:v>
                </c:pt>
              </c:numCache>
            </c:numRef>
          </c:val>
        </c:ser>
        <c:ser>
          <c:idx val="3"/>
          <c:order val="3"/>
          <c:tx>
            <c:v>Kernel PCA</c:v>
          </c:tx>
          <c:spPr>
            <a:solidFill xmlns:a="http://schemas.openxmlformats.org/drawingml/2006/main">
              <a:srgbClr val="E8AD46"/>
            </a:solidFill>
          </c:spPr>
          <c:cat>
            <c:strRef>
              <c:f>'Chart Data'!$G$2:$G$4</c:f>
              <c:strCache>
                <c:ptCount val="3"/>
                <c:pt idx="0">
                  <c:v>Lorenz</c:v>
                </c:pt>
                <c:pt idx="1">
                  <c:v>Satellite-A</c:v>
                </c:pt>
                <c:pt idx="2">
                  <c:v>Satellite-B</c:v>
                </c:pt>
              </c:strCache>
            </c:strRef>
          </c:cat>
          <c:val>
            <c:numRef>
              <c:f>'Chart Data'!$H$2:$H$4</c:f>
              <c:numCache>
                <c:formatCode>0.0</c:formatCode>
                <c:ptCount val="3"/>
                <c:pt idx="0">
                  <c:v>0.7045</c:v>
                </c:pt>
                <c:pt idx="1">
                  <c:v>0.8862</c:v>
                </c:pt>
                <c:pt idx="2">
                  <c:v>0.7689</c:v>
                </c:pt>
              </c:numCache>
            </c:numRef>
          </c:val>
        </c:ser>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eiryo"/>
                <a:ea typeface="Meiryo"/>
                <a:cs typeface="Meiryo"/>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709B5E-BABA-40F0-B9DE-C5F44A988B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1ff7e07b943494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87E973-75EE-4E8F-BEE8-0858B58D9684}"/>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7B43BA-7860-4CA2-94BB-BD23E0014F10}"/>
              </a:ext>
            </a:extLst>
          </p:cNvPr>
          <p:cNvSpPr>
            <a:spLocks xmlns:a="http://schemas.openxmlformats.org/drawingml/2006/main" noGrp="1"/>
          </p:cNvSpPr>
          <p:nvPr/>
        </p:nvSpPr>
        <p:spPr>
          <a:xfrm xmlns:a="http://schemas.openxmlformats.org/drawingml/2006/main">
            <a:off x="0" y="0"/>
            <a:ext cx="5191125"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403904-A9EF-44BC-A5C7-0D2E62CF01FA}"/>
              </a:ext>
            </a:extLst>
          </p:cNvPr>
          <p:cNvSpPr>
            <a:spLocks xmlns:a="http://schemas.openxmlformats.org/drawingml/2006/main" noGrp="1"/>
          </p:cNvSpPr>
          <p:nvPr/>
        </p:nvSpPr>
        <p:spPr>
          <a:xfrm xmlns:a="http://schemas.openxmlformats.org/drawingml/2006/main">
            <a:off x="523875" y="8572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1">
                <a:solidFill>
                  <a:srgbClr val="62D4D4"/>
                </a:solidFill>
                <a:latin typeface="Meiryo"/>
                <a:ea typeface="Meiryo"/>
                <a:cs typeface="Meiryo"/>
              </a:defRPr>
            </a:pPr>
            <a:r>
              <a:rPr sz="1725" b="1">
                <a:solidFill>
                  <a:srgbClr val="62D4D4"/>
                </a:solidFill>
                <a:latin typeface="Meiryo"/>
                <a:ea typeface="Meiryo"/>
                <a:cs typeface="Meiryo"/>
              </a:rPr>
              <a:t>実習 文献調査報告</a:t>
            </a:r>
          </a:p>
        </p:txBody>
      </p:sp>
      <p:sp>
        <p:nvSpPr>
          <p:cNvPr id="12" name="">
            <a:extLst xmlns:a="http://schemas.openxmlformats.org/drawingml/2006/main">
              <a:ext uri="{FF2B5EF4-FFF2-40B4-BE49-F238E27FC236}">
                <a16:creationId xmlns:a16="http://schemas.microsoft.com/office/drawing/2014/main" id="{32A354DD-AB35-4357-86A1-D6D27B755F16}"/>
              </a:ext>
            </a:extLst>
          </p:cNvPr>
          <p:cNvSpPr>
            <a:spLocks xmlns:a="http://schemas.openxmlformats.org/drawingml/2006/main" noGrp="1"/>
          </p:cNvSpPr>
          <p:nvPr/>
        </p:nvSpPr>
        <p:spPr>
          <a:xfrm xmlns:a="http://schemas.openxmlformats.org/drawingml/2006/main">
            <a:off x="523875" y="1914525"/>
            <a:ext cx="5667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375" b="1">
                <a:solidFill>
                  <a:srgbClr val="FFFFFF"/>
                </a:solidFill>
                <a:latin typeface="Meiryo"/>
                <a:ea typeface="Meiryo"/>
                <a:cs typeface="Meiryo"/>
              </a:defRPr>
            </a:pPr>
            <a:r>
              <a:rPr sz="3375" b="1">
                <a:solidFill>
                  <a:srgbClr val="FFFFFF"/>
                </a:solidFill>
                <a:latin typeface="Meiryo"/>
                <a:ea typeface="Meiryo"/>
                <a:cs typeface="Meiryo"/>
              </a:rPr>
              <a:t>多変量回帰モデルの</a:t>
            </a:r>
          </a:p>
          <a:p xmlns:a="http://schemas.openxmlformats.org/drawingml/2006/main">
            <a:pPr algn="l">
              <a:buNone/>
              <a:defRPr sz="3375" b="1">
                <a:solidFill>
                  <a:srgbClr val="FFFFFF"/>
                </a:solidFill>
                <a:latin typeface="Meiryo"/>
                <a:ea typeface="Meiryo"/>
                <a:cs typeface="Meiryo"/>
              </a:defRPr>
            </a:pPr>
            <a:r>
              <a:rPr sz="3375" b="1">
                <a:solidFill>
                  <a:srgbClr val="FFFFFF"/>
                </a:solidFill>
                <a:latin typeface="Meiryo"/>
                <a:ea typeface="Meiryo"/>
                <a:cs typeface="Meiryo"/>
              </a:rPr>
              <a:t>学習外入力データ</a:t>
            </a:r>
          </a:p>
          <a:p xmlns:a="http://schemas.openxmlformats.org/drawingml/2006/main">
            <a:pPr algn="l">
              <a:buNone/>
              <a:defRPr sz="3375" b="1">
                <a:solidFill>
                  <a:srgbClr val="FFFFFF"/>
                </a:solidFill>
                <a:latin typeface="Meiryo"/>
                <a:ea typeface="Meiryo"/>
                <a:cs typeface="Meiryo"/>
              </a:defRPr>
            </a:pPr>
            <a:r>
              <a:rPr sz="3375" b="1">
                <a:solidFill>
                  <a:srgbClr val="FFFFFF"/>
                </a:solidFill>
                <a:latin typeface="Meiryo"/>
                <a:ea typeface="Meiryo"/>
                <a:cs typeface="Meiryo"/>
              </a:rPr>
              <a:t>検知手法の調査</a:t>
            </a:r>
          </a:p>
        </p:txBody>
      </p:sp>
      <p:sp>
        <p:nvSpPr>
          <p:cNvPr id="13" name="">
            <a:extLst xmlns:a="http://schemas.openxmlformats.org/drawingml/2006/main">
              <a:ext uri="{FF2B5EF4-FFF2-40B4-BE49-F238E27FC236}">
                <a16:creationId xmlns:a16="http://schemas.microsoft.com/office/drawing/2014/main" id="{5264466A-8F6A-424C-BEFC-2A955E984D79}"/>
              </a:ext>
            </a:extLst>
          </p:cNvPr>
          <p:cNvSpPr>
            <a:spLocks xmlns:a="http://schemas.openxmlformats.org/drawingml/2006/main" noGrp="1"/>
          </p:cNvSpPr>
          <p:nvPr/>
        </p:nvSpPr>
        <p:spPr>
          <a:xfrm xmlns:a="http://schemas.openxmlformats.org/drawingml/2006/main">
            <a:off x="523875" y="4686300"/>
            <a:ext cx="5857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D9EEF2"/>
                </a:solidFill>
                <a:latin typeface="Meiryo"/>
                <a:ea typeface="Meiryo"/>
                <a:cs typeface="Meiryo"/>
              </a:defRPr>
            </a:pPr>
            <a:r>
              <a:rPr sz="1875" b="0">
                <a:solidFill>
                  <a:srgbClr val="D9EEF2"/>
                </a:solidFill>
                <a:latin typeface="Meiryo"/>
                <a:ea typeface="Meiryo"/>
                <a:cs typeface="Meiryo"/>
              </a:rPr>
              <a:t>社会インフラ監視制御システムへの</a:t>
            </a:r>
          </a:p>
          <a:p xmlns:a="http://schemas.openxmlformats.org/drawingml/2006/main">
            <a:pPr algn="l">
              <a:buNone/>
              <a:defRPr sz="1875" b="0">
                <a:solidFill>
                  <a:srgbClr val="D9EEF2"/>
                </a:solidFill>
                <a:latin typeface="Meiryo"/>
                <a:ea typeface="Meiryo"/>
                <a:cs typeface="Meiryo"/>
              </a:defRPr>
            </a:pPr>
            <a:r>
              <a:rPr sz="1875" b="0">
                <a:solidFill>
                  <a:srgbClr val="D9EEF2"/>
                </a:solidFill>
                <a:latin typeface="Meiryo"/>
                <a:ea typeface="Meiryo"/>
                <a:cs typeface="Meiryo"/>
              </a:rPr>
              <a:t>適用に向けて</a:t>
            </a:r>
          </a:p>
        </p:txBody>
      </p:sp>
      <p:sp>
        <p:nvSpPr>
          <p:cNvPr id="14" name="">
            <a:extLst xmlns:a="http://schemas.openxmlformats.org/drawingml/2006/main">
              <a:ext uri="{FF2B5EF4-FFF2-40B4-BE49-F238E27FC236}">
                <a16:creationId xmlns:a16="http://schemas.microsoft.com/office/drawing/2014/main" id="{4D4F0A9C-2E81-4784-86CD-7ABE933B0283}"/>
              </a:ext>
            </a:extLst>
          </p:cNvPr>
          <p:cNvSpPr>
            <a:spLocks xmlns:a="http://schemas.openxmlformats.org/drawingml/2006/main" noGrp="1"/>
          </p:cNvSpPr>
          <p:nvPr/>
        </p:nvSpPr>
        <p:spPr>
          <a:xfrm xmlns:a="http://schemas.openxmlformats.org/drawingml/2006/main">
            <a:off x="523875" y="601980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A6C8D3"/>
                </a:solidFill>
                <a:latin typeface="Meiryo"/>
                <a:ea typeface="Meiryo"/>
                <a:cs typeface="Meiryo"/>
              </a:defRPr>
            </a:pPr>
            <a:r>
              <a:rPr sz="1425" b="0">
                <a:solidFill>
                  <a:srgbClr val="A6C8D3"/>
                </a:solidFill>
                <a:latin typeface="Meiryo"/>
                <a:ea typeface="Meiryo"/>
                <a:cs typeface="Meiryo"/>
              </a:rPr>
              <a:t>文献調査発表  |  約20分</a:t>
            </a:r>
          </a:p>
        </p:txBody>
      </p:sp>
      <p:sp>
        <p:nvSpPr>
          <p:cNvPr id="16" name="">
            <a:extLst xmlns:a="http://schemas.openxmlformats.org/drawingml/2006/main">
              <a:ext uri="{FF2B5EF4-FFF2-40B4-BE49-F238E27FC236}">
                <a16:creationId xmlns:a16="http://schemas.microsoft.com/office/drawing/2014/main" id="{9C0929FC-EBD1-40D5-833D-E122CA0A7A31}"/>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01</a:t>
            </a:r>
          </a:p>
        </p:txBody>
      </p:sp>
    </p:spTree>
    <p:extLst>
      <p:ext uri="{BB962C8B-B14F-4D97-AF65-F5344CB8AC3E}">
        <p14:creationId xmlns:p14="http://schemas.microsoft.com/office/powerpoint/2010/main" val="7918021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E94B053B-3EB5-4E13-9EF5-02F44DDBD02A}"/>
              </a:ext>
            </a:extLst>
          </p:cNvPr>
          <p:cNvSpPr>
            <a:spLocks xmlns:a="http://schemas.openxmlformats.org/drawingml/2006/main" noGrp="1"/>
          </p:cNvSpPr>
          <p:nvPr/>
        </p:nvSpPr>
        <p:spPr>
          <a:xfrm xmlns:a="http://schemas.openxmlformats.org/drawingml/2006/main">
            <a:off x="476250" y="457200"/>
            <a:ext cx="1123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学習・校正・運用を分けた検知システムの構成</a:t>
            </a:r>
          </a:p>
        </p:txBody>
      </p:sp>
      <p:sp>
        <p:nvSpPr>
          <p:cNvPr id="2" name="">
            <a:extLst xmlns:a="http://schemas.openxmlformats.org/drawingml/2006/main">
              <a:ext uri="{FF2B5EF4-FFF2-40B4-BE49-F238E27FC236}">
                <a16:creationId xmlns:a16="http://schemas.microsoft.com/office/drawing/2014/main" id="{108F851A-EA1B-485D-9448-012DB1BB5E38}"/>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BA4AA9-CC83-4136-8A3D-43CA2F6398B6}"/>
              </a:ext>
            </a:extLst>
          </p:cNvPr>
          <p:cNvSpPr>
            <a:spLocks xmlns:a="http://schemas.openxmlformats.org/drawingml/2006/main" noGrp="1"/>
          </p:cNvSpPr>
          <p:nvPr/>
        </p:nvSpPr>
        <p:spPr>
          <a:xfrm xmlns:a="http://schemas.openxmlformats.org/drawingml/2006/main">
            <a:off x="523875" y="147637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203645"/>
                </a:solidFill>
                <a:latin typeface="Meiryo"/>
                <a:ea typeface="Meiryo"/>
                <a:cs typeface="Meiryo"/>
              </a:defRPr>
            </a:pPr>
            <a:r>
              <a:rPr sz="1650" b="1">
                <a:solidFill>
                  <a:srgbClr val="203645"/>
                </a:solidFill>
                <a:latin typeface="Meiryo"/>
                <a:ea typeface="Meiryo"/>
                <a:cs typeface="Meiryo"/>
              </a:rPr>
              <a:t>(a) オフライン：時間順に分割したデータから、運用に必要な要素を準備</a:t>
            </a:r>
          </a:p>
        </p:txBody>
      </p:sp>
      <p:sp>
        <p:nvSpPr>
          <p:cNvPr id="4" name="">
            <a:extLst xmlns:a="http://schemas.openxmlformats.org/drawingml/2006/main">
              <a:ext uri="{FF2B5EF4-FFF2-40B4-BE49-F238E27FC236}">
                <a16:creationId xmlns:a16="http://schemas.microsoft.com/office/drawing/2014/main" id="{4464BB7C-A2B2-4A8A-A8B5-9399AC06E936}"/>
              </a:ext>
            </a:extLst>
          </p:cNvPr>
          <p:cNvSpPr>
            <a:spLocks xmlns:a="http://schemas.openxmlformats.org/drawingml/2006/main" noGrp="1"/>
          </p:cNvSpPr>
          <p:nvPr/>
        </p:nvSpPr>
        <p:spPr>
          <a:xfrm xmlns:a="http://schemas.openxmlformats.org/drawingml/2006/main">
            <a:off x="523875" y="2162175"/>
            <a:ext cx="2190750" cy="952500"/>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5" name="">
            <a:extLst xmlns:a="http://schemas.openxmlformats.org/drawingml/2006/main">
              <a:ext uri="{FF2B5EF4-FFF2-40B4-BE49-F238E27FC236}">
                <a16:creationId xmlns:a16="http://schemas.microsoft.com/office/drawing/2014/main" id="{7FA628E0-3B5E-4000-AFB2-793EC2F24887}"/>
              </a:ext>
            </a:extLst>
          </p:cNvPr>
          <p:cNvSpPr>
            <a:spLocks xmlns:a="http://schemas.openxmlformats.org/drawingml/2006/main" noGrp="1"/>
          </p:cNvSpPr>
          <p:nvPr/>
        </p:nvSpPr>
        <p:spPr>
          <a:xfrm xmlns:a="http://schemas.openxmlformats.org/drawingml/2006/main">
            <a:off x="628650" y="2257425"/>
            <a:ext cx="198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学習データ</a:t>
            </a:r>
          </a:p>
        </p:txBody>
      </p:sp>
      <p:sp>
        <p:nvSpPr>
          <p:cNvPr id="6" name="">
            <a:extLst xmlns:a="http://schemas.openxmlformats.org/drawingml/2006/main">
              <a:ext uri="{FF2B5EF4-FFF2-40B4-BE49-F238E27FC236}">
                <a16:creationId xmlns:a16="http://schemas.microsoft.com/office/drawing/2014/main" id="{1F9CCEA5-B2A6-44D8-AA96-41226E2AF8E4}"/>
              </a:ext>
            </a:extLst>
          </p:cNvPr>
          <p:cNvSpPr>
            <a:spLocks xmlns:a="http://schemas.openxmlformats.org/drawingml/2006/main" noGrp="1"/>
          </p:cNvSpPr>
          <p:nvPr/>
        </p:nvSpPr>
        <p:spPr>
          <a:xfrm xmlns:a="http://schemas.openxmlformats.org/drawingml/2006/main">
            <a:off x="628650" y="26003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D_train = (X, Y)</a:t>
            </a:r>
          </a:p>
        </p:txBody>
      </p:sp>
      <p:sp>
        <p:nvSpPr>
          <p:cNvPr id="7" name="">
            <a:extLst xmlns:a="http://schemas.openxmlformats.org/drawingml/2006/main">
              <a:ext uri="{FF2B5EF4-FFF2-40B4-BE49-F238E27FC236}">
                <a16:creationId xmlns:a16="http://schemas.microsoft.com/office/drawing/2014/main" id="{DC952A3C-EE72-4BDB-9172-4DBE9054898B}"/>
              </a:ext>
            </a:extLst>
          </p:cNvPr>
          <p:cNvSpPr>
            <a:spLocks xmlns:a="http://schemas.openxmlformats.org/drawingml/2006/main" noGrp="1"/>
          </p:cNvSpPr>
          <p:nvPr/>
        </p:nvSpPr>
        <p:spPr>
          <a:xfrm xmlns:a="http://schemas.openxmlformats.org/drawingml/2006/main">
            <a:off x="3476625" y="1866900"/>
            <a:ext cx="2238375" cy="742950"/>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8" name="">
            <a:extLst xmlns:a="http://schemas.openxmlformats.org/drawingml/2006/main">
              <a:ext uri="{FF2B5EF4-FFF2-40B4-BE49-F238E27FC236}">
                <a16:creationId xmlns:a16="http://schemas.microsoft.com/office/drawing/2014/main" id="{6033D7CE-7AB0-4996-B3FE-F4D84B733218}"/>
              </a:ext>
            </a:extLst>
          </p:cNvPr>
          <p:cNvSpPr>
            <a:spLocks xmlns:a="http://schemas.openxmlformats.org/drawingml/2006/main" noGrp="1"/>
          </p:cNvSpPr>
          <p:nvPr/>
        </p:nvSpPr>
        <p:spPr>
          <a:xfrm xmlns:a="http://schemas.openxmlformats.org/drawingml/2006/main">
            <a:off x="3581400" y="1962150"/>
            <a:ext cx="2028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回帰器の学習</a:t>
            </a:r>
          </a:p>
        </p:txBody>
      </p:sp>
      <p:sp>
        <p:nvSpPr>
          <p:cNvPr id="9" name="">
            <a:extLst xmlns:a="http://schemas.openxmlformats.org/drawingml/2006/main">
              <a:ext uri="{FF2B5EF4-FFF2-40B4-BE49-F238E27FC236}">
                <a16:creationId xmlns:a16="http://schemas.microsoft.com/office/drawing/2014/main" id="{4F6A0639-2D93-4238-B17B-B7B450E8AE19}"/>
              </a:ext>
            </a:extLst>
          </p:cNvPr>
          <p:cNvSpPr>
            <a:spLocks xmlns:a="http://schemas.openxmlformats.org/drawingml/2006/main" noGrp="1"/>
          </p:cNvSpPr>
          <p:nvPr/>
        </p:nvSpPr>
        <p:spPr>
          <a:xfrm xmlns:a="http://schemas.openxmlformats.org/drawingml/2006/main">
            <a:off x="3581400" y="2305050"/>
            <a:ext cx="2028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予測関係 f を学習</a:t>
            </a:r>
          </a:p>
        </p:txBody>
      </p:sp>
      <p:sp>
        <p:nvSpPr>
          <p:cNvPr id="10" name="">
            <a:extLst xmlns:a="http://schemas.openxmlformats.org/drawingml/2006/main">
              <a:ext uri="{FF2B5EF4-FFF2-40B4-BE49-F238E27FC236}">
                <a16:creationId xmlns:a16="http://schemas.microsoft.com/office/drawing/2014/main" id="{65256674-F77B-44F7-9612-41ADBA81A90C}"/>
              </a:ext>
            </a:extLst>
          </p:cNvPr>
          <p:cNvSpPr>
            <a:spLocks xmlns:a="http://schemas.openxmlformats.org/drawingml/2006/main" noGrp="1"/>
          </p:cNvSpPr>
          <p:nvPr/>
        </p:nvSpPr>
        <p:spPr>
          <a:xfrm xmlns:a="http://schemas.openxmlformats.org/drawingml/2006/main">
            <a:off x="3476625" y="3162300"/>
            <a:ext cx="2238375" cy="742950"/>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1" name="">
            <a:extLst xmlns:a="http://schemas.openxmlformats.org/drawingml/2006/main">
              <a:ext uri="{FF2B5EF4-FFF2-40B4-BE49-F238E27FC236}">
                <a16:creationId xmlns:a16="http://schemas.microsoft.com/office/drawing/2014/main" id="{7E4AC51D-974F-46CA-BFFB-AD021FB798E4}"/>
              </a:ext>
            </a:extLst>
          </p:cNvPr>
          <p:cNvSpPr>
            <a:spLocks xmlns:a="http://schemas.openxmlformats.org/drawingml/2006/main" noGrp="1"/>
          </p:cNvSpPr>
          <p:nvPr/>
        </p:nvSpPr>
        <p:spPr>
          <a:xfrm xmlns:a="http://schemas.openxmlformats.org/drawingml/2006/main">
            <a:off x="3581400" y="3257550"/>
            <a:ext cx="2028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検知器の構築</a:t>
            </a:r>
          </a:p>
        </p:txBody>
      </p:sp>
      <p:sp>
        <p:nvSpPr>
          <p:cNvPr id="12" name="">
            <a:extLst xmlns:a="http://schemas.openxmlformats.org/drawingml/2006/main">
              <a:ext uri="{FF2B5EF4-FFF2-40B4-BE49-F238E27FC236}">
                <a16:creationId xmlns:a16="http://schemas.microsoft.com/office/drawing/2014/main" id="{0E16D637-0811-49E6-AD91-EF0E653ADF1E}"/>
              </a:ext>
            </a:extLst>
          </p:cNvPr>
          <p:cNvSpPr>
            <a:spLocks xmlns:a="http://schemas.openxmlformats.org/drawingml/2006/main" noGrp="1"/>
          </p:cNvSpPr>
          <p:nvPr/>
        </p:nvSpPr>
        <p:spPr>
          <a:xfrm xmlns:a="http://schemas.openxmlformats.org/drawingml/2006/main">
            <a:off x="3581400" y="3600450"/>
            <a:ext cx="2028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正常 X／手法により Y</a:t>
            </a:r>
          </a:p>
        </p:txBody>
      </p:sp>
      <p:sp>
        <p:nvSpPr>
          <p:cNvPr id="13" name="">
            <a:extLst xmlns:a="http://schemas.openxmlformats.org/drawingml/2006/main">
              <a:ext uri="{FF2B5EF4-FFF2-40B4-BE49-F238E27FC236}">
                <a16:creationId xmlns:a16="http://schemas.microsoft.com/office/drawing/2014/main" id="{D1923284-5C58-4986-B140-57F61F90ED90}"/>
              </a:ext>
            </a:extLst>
          </p:cNvPr>
          <p:cNvSpPr>
            <a:spLocks xmlns:a="http://schemas.openxmlformats.org/drawingml/2006/main" noGrp="1"/>
          </p:cNvSpPr>
          <p:nvPr/>
        </p:nvSpPr>
        <p:spPr>
          <a:xfrm xmlns:a="http://schemas.openxmlformats.org/drawingml/2006/main">
            <a:off x="6477000" y="3162300"/>
            <a:ext cx="2571750" cy="742950"/>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4" name="">
            <a:extLst xmlns:a="http://schemas.openxmlformats.org/drawingml/2006/main">
              <a:ext uri="{FF2B5EF4-FFF2-40B4-BE49-F238E27FC236}">
                <a16:creationId xmlns:a16="http://schemas.microsoft.com/office/drawing/2014/main" id="{9474A88E-B805-4500-A039-955DEF0F1A27}"/>
              </a:ext>
            </a:extLst>
          </p:cNvPr>
          <p:cNvSpPr>
            <a:spLocks xmlns:a="http://schemas.openxmlformats.org/drawingml/2006/main" noGrp="1"/>
          </p:cNvSpPr>
          <p:nvPr/>
        </p:nvSpPr>
        <p:spPr>
          <a:xfrm xmlns:a="http://schemas.openxmlformats.org/drawingml/2006/main">
            <a:off x="6581775" y="325755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校正データ D_cal</a:t>
            </a:r>
          </a:p>
        </p:txBody>
      </p:sp>
      <p:sp>
        <p:nvSpPr>
          <p:cNvPr id="15" name="">
            <a:extLst xmlns:a="http://schemas.openxmlformats.org/drawingml/2006/main">
              <a:ext uri="{FF2B5EF4-FFF2-40B4-BE49-F238E27FC236}">
                <a16:creationId xmlns:a16="http://schemas.microsoft.com/office/drawing/2014/main" id="{EC0F6B31-7A42-4709-9895-CBA1CD2A6C65}"/>
              </a:ext>
            </a:extLst>
          </p:cNvPr>
          <p:cNvSpPr>
            <a:spLocks xmlns:a="http://schemas.openxmlformats.org/drawingml/2006/main" noGrp="1"/>
          </p:cNvSpPr>
          <p:nvPr/>
        </p:nvSpPr>
        <p:spPr>
          <a:xfrm xmlns:a="http://schemas.openxmlformats.org/drawingml/2006/main">
            <a:off x="6581775" y="36004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スコアから閾値 τ を決定</a:t>
            </a:r>
          </a:p>
        </p:txBody>
      </p:sp>
      <p:sp>
        <p:nvSpPr>
          <p:cNvPr id="16" name="">
            <a:extLst xmlns:a="http://schemas.openxmlformats.org/drawingml/2006/main">
              <a:ext uri="{FF2B5EF4-FFF2-40B4-BE49-F238E27FC236}">
                <a16:creationId xmlns:a16="http://schemas.microsoft.com/office/drawing/2014/main" id="{50C058F8-6DFC-4B0C-B329-95BEC2790133}"/>
              </a:ext>
            </a:extLst>
          </p:cNvPr>
          <p:cNvSpPr>
            <a:spLocks xmlns:a="http://schemas.openxmlformats.org/drawingml/2006/main" noGrp="1"/>
          </p:cNvSpPr>
          <p:nvPr/>
        </p:nvSpPr>
        <p:spPr>
          <a:xfrm xmlns:a="http://schemas.openxmlformats.org/drawingml/2006/main">
            <a:off x="9572625" y="1866900"/>
            <a:ext cx="2143125" cy="2038350"/>
          </a:xfrm>
          <a:prstGeom xmlns:a="http://schemas.openxmlformats.org/drawingml/2006/main" prst="rect">
            <a:avLst/>
          </a:prstGeom>
          <a:noFill xmlns:a="http://schemas.openxmlformats.org/drawingml/2006/main"/>
          <a:ln xmlns:a="http://schemas.openxmlformats.org/drawingml/2006/main" w="9525">
            <a:solidFill>
              <a:srgbClr val="007E87"/>
            </a:solidFill>
          </a:ln>
        </p:spPr>
      </p:sp>
      <p:sp>
        <p:nvSpPr>
          <p:cNvPr id="17" name="">
            <a:extLst xmlns:a="http://schemas.openxmlformats.org/drawingml/2006/main">
              <a:ext uri="{FF2B5EF4-FFF2-40B4-BE49-F238E27FC236}">
                <a16:creationId xmlns:a16="http://schemas.microsoft.com/office/drawing/2014/main" id="{C5027DA4-EFC9-4305-9D87-E597C56584C1}"/>
              </a:ext>
            </a:extLst>
          </p:cNvPr>
          <p:cNvSpPr>
            <a:spLocks xmlns:a="http://schemas.openxmlformats.org/drawingml/2006/main" noGrp="1"/>
          </p:cNvSpPr>
          <p:nvPr/>
        </p:nvSpPr>
        <p:spPr>
          <a:xfrm xmlns:a="http://schemas.openxmlformats.org/drawingml/2006/main">
            <a:off x="9677400" y="1962150"/>
            <a:ext cx="1933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08273C"/>
                </a:solidFill>
                <a:latin typeface="Meiryo"/>
                <a:ea typeface="Meiryo"/>
                <a:cs typeface="Meiryo"/>
              </a:defRPr>
            </a:pPr>
            <a:r>
              <a:rPr sz="1650" b="1">
                <a:solidFill>
                  <a:srgbClr val="08273C"/>
                </a:solidFill>
                <a:latin typeface="Meiryo"/>
                <a:ea typeface="Meiryo"/>
                <a:cs typeface="Meiryo"/>
              </a:rPr>
              <a:t>保存して固定</a:t>
            </a:r>
          </a:p>
        </p:txBody>
      </p:sp>
      <p:sp>
        <p:nvSpPr>
          <p:cNvPr id="18" name="">
            <a:extLst xmlns:a="http://schemas.openxmlformats.org/drawingml/2006/main">
              <a:ext uri="{FF2B5EF4-FFF2-40B4-BE49-F238E27FC236}">
                <a16:creationId xmlns:a16="http://schemas.microsoft.com/office/drawing/2014/main" id="{EA75D168-BF5C-4CDA-B7BB-043B11CCD108}"/>
              </a:ext>
            </a:extLst>
          </p:cNvPr>
          <p:cNvSpPr>
            <a:spLocks xmlns:a="http://schemas.openxmlformats.org/drawingml/2006/main" noGrp="1"/>
          </p:cNvSpPr>
          <p:nvPr/>
        </p:nvSpPr>
        <p:spPr>
          <a:xfrm xmlns:a="http://schemas.openxmlformats.org/drawingml/2006/main">
            <a:off x="9677400" y="2305050"/>
            <a:ext cx="19335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前処理の設定</a:t>
            </a:r>
          </a:p>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回帰器 f</a:t>
            </a:r>
          </a:p>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検知器・参照点</a:t>
            </a:r>
          </a:p>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閾値 τ</a:t>
            </a:r>
          </a:p>
        </p:txBody>
      </p:sp>
      <p:cxnSp>
        <p:nvCxnSpPr>
          <p:cNvPr id="72" name=""/>
          <p:cNvCxnSpPr>
            <a:stCxn xmlns:a="http://schemas.openxmlformats.org/drawingml/2006/main" id="4" idx="3"/>
            <a:endCxn xmlns:a="http://schemas.openxmlformats.org/drawingml/2006/main" id="7" idx="1"/>
          </p:cNvCxnSpPr>
          <p:nvPr/>
        </p:nvCxnSpPr>
        <p:spPr>
          <a:xfrm xmlns:a="http://schemas.openxmlformats.org/drawingml/2006/main" flipV="1">
            <a:off x="2714625" y="2238375"/>
            <a:ext cx="762000" cy="400050"/>
          </a:xfrm>
          <a:prstGeom xmlns:a="http://schemas.openxmlformats.org/drawingml/2006/main" prst="bentConnector3">
            <a:avLst>
              <a:gd name="adj1" fmla="val 50000"/>
            </a:avLst>
          </a:prstGeom>
          <a:ln xmlns:a="http://schemas.openxmlformats.org/drawingml/2006/main" w="13335">
            <a:solidFill>
              <a:srgbClr val="203645"/>
            </a:solidFill>
            <a:prstDash val="solid"/>
            <a:tailEnd type="triangle" w="sm" len="sm"/>
          </a:ln>
        </p:spPr>
      </p:cxnSp>
      <p:cxnSp>
        <p:nvCxnSpPr>
          <p:cNvPr id="73" name=""/>
          <p:cNvCxnSpPr>
            <a:stCxn xmlns:a="http://schemas.openxmlformats.org/drawingml/2006/main" id="4" idx="3"/>
            <a:endCxn xmlns:a="http://schemas.openxmlformats.org/drawingml/2006/main" id="10" idx="1"/>
          </p:cNvCxnSpPr>
          <p:nvPr/>
        </p:nvCxnSpPr>
        <p:spPr>
          <a:xfrm xmlns:a="http://schemas.openxmlformats.org/drawingml/2006/main">
            <a:off x="2714625" y="2638425"/>
            <a:ext cx="762000" cy="895350"/>
          </a:xfrm>
          <a:prstGeom xmlns:a="http://schemas.openxmlformats.org/drawingml/2006/main" prst="bentConnector3">
            <a:avLst>
              <a:gd name="adj1" fmla="val 50000"/>
            </a:avLst>
          </a:prstGeom>
          <a:ln xmlns:a="http://schemas.openxmlformats.org/drawingml/2006/main" w="13335">
            <a:solidFill>
              <a:srgbClr val="203645"/>
            </a:solidFill>
            <a:prstDash val="solid"/>
            <a:tailEnd type="triangle" w="sm" len="sm"/>
          </a:ln>
        </p:spPr>
      </p:cxnSp>
      <p:cxnSp>
        <p:nvCxnSpPr>
          <p:cNvPr id="74" name=""/>
          <p:cNvCxnSpPr>
            <a:stCxn xmlns:a="http://schemas.openxmlformats.org/drawingml/2006/main" id="10" idx="3"/>
            <a:endCxn xmlns:a="http://schemas.openxmlformats.org/drawingml/2006/main" id="13" idx="1"/>
          </p:cNvCxnSpPr>
          <p:nvPr/>
        </p:nvCxnSpPr>
        <p:spPr>
          <a:xfrm xmlns:a="http://schemas.openxmlformats.org/drawingml/2006/main">
            <a:off x="5715000" y="3533775"/>
            <a:ext cx="7620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5" name=""/>
          <p:cNvCxnSpPr>
            <a:stCxn xmlns:a="http://schemas.openxmlformats.org/drawingml/2006/main" id="7" idx="3"/>
            <a:endCxn xmlns:a="http://schemas.openxmlformats.org/drawingml/2006/main" id="16" idx="1"/>
          </p:cNvCxnSpPr>
          <p:nvPr/>
        </p:nvCxnSpPr>
        <p:spPr>
          <a:xfrm xmlns:a="http://schemas.openxmlformats.org/drawingml/2006/main">
            <a:off x="5715000" y="2238375"/>
            <a:ext cx="3857625" cy="647700"/>
          </a:xfrm>
          <a:prstGeom xmlns:a="http://schemas.openxmlformats.org/drawingml/2006/main" prst="bentConnector3">
            <a:avLst>
              <a:gd name="adj1" fmla="val 50000"/>
            </a:avLst>
          </a:prstGeom>
          <a:ln xmlns:a="http://schemas.openxmlformats.org/drawingml/2006/main" w="13335">
            <a:solidFill>
              <a:srgbClr val="203645"/>
            </a:solidFill>
            <a:prstDash val="solid"/>
            <a:tailEnd type="triangle" w="sm" len="sm"/>
          </a:ln>
        </p:spPr>
      </p:cxnSp>
      <p:cxnSp>
        <p:nvCxnSpPr>
          <p:cNvPr id="76" name=""/>
          <p:cNvCxnSpPr>
            <a:stCxn xmlns:a="http://schemas.openxmlformats.org/drawingml/2006/main" id="13" idx="3"/>
            <a:endCxn xmlns:a="http://schemas.openxmlformats.org/drawingml/2006/main" id="16" idx="1"/>
          </p:cNvCxnSpPr>
          <p:nvPr/>
        </p:nvCxnSpPr>
        <p:spPr>
          <a:xfrm xmlns:a="http://schemas.openxmlformats.org/drawingml/2006/main" flipV="1">
            <a:off x="9048750" y="2886075"/>
            <a:ext cx="523875" cy="647700"/>
          </a:xfrm>
          <a:prstGeom xmlns:a="http://schemas.openxmlformats.org/drawingml/2006/main" prst="bentConnector3">
            <a:avLst>
              <a:gd name="adj1" fmla="val 50000"/>
            </a:avLst>
          </a:prstGeom>
          <a:ln xmlns:a="http://schemas.openxmlformats.org/drawingml/2006/main" w="13335">
            <a:solidFill>
              <a:srgbClr val="203645"/>
            </a:solidFill>
            <a:prstDash val="solid"/>
            <a:tailEnd type="triangle" w="sm" len="sm"/>
          </a:ln>
        </p:spPr>
      </p:cxnSp>
      <p:sp>
        <p:nvSpPr>
          <p:cNvPr id="24" name="">
            <a:extLst xmlns:a="http://schemas.openxmlformats.org/drawingml/2006/main">
              <a:ext uri="{FF2B5EF4-FFF2-40B4-BE49-F238E27FC236}">
                <a16:creationId xmlns:a16="http://schemas.microsoft.com/office/drawing/2014/main" id="{FB9C4A48-437B-4F15-B1AA-27D515213C84}"/>
              </a:ext>
            </a:extLst>
          </p:cNvPr>
          <p:cNvSpPr>
            <a:spLocks xmlns:a="http://schemas.openxmlformats.org/drawingml/2006/main" noGrp="1"/>
          </p:cNvSpPr>
          <p:nvPr/>
        </p:nvSpPr>
        <p:spPr>
          <a:xfrm xmlns:a="http://schemas.openxmlformats.org/drawingml/2006/main">
            <a:off x="523875" y="4238625"/>
            <a:ext cx="1114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203645"/>
                </a:solidFill>
                <a:latin typeface="Meiryo"/>
                <a:ea typeface="Meiryo"/>
                <a:cs typeface="Meiryo"/>
              </a:defRPr>
            </a:pPr>
            <a:r>
              <a:rPr sz="1650" b="1">
                <a:solidFill>
                  <a:srgbClr val="203645"/>
                </a:solidFill>
                <a:latin typeface="Meiryo"/>
                <a:ea typeface="Meiryo"/>
                <a:cs typeface="Meiryo"/>
              </a:rPr>
              <a:t>(b) オンライン：同じ前処理で入力を評価し、利用可否を判断</a:t>
            </a:r>
          </a:p>
        </p:txBody>
      </p:sp>
      <p:sp>
        <p:nvSpPr>
          <p:cNvPr id="25" name="">
            <a:extLst xmlns:a="http://schemas.openxmlformats.org/drawingml/2006/main">
              <a:ext uri="{FF2B5EF4-FFF2-40B4-BE49-F238E27FC236}">
                <a16:creationId xmlns:a16="http://schemas.microsoft.com/office/drawing/2014/main" id="{192D9605-5002-4B2F-AF30-E4D5A0F9F390}"/>
              </a:ext>
            </a:extLst>
          </p:cNvPr>
          <p:cNvSpPr>
            <a:spLocks xmlns:a="http://schemas.openxmlformats.org/drawingml/2006/main" noGrp="1"/>
          </p:cNvSpPr>
          <p:nvPr/>
        </p:nvSpPr>
        <p:spPr>
          <a:xfrm xmlns:a="http://schemas.openxmlformats.org/drawingml/2006/main">
            <a:off x="523875" y="4752975"/>
            <a:ext cx="1476375"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26" name="">
            <a:extLst xmlns:a="http://schemas.openxmlformats.org/drawingml/2006/main">
              <a:ext uri="{FF2B5EF4-FFF2-40B4-BE49-F238E27FC236}">
                <a16:creationId xmlns:a16="http://schemas.microsoft.com/office/drawing/2014/main" id="{56DB2DAB-ECE2-4399-8074-5FE80FC535EE}"/>
              </a:ext>
            </a:extLst>
          </p:cNvPr>
          <p:cNvSpPr>
            <a:spLocks xmlns:a="http://schemas.openxmlformats.org/drawingml/2006/main" noGrp="1"/>
          </p:cNvSpPr>
          <p:nvPr/>
        </p:nvSpPr>
        <p:spPr>
          <a:xfrm xmlns:a="http://schemas.openxmlformats.org/drawingml/2006/main">
            <a:off x="628650" y="48482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新規入力 xₜ</a:t>
            </a:r>
          </a:p>
        </p:txBody>
      </p:sp>
      <p:sp>
        <p:nvSpPr>
          <p:cNvPr id="27" name="">
            <a:extLst xmlns:a="http://schemas.openxmlformats.org/drawingml/2006/main">
              <a:ext uri="{FF2B5EF4-FFF2-40B4-BE49-F238E27FC236}">
                <a16:creationId xmlns:a16="http://schemas.microsoft.com/office/drawing/2014/main" id="{56A1D7FE-8F12-45B7-8102-606026C700FC}"/>
              </a:ext>
            </a:extLst>
          </p:cNvPr>
          <p:cNvSpPr>
            <a:spLocks xmlns:a="http://schemas.openxmlformats.org/drawingml/2006/main" noGrp="1"/>
          </p:cNvSpPr>
          <p:nvPr/>
        </p:nvSpPr>
        <p:spPr>
          <a:xfrm xmlns:a="http://schemas.openxmlformats.org/drawingml/2006/main">
            <a:off x="628650" y="519112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センサー観測</a:t>
            </a:r>
          </a:p>
        </p:txBody>
      </p:sp>
      <p:sp>
        <p:nvSpPr>
          <p:cNvPr id="28" name="">
            <a:extLst xmlns:a="http://schemas.openxmlformats.org/drawingml/2006/main">
              <a:ext uri="{FF2B5EF4-FFF2-40B4-BE49-F238E27FC236}">
                <a16:creationId xmlns:a16="http://schemas.microsoft.com/office/drawing/2014/main" id="{81003C1A-541B-4895-B929-FB41E61D6449}"/>
              </a:ext>
            </a:extLst>
          </p:cNvPr>
          <p:cNvSpPr>
            <a:spLocks xmlns:a="http://schemas.openxmlformats.org/drawingml/2006/main" noGrp="1"/>
          </p:cNvSpPr>
          <p:nvPr/>
        </p:nvSpPr>
        <p:spPr>
          <a:xfrm xmlns:a="http://schemas.openxmlformats.org/drawingml/2006/main">
            <a:off x="2428875" y="4752975"/>
            <a:ext cx="2333625"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29" name="">
            <a:extLst xmlns:a="http://schemas.openxmlformats.org/drawingml/2006/main">
              <a:ext uri="{FF2B5EF4-FFF2-40B4-BE49-F238E27FC236}">
                <a16:creationId xmlns:a16="http://schemas.microsoft.com/office/drawing/2014/main" id="{04BBEC14-B43C-4491-BD21-AA9A7E97F730}"/>
              </a:ext>
            </a:extLst>
          </p:cNvPr>
          <p:cNvSpPr>
            <a:spLocks xmlns:a="http://schemas.openxmlformats.org/drawingml/2006/main" noGrp="1"/>
          </p:cNvSpPr>
          <p:nvPr/>
        </p:nvSpPr>
        <p:spPr>
          <a:xfrm xmlns:a="http://schemas.openxmlformats.org/drawingml/2006/main">
            <a:off x="2533650" y="4848225"/>
            <a:ext cx="2124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入力の確認・前処理</a:t>
            </a:r>
          </a:p>
        </p:txBody>
      </p:sp>
      <p:sp>
        <p:nvSpPr>
          <p:cNvPr id="30" name="">
            <a:extLst xmlns:a="http://schemas.openxmlformats.org/drawingml/2006/main">
              <a:ext uri="{FF2B5EF4-FFF2-40B4-BE49-F238E27FC236}">
                <a16:creationId xmlns:a16="http://schemas.microsoft.com/office/drawing/2014/main" id="{7B3FF62E-158A-4B70-BE8D-D2A8B39AA0BF}"/>
              </a:ext>
            </a:extLst>
          </p:cNvPr>
          <p:cNvSpPr>
            <a:spLocks xmlns:a="http://schemas.openxmlformats.org/drawingml/2006/main" noGrp="1"/>
          </p:cNvSpPr>
          <p:nvPr/>
        </p:nvSpPr>
        <p:spPr>
          <a:xfrm xmlns:a="http://schemas.openxmlformats.org/drawingml/2006/main">
            <a:off x="2533650" y="519112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欠測・単位・標準化</a:t>
            </a:r>
          </a:p>
        </p:txBody>
      </p:sp>
      <p:sp>
        <p:nvSpPr>
          <p:cNvPr id="31" name="">
            <a:extLst xmlns:a="http://schemas.openxmlformats.org/drawingml/2006/main">
              <a:ext uri="{FF2B5EF4-FFF2-40B4-BE49-F238E27FC236}">
                <a16:creationId xmlns:a16="http://schemas.microsoft.com/office/drawing/2014/main" id="{7B5BA285-C36F-42C4-AE6F-7FF4375C7274}"/>
              </a:ext>
            </a:extLst>
          </p:cNvPr>
          <p:cNvSpPr>
            <a:spLocks xmlns:a="http://schemas.openxmlformats.org/drawingml/2006/main" noGrp="1"/>
          </p:cNvSpPr>
          <p:nvPr/>
        </p:nvSpPr>
        <p:spPr>
          <a:xfrm xmlns:a="http://schemas.openxmlformats.org/drawingml/2006/main">
            <a:off x="5191125" y="4752975"/>
            <a:ext cx="2095500"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2" name="">
            <a:extLst xmlns:a="http://schemas.openxmlformats.org/drawingml/2006/main">
              <a:ext uri="{FF2B5EF4-FFF2-40B4-BE49-F238E27FC236}">
                <a16:creationId xmlns:a16="http://schemas.microsoft.com/office/drawing/2014/main" id="{6B402601-B37E-49B5-B9E0-A81C7A813A13}"/>
              </a:ext>
            </a:extLst>
          </p:cNvPr>
          <p:cNvSpPr>
            <a:spLocks xmlns:a="http://schemas.openxmlformats.org/drawingml/2006/main" noGrp="1"/>
          </p:cNvSpPr>
          <p:nvPr/>
        </p:nvSpPr>
        <p:spPr>
          <a:xfrm xmlns:a="http://schemas.openxmlformats.org/drawingml/2006/main">
            <a:off x="5295900" y="4848225"/>
            <a:ext cx="188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検知スコア s(xₜ)</a:t>
            </a:r>
          </a:p>
        </p:txBody>
      </p:sp>
      <p:sp>
        <p:nvSpPr>
          <p:cNvPr id="33" name="">
            <a:extLst xmlns:a="http://schemas.openxmlformats.org/drawingml/2006/main">
              <a:ext uri="{FF2B5EF4-FFF2-40B4-BE49-F238E27FC236}">
                <a16:creationId xmlns:a16="http://schemas.microsoft.com/office/drawing/2014/main" id="{00246A00-BC88-4E64-802F-29331FE5E814}"/>
              </a:ext>
            </a:extLst>
          </p:cNvPr>
          <p:cNvSpPr>
            <a:spLocks xmlns:a="http://schemas.openxmlformats.org/drawingml/2006/main" noGrp="1"/>
          </p:cNvSpPr>
          <p:nvPr/>
        </p:nvSpPr>
        <p:spPr>
          <a:xfrm xmlns:a="http://schemas.openxmlformats.org/drawingml/2006/main">
            <a:off x="5295900" y="5191125"/>
            <a:ext cx="1885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適合性を評価</a:t>
            </a:r>
          </a:p>
        </p:txBody>
      </p:sp>
      <p:sp>
        <p:nvSpPr>
          <p:cNvPr id="34" name="">
            <a:extLst xmlns:a="http://schemas.openxmlformats.org/drawingml/2006/main">
              <a:ext uri="{FF2B5EF4-FFF2-40B4-BE49-F238E27FC236}">
                <a16:creationId xmlns:a16="http://schemas.microsoft.com/office/drawing/2014/main" id="{7E5CEDA5-0ECB-4721-9FEB-EEDECA88B1A6}"/>
              </a:ext>
            </a:extLst>
          </p:cNvPr>
          <p:cNvSpPr>
            <a:spLocks xmlns:a="http://schemas.openxmlformats.org/drawingml/2006/main" noGrp="1"/>
          </p:cNvSpPr>
          <p:nvPr/>
        </p:nvSpPr>
        <p:spPr>
          <a:xfrm xmlns:a="http://schemas.openxmlformats.org/drawingml/2006/main">
            <a:off x="7715250" y="4752975"/>
            <a:ext cx="1714500"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5" name="">
            <a:extLst xmlns:a="http://schemas.openxmlformats.org/drawingml/2006/main">
              <a:ext uri="{FF2B5EF4-FFF2-40B4-BE49-F238E27FC236}">
                <a16:creationId xmlns:a16="http://schemas.microsoft.com/office/drawing/2014/main" id="{7673B301-07FE-41A3-BDA5-398846AC0DF5}"/>
              </a:ext>
            </a:extLst>
          </p:cNvPr>
          <p:cNvSpPr>
            <a:spLocks xmlns:a="http://schemas.openxmlformats.org/drawingml/2006/main" noGrp="1"/>
          </p:cNvSpPr>
          <p:nvPr/>
        </p:nvSpPr>
        <p:spPr>
          <a:xfrm xmlns:a="http://schemas.openxmlformats.org/drawingml/2006/main">
            <a:off x="7820025" y="4848225"/>
            <a:ext cx="150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閾値との比較</a:t>
            </a:r>
          </a:p>
        </p:txBody>
      </p:sp>
      <p:sp>
        <p:nvSpPr>
          <p:cNvPr id="36" name="">
            <a:extLst xmlns:a="http://schemas.openxmlformats.org/drawingml/2006/main">
              <a:ext uri="{FF2B5EF4-FFF2-40B4-BE49-F238E27FC236}">
                <a16:creationId xmlns:a16="http://schemas.microsoft.com/office/drawing/2014/main" id="{BD2777D0-11AE-49EE-BC0C-FD0774DF3A52}"/>
              </a:ext>
            </a:extLst>
          </p:cNvPr>
          <p:cNvSpPr>
            <a:spLocks xmlns:a="http://schemas.openxmlformats.org/drawingml/2006/main" noGrp="1"/>
          </p:cNvSpPr>
          <p:nvPr/>
        </p:nvSpPr>
        <p:spPr>
          <a:xfrm xmlns:a="http://schemas.openxmlformats.org/drawingml/2006/main">
            <a:off x="7820025" y="5191125"/>
            <a:ext cx="150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s(xₜ) ≤ τ ?</a:t>
            </a:r>
          </a:p>
        </p:txBody>
      </p:sp>
      <p:sp>
        <p:nvSpPr>
          <p:cNvPr id="37" name="">
            <a:extLst xmlns:a="http://schemas.openxmlformats.org/drawingml/2006/main">
              <a:ext uri="{FF2B5EF4-FFF2-40B4-BE49-F238E27FC236}">
                <a16:creationId xmlns:a16="http://schemas.microsoft.com/office/drawing/2014/main" id="{7A4AC486-6EFE-4A2F-9BFF-45D3281CC2A2}"/>
              </a:ext>
            </a:extLst>
          </p:cNvPr>
          <p:cNvSpPr>
            <a:spLocks xmlns:a="http://schemas.openxmlformats.org/drawingml/2006/main" noGrp="1"/>
          </p:cNvSpPr>
          <p:nvPr/>
        </p:nvSpPr>
        <p:spPr>
          <a:xfrm xmlns:a="http://schemas.openxmlformats.org/drawingml/2006/main">
            <a:off x="10096500" y="4476750"/>
            <a:ext cx="1619250" cy="666750"/>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8" name="">
            <a:extLst xmlns:a="http://schemas.openxmlformats.org/drawingml/2006/main">
              <a:ext uri="{FF2B5EF4-FFF2-40B4-BE49-F238E27FC236}">
                <a16:creationId xmlns:a16="http://schemas.microsoft.com/office/drawing/2014/main" id="{806C18A8-0620-4839-B61C-18FA7BBAC512}"/>
              </a:ext>
            </a:extLst>
          </p:cNvPr>
          <p:cNvSpPr>
            <a:spLocks xmlns:a="http://schemas.openxmlformats.org/drawingml/2006/main" noGrp="1"/>
          </p:cNvSpPr>
          <p:nvPr/>
        </p:nvSpPr>
        <p:spPr>
          <a:xfrm xmlns:a="http://schemas.openxmlformats.org/drawingml/2006/main">
            <a:off x="10201275" y="45720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1">
                <a:solidFill>
                  <a:srgbClr val="08273C"/>
                </a:solidFill>
                <a:latin typeface="Meiryo"/>
                <a:ea typeface="Meiryo"/>
                <a:cs typeface="Meiryo"/>
              </a:defRPr>
            </a:pPr>
            <a:r>
              <a:rPr sz="1425" b="1">
                <a:solidFill>
                  <a:srgbClr val="08273C"/>
                </a:solidFill>
                <a:latin typeface="Meiryo"/>
                <a:ea typeface="Meiryo"/>
                <a:cs typeface="Meiryo"/>
              </a:rPr>
              <a:t>予測を利用</a:t>
            </a:r>
          </a:p>
        </p:txBody>
      </p:sp>
      <p:sp>
        <p:nvSpPr>
          <p:cNvPr id="39" name="">
            <a:extLst xmlns:a="http://schemas.openxmlformats.org/drawingml/2006/main">
              <a:ext uri="{FF2B5EF4-FFF2-40B4-BE49-F238E27FC236}">
                <a16:creationId xmlns:a16="http://schemas.microsoft.com/office/drawing/2014/main" id="{D67E6480-8BF7-4455-8BD1-B03A7509D2CB}"/>
              </a:ext>
            </a:extLst>
          </p:cNvPr>
          <p:cNvSpPr>
            <a:spLocks xmlns:a="http://schemas.openxmlformats.org/drawingml/2006/main" noGrp="1"/>
          </p:cNvSpPr>
          <p:nvPr/>
        </p:nvSpPr>
        <p:spPr>
          <a:xfrm xmlns:a="http://schemas.openxmlformats.org/drawingml/2006/main">
            <a:off x="10201275" y="491490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ŷ = f(xₜ)</a:t>
            </a:r>
          </a:p>
        </p:txBody>
      </p:sp>
      <p:sp>
        <p:nvSpPr>
          <p:cNvPr id="40" name="">
            <a:extLst xmlns:a="http://schemas.openxmlformats.org/drawingml/2006/main">
              <a:ext uri="{FF2B5EF4-FFF2-40B4-BE49-F238E27FC236}">
                <a16:creationId xmlns:a16="http://schemas.microsoft.com/office/drawing/2014/main" id="{5BEFF67A-97A8-4283-9208-C022F8A2E8A9}"/>
              </a:ext>
            </a:extLst>
          </p:cNvPr>
          <p:cNvSpPr>
            <a:spLocks xmlns:a="http://schemas.openxmlformats.org/drawingml/2006/main" noGrp="1"/>
          </p:cNvSpPr>
          <p:nvPr/>
        </p:nvSpPr>
        <p:spPr>
          <a:xfrm xmlns:a="http://schemas.openxmlformats.org/drawingml/2006/main">
            <a:off x="10096500" y="5295900"/>
            <a:ext cx="1619250" cy="666750"/>
          </a:xfrm>
          <a:prstGeom xmlns:a="http://schemas.openxmlformats.org/drawingml/2006/main" prst="rect">
            <a:avLst/>
          </a:prstGeom>
          <a:noFill xmlns:a="http://schemas.openxmlformats.org/drawingml/2006/main"/>
          <a:ln xmlns:a="http://schemas.openxmlformats.org/drawingml/2006/main" w="9525">
            <a:solidFill>
              <a:srgbClr val="C17824"/>
            </a:solidFill>
          </a:ln>
        </p:spPr>
      </p:sp>
      <p:sp>
        <p:nvSpPr>
          <p:cNvPr id="41" name="">
            <a:extLst xmlns:a="http://schemas.openxmlformats.org/drawingml/2006/main">
              <a:ext uri="{FF2B5EF4-FFF2-40B4-BE49-F238E27FC236}">
                <a16:creationId xmlns:a16="http://schemas.microsoft.com/office/drawing/2014/main" id="{0E767264-34C9-4D5E-B448-F966928E52CF}"/>
              </a:ext>
            </a:extLst>
          </p:cNvPr>
          <p:cNvSpPr>
            <a:spLocks xmlns:a="http://schemas.openxmlformats.org/drawingml/2006/main" noGrp="1"/>
          </p:cNvSpPr>
          <p:nvPr/>
        </p:nvSpPr>
        <p:spPr>
          <a:xfrm xmlns:a="http://schemas.openxmlformats.org/drawingml/2006/main">
            <a:off x="10201275" y="539115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1">
                <a:solidFill>
                  <a:srgbClr val="08273C"/>
                </a:solidFill>
                <a:latin typeface="Meiryo"/>
                <a:ea typeface="Meiryo"/>
                <a:cs typeface="Meiryo"/>
              </a:defRPr>
            </a:pPr>
            <a:r>
              <a:rPr sz="1425" b="1">
                <a:solidFill>
                  <a:srgbClr val="08273C"/>
                </a:solidFill>
                <a:latin typeface="Meiryo"/>
                <a:ea typeface="Meiryo"/>
                <a:cs typeface="Meiryo"/>
              </a:rPr>
              <a:t>警告・要確認</a:t>
            </a:r>
          </a:p>
        </p:txBody>
      </p:sp>
      <p:sp>
        <p:nvSpPr>
          <p:cNvPr id="42" name="">
            <a:extLst xmlns:a="http://schemas.openxmlformats.org/drawingml/2006/main">
              <a:ext uri="{FF2B5EF4-FFF2-40B4-BE49-F238E27FC236}">
                <a16:creationId xmlns:a16="http://schemas.microsoft.com/office/drawing/2014/main" id="{CE965FE7-531E-4BDC-BE68-2761F7313689}"/>
              </a:ext>
            </a:extLst>
          </p:cNvPr>
          <p:cNvSpPr>
            <a:spLocks xmlns:a="http://schemas.openxmlformats.org/drawingml/2006/main" noGrp="1"/>
          </p:cNvSpPr>
          <p:nvPr/>
        </p:nvSpPr>
        <p:spPr>
          <a:xfrm xmlns:a="http://schemas.openxmlformats.org/drawingml/2006/main">
            <a:off x="10201275" y="5734050"/>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運転員が確認</a:t>
            </a:r>
          </a:p>
        </p:txBody>
      </p:sp>
      <p:cxnSp>
        <p:nvCxnSpPr>
          <p:cNvPr id="96" name=""/>
          <p:cNvCxnSpPr>
            <a:stCxn xmlns:a="http://schemas.openxmlformats.org/drawingml/2006/main" id="25" idx="3"/>
            <a:endCxn xmlns:a="http://schemas.openxmlformats.org/drawingml/2006/main" id="28" idx="1"/>
          </p:cNvCxnSpPr>
          <p:nvPr/>
        </p:nvCxnSpPr>
        <p:spPr>
          <a:xfrm xmlns:a="http://schemas.openxmlformats.org/drawingml/2006/main">
            <a:off x="2000250" y="5167313"/>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97" name=""/>
          <p:cNvCxnSpPr>
            <a:stCxn xmlns:a="http://schemas.openxmlformats.org/drawingml/2006/main" id="28" idx="3"/>
            <a:endCxn xmlns:a="http://schemas.openxmlformats.org/drawingml/2006/main" id="31" idx="1"/>
          </p:cNvCxnSpPr>
          <p:nvPr/>
        </p:nvCxnSpPr>
        <p:spPr>
          <a:xfrm xmlns:a="http://schemas.openxmlformats.org/drawingml/2006/main">
            <a:off x="4762500" y="5167313"/>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98" name=""/>
          <p:cNvCxnSpPr>
            <a:stCxn xmlns:a="http://schemas.openxmlformats.org/drawingml/2006/main" id="31" idx="3"/>
            <a:endCxn xmlns:a="http://schemas.openxmlformats.org/drawingml/2006/main" id="34" idx="1"/>
          </p:cNvCxnSpPr>
          <p:nvPr/>
        </p:nvCxnSpPr>
        <p:spPr>
          <a:xfrm xmlns:a="http://schemas.openxmlformats.org/drawingml/2006/main">
            <a:off x="7286625" y="5167313"/>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99" name=""/>
          <p:cNvCxnSpPr>
            <a:stCxn xmlns:a="http://schemas.openxmlformats.org/drawingml/2006/main" id="34" idx="3"/>
            <a:endCxn xmlns:a="http://schemas.openxmlformats.org/drawingml/2006/main" id="37" idx="1"/>
          </p:cNvCxnSpPr>
          <p:nvPr/>
        </p:nvCxnSpPr>
        <p:spPr>
          <a:xfrm xmlns:a="http://schemas.openxmlformats.org/drawingml/2006/main" flipV="1">
            <a:off x="9429750" y="4810125"/>
            <a:ext cx="666750" cy="357188"/>
          </a:xfrm>
          <a:prstGeom xmlns:a="http://schemas.openxmlformats.org/drawingml/2006/main" prst="bentConnector3">
            <a:avLst>
              <a:gd name="adj1" fmla="val 50000"/>
            </a:avLst>
          </a:prstGeom>
          <a:ln xmlns:a="http://schemas.openxmlformats.org/drawingml/2006/main" w="13335">
            <a:solidFill>
              <a:srgbClr val="203645"/>
            </a:solidFill>
            <a:prstDash val="solid"/>
            <a:tailEnd type="triangle" w="sm" len="sm"/>
          </a:ln>
        </p:spPr>
      </p:cxnSp>
      <p:cxnSp>
        <p:nvCxnSpPr>
          <p:cNvPr id="100" name=""/>
          <p:cNvCxnSpPr>
            <a:stCxn xmlns:a="http://schemas.openxmlformats.org/drawingml/2006/main" id="34" idx="3"/>
            <a:endCxn xmlns:a="http://schemas.openxmlformats.org/drawingml/2006/main" id="40" idx="1"/>
          </p:cNvCxnSpPr>
          <p:nvPr/>
        </p:nvCxnSpPr>
        <p:spPr>
          <a:xfrm xmlns:a="http://schemas.openxmlformats.org/drawingml/2006/main">
            <a:off x="9429750" y="5167313"/>
            <a:ext cx="666750" cy="461963"/>
          </a:xfrm>
          <a:prstGeom xmlns:a="http://schemas.openxmlformats.org/drawingml/2006/main" prst="bentConnector3">
            <a:avLst>
              <a:gd name="adj1" fmla="val 50000"/>
            </a:avLst>
          </a:prstGeom>
          <a:ln xmlns:a="http://schemas.openxmlformats.org/drawingml/2006/main" w="13335">
            <a:solidFill>
              <a:srgbClr val="C17824"/>
            </a:solidFill>
            <a:prstDash val="solid"/>
            <a:tailEnd type="triangle" w="sm" len="sm"/>
          </a:ln>
        </p:spPr>
      </p:cxnSp>
      <p:sp>
        <p:nvSpPr>
          <p:cNvPr id="48" name="">
            <a:extLst xmlns:a="http://schemas.openxmlformats.org/drawingml/2006/main">
              <a:ext uri="{FF2B5EF4-FFF2-40B4-BE49-F238E27FC236}">
                <a16:creationId xmlns:a16="http://schemas.microsoft.com/office/drawing/2014/main" id="{AE56CA90-4070-436E-BC5C-52759CD8BA81}"/>
              </a:ext>
            </a:extLst>
          </p:cNvPr>
          <p:cNvSpPr>
            <a:spLocks xmlns:a="http://schemas.openxmlformats.org/drawingml/2006/main" noGrp="1"/>
          </p:cNvSpPr>
          <p:nvPr/>
        </p:nvSpPr>
        <p:spPr>
          <a:xfrm xmlns:a="http://schemas.openxmlformats.org/drawingml/2006/main">
            <a:off x="9505950" y="46386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007E87"/>
                </a:solidFill>
                <a:latin typeface="Meiryo"/>
                <a:ea typeface="Meiryo"/>
                <a:cs typeface="Meiryo"/>
              </a:defRPr>
            </a:pPr>
            <a:r>
              <a:rPr sz="1125" b="0">
                <a:solidFill>
                  <a:srgbClr val="007E87"/>
                </a:solidFill>
                <a:latin typeface="Meiryo"/>
                <a:ea typeface="Meiryo"/>
                <a:cs typeface="Meiryo"/>
              </a:rPr>
              <a:t>以下</a:t>
            </a:r>
          </a:p>
        </p:txBody>
      </p:sp>
      <p:sp>
        <p:nvSpPr>
          <p:cNvPr id="49" name="">
            <a:extLst xmlns:a="http://schemas.openxmlformats.org/drawingml/2006/main">
              <a:ext uri="{FF2B5EF4-FFF2-40B4-BE49-F238E27FC236}">
                <a16:creationId xmlns:a16="http://schemas.microsoft.com/office/drawing/2014/main" id="{179C1EF9-4977-4AB0-B6E2-2B656E1702B3}"/>
              </a:ext>
            </a:extLst>
          </p:cNvPr>
          <p:cNvSpPr>
            <a:spLocks xmlns:a="http://schemas.openxmlformats.org/drawingml/2006/main" noGrp="1"/>
          </p:cNvSpPr>
          <p:nvPr/>
        </p:nvSpPr>
        <p:spPr>
          <a:xfrm xmlns:a="http://schemas.openxmlformats.org/drawingml/2006/main">
            <a:off x="9505950" y="54006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C17824"/>
                </a:solidFill>
                <a:latin typeface="Meiryo"/>
                <a:ea typeface="Meiryo"/>
                <a:cs typeface="Meiryo"/>
              </a:defRPr>
            </a:pPr>
            <a:r>
              <a:rPr sz="1125" b="0">
                <a:solidFill>
                  <a:srgbClr val="C17824"/>
                </a:solidFill>
                <a:latin typeface="Meiryo"/>
                <a:ea typeface="Meiryo"/>
                <a:cs typeface="Meiryo"/>
              </a:rPr>
              <a:t>超過</a:t>
            </a:r>
          </a:p>
        </p:txBody>
      </p:sp>
      <p:sp>
        <p:nvSpPr>
          <p:cNvPr id="50" name="">
            <a:extLst xmlns:a="http://schemas.openxmlformats.org/drawingml/2006/main">
              <a:ext uri="{FF2B5EF4-FFF2-40B4-BE49-F238E27FC236}">
                <a16:creationId xmlns:a16="http://schemas.microsoft.com/office/drawing/2014/main" id="{EDE35C20-E9F8-437B-B9B5-AA65C601DCD4}"/>
              </a:ext>
            </a:extLst>
          </p:cNvPr>
          <p:cNvSpPr>
            <a:spLocks xmlns:a="http://schemas.openxmlformats.org/drawingml/2006/main" noGrp="1"/>
          </p:cNvSpPr>
          <p:nvPr/>
        </p:nvSpPr>
        <p:spPr>
          <a:xfrm xmlns:a="http://schemas.openxmlformats.org/drawingml/2006/main">
            <a:off x="476250" y="60102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6229ADA9-F0F3-414F-A344-592B62067697}"/>
              </a:ext>
            </a:extLst>
          </p:cNvPr>
          <p:cNvSpPr>
            <a:spLocks xmlns:a="http://schemas.openxmlformats.org/drawingml/2006/main" noGrp="1"/>
          </p:cNvSpPr>
          <p:nvPr/>
        </p:nvSpPr>
        <p:spPr>
          <a:xfrm xmlns:a="http://schemas.openxmlformats.org/drawingml/2006/main">
            <a:off x="476250" y="61150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入力チェックや閾値の校正も含め、検知器を回帰モデルの運用に組み込む。</a:t>
            </a:r>
          </a:p>
        </p:txBody>
      </p:sp>
      <p:sp>
        <p:nvSpPr>
          <p:cNvPr id="52" name="">
            <a:extLst xmlns:a="http://schemas.openxmlformats.org/drawingml/2006/main">
              <a:ext uri="{FF2B5EF4-FFF2-40B4-BE49-F238E27FC236}">
                <a16:creationId xmlns:a16="http://schemas.microsoft.com/office/drawing/2014/main" id="{7CCCEF49-3D82-4596-A639-EE39103D27C8}"/>
              </a:ext>
            </a:extLst>
          </p:cNvPr>
          <p:cNvSpPr>
            <a:spLocks xmlns:a="http://schemas.openxmlformats.org/drawingml/2006/main" noGrp="1"/>
          </p:cNvSpPr>
          <p:nvPr/>
        </p:nvSpPr>
        <p:spPr>
          <a:xfrm xmlns:a="http://schemas.openxmlformats.org/drawingml/2006/main">
            <a:off x="476250" y="65436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88" b="0">
                <a:solidFill>
                  <a:srgbClr val="63747E"/>
                </a:solidFill>
                <a:latin typeface="Meiryo"/>
                <a:ea typeface="Meiryo"/>
                <a:cs typeface="Meiryo"/>
              </a:defRPr>
            </a:pPr>
            <a:r>
              <a:rPr sz="788" b="0">
                <a:solidFill>
                  <a:srgbClr val="63747E"/>
                </a:solidFill>
                <a:latin typeface="Meiryo"/>
                <a:ea typeface="Meiryo"/>
                <a:cs typeface="Meiryo"/>
              </a:rPr>
              <a:t>運用構成の提案。回帰器と検知器の学習は別工程。欠測処理・閾値設定は各システムで定める。</a:t>
            </a:r>
          </a:p>
        </p:txBody>
      </p:sp>
      <p:sp>
        <p:nvSpPr>
          <p:cNvPr id="53" name="">
            <a:extLst xmlns:a="http://schemas.openxmlformats.org/drawingml/2006/main">
              <a:ext uri="{FF2B5EF4-FFF2-40B4-BE49-F238E27FC236}">
                <a16:creationId xmlns:a16="http://schemas.microsoft.com/office/drawing/2014/main" id="{88435506-250F-4CA7-989A-1970E4902568}"/>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02</a:t>
            </a:r>
          </a:p>
        </p:txBody>
      </p:sp>
    </p:spTree>
    <p:extLst>
      <p:ext uri="{BB962C8B-B14F-4D97-AF65-F5344CB8AC3E}">
        <p14:creationId xmlns:p14="http://schemas.microsoft.com/office/powerpoint/2010/main" val="21017198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40D0432-4EF2-4D3C-B1BE-BFBBC8CF21DA}"/>
              </a:ext>
            </a:extLst>
          </p:cNvPr>
          <p:cNvSpPr>
            <a:spLocks xmlns:a="http://schemas.openxmlformats.org/drawingml/2006/main" noGrp="1"/>
          </p:cNvSpPr>
          <p:nvPr/>
        </p:nvSpPr>
        <p:spPr>
          <a:xfrm xmlns:a="http://schemas.openxmlformats.org/drawingml/2006/main">
            <a:off x="476250" y="4953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8273C"/>
                </a:solidFill>
                <a:latin typeface="Meiryo"/>
                <a:ea typeface="Meiryo"/>
                <a:cs typeface="Meiryo"/>
              </a:defRPr>
            </a:pPr>
            <a:r>
              <a:rPr sz="2625" b="1">
                <a:solidFill>
                  <a:srgbClr val="08273C"/>
                </a:solidFill>
                <a:latin typeface="Meiryo"/>
                <a:ea typeface="Meiryo"/>
                <a:cs typeface="Meiryo"/>
              </a:rPr>
              <a:t>対象：多変量数値入力を持つ回帰モデル</a:t>
            </a:r>
          </a:p>
        </p:txBody>
      </p:sp>
      <p:sp>
        <p:nvSpPr>
          <p:cNvPr id="2" name="">
            <a:extLst xmlns:a="http://schemas.openxmlformats.org/drawingml/2006/main">
              <a:ext uri="{FF2B5EF4-FFF2-40B4-BE49-F238E27FC236}">
                <a16:creationId xmlns:a16="http://schemas.microsoft.com/office/drawing/2014/main" id="{FF88397B-5755-4014-9628-4C8D2E2BB5F2}"/>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295CB2-B4E8-4CA1-A6A1-57D394359DA2}"/>
              </a:ext>
            </a:extLst>
          </p:cNvPr>
          <p:cNvSpPr>
            <a:spLocks xmlns:a="http://schemas.openxmlformats.org/drawingml/2006/main" noGrp="1"/>
          </p:cNvSpPr>
          <p:nvPr/>
        </p:nvSpPr>
        <p:spPr>
          <a:xfrm xmlns:a="http://schemas.openxmlformats.org/drawingml/2006/main">
            <a:off x="523875" y="150495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C17824"/>
                </a:solidFill>
                <a:latin typeface="Meiryo"/>
                <a:ea typeface="Meiryo"/>
                <a:cs typeface="Meiryo"/>
              </a:defRPr>
            </a:pPr>
            <a:r>
              <a:rPr sz="1800" b="1">
                <a:solidFill>
                  <a:srgbClr val="C17824"/>
                </a:solidFill>
                <a:latin typeface="Meiryo"/>
                <a:ea typeface="Meiryo"/>
                <a:cs typeface="Meiryo"/>
              </a:rPr>
              <a:t>検知手法の適用対象</a:t>
            </a:r>
          </a:p>
        </p:txBody>
      </p:sp>
      <p:sp>
        <p:nvSpPr>
          <p:cNvPr id="5" name="">
            <a:extLst xmlns:a="http://schemas.openxmlformats.org/drawingml/2006/main">
              <a:ext uri="{FF2B5EF4-FFF2-40B4-BE49-F238E27FC236}">
                <a16:creationId xmlns:a16="http://schemas.microsoft.com/office/drawing/2014/main" id="{BB5E36DE-F847-4688-8223-DF9C0AA471A6}"/>
              </a:ext>
            </a:extLst>
          </p:cNvPr>
          <p:cNvSpPr>
            <a:spLocks xmlns:a="http://schemas.openxmlformats.org/drawingml/2006/main" noGrp="1"/>
          </p:cNvSpPr>
          <p:nvPr/>
        </p:nvSpPr>
        <p:spPr>
          <a:xfrm xmlns:a="http://schemas.openxmlformats.org/drawingml/2006/main">
            <a:off x="523875" y="1971675"/>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0">
                <a:solidFill>
                  <a:srgbClr val="08273C"/>
                </a:solidFill>
                <a:latin typeface="Cambria"/>
                <a:ea typeface="Cambria"/>
                <a:cs typeface="Cambria"/>
              </a:defRPr>
            </a:pPr>
            <a:r>
              <a:rPr sz="2550" b="0">
                <a:solidFill>
                  <a:srgbClr val="08273C"/>
                </a:solidFill>
                <a:latin typeface="Cambria"/>
                <a:ea typeface="Cambria"/>
                <a:cs typeface="Cambria"/>
              </a:rPr>
              <a:t>xₜ ∈ ℝᵈ,  d ≥ 2      ŷ = fθ(xₜ)</a:t>
            </a:r>
          </a:p>
        </p:txBody>
      </p:sp>
      <p:sp>
        <p:nvSpPr>
          <p:cNvPr id="6" name="">
            <a:extLst xmlns:a="http://schemas.openxmlformats.org/drawingml/2006/main">
              <a:ext uri="{FF2B5EF4-FFF2-40B4-BE49-F238E27FC236}">
                <a16:creationId xmlns:a16="http://schemas.microsoft.com/office/drawing/2014/main" id="{C15B517A-B2A2-4C82-8D19-0331AF3C111B}"/>
              </a:ext>
            </a:extLst>
          </p:cNvPr>
          <p:cNvSpPr>
            <a:spLocks xmlns:a="http://schemas.openxmlformats.org/drawingml/2006/main" noGrp="1"/>
          </p:cNvSpPr>
          <p:nvPr/>
        </p:nvSpPr>
        <p:spPr>
          <a:xfrm xmlns:a="http://schemas.openxmlformats.org/drawingml/2006/main">
            <a:off x="523875" y="260985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203645"/>
                </a:solidFill>
                <a:latin typeface="Meiryo"/>
                <a:ea typeface="Meiryo"/>
                <a:cs typeface="Meiryo"/>
              </a:defRPr>
            </a:pPr>
            <a:r>
              <a:rPr sz="1875" b="0">
                <a:solidFill>
                  <a:srgbClr val="203645"/>
                </a:solidFill>
                <a:latin typeface="Meiryo"/>
                <a:ea typeface="Meiryo"/>
                <a:cs typeface="Meiryo"/>
              </a:rPr>
              <a:t>時系列データを対象とするが、1時刻の入力ベクトルも含む。</a:t>
            </a:r>
          </a:p>
        </p:txBody>
      </p:sp>
      <p:sp>
        <p:nvSpPr>
          <p:cNvPr id="7" name="">
            <a:extLst xmlns:a="http://schemas.openxmlformats.org/drawingml/2006/main">
              <a:ext uri="{FF2B5EF4-FFF2-40B4-BE49-F238E27FC236}">
                <a16:creationId xmlns:a16="http://schemas.microsoft.com/office/drawing/2014/main" id="{15F8E5AA-EE1D-45E0-B1DD-4568DAF90221}"/>
              </a:ext>
            </a:extLst>
          </p:cNvPr>
          <p:cNvSpPr>
            <a:spLocks xmlns:a="http://schemas.openxmlformats.org/drawingml/2006/main" noGrp="1"/>
          </p:cNvSpPr>
          <p:nvPr/>
        </p:nvSpPr>
        <p:spPr>
          <a:xfrm xmlns:a="http://schemas.openxmlformats.org/drawingml/2006/main">
            <a:off x="523875" y="32861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007E87"/>
                </a:solidFill>
                <a:latin typeface="Meiryo"/>
                <a:ea typeface="Meiryo"/>
                <a:cs typeface="Meiryo"/>
              </a:defRPr>
            </a:pPr>
            <a:r>
              <a:rPr sz="1800" b="1">
                <a:solidFill>
                  <a:srgbClr val="007E87"/>
                </a:solidFill>
                <a:latin typeface="Meiryo"/>
                <a:ea typeface="Meiryo"/>
                <a:cs typeface="Meiryo"/>
              </a:rPr>
              <a:t>(a) 配水圧力推定</a:t>
            </a:r>
          </a:p>
        </p:txBody>
      </p:sp>
      <p:sp>
        <p:nvSpPr>
          <p:cNvPr id="8" name="">
            <a:extLst xmlns:a="http://schemas.openxmlformats.org/drawingml/2006/main">
              <a:ext uri="{FF2B5EF4-FFF2-40B4-BE49-F238E27FC236}">
                <a16:creationId xmlns:a16="http://schemas.microsoft.com/office/drawing/2014/main" id="{67E23AEB-2668-4863-A59F-CFFD29E642E7}"/>
              </a:ext>
            </a:extLst>
          </p:cNvPr>
          <p:cNvSpPr>
            <a:spLocks xmlns:a="http://schemas.openxmlformats.org/drawingml/2006/main" noGrp="1"/>
          </p:cNvSpPr>
          <p:nvPr/>
        </p:nvSpPr>
        <p:spPr>
          <a:xfrm xmlns:a="http://schemas.openxmlformats.org/drawingml/2006/main">
            <a:off x="6477000" y="32861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007E87"/>
                </a:solidFill>
                <a:latin typeface="Meiryo"/>
                <a:ea typeface="Meiryo"/>
                <a:cs typeface="Meiryo"/>
              </a:defRPr>
            </a:pPr>
            <a:r>
              <a:rPr sz="1800" b="1">
                <a:solidFill>
                  <a:srgbClr val="007E87"/>
                </a:solidFill>
                <a:latin typeface="Meiryo"/>
                <a:ea typeface="Meiryo"/>
                <a:cs typeface="Meiryo"/>
              </a:rPr>
              <a:t>(b) 処理後濁度予測</a:t>
            </a:r>
          </a:p>
        </p:txBody>
      </p:sp>
      <p:sp>
        <p:nvSpPr>
          <p:cNvPr id="9" name="">
            <a:extLst xmlns:a="http://schemas.openxmlformats.org/drawingml/2006/main">
              <a:ext uri="{FF2B5EF4-FFF2-40B4-BE49-F238E27FC236}">
                <a16:creationId xmlns:a16="http://schemas.microsoft.com/office/drawing/2014/main" id="{155A27D9-B15C-4ED2-8236-D22E761B7FA7}"/>
              </a:ext>
            </a:extLst>
          </p:cNvPr>
          <p:cNvSpPr>
            <a:spLocks xmlns:a="http://schemas.openxmlformats.org/drawingml/2006/main" noGrp="1"/>
          </p:cNvSpPr>
          <p:nvPr/>
        </p:nvSpPr>
        <p:spPr>
          <a:xfrm xmlns:a="http://schemas.openxmlformats.org/drawingml/2006/main">
            <a:off x="523875" y="3876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203645"/>
                </a:solidFill>
                <a:latin typeface="Meiryo"/>
                <a:ea typeface="Meiryo"/>
                <a:cs typeface="Meiryo"/>
              </a:defRPr>
            </a:pPr>
            <a:r>
              <a:rPr sz="2100" b="0">
                <a:solidFill>
                  <a:srgbClr val="203645"/>
                </a:solidFill>
                <a:latin typeface="Meiryo"/>
                <a:ea typeface="Meiryo"/>
                <a:cs typeface="Meiryo"/>
              </a:rPr>
              <a:t>xₜ = [流量ₜ, 圧力ₜ, …]</a:t>
            </a:r>
          </a:p>
        </p:txBody>
      </p:sp>
      <p:sp>
        <p:nvSpPr>
          <p:cNvPr id="10" name="">
            <a:extLst xmlns:a="http://schemas.openxmlformats.org/drawingml/2006/main">
              <a:ext uri="{FF2B5EF4-FFF2-40B4-BE49-F238E27FC236}">
                <a16:creationId xmlns:a16="http://schemas.microsoft.com/office/drawing/2014/main" id="{6944E9E9-1964-47B5-9A98-61D226F57D44}"/>
              </a:ext>
            </a:extLst>
          </p:cNvPr>
          <p:cNvSpPr>
            <a:spLocks xmlns:a="http://schemas.openxmlformats.org/drawingml/2006/main" noGrp="1"/>
          </p:cNvSpPr>
          <p:nvPr/>
        </p:nvSpPr>
        <p:spPr>
          <a:xfrm xmlns:a="http://schemas.openxmlformats.org/drawingml/2006/main">
            <a:off x="6477000" y="387667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203645"/>
                </a:solidFill>
                <a:latin typeface="Meiryo"/>
                <a:ea typeface="Meiryo"/>
                <a:cs typeface="Meiryo"/>
              </a:defRPr>
            </a:pPr>
            <a:r>
              <a:rPr sz="1950" b="0">
                <a:solidFill>
                  <a:srgbClr val="203645"/>
                </a:solidFill>
                <a:latin typeface="Meiryo"/>
                <a:ea typeface="Meiryo"/>
                <a:cs typeface="Meiryo"/>
              </a:rPr>
              <a:t>xₜ = [原水濁度ₜ, 薬品注入率ₜ, …]</a:t>
            </a:r>
          </a:p>
        </p:txBody>
      </p:sp>
      <p:sp>
        <p:nvSpPr>
          <p:cNvPr id="11" name="">
            <a:extLst xmlns:a="http://schemas.openxmlformats.org/drawingml/2006/main">
              <a:ext uri="{FF2B5EF4-FFF2-40B4-BE49-F238E27FC236}">
                <a16:creationId xmlns:a16="http://schemas.microsoft.com/office/drawing/2014/main" id="{3D9F1480-D816-46DD-899E-EC0DE2252904}"/>
              </a:ext>
            </a:extLst>
          </p:cNvPr>
          <p:cNvSpPr>
            <a:spLocks xmlns:a="http://schemas.openxmlformats.org/drawingml/2006/main" noGrp="1"/>
          </p:cNvSpPr>
          <p:nvPr/>
        </p:nvSpPr>
        <p:spPr>
          <a:xfrm xmlns:a="http://schemas.openxmlformats.org/drawingml/2006/main">
            <a:off x="523875" y="46863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08273C"/>
                </a:solidFill>
                <a:latin typeface="Meiryo"/>
                <a:ea typeface="Meiryo"/>
                <a:cs typeface="Meiryo"/>
              </a:defRPr>
            </a:pPr>
            <a:r>
              <a:rPr sz="2175" b="0">
                <a:solidFill>
                  <a:srgbClr val="08273C"/>
                </a:solidFill>
                <a:latin typeface="Meiryo"/>
                <a:ea typeface="Meiryo"/>
                <a:cs typeface="Meiryo"/>
              </a:rPr>
              <a:t>xₜ   →   fθ   →   配水先の圧力</a:t>
            </a:r>
          </a:p>
        </p:txBody>
      </p:sp>
      <p:sp>
        <p:nvSpPr>
          <p:cNvPr id="12" name="">
            <a:extLst xmlns:a="http://schemas.openxmlformats.org/drawingml/2006/main">
              <a:ext uri="{FF2B5EF4-FFF2-40B4-BE49-F238E27FC236}">
                <a16:creationId xmlns:a16="http://schemas.microsoft.com/office/drawing/2014/main" id="{B9A8FF3D-68BB-414F-8CF7-DBD455CCD2AF}"/>
              </a:ext>
            </a:extLst>
          </p:cNvPr>
          <p:cNvSpPr>
            <a:spLocks xmlns:a="http://schemas.openxmlformats.org/drawingml/2006/main" noGrp="1"/>
          </p:cNvSpPr>
          <p:nvPr/>
        </p:nvSpPr>
        <p:spPr>
          <a:xfrm xmlns:a="http://schemas.openxmlformats.org/drawingml/2006/main">
            <a:off x="6477000" y="46863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08273C"/>
                </a:solidFill>
                <a:latin typeface="Meiryo"/>
                <a:ea typeface="Meiryo"/>
                <a:cs typeface="Meiryo"/>
              </a:defRPr>
            </a:pPr>
            <a:r>
              <a:rPr sz="2100" b="0">
                <a:solidFill>
                  <a:srgbClr val="08273C"/>
                </a:solidFill>
                <a:latin typeface="Meiryo"/>
                <a:ea typeface="Meiryo"/>
                <a:cs typeface="Meiryo"/>
              </a:rPr>
              <a:t>xₜ   →   fθ   →   処理後濁度ₜ₊Δ</a:t>
            </a:r>
          </a:p>
        </p:txBody>
      </p:sp>
      <p:sp>
        <p:nvSpPr>
          <p:cNvPr id="13" name="">
            <a:extLst xmlns:a="http://schemas.openxmlformats.org/drawingml/2006/main">
              <a:ext uri="{FF2B5EF4-FFF2-40B4-BE49-F238E27FC236}">
                <a16:creationId xmlns:a16="http://schemas.microsoft.com/office/drawing/2014/main" id="{56406A75-54C0-4F07-A3F8-D336BF2936B1}"/>
              </a:ext>
            </a:extLst>
          </p:cNvPr>
          <p:cNvSpPr>
            <a:spLocks xmlns:a="http://schemas.openxmlformats.org/drawingml/2006/main" noGrp="1"/>
          </p:cNvSpPr>
          <p:nvPr/>
        </p:nvSpPr>
        <p:spPr>
          <a:xfrm xmlns:a="http://schemas.openxmlformats.org/drawingml/2006/main">
            <a:off x="523875" y="5448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0">
                <a:solidFill>
                  <a:srgbClr val="61717B"/>
                </a:solidFill>
                <a:latin typeface="Meiryo"/>
                <a:ea typeface="Meiryo"/>
                <a:cs typeface="Meiryo"/>
              </a:defRPr>
            </a:pPr>
            <a:r>
              <a:rPr sz="1575" b="0">
                <a:solidFill>
                  <a:srgbClr val="61717B"/>
                </a:solidFill>
                <a:latin typeface="Meiryo"/>
                <a:ea typeface="Meiryo"/>
                <a:cs typeface="Meiryo"/>
              </a:rPr>
              <a:t>回帰器のアルゴリズムは限定しない。特定モデルへの依存は比較条件として記録する。</a:t>
            </a:r>
          </a:p>
        </p:txBody>
      </p:sp>
      <p:sp>
        <p:nvSpPr>
          <p:cNvPr id="14" name="">
            <a:extLst xmlns:a="http://schemas.openxmlformats.org/drawingml/2006/main">
              <a:ext uri="{FF2B5EF4-FFF2-40B4-BE49-F238E27FC236}">
                <a16:creationId xmlns:a16="http://schemas.microsoft.com/office/drawing/2014/main" id="{2D8D6A61-7E97-473A-8C9D-437DF84213DA}"/>
              </a:ext>
            </a:extLst>
          </p:cNvPr>
          <p:cNvSpPr>
            <a:spLocks xmlns:a="http://schemas.openxmlformats.org/drawingml/2006/main" noGrp="1"/>
          </p:cNvSpPr>
          <p:nvPr/>
        </p:nvSpPr>
        <p:spPr>
          <a:xfrm xmlns:a="http://schemas.openxmlformats.org/drawingml/2006/main">
            <a:off x="476250" y="5857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E0A21D2-E489-463E-B4C2-33EAF7572187}"/>
              </a:ext>
            </a:extLst>
          </p:cNvPr>
          <p:cNvSpPr>
            <a:spLocks xmlns:a="http://schemas.openxmlformats.org/drawingml/2006/main" noGrp="1"/>
          </p:cNvSpPr>
          <p:nvPr/>
        </p:nvSpPr>
        <p:spPr>
          <a:xfrm xmlns:a="http://schemas.openxmlformats.org/drawingml/2006/main">
            <a:off x="476250" y="60007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08273C"/>
                </a:solidFill>
                <a:latin typeface="Meiryo"/>
                <a:ea typeface="Meiryo"/>
                <a:cs typeface="Meiryo"/>
              </a:defRPr>
            </a:pPr>
            <a:r>
              <a:rPr sz="1650" b="1">
                <a:solidFill>
                  <a:srgbClr val="08273C"/>
                </a:solidFill>
                <a:latin typeface="Meiryo"/>
                <a:ea typeface="Meiryo"/>
                <a:cs typeface="Meiryo"/>
              </a:rPr>
              <a:t>Multivariate  /  Numerical  /  Time-series  /  Regression</a:t>
            </a:r>
          </a:p>
        </p:txBody>
      </p:sp>
      <p:sp>
        <p:nvSpPr>
          <p:cNvPr id="16" name="">
            <a:extLst xmlns:a="http://schemas.openxmlformats.org/drawingml/2006/main">
              <a:ext uri="{FF2B5EF4-FFF2-40B4-BE49-F238E27FC236}">
                <a16:creationId xmlns:a16="http://schemas.microsoft.com/office/drawing/2014/main" id="{53A2A508-5E3B-4F4A-8904-E2E75F695CD4}"/>
              </a:ext>
            </a:extLst>
          </p:cNvPr>
          <p:cNvSpPr>
            <a:spLocks xmlns:a="http://schemas.openxmlformats.org/drawingml/2006/main" noGrp="1"/>
          </p:cNvSpPr>
          <p:nvPr/>
        </p:nvSpPr>
        <p:spPr>
          <a:xfrm xmlns:a="http://schemas.openxmlformats.org/drawingml/2006/main">
            <a:off x="476250" y="6496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61717B"/>
                </a:solidFill>
                <a:latin typeface="Meiryo"/>
                <a:ea typeface="Meiryo"/>
                <a:cs typeface="Meiryo"/>
              </a:defRPr>
            </a:pPr>
            <a:r>
              <a:rPr sz="825" b="0">
                <a:solidFill>
                  <a:srgbClr val="61717B"/>
                </a:solidFill>
                <a:latin typeface="Meiryo"/>
                <a:ea typeface="Meiryo"/>
                <a:cs typeface="Meiryo"/>
              </a:rPr>
              <a:t>実習要求・ユーザー構想・山原 §2。具体的変数、遅れ Δ、履歴長は未確定。</a:t>
            </a:r>
          </a:p>
        </p:txBody>
      </p:sp>
      <p:sp>
        <p:nvSpPr>
          <p:cNvPr id="18" name="">
            <a:extLst xmlns:a="http://schemas.openxmlformats.org/drawingml/2006/main">
              <a:ext uri="{FF2B5EF4-FFF2-40B4-BE49-F238E27FC236}">
                <a16:creationId xmlns:a16="http://schemas.microsoft.com/office/drawing/2014/main" id="{2F326DF6-7081-447B-8350-B203FA4303B6}"/>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03</a:t>
            </a:r>
          </a:p>
        </p:txBody>
      </p:sp>
    </p:spTree>
    <p:extLst>
      <p:ext uri="{BB962C8B-B14F-4D97-AF65-F5344CB8AC3E}">
        <p14:creationId xmlns:p14="http://schemas.microsoft.com/office/powerpoint/2010/main" val="21017198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A62F52-A7BC-4AB3-BCE0-84BD26BA6EED}"/>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008E99"/>
                </a:solidFill>
                <a:latin typeface="Meiryo"/>
                <a:ea typeface="Meiryo"/>
                <a:cs typeface="Meiryo"/>
              </a:defRPr>
            </a:pPr>
            <a:r>
              <a:rPr sz="1200" b="1">
                <a:solidFill>
                  <a:srgbClr val="008E99"/>
                </a:solidFill>
                <a:latin typeface="Meiryo"/>
                <a:ea typeface="Meiryo"/>
                <a:cs typeface="Meiryo"/>
              </a:rPr>
              <a:t>文献と定義と分類</a:t>
            </a:r>
          </a:p>
        </p:txBody>
      </p:sp>
      <p:sp>
        <p:nvSpPr>
          <p:cNvPr id="2" name="">
            <a:extLst xmlns:a="http://schemas.openxmlformats.org/drawingml/2006/main">
              <a:ext uri="{FF2B5EF4-FFF2-40B4-BE49-F238E27FC236}">
                <a16:creationId xmlns:a16="http://schemas.microsoft.com/office/drawing/2014/main" id="{BE4FBD62-F0EA-4494-B3C9-58A0AB7EB7C1}"/>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08273C"/>
                </a:solidFill>
                <a:latin typeface="Meiryo"/>
                <a:ea typeface="Meiryo"/>
                <a:cs typeface="Meiryo"/>
              </a:defRPr>
            </a:pPr>
            <a:r>
              <a:rPr sz="2625" b="1">
                <a:solidFill>
                  <a:srgbClr val="08273C"/>
                </a:solidFill>
                <a:latin typeface="Meiryo"/>
                <a:ea typeface="Meiryo"/>
                <a:cs typeface="Meiryo"/>
              </a:rPr>
              <a:t>調査した5編と、本報告での役割</a:t>
            </a:r>
          </a:p>
        </p:txBody>
      </p:sp>
      <p:graphicFrame>
        <p:nvGraphicFramePr>
          <p:cNvPr id="14" name=""/>
          <p:cNvGraphicFramePr/>
          <p:nvPr/>
        </p:nvGraphicFramePr>
        <p:xfrm>
          <a:off xmlns:a="http://schemas.openxmlformats.org/drawingml/2006/main" x="476250" y="1600200"/>
          <a:ext xmlns:a="http://schemas.openxmlformats.org/drawingml/2006/main" cx="11239500" cy="3619500"/>
        </p:xfrm>
        <a:graphic xmlns:a="http://schemas.openxmlformats.org/drawingml/2006/main">
          <a:graphicData uri="http://schemas.openxmlformats.org/drawingml/2006/table">
            <a:tbl>
              <a:tblPr/>
              <a:tblGrid>
                <a:gridCol w="1666875"/>
                <a:gridCol w="4810125"/>
                <a:gridCol w="4762500"/>
              </a:tblGrid>
              <a:tr h="603250">
                <a:tc>
                  <a:txBody>
                    <a:bodyPr/>
                    <a:lstStyle/>
                    <a:p>
                      <a:r>
                        <a:rPr sz="1725" b="1">
                          <a:solidFill>
                            <a:srgbClr val="FFFFFF"/>
                          </a:solidFill>
                          <a:latin typeface="Meiryo"/>
                          <a:ea typeface="Meiryo"/>
                          <a:cs typeface="Meiryo"/>
                        </a:rPr>
                        <a:t>文献</a:t>
                      </a:r>
                    </a:p>
                  </a:txBody>
                  <a:tcPr marL="114300" marR="95250" marT="76200" marB="57150" anchor="ctr">
                    <a:solidFill>
                      <a:srgbClr val="08273C"/>
                    </a:solidFill>
                  </a:tcPr>
                </a:tc>
                <a:tc>
                  <a:txBody>
                    <a:bodyPr/>
                    <a:lstStyle/>
                    <a:p>
                      <a:r>
                        <a:rPr sz="1725" b="1">
                          <a:solidFill>
                            <a:srgbClr val="FFFFFF"/>
                          </a:solidFill>
                          <a:latin typeface="Meiryo"/>
                          <a:ea typeface="Meiryo"/>
                          <a:cs typeface="Meiryo"/>
                        </a:rPr>
                        <a:t>内容</a:t>
                      </a:r>
                    </a:p>
                  </a:txBody>
                  <a:tcPr marL="114300" marR="95250" marT="76200" marB="57150" anchor="ctr">
                    <a:solidFill>
                      <a:srgbClr val="08273C"/>
                    </a:solidFill>
                  </a:tcPr>
                </a:tc>
                <a:tc>
                  <a:txBody>
                    <a:bodyPr/>
                    <a:lstStyle/>
                    <a:p>
                      <a:r>
                        <a:rPr sz="1725" b="1">
                          <a:solidFill>
                            <a:srgbClr val="FFFFFF"/>
                          </a:solidFill>
                          <a:latin typeface="Meiryo"/>
                          <a:ea typeface="Meiryo"/>
                          <a:cs typeface="Meiryo"/>
                        </a:rPr>
                        <a:t>今回の調査への寄与</a:t>
                      </a:r>
                    </a:p>
                  </a:txBody>
                  <a:tcPr marL="114300" marR="95250" marT="76200" marB="57150" anchor="ctr">
                    <a:solidFill>
                      <a:srgbClr val="08273C"/>
                    </a:solidFill>
                  </a:tcPr>
                </a:tc>
              </a:tr>
              <a:tr h="603250">
                <a:tc>
                  <a:txBody>
                    <a:bodyPr/>
                    <a:lstStyle/>
                    <a:p>
                      <a:r>
                        <a:rPr sz="1725" b="0">
                          <a:solidFill>
                            <a:srgbClr val="19384B"/>
                          </a:solidFill>
                          <a:latin typeface="Meiryo"/>
                          <a:ea typeface="Meiryo"/>
                          <a:cs typeface="Meiryo"/>
                        </a:rPr>
                        <a:t>S1｜2022</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16手法・5データセットの比較</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複雑さと評価条件を確認</a:t>
                      </a:r>
                    </a:p>
                  </a:txBody>
                  <a:tcPr marL="114300" marR="95250" marT="76200" marB="57150" anchor="ctr">
                    <a:solidFill>
                      <a:srgbClr val="EDF6F8"/>
                    </a:solidFill>
                  </a:tcPr>
                </a:tc>
              </a:tr>
              <a:tr h="603250">
                <a:tc>
                  <a:txBody>
                    <a:bodyPr/>
                    <a:lstStyle/>
                    <a:p>
                      <a:r>
                        <a:rPr sz="1725" b="0">
                          <a:solidFill>
                            <a:srgbClr val="19384B"/>
                          </a:solidFill>
                          <a:latin typeface="Meiryo"/>
                          <a:ea typeface="Meiryo"/>
                          <a:cs typeface="Meiryo"/>
                        </a:rPr>
                        <a:t>S3｜2021</a:t>
                      </a:r>
                    </a:p>
                  </a:txBody>
                  <a:tcPr marL="114300" marR="95250" marT="76200" marB="57150" anchor="ctr">
                    <a:solidFill>
                      <a:srgbClr val="FFFFFF"/>
                    </a:solidFill>
                  </a:tcPr>
                </a:tc>
                <a:tc>
                  <a:txBody>
                    <a:bodyPr/>
                    <a:lstStyle/>
                    <a:p>
                      <a:r>
                        <a:rPr sz="1725" b="0">
                          <a:solidFill>
                            <a:srgbClr val="19384B"/>
                          </a:solidFill>
                          <a:latin typeface="Meiryo"/>
                          <a:ea typeface="Meiryo"/>
                          <a:cs typeface="Meiryo"/>
                        </a:rPr>
                        <a:t>時系列の外れ値検知レビュー</a:t>
                      </a:r>
                    </a:p>
                  </a:txBody>
                  <a:tcPr marL="114300" marR="95250" marT="76200" marB="57150" anchor="ctr">
                    <a:solidFill>
                      <a:srgbClr val="FFFFFF"/>
                    </a:solidFill>
                  </a:tcPr>
                </a:tc>
                <a:tc>
                  <a:txBody>
                    <a:bodyPr/>
                    <a:lstStyle/>
                    <a:p>
                      <a:r>
                        <a:rPr sz="1725" b="0">
                          <a:solidFill>
                            <a:srgbClr val="19384B"/>
                          </a:solidFill>
                          <a:latin typeface="Meiryo"/>
                          <a:ea typeface="Meiryo"/>
                          <a:cs typeface="Meiryo"/>
                        </a:rPr>
                        <a:t>異常の粒度・時間情報を整理</a:t>
                      </a:r>
                    </a:p>
                  </a:txBody>
                  <a:tcPr marL="114300" marR="95250" marT="76200" marB="57150" anchor="ctr">
                    <a:solidFill>
                      <a:srgbClr val="FFFFFF"/>
                    </a:solidFill>
                  </a:tcPr>
                </a:tc>
              </a:tr>
              <a:tr h="603250">
                <a:tc>
                  <a:txBody>
                    <a:bodyPr/>
                    <a:lstStyle/>
                    <a:p>
                      <a:r>
                        <a:rPr sz="1725" b="0">
                          <a:solidFill>
                            <a:srgbClr val="19384B"/>
                          </a:solidFill>
                          <a:latin typeface="Meiryo"/>
                          <a:ea typeface="Meiryo"/>
                          <a:cs typeface="Meiryo"/>
                        </a:rPr>
                        <a:t>S6｜2025</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深層多変量時系列のサーベイ</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手法分類・変数間関係を整理</a:t>
                      </a:r>
                    </a:p>
                  </a:txBody>
                  <a:tcPr marL="114300" marR="95250" marT="76200" marB="57150" anchor="ctr">
                    <a:solidFill>
                      <a:srgbClr val="EDF6F8"/>
                    </a:solidFill>
                  </a:tcPr>
                </a:tc>
              </a:tr>
              <a:tr h="603250">
                <a:tc>
                  <a:txBody>
                    <a:bodyPr/>
                    <a:lstStyle/>
                    <a:p>
                      <a:r>
                        <a:rPr sz="1725" b="0">
                          <a:solidFill>
                            <a:srgbClr val="19384B"/>
                          </a:solidFill>
                          <a:latin typeface="Meiryo"/>
                          <a:ea typeface="Meiryo"/>
                          <a:cs typeface="Meiryo"/>
                        </a:rPr>
                        <a:t>13｜2026</a:t>
                      </a:r>
                    </a:p>
                  </a:txBody>
                  <a:tcPr marL="114300" marR="95250" marT="76200" marB="57150" anchor="ctr">
                    <a:solidFill>
                      <a:srgbClr val="FFFFFF"/>
                    </a:solidFill>
                  </a:tcPr>
                </a:tc>
                <a:tc>
                  <a:txBody>
                    <a:bodyPr/>
                    <a:lstStyle/>
                    <a:p>
                      <a:r>
                        <a:rPr sz="1725" b="0">
                          <a:solidFill>
                            <a:srgbClr val="19384B"/>
                          </a:solidFill>
                          <a:latin typeface="Meiryo"/>
                          <a:ea typeface="Meiryo"/>
                          <a:cs typeface="Meiryo"/>
                        </a:rPr>
                        <a:t>OutProによる回帰のOOD検知</a:t>
                      </a:r>
                    </a:p>
                  </a:txBody>
                  <a:tcPr marL="114300" marR="95250" marT="76200" marB="57150" anchor="ctr">
                    <a:solidFill>
                      <a:srgbClr val="FFFFFF"/>
                    </a:solidFill>
                  </a:tcPr>
                </a:tc>
                <a:tc>
                  <a:txBody>
                    <a:bodyPr/>
                    <a:lstStyle/>
                    <a:p>
                      <a:r>
                        <a:rPr sz="1725" b="0">
                          <a:solidFill>
                            <a:srgbClr val="19384B"/>
                          </a:solidFill>
                          <a:latin typeface="Meiryo"/>
                          <a:ea typeface="Meiryo"/>
                          <a:cs typeface="Meiryo"/>
                        </a:rPr>
                        <a:t>予測タスクを考慮する具体例</a:t>
                      </a:r>
                    </a:p>
                  </a:txBody>
                  <a:tcPr marL="114300" marR="95250" marT="76200" marB="57150" anchor="ctr">
                    <a:solidFill>
                      <a:srgbClr val="FFFFFF"/>
                    </a:solidFill>
                  </a:tcPr>
                </a:tc>
              </a:tr>
              <a:tr h="603250">
                <a:tc>
                  <a:txBody>
                    <a:bodyPr/>
                    <a:lstStyle/>
                    <a:p>
                      <a:r>
                        <a:rPr sz="1725" b="0">
                          <a:solidFill>
                            <a:srgbClr val="19384B"/>
                          </a:solidFill>
                          <a:latin typeface="Meiryo"/>
                          <a:ea typeface="Meiryo"/>
                          <a:cs typeface="Meiryo"/>
                        </a:rPr>
                        <a:t>14｜2014</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AE・ノイズ除去AE</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1時刻入力に使える再構成型</a:t>
                      </a:r>
                    </a:p>
                  </a:txBody>
                  <a:tcPr marL="114300" marR="95250" marT="76200" marB="57150" anchor="ctr">
                    <a:solidFill>
                      <a:srgbClr val="EDF6F8"/>
                    </a:solidFill>
                  </a:tcPr>
                </a:tc>
              </a:tr>
            </a:tbl>
          </a:graphicData>
        </a:graphic>
      </p:graphicFrame>
      <p:sp>
        <p:nvSpPr>
          <p:cNvPr id="5" name="">
            <a:extLst xmlns:a="http://schemas.openxmlformats.org/drawingml/2006/main">
              <a:ext uri="{FF2B5EF4-FFF2-40B4-BE49-F238E27FC236}">
                <a16:creationId xmlns:a16="http://schemas.microsoft.com/office/drawing/2014/main" id="{C434BE3C-A3A2-4D1E-BE5F-6ED27FF02AE5}"/>
              </a:ext>
            </a:extLst>
          </p:cNvPr>
          <p:cNvSpPr>
            <a:spLocks xmlns:a="http://schemas.openxmlformats.org/drawingml/2006/main" noGrp="1"/>
          </p:cNvSpPr>
          <p:nvPr/>
        </p:nvSpPr>
        <p:spPr>
          <a:xfrm xmlns:a="http://schemas.openxmlformats.org/drawingml/2006/main">
            <a:off x="523875" y="5438775"/>
            <a:ext cx="1123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586E7C"/>
                </a:solidFill>
                <a:latin typeface="Meiryo"/>
                <a:ea typeface="Meiryo"/>
                <a:cs typeface="Meiryo"/>
              </a:defRPr>
            </a:pPr>
            <a:r>
              <a:rPr sz="1725" b="0">
                <a:solidFill>
                  <a:srgbClr val="586E7C"/>
                </a:solidFill>
                <a:latin typeface="Meiryo"/>
                <a:ea typeface="Meiryo"/>
                <a:cs typeface="Meiryo"/>
              </a:rPr>
              <a:t>応用の参考：山原論文の配水圧力推定・適用領域（附録）</a:t>
            </a:r>
          </a:p>
        </p:txBody>
      </p:sp>
      <p:sp>
        <p:nvSpPr>
          <p:cNvPr id="6" name="">
            <a:extLst xmlns:a="http://schemas.openxmlformats.org/drawingml/2006/main">
              <a:ext uri="{FF2B5EF4-FFF2-40B4-BE49-F238E27FC236}">
                <a16:creationId xmlns:a16="http://schemas.microsoft.com/office/drawing/2014/main" id="{1105319D-DB66-4F67-8717-90CBFE235FD3}"/>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96BB304-C79E-434C-932A-883E088CC5A4}"/>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08273C"/>
                </a:solidFill>
                <a:latin typeface="Meiryo"/>
                <a:ea typeface="Meiryo"/>
                <a:cs typeface="Meiryo"/>
              </a:defRPr>
            </a:pPr>
            <a:r>
              <a:rPr sz="1575" b="1">
                <a:solidFill>
                  <a:srgbClr val="08273C"/>
                </a:solidFill>
                <a:latin typeface="Meiryo"/>
                <a:ea typeface="Meiryo"/>
                <a:cs typeface="Meiryo"/>
              </a:rPr>
              <a:t>S1・S3・S6で整理し、13・14で具体的なアルゴリズムを確認する</a:t>
            </a:r>
          </a:p>
        </p:txBody>
      </p:sp>
      <p:sp>
        <p:nvSpPr>
          <p:cNvPr id="8" name="">
            <a:extLst xmlns:a="http://schemas.openxmlformats.org/drawingml/2006/main">
              <a:ext uri="{FF2B5EF4-FFF2-40B4-BE49-F238E27FC236}">
                <a16:creationId xmlns:a16="http://schemas.microsoft.com/office/drawing/2014/main" id="{2B6D3ED8-2298-49AE-8B01-9F9F62922C86}"/>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586E7C"/>
                </a:solidFill>
                <a:latin typeface="Meiryo"/>
                <a:ea typeface="Meiryo"/>
                <a:cs typeface="Meiryo"/>
              </a:defRPr>
            </a:pPr>
            <a:r>
              <a:rPr sz="825" b="0">
                <a:solidFill>
                  <a:srgbClr val="586E7C"/>
                </a:solidFill>
                <a:latin typeface="Meiryo"/>
                <a:ea typeface="Meiryo"/>
                <a:cs typeface="Meiryo"/>
              </a:rPr>
              <a:t>ユーザー提供 S1・S3・S6・13・14。番号はファイル名に対応。正式な書誌情報は附録。</a:t>
            </a:r>
          </a:p>
        </p:txBody>
      </p:sp>
      <p:sp>
        <p:nvSpPr>
          <p:cNvPr id="11" name="">
            <a:extLst xmlns:a="http://schemas.openxmlformats.org/drawingml/2006/main">
              <a:ext uri="{FF2B5EF4-FFF2-40B4-BE49-F238E27FC236}">
                <a16:creationId xmlns:a16="http://schemas.microsoft.com/office/drawing/2014/main" id="{31D97081-8083-4914-9298-968D72CF9C0C}"/>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04</a:t>
            </a:r>
          </a:p>
        </p:txBody>
      </p:sp>
    </p:spTree>
    <p:extLst>
      <p:ext uri="{BB962C8B-B14F-4D97-AF65-F5344CB8AC3E}">
        <p14:creationId xmlns:p14="http://schemas.microsoft.com/office/powerpoint/2010/main" val="21017198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75A88E-D817-4C66-9F1C-3DE4DB33F359}"/>
              </a:ext>
            </a:extLst>
          </p:cNvPr>
          <p:cNvSpPr>
            <a:spLocks xmlns:a="http://schemas.openxmlformats.org/drawingml/2006/main" noGrp="1"/>
          </p:cNvSpPr>
          <p:nvPr/>
        </p:nvSpPr>
        <p:spPr>
          <a:xfrm xmlns:a="http://schemas.openxmlformats.org/drawingml/2006/main">
            <a:off x="476250" y="4953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8273C"/>
                </a:solidFill>
                <a:latin typeface="Meiryo"/>
                <a:ea typeface="Meiryo"/>
                <a:cs typeface="Meiryo"/>
              </a:defRPr>
            </a:pPr>
            <a:r>
              <a:rPr sz="2625" b="1">
                <a:solidFill>
                  <a:srgbClr val="08273C"/>
                </a:solidFill>
                <a:latin typeface="Meiryo"/>
                <a:ea typeface="Meiryo"/>
                <a:cs typeface="Meiryo"/>
              </a:rPr>
              <a:t>学習外入力の三つのケース</a:t>
            </a:r>
          </a:p>
        </p:txBody>
      </p:sp>
      <p:sp>
        <p:nvSpPr>
          <p:cNvPr id="2" name="">
            <a:extLst xmlns:a="http://schemas.openxmlformats.org/drawingml/2006/main">
              <a:ext uri="{FF2B5EF4-FFF2-40B4-BE49-F238E27FC236}">
                <a16:creationId xmlns:a16="http://schemas.microsoft.com/office/drawing/2014/main" id="{A98F96F4-7042-4746-8E50-08C239BD5F06}"/>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9338DE-5517-4EE3-828B-8975AEE99762}"/>
              </a:ext>
            </a:extLst>
          </p:cNvPr>
          <p:cNvSpPr>
            <a:spLocks xmlns:a="http://schemas.openxmlformats.org/drawingml/2006/main" noGrp="1"/>
          </p:cNvSpPr>
          <p:nvPr/>
        </p:nvSpPr>
        <p:spPr>
          <a:xfrm xmlns:a="http://schemas.openxmlformats.org/drawingml/2006/main">
            <a:off x="523875" y="145732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203645"/>
                </a:solidFill>
                <a:latin typeface="Meiryo"/>
                <a:ea typeface="Meiryo"/>
                <a:cs typeface="Meiryo"/>
              </a:defRPr>
            </a:pPr>
            <a:r>
              <a:rPr sz="1650" b="0">
                <a:solidFill>
                  <a:srgbClr val="203645"/>
                </a:solidFill>
                <a:latin typeface="Meiryo"/>
                <a:ea typeface="Meiryo"/>
                <a:cs typeface="Meiryo"/>
              </a:rPr>
              <a:t>Outlier・Anomaly・Novelty・OOD・Distribution shift・Data drift は完全な同義語ではない。</a:t>
            </a:r>
          </a:p>
        </p:txBody>
      </p:sp>
      <p:sp>
        <p:nvSpPr>
          <p:cNvPr id="5" name="">
            <a:extLst xmlns:a="http://schemas.openxmlformats.org/drawingml/2006/main">
              <a:ext uri="{FF2B5EF4-FFF2-40B4-BE49-F238E27FC236}">
                <a16:creationId xmlns:a16="http://schemas.microsoft.com/office/drawing/2014/main" id="{A46CC69F-1C95-4CE6-A2BD-94D68AECE7C7}"/>
              </a:ext>
            </a:extLst>
          </p:cNvPr>
          <p:cNvSpPr>
            <a:spLocks xmlns:a="http://schemas.openxmlformats.org/drawingml/2006/main" noGrp="1"/>
          </p:cNvSpPr>
          <p:nvPr/>
        </p:nvSpPr>
        <p:spPr>
          <a:xfrm xmlns:a="http://schemas.openxmlformats.org/drawingml/2006/main">
            <a:off x="590550" y="2066925"/>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08273C"/>
                </a:solidFill>
                <a:latin typeface="Meiryo"/>
                <a:ea typeface="Meiryo"/>
                <a:cs typeface="Meiryo"/>
              </a:defRPr>
            </a:pPr>
            <a:r>
              <a:rPr sz="1725" b="1">
                <a:solidFill>
                  <a:srgbClr val="08273C"/>
                </a:solidFill>
                <a:latin typeface="Meiryo"/>
                <a:ea typeface="Meiryo"/>
                <a:cs typeface="Meiryo"/>
              </a:rPr>
              <a:t>(a) 観測範囲の外</a:t>
            </a:r>
          </a:p>
        </p:txBody>
      </p:sp>
      <p:graphicFrame>
        <p:nvGraphicFramePr>
          <p:cNvPr id="27" name="Chart"/>
          <p:cNvGraphicFramePr/>
          <p:nvPr/>
        </p:nvGraphicFramePr>
        <p:xfrm>
          <a:off xmlns:a="http://schemas.openxmlformats.org/drawingml/2006/main" x="476250" y="2543175"/>
          <a:ext xmlns:a="http://schemas.openxmlformats.org/drawingml/2006/main" cx="3571875" cy="2286000"/>
        </p:xfrm>
        <a:graphic xmlns:a="http://schemas.openxmlformats.org/drawingml/2006/main">
          <a:graphicData uri="http://schemas.openxmlformats.org/drawingml/2006/chart">
            <c:chart xmlns:r="http://schemas.openxmlformats.org/officeDocument/2006/relationships" xmlns:c="http://schemas.openxmlformats.org/drawingml/2006/chart" r:id="Re9d0e56698964026"/>
          </a:graphicData>
        </a:graphic>
      </p:graphicFrame>
      <p:sp>
        <p:nvSpPr>
          <p:cNvPr id="7" name="">
            <a:extLst xmlns:a="http://schemas.openxmlformats.org/drawingml/2006/main">
              <a:ext uri="{FF2B5EF4-FFF2-40B4-BE49-F238E27FC236}">
                <a16:creationId xmlns:a16="http://schemas.microsoft.com/office/drawing/2014/main" id="{34F67695-2CB7-42C2-99F6-BAAEBF70DA5B}"/>
              </a:ext>
            </a:extLst>
          </p:cNvPr>
          <p:cNvSpPr>
            <a:spLocks xmlns:a="http://schemas.openxmlformats.org/drawingml/2006/main" noGrp="1"/>
          </p:cNvSpPr>
          <p:nvPr/>
        </p:nvSpPr>
        <p:spPr>
          <a:xfrm xmlns:a="http://schemas.openxmlformats.org/drawingml/2006/main">
            <a:off x="4448175" y="2066925"/>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08273C"/>
                </a:solidFill>
                <a:latin typeface="Meiryo"/>
                <a:ea typeface="Meiryo"/>
                <a:cs typeface="Meiryo"/>
              </a:defRPr>
            </a:pPr>
            <a:r>
              <a:rPr sz="1725" b="1">
                <a:solidFill>
                  <a:srgbClr val="08273C"/>
                </a:solidFill>
                <a:latin typeface="Meiryo"/>
                <a:ea typeface="Meiryo"/>
                <a:cs typeface="Meiryo"/>
              </a:rPr>
              <a:t>(b) 訓練例が疎な領域</a:t>
            </a:r>
          </a:p>
        </p:txBody>
      </p:sp>
      <p:graphicFrame>
        <p:nvGraphicFramePr>
          <p:cNvPr id="29" name="Chart"/>
          <p:cNvGraphicFramePr/>
          <p:nvPr/>
        </p:nvGraphicFramePr>
        <p:xfrm>
          <a:off xmlns:a="http://schemas.openxmlformats.org/drawingml/2006/main" x="4333875" y="2543175"/>
          <a:ext xmlns:a="http://schemas.openxmlformats.org/drawingml/2006/main" cx="3571875" cy="2286000"/>
        </p:xfrm>
        <a:graphic xmlns:a="http://schemas.openxmlformats.org/drawingml/2006/main">
          <a:graphicData uri="http://schemas.openxmlformats.org/drawingml/2006/chart">
            <c:chart xmlns:r="http://schemas.openxmlformats.org/officeDocument/2006/relationships" xmlns:c="http://schemas.openxmlformats.org/drawingml/2006/chart" r:id="R326bd609f6474ed0"/>
          </a:graphicData>
        </a:graphic>
      </p:graphicFrame>
      <p:sp>
        <p:nvSpPr>
          <p:cNvPr id="9" name="">
            <a:extLst xmlns:a="http://schemas.openxmlformats.org/drawingml/2006/main">
              <a:ext uri="{FF2B5EF4-FFF2-40B4-BE49-F238E27FC236}">
                <a16:creationId xmlns:a16="http://schemas.microsoft.com/office/drawing/2014/main" id="{9583F01D-DE5C-4727-A290-0E07F07C9E2F}"/>
              </a:ext>
            </a:extLst>
          </p:cNvPr>
          <p:cNvSpPr>
            <a:spLocks xmlns:a="http://schemas.openxmlformats.org/drawingml/2006/main" noGrp="1"/>
          </p:cNvSpPr>
          <p:nvPr/>
        </p:nvSpPr>
        <p:spPr>
          <a:xfrm xmlns:a="http://schemas.openxmlformats.org/drawingml/2006/main">
            <a:off x="8305800" y="2066925"/>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08273C"/>
                </a:solidFill>
                <a:latin typeface="Meiryo"/>
                <a:ea typeface="Meiryo"/>
                <a:cs typeface="Meiryo"/>
              </a:defRPr>
            </a:pPr>
            <a:r>
              <a:rPr sz="1725" b="1">
                <a:solidFill>
                  <a:srgbClr val="08273C"/>
                </a:solidFill>
                <a:latin typeface="Meiryo"/>
                <a:ea typeface="Meiryo"/>
                <a:cs typeface="Meiryo"/>
              </a:rPr>
              <a:t>(c) 未知の変数間関係</a:t>
            </a:r>
          </a:p>
        </p:txBody>
      </p:sp>
      <p:graphicFrame>
        <p:nvGraphicFramePr>
          <p:cNvPr id="31" name="Chart"/>
          <p:cNvGraphicFramePr/>
          <p:nvPr/>
        </p:nvGraphicFramePr>
        <p:xfrm>
          <a:off xmlns:a="http://schemas.openxmlformats.org/drawingml/2006/main" x="8191500" y="2543175"/>
          <a:ext xmlns:a="http://schemas.openxmlformats.org/drawingml/2006/main" cx="3571875" cy="2286000"/>
        </p:xfrm>
        <a:graphic xmlns:a="http://schemas.openxmlformats.org/drawingml/2006/main">
          <a:graphicData uri="http://schemas.openxmlformats.org/drawingml/2006/chart">
            <c:chart xmlns:r="http://schemas.openxmlformats.org/officeDocument/2006/relationships" xmlns:c="http://schemas.openxmlformats.org/drawingml/2006/chart" r:id="Rf99b5a8e31e44029"/>
          </a:graphicData>
        </a:graphic>
      </p:graphicFrame>
      <p:sp>
        <p:nvSpPr>
          <p:cNvPr id="11" name="">
            <a:extLst xmlns:a="http://schemas.openxmlformats.org/drawingml/2006/main">
              <a:ext uri="{FF2B5EF4-FFF2-40B4-BE49-F238E27FC236}">
                <a16:creationId xmlns:a16="http://schemas.microsoft.com/office/drawing/2014/main" id="{BA6A9A0C-C666-4671-8CD5-AD9FBECD8E4C}"/>
              </a:ext>
            </a:extLst>
          </p:cNvPr>
          <p:cNvSpPr>
            <a:spLocks xmlns:a="http://schemas.openxmlformats.org/drawingml/2006/main" noGrp="1"/>
          </p:cNvSpPr>
          <p:nvPr/>
        </p:nvSpPr>
        <p:spPr>
          <a:xfrm xmlns:a="http://schemas.openxmlformats.org/drawingml/2006/main">
            <a:off x="523875" y="506730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425" b="0">
                <a:solidFill>
                  <a:srgbClr val="007E87"/>
                </a:solidFill>
                <a:latin typeface="Meiryo"/>
                <a:ea typeface="Meiryo"/>
                <a:cs typeface="Meiryo"/>
              </a:defRPr>
            </a:pPr>
            <a:r>
              <a:rPr sz="1425" b="0">
                <a:solidFill>
                  <a:srgbClr val="007E87"/>
                </a:solidFill>
                <a:latin typeface="Meiryo"/>
                <a:ea typeface="Meiryo"/>
                <a:cs typeface="Meiryo"/>
              </a:rPr>
              <a:t>● 訓練入力</a:t>
            </a:r>
          </a:p>
        </p:txBody>
      </p:sp>
      <p:sp>
        <p:nvSpPr>
          <p:cNvPr id="12" name="">
            <a:extLst xmlns:a="http://schemas.openxmlformats.org/drawingml/2006/main">
              <a:ext uri="{FF2B5EF4-FFF2-40B4-BE49-F238E27FC236}">
                <a16:creationId xmlns:a16="http://schemas.microsoft.com/office/drawing/2014/main" id="{3B1F012B-42DD-4186-9553-5CE0D83E5ABC}"/>
              </a:ext>
            </a:extLst>
          </p:cNvPr>
          <p:cNvSpPr>
            <a:spLocks xmlns:a="http://schemas.openxmlformats.org/drawingml/2006/main" noGrp="1"/>
          </p:cNvSpPr>
          <p:nvPr/>
        </p:nvSpPr>
        <p:spPr>
          <a:xfrm xmlns:a="http://schemas.openxmlformats.org/drawingml/2006/main">
            <a:off x="2524125" y="50673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425" b="0">
                <a:solidFill>
                  <a:srgbClr val="C17824"/>
                </a:solidFill>
                <a:latin typeface="Meiryo"/>
                <a:ea typeface="Meiryo"/>
                <a:cs typeface="Meiryo"/>
              </a:defRPr>
            </a:pPr>
            <a:r>
              <a:rPr sz="1425" b="0">
                <a:solidFill>
                  <a:srgbClr val="C17824"/>
                </a:solidFill>
                <a:latin typeface="Meiryo"/>
                <a:ea typeface="Meiryo"/>
                <a:cs typeface="Meiryo"/>
              </a:rPr>
              <a:t>● 新規入力</a:t>
            </a:r>
          </a:p>
        </p:txBody>
      </p:sp>
      <p:sp>
        <p:nvSpPr>
          <p:cNvPr id="13" name="">
            <a:extLst xmlns:a="http://schemas.openxmlformats.org/drawingml/2006/main">
              <a:ext uri="{FF2B5EF4-FFF2-40B4-BE49-F238E27FC236}">
                <a16:creationId xmlns:a16="http://schemas.microsoft.com/office/drawing/2014/main" id="{8FA1DF2F-46D6-47F8-92EE-2D22F178AEAD}"/>
              </a:ext>
            </a:extLst>
          </p:cNvPr>
          <p:cNvSpPr>
            <a:spLocks xmlns:a="http://schemas.openxmlformats.org/drawingml/2006/main" noGrp="1"/>
          </p:cNvSpPr>
          <p:nvPr/>
        </p:nvSpPr>
        <p:spPr>
          <a:xfrm xmlns:a="http://schemas.openxmlformats.org/drawingml/2006/main">
            <a:off x="6619875" y="50673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425" b="0">
                <a:solidFill>
                  <a:srgbClr val="61717B"/>
                </a:solidFill>
                <a:latin typeface="Meiryo"/>
                <a:ea typeface="Meiryo"/>
                <a:cs typeface="Meiryo"/>
              </a:defRPr>
            </a:pPr>
            <a:r>
              <a:rPr sz="1425" b="0">
                <a:solidFill>
                  <a:srgbClr val="61717B"/>
                </a:solidFill>
                <a:latin typeface="Meiryo"/>
                <a:ea typeface="Meiryo"/>
                <a:cs typeface="Meiryo"/>
              </a:rPr>
              <a:t>共通座標・任意単位の説明用データ</a:t>
            </a:r>
          </a:p>
        </p:txBody>
      </p:sp>
      <p:sp>
        <p:nvSpPr>
          <p:cNvPr id="14" name="">
            <a:extLst xmlns:a="http://schemas.openxmlformats.org/drawingml/2006/main">
              <a:ext uri="{FF2B5EF4-FFF2-40B4-BE49-F238E27FC236}">
                <a16:creationId xmlns:a16="http://schemas.microsoft.com/office/drawing/2014/main" id="{A15285F8-14E9-4845-82F2-B7ECCE14CAE9}"/>
              </a:ext>
            </a:extLst>
          </p:cNvPr>
          <p:cNvSpPr>
            <a:spLocks xmlns:a="http://schemas.openxmlformats.org/drawingml/2006/main" noGrp="1"/>
          </p:cNvSpPr>
          <p:nvPr/>
        </p:nvSpPr>
        <p:spPr>
          <a:xfrm xmlns:a="http://schemas.openxmlformats.org/drawingml/2006/main">
            <a:off x="523875" y="5495925"/>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203645"/>
                </a:solidFill>
                <a:latin typeface="Meiryo"/>
                <a:ea typeface="Meiryo"/>
                <a:cs typeface="Meiryo"/>
              </a:defRPr>
            </a:pPr>
            <a:r>
              <a:rPr sz="1500" b="0">
                <a:solidFill>
                  <a:srgbClr val="203645"/>
                </a:solidFill>
                <a:latin typeface="Meiryo"/>
                <a:ea typeface="Meiryo"/>
                <a:cs typeface="Meiryo"/>
              </a:rPr>
              <a:t>S3：不要な誤測定は修正・除去、関心のある異常事象は検出・分析の対象となる。</a:t>
            </a:r>
          </a:p>
        </p:txBody>
      </p:sp>
      <p:sp>
        <p:nvSpPr>
          <p:cNvPr id="15" name="">
            <a:extLst xmlns:a="http://schemas.openxmlformats.org/drawingml/2006/main">
              <a:ext uri="{FF2B5EF4-FFF2-40B4-BE49-F238E27FC236}">
                <a16:creationId xmlns:a16="http://schemas.microsoft.com/office/drawing/2014/main" id="{B150A40B-37EA-4000-A267-2B661BD94B9A}"/>
              </a:ext>
            </a:extLst>
          </p:cNvPr>
          <p:cNvSpPr>
            <a:spLocks xmlns:a="http://schemas.openxmlformats.org/drawingml/2006/main" noGrp="1"/>
          </p:cNvSpPr>
          <p:nvPr/>
        </p:nvSpPr>
        <p:spPr>
          <a:xfrm xmlns:a="http://schemas.openxmlformats.org/drawingml/2006/main">
            <a:off x="476250" y="5857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B5EE8A7-0503-473C-ADD6-D11A3A339642}"/>
              </a:ext>
            </a:extLst>
          </p:cNvPr>
          <p:cNvSpPr>
            <a:spLocks xmlns:a="http://schemas.openxmlformats.org/drawingml/2006/main" noGrp="1"/>
          </p:cNvSpPr>
          <p:nvPr/>
        </p:nvSpPr>
        <p:spPr>
          <a:xfrm xmlns:a="http://schemas.openxmlformats.org/drawingml/2006/main">
            <a:off x="476250" y="60007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08273C"/>
                </a:solidFill>
                <a:latin typeface="Meiryo"/>
                <a:ea typeface="Meiryo"/>
                <a:cs typeface="Meiryo"/>
              </a:defRPr>
            </a:pPr>
            <a:r>
              <a:rPr sz="1650" b="1">
                <a:solidFill>
                  <a:srgbClr val="08273C"/>
                </a:solidFill>
                <a:latin typeface="Meiryo"/>
                <a:ea typeface="Meiryo"/>
                <a:cs typeface="Meiryo"/>
              </a:rPr>
              <a:t>三ケースは重なり得る。入力の希少性だけで回帰誤差の大きさは断定しない。</a:t>
            </a:r>
          </a:p>
        </p:txBody>
      </p:sp>
      <p:sp>
        <p:nvSpPr>
          <p:cNvPr id="17" name="">
            <a:extLst xmlns:a="http://schemas.openxmlformats.org/drawingml/2006/main">
              <a:ext uri="{FF2B5EF4-FFF2-40B4-BE49-F238E27FC236}">
                <a16:creationId xmlns:a16="http://schemas.microsoft.com/office/drawing/2014/main" id="{F6067CEF-CAFA-403B-B5C8-183B3E00B944}"/>
              </a:ext>
            </a:extLst>
          </p:cNvPr>
          <p:cNvSpPr>
            <a:spLocks xmlns:a="http://schemas.openxmlformats.org/drawingml/2006/main" noGrp="1"/>
          </p:cNvSpPr>
          <p:nvPr/>
        </p:nvSpPr>
        <p:spPr>
          <a:xfrm xmlns:a="http://schemas.openxmlformats.org/drawingml/2006/main">
            <a:off x="476250" y="6496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61717B"/>
                </a:solidFill>
                <a:latin typeface="Meiryo"/>
                <a:ea typeface="Meiryo"/>
                <a:cs typeface="Meiryo"/>
              </a:defRPr>
            </a:pPr>
            <a:r>
              <a:rPr sz="825" b="0">
                <a:solidFill>
                  <a:srgbClr val="61717B"/>
                </a:solidFill>
                <a:latin typeface="Meiryo"/>
                <a:ea typeface="Meiryo"/>
                <a:cs typeface="Meiryo"/>
              </a:rPr>
              <a:t>実習要求、S3 §1、13 §1–2。散布図は説明用に構成したデータであり、実験結果ではない。</a:t>
            </a:r>
          </a:p>
        </p:txBody>
      </p:sp>
      <p:sp>
        <p:nvSpPr>
          <p:cNvPr id="22" name="">
            <a:extLst xmlns:a="http://schemas.openxmlformats.org/drawingml/2006/main">
              <a:ext uri="{FF2B5EF4-FFF2-40B4-BE49-F238E27FC236}">
                <a16:creationId xmlns:a16="http://schemas.microsoft.com/office/drawing/2014/main" id="{0C1ACC55-90D4-41F8-AC28-605C839CA81E}"/>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05</a:t>
            </a:r>
          </a:p>
        </p:txBody>
      </p:sp>
    </p:spTree>
    <p:extLst>
      <p:ext uri="{BB962C8B-B14F-4D97-AF65-F5344CB8AC3E}">
        <p14:creationId xmlns:p14="http://schemas.microsoft.com/office/powerpoint/2010/main" val="21017198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ABC43B-9537-45F6-A284-BB4A1A2886DF}"/>
              </a:ext>
            </a:extLst>
          </p:cNvPr>
          <p:cNvSpPr>
            <a:spLocks xmlns:a="http://schemas.openxmlformats.org/drawingml/2006/main" noGrp="1"/>
          </p:cNvSpPr>
          <p:nvPr/>
        </p:nvSpPr>
        <p:spPr>
          <a:xfrm xmlns:a="http://schemas.openxmlformats.org/drawingml/2006/main">
            <a:off x="476250" y="457200"/>
            <a:ext cx="1123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各変数は範囲内でも、二つを組み合わせると未知になる</a:t>
            </a:r>
          </a:p>
        </p:txBody>
      </p:sp>
      <p:sp>
        <p:nvSpPr>
          <p:cNvPr id="2" name="">
            <a:extLst xmlns:a="http://schemas.openxmlformats.org/drawingml/2006/main">
              <a:ext uri="{FF2B5EF4-FFF2-40B4-BE49-F238E27FC236}">
                <a16:creationId xmlns:a16="http://schemas.microsoft.com/office/drawing/2014/main" id="{A5D6991B-F189-441B-9597-3DAE51A09756}"/>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085AA2-9444-45FC-BC6A-57AAB3FD20FE}"/>
              </a:ext>
            </a:extLst>
          </p:cNvPr>
          <p:cNvSpPr>
            <a:spLocks xmlns:a="http://schemas.openxmlformats.org/drawingml/2006/main" noGrp="1"/>
          </p:cNvSpPr>
          <p:nvPr/>
        </p:nvSpPr>
        <p:spPr>
          <a:xfrm xmlns:a="http://schemas.openxmlformats.org/drawingml/2006/main">
            <a:off x="523875" y="15430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203645"/>
                </a:solidFill>
                <a:latin typeface="Meiryo"/>
                <a:ea typeface="Meiryo"/>
                <a:cs typeface="Meiryo"/>
              </a:defRPr>
            </a:pPr>
            <a:r>
              <a:rPr sz="1800" b="1">
                <a:solidFill>
                  <a:srgbClr val="203645"/>
                </a:solidFill>
                <a:latin typeface="Meiryo"/>
                <a:ea typeface="Meiryo"/>
                <a:cs typeface="Meiryo"/>
              </a:rPr>
              <a:t>(a) 変数を個別に確認</a:t>
            </a:r>
          </a:p>
        </p:txBody>
      </p:sp>
      <p:sp>
        <p:nvSpPr>
          <p:cNvPr id="4" name="">
            <a:extLst xmlns:a="http://schemas.openxmlformats.org/drawingml/2006/main">
              <a:ext uri="{FF2B5EF4-FFF2-40B4-BE49-F238E27FC236}">
                <a16:creationId xmlns:a16="http://schemas.microsoft.com/office/drawing/2014/main" id="{7A302A63-C24E-4F8E-8B2B-D70609D0DDA3}"/>
              </a:ext>
            </a:extLst>
          </p:cNvPr>
          <p:cNvSpPr>
            <a:spLocks xmlns:a="http://schemas.openxmlformats.org/drawingml/2006/main" noGrp="1"/>
          </p:cNvSpPr>
          <p:nvPr/>
        </p:nvSpPr>
        <p:spPr>
          <a:xfrm xmlns:a="http://schemas.openxmlformats.org/drawingml/2006/main">
            <a:off x="5381625" y="1543050"/>
            <a:ext cx="633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203645"/>
                </a:solidFill>
                <a:latin typeface="Meiryo"/>
                <a:ea typeface="Meiryo"/>
                <a:cs typeface="Meiryo"/>
              </a:defRPr>
            </a:pPr>
            <a:r>
              <a:rPr sz="1800" b="1">
                <a:solidFill>
                  <a:srgbClr val="203645"/>
                </a:solidFill>
                <a:latin typeface="Meiryo"/>
                <a:ea typeface="Meiryo"/>
                <a:cs typeface="Meiryo"/>
              </a:rPr>
              <a:t>(b) 流量と圧力を同時に確認</a:t>
            </a:r>
          </a:p>
        </p:txBody>
      </p:sp>
      <p:sp>
        <p:nvSpPr>
          <p:cNvPr id="5" name="">
            <a:extLst xmlns:a="http://schemas.openxmlformats.org/drawingml/2006/main">
              <a:ext uri="{FF2B5EF4-FFF2-40B4-BE49-F238E27FC236}">
                <a16:creationId xmlns:a16="http://schemas.microsoft.com/office/drawing/2014/main" id="{507A0E72-5E24-4439-8D33-7EEFF6D3DBFE}"/>
              </a:ext>
            </a:extLst>
          </p:cNvPr>
          <p:cNvSpPr>
            <a:spLocks xmlns:a="http://schemas.openxmlformats.org/drawingml/2006/main" noGrp="1"/>
          </p:cNvSpPr>
          <p:nvPr/>
        </p:nvSpPr>
        <p:spPr>
          <a:xfrm xmlns:a="http://schemas.openxmlformats.org/drawingml/2006/main">
            <a:off x="523875" y="21526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7E87"/>
                </a:solidFill>
                <a:latin typeface="Meiryo"/>
                <a:ea typeface="Meiryo"/>
                <a:cs typeface="Meiryo"/>
              </a:defRPr>
            </a:pPr>
            <a:r>
              <a:rPr sz="1725" b="1">
                <a:solidFill>
                  <a:srgbClr val="007E87"/>
                </a:solidFill>
                <a:latin typeface="Meiryo"/>
                <a:ea typeface="Meiryo"/>
                <a:cs typeface="Meiryo"/>
              </a:rPr>
              <a:t>流量 = 2：訓練時の範囲内</a:t>
            </a:r>
          </a:p>
        </p:txBody>
      </p:sp>
      <p:graphicFrame>
        <p:nvGraphicFramePr>
          <p:cNvPr id="23" name="Chart"/>
          <p:cNvGraphicFramePr/>
          <p:nvPr/>
        </p:nvGraphicFramePr>
        <p:xfrm>
          <a:off xmlns:a="http://schemas.openxmlformats.org/drawingml/2006/main" x="523875" y="2524125"/>
          <a:ext xmlns:a="http://schemas.openxmlformats.org/drawingml/2006/main" cx="4333875" cy="1123950"/>
        </p:xfrm>
        <a:graphic xmlns:a="http://schemas.openxmlformats.org/drawingml/2006/main">
          <a:graphicData uri="http://schemas.openxmlformats.org/drawingml/2006/chart">
            <c:chart xmlns:r="http://schemas.openxmlformats.org/officeDocument/2006/relationships" xmlns:c="http://schemas.openxmlformats.org/drawingml/2006/chart" r:id="R2b5d7fb733fc4b8a"/>
          </a:graphicData>
        </a:graphic>
      </p:graphicFrame>
      <p:sp>
        <p:nvSpPr>
          <p:cNvPr id="7" name="">
            <a:extLst xmlns:a="http://schemas.openxmlformats.org/drawingml/2006/main">
              <a:ext uri="{FF2B5EF4-FFF2-40B4-BE49-F238E27FC236}">
                <a16:creationId xmlns:a16="http://schemas.microsoft.com/office/drawing/2014/main" id="{074FE2E9-4D58-4803-A644-B7209B863A97}"/>
              </a:ext>
            </a:extLst>
          </p:cNvPr>
          <p:cNvSpPr>
            <a:spLocks xmlns:a="http://schemas.openxmlformats.org/drawingml/2006/main" noGrp="1"/>
          </p:cNvSpPr>
          <p:nvPr/>
        </p:nvSpPr>
        <p:spPr>
          <a:xfrm xmlns:a="http://schemas.openxmlformats.org/drawingml/2006/main">
            <a:off x="523875" y="39243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7E87"/>
                </a:solidFill>
                <a:latin typeface="Meiryo"/>
                <a:ea typeface="Meiryo"/>
                <a:cs typeface="Meiryo"/>
              </a:defRPr>
            </a:pPr>
            <a:r>
              <a:rPr sz="1725" b="1">
                <a:solidFill>
                  <a:srgbClr val="007E87"/>
                </a:solidFill>
                <a:latin typeface="Meiryo"/>
                <a:ea typeface="Meiryo"/>
                <a:cs typeface="Meiryo"/>
              </a:rPr>
              <a:t>圧力 = 8：訓練時の範囲内</a:t>
            </a:r>
          </a:p>
        </p:txBody>
      </p:sp>
      <p:graphicFrame>
        <p:nvGraphicFramePr>
          <p:cNvPr id="25" name="Chart"/>
          <p:cNvGraphicFramePr/>
          <p:nvPr/>
        </p:nvGraphicFramePr>
        <p:xfrm>
          <a:off xmlns:a="http://schemas.openxmlformats.org/drawingml/2006/main" x="523875" y="4295775"/>
          <a:ext xmlns:a="http://schemas.openxmlformats.org/drawingml/2006/main" cx="4333875" cy="1123950"/>
        </p:xfrm>
        <a:graphic xmlns:a="http://schemas.openxmlformats.org/drawingml/2006/main">
          <a:graphicData uri="http://schemas.openxmlformats.org/drawingml/2006/chart">
            <c:chart xmlns:r="http://schemas.openxmlformats.org/officeDocument/2006/relationships" xmlns:c="http://schemas.openxmlformats.org/drawingml/2006/chart" r:id="R93e7e1bada92438e"/>
          </a:graphicData>
        </a:graphic>
      </p:graphicFrame>
      <p:graphicFrame>
        <p:nvGraphicFramePr>
          <p:cNvPr id="26" name="Chart"/>
          <p:cNvGraphicFramePr/>
          <p:nvPr/>
        </p:nvGraphicFramePr>
        <p:xfrm>
          <a:off xmlns:a="http://schemas.openxmlformats.org/drawingml/2006/main" x="5286375" y="2181225"/>
          <a:ext xmlns:a="http://schemas.openxmlformats.org/drawingml/2006/main" cx="6381750" cy="3228975"/>
        </p:xfrm>
        <a:graphic xmlns:a="http://schemas.openxmlformats.org/drawingml/2006/main">
          <a:graphicData uri="http://schemas.openxmlformats.org/drawingml/2006/chart">
            <c:chart xmlns:r="http://schemas.openxmlformats.org/officeDocument/2006/relationships" xmlns:c="http://schemas.openxmlformats.org/drawingml/2006/chart" r:id="R629a971a549f43e5"/>
          </a:graphicData>
        </a:graphic>
      </p:graphicFrame>
      <p:sp>
        <p:nvSpPr>
          <p:cNvPr id="10" name="">
            <a:extLst xmlns:a="http://schemas.openxmlformats.org/drawingml/2006/main">
              <a:ext uri="{FF2B5EF4-FFF2-40B4-BE49-F238E27FC236}">
                <a16:creationId xmlns:a16="http://schemas.microsoft.com/office/drawing/2014/main" id="{AFE0F667-D9E3-4E75-9215-0039B19AB274}"/>
              </a:ext>
            </a:extLst>
          </p:cNvPr>
          <p:cNvSpPr>
            <a:spLocks xmlns:a="http://schemas.openxmlformats.org/drawingml/2006/main" noGrp="1"/>
          </p:cNvSpPr>
          <p:nvPr/>
        </p:nvSpPr>
        <p:spPr>
          <a:xfrm xmlns:a="http://schemas.openxmlformats.org/drawingml/2006/main">
            <a:off x="523875" y="2486025"/>
            <a:ext cx="36195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38D1426-EF11-429B-B3DB-374AB5CFF093}"/>
              </a:ext>
            </a:extLst>
          </p:cNvPr>
          <p:cNvSpPr>
            <a:spLocks xmlns:a="http://schemas.openxmlformats.org/drawingml/2006/main" noGrp="1"/>
          </p:cNvSpPr>
          <p:nvPr/>
        </p:nvSpPr>
        <p:spPr>
          <a:xfrm xmlns:a="http://schemas.openxmlformats.org/drawingml/2006/main">
            <a:off x="523875" y="4257675"/>
            <a:ext cx="36195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BD06812-D9F0-47A9-A2CC-D814691C581E}"/>
              </a:ext>
            </a:extLst>
          </p:cNvPr>
          <p:cNvSpPr>
            <a:spLocks xmlns:a="http://schemas.openxmlformats.org/drawingml/2006/main" noGrp="1"/>
          </p:cNvSpPr>
          <p:nvPr/>
        </p:nvSpPr>
        <p:spPr>
          <a:xfrm xmlns:a="http://schemas.openxmlformats.org/drawingml/2006/main">
            <a:off x="5715000" y="5600700"/>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007E87"/>
                </a:solidFill>
                <a:latin typeface="Meiryo"/>
                <a:ea typeface="Meiryo"/>
                <a:cs typeface="Meiryo"/>
              </a:defRPr>
            </a:pPr>
            <a:r>
              <a:rPr sz="1425" b="0">
                <a:solidFill>
                  <a:srgbClr val="007E87"/>
                </a:solidFill>
                <a:latin typeface="Meiryo"/>
                <a:ea typeface="Meiryo"/>
                <a:cs typeface="Meiryo"/>
              </a:rPr>
              <a:t>● 訓練入力</a:t>
            </a:r>
          </a:p>
        </p:txBody>
      </p:sp>
      <p:sp>
        <p:nvSpPr>
          <p:cNvPr id="13" name="">
            <a:extLst xmlns:a="http://schemas.openxmlformats.org/drawingml/2006/main">
              <a:ext uri="{FF2B5EF4-FFF2-40B4-BE49-F238E27FC236}">
                <a16:creationId xmlns:a16="http://schemas.microsoft.com/office/drawing/2014/main" id="{7CD4513E-34DA-4D85-AFE2-58415BBEEEAF}"/>
              </a:ext>
            </a:extLst>
          </p:cNvPr>
          <p:cNvSpPr>
            <a:spLocks xmlns:a="http://schemas.openxmlformats.org/drawingml/2006/main" noGrp="1"/>
          </p:cNvSpPr>
          <p:nvPr/>
        </p:nvSpPr>
        <p:spPr>
          <a:xfrm xmlns:a="http://schemas.openxmlformats.org/drawingml/2006/main">
            <a:off x="7810500" y="5600700"/>
            <a:ext cx="342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C17824"/>
                </a:solidFill>
                <a:latin typeface="Meiryo"/>
                <a:ea typeface="Meiryo"/>
                <a:cs typeface="Meiryo"/>
              </a:defRPr>
            </a:pPr>
            <a:r>
              <a:rPr sz="1425" b="0">
                <a:solidFill>
                  <a:srgbClr val="C17824"/>
                </a:solidFill>
                <a:latin typeface="Meiryo"/>
                <a:ea typeface="Meiryo"/>
                <a:cs typeface="Meiryo"/>
              </a:rPr>
              <a:t>● 新規入力 (2, 8)</a:t>
            </a:r>
          </a:p>
        </p:txBody>
      </p:sp>
      <p:sp>
        <p:nvSpPr>
          <p:cNvPr id="14" name="">
            <a:extLst xmlns:a="http://schemas.openxmlformats.org/drawingml/2006/main">
              <a:ext uri="{FF2B5EF4-FFF2-40B4-BE49-F238E27FC236}">
                <a16:creationId xmlns:a16="http://schemas.microsoft.com/office/drawing/2014/main" id="{C42F9F02-2A6E-4A52-B91D-D9A9DA94C428}"/>
              </a:ext>
            </a:extLst>
          </p:cNvPr>
          <p:cNvSpPr>
            <a:spLocks xmlns:a="http://schemas.openxmlformats.org/drawingml/2006/main" noGrp="1"/>
          </p:cNvSpPr>
          <p:nvPr/>
        </p:nvSpPr>
        <p:spPr>
          <a:xfrm xmlns:a="http://schemas.openxmlformats.org/drawingml/2006/main">
            <a:off x="476250" y="60102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F9C823-12CD-4437-9EEE-1F65A55FF351}"/>
              </a:ext>
            </a:extLst>
          </p:cNvPr>
          <p:cNvSpPr>
            <a:spLocks xmlns:a="http://schemas.openxmlformats.org/drawingml/2006/main" noGrp="1"/>
          </p:cNvSpPr>
          <p:nvPr/>
        </p:nvSpPr>
        <p:spPr>
          <a:xfrm xmlns:a="http://schemas.openxmlformats.org/drawingml/2006/main">
            <a:off x="476250" y="61150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個別の範囲チェックは通過しても、「この流量でこの圧力」という関係は未経験。</a:t>
            </a:r>
          </a:p>
        </p:txBody>
      </p:sp>
      <p:sp>
        <p:nvSpPr>
          <p:cNvPr id="16" name="">
            <a:extLst xmlns:a="http://schemas.openxmlformats.org/drawingml/2006/main">
              <a:ext uri="{FF2B5EF4-FFF2-40B4-BE49-F238E27FC236}">
                <a16:creationId xmlns:a16="http://schemas.microsoft.com/office/drawing/2014/main" id="{7B9E0B59-AAB3-4A72-9B94-A2B828B70044}"/>
              </a:ext>
            </a:extLst>
          </p:cNvPr>
          <p:cNvSpPr>
            <a:spLocks xmlns:a="http://schemas.openxmlformats.org/drawingml/2006/main" noGrp="1"/>
          </p:cNvSpPr>
          <p:nvPr/>
        </p:nvSpPr>
        <p:spPr>
          <a:xfrm xmlns:a="http://schemas.openxmlformats.org/drawingml/2006/main">
            <a:off x="476250" y="65436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88" b="0">
                <a:solidFill>
                  <a:srgbClr val="63747E"/>
                </a:solidFill>
                <a:latin typeface="Meiryo"/>
                <a:ea typeface="Meiryo"/>
                <a:cs typeface="Meiryo"/>
              </a:defRPr>
            </a:pPr>
            <a:r>
              <a:rPr sz="788" b="0">
                <a:solidFill>
                  <a:srgbClr val="63747E"/>
                </a:solidFill>
                <a:latin typeface="Meiryo"/>
                <a:ea typeface="Meiryo"/>
                <a:cs typeface="Meiryo"/>
              </a:rPr>
              <a:t>説明用の合成例。圧力と流量の実際の物理関係を主張する図ではない。実習要求の第③条件に対応。</a:t>
            </a:r>
          </a:p>
        </p:txBody>
      </p:sp>
      <p:sp>
        <p:nvSpPr>
          <p:cNvPr id="17" name="">
            <a:extLst xmlns:a="http://schemas.openxmlformats.org/drawingml/2006/main">
              <a:ext uri="{FF2B5EF4-FFF2-40B4-BE49-F238E27FC236}">
                <a16:creationId xmlns:a16="http://schemas.microsoft.com/office/drawing/2014/main" id="{F72CACB0-71A1-45BC-905E-C3D17EAD0EF9}"/>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06</a:t>
            </a:r>
          </a:p>
        </p:txBody>
      </p:sp>
    </p:spTree>
    <p:extLst>
      <p:ext uri="{BB962C8B-B14F-4D97-AF65-F5344CB8AC3E}">
        <p14:creationId xmlns:p14="http://schemas.microsoft.com/office/powerpoint/2010/main" val="21017198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55938AC-E4C4-498D-8BF9-D7ACE0D85EF3}"/>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008E99"/>
                </a:solidFill>
                <a:latin typeface="Meiryo"/>
                <a:ea typeface="Meiryo"/>
                <a:cs typeface="Meiryo"/>
              </a:defRPr>
            </a:pPr>
            <a:r>
              <a:rPr sz="1200" b="1">
                <a:solidFill>
                  <a:srgbClr val="008E99"/>
                </a:solidFill>
                <a:latin typeface="Meiryo"/>
                <a:ea typeface="Meiryo"/>
                <a:cs typeface="Meiryo"/>
              </a:rPr>
              <a:t>文献と定義と分類</a:t>
            </a:r>
          </a:p>
        </p:txBody>
      </p:sp>
      <p:sp>
        <p:nvSpPr>
          <p:cNvPr id="2" name="">
            <a:extLst xmlns:a="http://schemas.openxmlformats.org/drawingml/2006/main">
              <a:ext uri="{FF2B5EF4-FFF2-40B4-BE49-F238E27FC236}">
                <a16:creationId xmlns:a16="http://schemas.microsoft.com/office/drawing/2014/main" id="{30D29087-ED83-43AE-B64C-FCBDBC57E713}"/>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08273C"/>
                </a:solidFill>
                <a:latin typeface="Meiryo"/>
                <a:ea typeface="Meiryo"/>
                <a:cs typeface="Meiryo"/>
              </a:defRPr>
            </a:pPr>
            <a:r>
              <a:rPr sz="2625" b="1">
                <a:solidFill>
                  <a:srgbClr val="08273C"/>
                </a:solidFill>
                <a:latin typeface="Meiryo"/>
                <a:ea typeface="Meiryo"/>
                <a:cs typeface="Meiryo"/>
              </a:rPr>
              <a:t>時系列異常は、文献ごとに別の軸で分類される</a:t>
            </a:r>
          </a:p>
        </p:txBody>
      </p:sp>
      <p:sp>
        <p:nvSpPr>
          <p:cNvPr id="4" name="">
            <a:extLst xmlns:a="http://schemas.openxmlformats.org/drawingml/2006/main">
              <a:ext uri="{FF2B5EF4-FFF2-40B4-BE49-F238E27FC236}">
                <a16:creationId xmlns:a16="http://schemas.microsoft.com/office/drawing/2014/main" id="{0E3511BF-9E6E-4261-8EA1-FB7B2E388A2C}"/>
              </a:ext>
            </a:extLst>
          </p:cNvPr>
          <p:cNvSpPr>
            <a:spLocks xmlns:a="http://schemas.openxmlformats.org/drawingml/2006/main" noGrp="1"/>
          </p:cNvSpPr>
          <p:nvPr/>
        </p:nvSpPr>
        <p:spPr>
          <a:xfrm xmlns:a="http://schemas.openxmlformats.org/drawingml/2006/main">
            <a:off x="476250" y="154305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1">
                <a:solidFill>
                  <a:srgbClr val="007E87"/>
                </a:solidFill>
                <a:latin typeface="Meiryo"/>
                <a:ea typeface="Meiryo"/>
                <a:cs typeface="Meiryo"/>
              </a:defRPr>
            </a:pPr>
            <a:r>
              <a:rPr sz="1650" b="1">
                <a:solidFill>
                  <a:srgbClr val="007E87"/>
                </a:solidFill>
                <a:latin typeface="Meiryo"/>
                <a:ea typeface="Meiryo"/>
                <a:cs typeface="Meiryo"/>
              </a:rPr>
              <a:t>(a) S1｜異常の現れ方</a:t>
            </a:r>
          </a:p>
        </p:txBody>
      </p:sp>
      <p:sp>
        <p:nvSpPr>
          <p:cNvPr id="5" name="">
            <a:extLst xmlns:a="http://schemas.openxmlformats.org/drawingml/2006/main">
              <a:ext uri="{FF2B5EF4-FFF2-40B4-BE49-F238E27FC236}">
                <a16:creationId xmlns:a16="http://schemas.microsoft.com/office/drawing/2014/main" id="{DB97AB4B-60D7-4E8F-885D-92F9B4F5EA23}"/>
              </a:ext>
            </a:extLst>
          </p:cNvPr>
          <p:cNvSpPr>
            <a:spLocks xmlns:a="http://schemas.openxmlformats.org/drawingml/2006/main" noGrp="1"/>
          </p:cNvSpPr>
          <p:nvPr/>
        </p:nvSpPr>
        <p:spPr>
          <a:xfrm xmlns:a="http://schemas.openxmlformats.org/drawingml/2006/main">
            <a:off x="4410075" y="154305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1">
                <a:solidFill>
                  <a:srgbClr val="007E87"/>
                </a:solidFill>
                <a:latin typeface="Meiryo"/>
                <a:ea typeface="Meiryo"/>
                <a:cs typeface="Meiryo"/>
              </a:defRPr>
            </a:pPr>
            <a:r>
              <a:rPr sz="1650" b="1">
                <a:solidFill>
                  <a:srgbClr val="007E87"/>
                </a:solidFill>
                <a:latin typeface="Meiryo"/>
                <a:ea typeface="Meiryo"/>
                <a:cs typeface="Meiryo"/>
              </a:rPr>
              <a:t>(b) S3｜異常対象の粒度</a:t>
            </a:r>
          </a:p>
        </p:txBody>
      </p:sp>
      <p:sp>
        <p:nvSpPr>
          <p:cNvPr id="6" name="">
            <a:extLst xmlns:a="http://schemas.openxmlformats.org/drawingml/2006/main">
              <a:ext uri="{FF2B5EF4-FFF2-40B4-BE49-F238E27FC236}">
                <a16:creationId xmlns:a16="http://schemas.microsoft.com/office/drawing/2014/main" id="{01471C10-E96E-47FA-A067-35F83722BBF2}"/>
              </a:ext>
            </a:extLst>
          </p:cNvPr>
          <p:cNvSpPr>
            <a:spLocks xmlns:a="http://schemas.openxmlformats.org/drawingml/2006/main" noGrp="1"/>
          </p:cNvSpPr>
          <p:nvPr/>
        </p:nvSpPr>
        <p:spPr>
          <a:xfrm xmlns:a="http://schemas.openxmlformats.org/drawingml/2006/main">
            <a:off x="8343900" y="154305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1">
                <a:solidFill>
                  <a:srgbClr val="007E87"/>
                </a:solidFill>
                <a:latin typeface="Meiryo"/>
                <a:ea typeface="Meiryo"/>
                <a:cs typeface="Meiryo"/>
              </a:defRPr>
            </a:pPr>
            <a:r>
              <a:rPr sz="1650" b="1">
                <a:solidFill>
                  <a:srgbClr val="007E87"/>
                </a:solidFill>
                <a:latin typeface="Meiryo"/>
                <a:ea typeface="Meiryo"/>
                <a:cs typeface="Meiryo"/>
              </a:rPr>
              <a:t>(c) S6｜依存関係の種類</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0ea910367c748a5"/>
          <a:stretch xmlns:a="http://schemas.openxmlformats.org/drawingml/2006/main"/>
        </p:blipFill>
        <p:spPr>
          <a:xfrm xmlns:a="http://schemas.openxmlformats.org/drawingml/2006/main">
            <a:off x="489419" y="2114550"/>
            <a:ext cx="3345511" cy="194310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95651f5e0ed4dc5"/>
          <a:stretch xmlns:a="http://schemas.openxmlformats.org/drawingml/2006/main"/>
        </p:blipFill>
        <p:spPr>
          <a:xfrm xmlns:a="http://schemas.openxmlformats.org/drawingml/2006/main">
            <a:off x="4410075" y="2519432"/>
            <a:ext cx="3371850" cy="1133336"/>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fcd1d5d04944c55"/>
          <a:stretch xmlns:a="http://schemas.openxmlformats.org/drawingml/2006/main"/>
        </p:blipFill>
        <p:spPr>
          <a:xfrm xmlns:a="http://schemas.openxmlformats.org/drawingml/2006/main">
            <a:off x="8528993" y="2047875"/>
            <a:ext cx="2915939" cy="22098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A13082E-6A69-4792-AFD7-6173F598ED00}"/>
              </a:ext>
            </a:extLst>
          </p:cNvPr>
          <p:cNvSpPr>
            <a:spLocks xmlns:a="http://schemas.openxmlformats.org/drawingml/2006/main" noGrp="1"/>
          </p:cNvSpPr>
          <p:nvPr/>
        </p:nvSpPr>
        <p:spPr>
          <a:xfrm xmlns:a="http://schemas.openxmlformats.org/drawingml/2006/main">
            <a:off x="476250" y="4324350"/>
            <a:ext cx="3524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Point：点自体の逸脱</a:t>
            </a:r>
          </a:p>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Contextual：文脈に依存</a:t>
            </a:r>
          </a:p>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Collective：集合的な挙動</a:t>
            </a:r>
          </a:p>
        </p:txBody>
      </p:sp>
      <p:sp>
        <p:nvSpPr>
          <p:cNvPr id="11" name="">
            <a:extLst xmlns:a="http://schemas.openxmlformats.org/drawingml/2006/main">
              <a:ext uri="{FF2B5EF4-FFF2-40B4-BE49-F238E27FC236}">
                <a16:creationId xmlns:a16="http://schemas.microsoft.com/office/drawing/2014/main" id="{00C863D7-C9AC-48E1-9719-154943D7E39D}"/>
              </a:ext>
            </a:extLst>
          </p:cNvPr>
          <p:cNvSpPr>
            <a:spLocks xmlns:a="http://schemas.openxmlformats.org/drawingml/2006/main" noGrp="1"/>
          </p:cNvSpPr>
          <p:nvPr/>
        </p:nvSpPr>
        <p:spPr>
          <a:xfrm xmlns:a="http://schemas.openxmlformats.org/drawingml/2006/main">
            <a:off x="4410075" y="4324350"/>
            <a:ext cx="3524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Point：点</a:t>
            </a:r>
          </a:p>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Subsequence：部分列</a:t>
            </a:r>
          </a:p>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Time series：系列全体</a:t>
            </a:r>
          </a:p>
        </p:txBody>
      </p:sp>
      <p:sp>
        <p:nvSpPr>
          <p:cNvPr id="12" name="">
            <a:extLst xmlns:a="http://schemas.openxmlformats.org/drawingml/2006/main">
              <a:ext uri="{FF2B5EF4-FFF2-40B4-BE49-F238E27FC236}">
                <a16:creationId xmlns:a16="http://schemas.microsoft.com/office/drawing/2014/main" id="{E0BD4A18-B9B7-4EA8-BFF7-60461A448E10}"/>
              </a:ext>
            </a:extLst>
          </p:cNvPr>
          <p:cNvSpPr>
            <a:spLocks xmlns:a="http://schemas.openxmlformats.org/drawingml/2006/main" noGrp="1"/>
          </p:cNvSpPr>
          <p:nvPr/>
        </p:nvSpPr>
        <p:spPr>
          <a:xfrm xmlns:a="http://schemas.openxmlformats.org/drawingml/2006/main">
            <a:off x="8343900" y="432435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0">
                <a:solidFill>
                  <a:srgbClr val="19384B"/>
                </a:solidFill>
                <a:latin typeface="Meiryo"/>
                <a:ea typeface="Meiryo"/>
                <a:cs typeface="Meiryo"/>
              </a:defRPr>
            </a:pPr>
            <a:r>
              <a:rPr sz="1650" b="0">
                <a:solidFill>
                  <a:srgbClr val="19384B"/>
                </a:solidFill>
                <a:latin typeface="Meiryo"/>
                <a:ea typeface="Meiryo"/>
                <a:cs typeface="Meiryo"/>
              </a:rPr>
              <a:t>Intra-metric：変数内</a:t>
            </a:r>
          </a:p>
          <a:p xmlns:a="http://schemas.openxmlformats.org/drawingml/2006/main">
            <a:pPr algn="l">
              <a:buNone/>
              <a:defRPr sz="1650" b="0">
                <a:solidFill>
                  <a:srgbClr val="19384B"/>
                </a:solidFill>
                <a:latin typeface="Meiryo"/>
                <a:ea typeface="Meiryo"/>
                <a:cs typeface="Meiryo"/>
              </a:defRPr>
            </a:pPr>
            <a:r>
              <a:rPr sz="1650" b="0">
                <a:solidFill>
                  <a:srgbClr val="19384B"/>
                </a:solidFill>
                <a:latin typeface="Meiryo"/>
                <a:ea typeface="Meiryo"/>
                <a:cs typeface="Meiryo"/>
              </a:rPr>
              <a:t>点・形状・傾向・周期</a:t>
            </a:r>
          </a:p>
          <a:p xmlns:a="http://schemas.openxmlformats.org/drawingml/2006/main">
            <a:pPr algn="l">
              <a:buNone/>
              <a:defRPr sz="1650" b="0">
                <a:solidFill>
                  <a:srgbClr val="19384B"/>
                </a:solidFill>
                <a:latin typeface="Meiryo"/>
                <a:ea typeface="Meiryo"/>
                <a:cs typeface="Meiryo"/>
              </a:defRPr>
            </a:pPr>
            <a:r>
              <a:rPr sz="1650" b="0">
                <a:solidFill>
                  <a:srgbClr val="19384B"/>
                </a:solidFill>
                <a:latin typeface="Meiryo"/>
                <a:ea typeface="Meiryo"/>
                <a:cs typeface="Meiryo"/>
              </a:rPr>
              <a:t>Inter-metric：変数間の関係</a:t>
            </a:r>
          </a:p>
        </p:txBody>
      </p:sp>
      <p:sp>
        <p:nvSpPr>
          <p:cNvPr id="13" name="">
            <a:extLst xmlns:a="http://schemas.openxmlformats.org/drawingml/2006/main">
              <a:ext uri="{FF2B5EF4-FFF2-40B4-BE49-F238E27FC236}">
                <a16:creationId xmlns:a16="http://schemas.microsoft.com/office/drawing/2014/main" id="{E0735F82-6A7B-4C6B-9E91-335E7D691D6B}"/>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E35CC4-617B-476D-8B92-A17A148C5804}"/>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08273C"/>
                </a:solidFill>
                <a:latin typeface="Meiryo"/>
                <a:ea typeface="Meiryo"/>
                <a:cs typeface="Meiryo"/>
              </a:defRPr>
            </a:pPr>
            <a:r>
              <a:rPr sz="1575" b="1">
                <a:solidFill>
                  <a:srgbClr val="08273C"/>
                </a:solidFill>
                <a:latin typeface="Meiryo"/>
                <a:ea typeface="Meiryo"/>
                <a:cs typeface="Meiryo"/>
              </a:rPr>
              <a:t>「範囲外・低密度・未知の組合せ」とは、異なる分類軸として扱う</a:t>
            </a:r>
          </a:p>
        </p:txBody>
      </p:sp>
      <p:sp>
        <p:nvSpPr>
          <p:cNvPr id="15" name="">
            <a:extLst xmlns:a="http://schemas.openxmlformats.org/drawingml/2006/main">
              <a:ext uri="{FF2B5EF4-FFF2-40B4-BE49-F238E27FC236}">
                <a16:creationId xmlns:a16="http://schemas.microsoft.com/office/drawing/2014/main" id="{DDBC3CBD-FA52-4754-A3EE-F3CC9F20861E}"/>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586E7C"/>
                </a:solidFill>
                <a:latin typeface="Meiryo"/>
                <a:ea typeface="Meiryo"/>
                <a:cs typeface="Meiryo"/>
              </a:defRPr>
            </a:pPr>
            <a:r>
              <a:rPr sz="825" b="0">
                <a:solidFill>
                  <a:srgbClr val="586E7C"/>
                </a:solidFill>
                <a:latin typeface="Meiryo"/>
                <a:ea typeface="Meiryo"/>
                <a:cs typeface="Meiryo"/>
              </a:rPr>
              <a:t>原図引用：S1 Fig. 1、S3 Fig. 3（点異常の例）、S6 Fig. 1。分類の詳細は各論文 §2–3。</a:t>
            </a:r>
          </a:p>
        </p:txBody>
      </p:sp>
      <p:sp>
        <p:nvSpPr>
          <p:cNvPr id="20" name="">
            <a:extLst xmlns:a="http://schemas.openxmlformats.org/drawingml/2006/main">
              <a:ext uri="{FF2B5EF4-FFF2-40B4-BE49-F238E27FC236}">
                <a16:creationId xmlns:a16="http://schemas.microsoft.com/office/drawing/2014/main" id="{01476F17-F3DA-4722-94E8-B95EA958EB53}"/>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07</a:t>
            </a:r>
          </a:p>
        </p:txBody>
      </p:sp>
    </p:spTree>
    <p:extLst>
      <p:ext uri="{BB962C8B-B14F-4D97-AF65-F5344CB8AC3E}">
        <p14:creationId xmlns:p14="http://schemas.microsoft.com/office/powerpoint/2010/main" val="21017198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8B8D140-3333-4FCE-B106-D040DC306331}"/>
              </a:ext>
            </a:extLst>
          </p:cNvPr>
          <p:cNvSpPr>
            <a:spLocks xmlns:a="http://schemas.openxmlformats.org/drawingml/2006/main" noGrp="1"/>
          </p:cNvSpPr>
          <p:nvPr/>
        </p:nvSpPr>
        <p:spPr>
          <a:xfrm xmlns:a="http://schemas.openxmlformats.org/drawingml/2006/main">
            <a:off x="476250" y="4953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8273C"/>
                </a:solidFill>
                <a:latin typeface="Meiryo"/>
                <a:ea typeface="Meiryo"/>
                <a:cs typeface="Meiryo"/>
              </a:defRPr>
            </a:pPr>
            <a:r>
              <a:rPr sz="2625" b="1">
                <a:solidFill>
                  <a:srgbClr val="08273C"/>
                </a:solidFill>
                <a:latin typeface="Meiryo"/>
                <a:ea typeface="Meiryo"/>
                <a:cs typeface="Meiryo"/>
              </a:rPr>
              <a:t>サーベイごとの手法分類と本調査の比較軸</a:t>
            </a:r>
          </a:p>
        </p:txBody>
      </p:sp>
      <p:sp>
        <p:nvSpPr>
          <p:cNvPr id="2" name="">
            <a:extLst xmlns:a="http://schemas.openxmlformats.org/drawingml/2006/main">
              <a:ext uri="{FF2B5EF4-FFF2-40B4-BE49-F238E27FC236}">
                <a16:creationId xmlns:a16="http://schemas.microsoft.com/office/drawing/2014/main" id="{8D39F1A2-F25F-40A0-B967-3A51E9528718}"/>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9BABC3-574B-49FD-95F0-DA18309131D9}"/>
              </a:ext>
            </a:extLst>
          </p:cNvPr>
          <p:cNvSpPr>
            <a:spLocks xmlns:a="http://schemas.openxmlformats.org/drawingml/2006/main" noGrp="1"/>
          </p:cNvSpPr>
          <p:nvPr/>
        </p:nvSpPr>
        <p:spPr>
          <a:xfrm xmlns:a="http://schemas.openxmlformats.org/drawingml/2006/main">
            <a:off x="523875" y="16478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E87"/>
                </a:solidFill>
                <a:latin typeface="Meiryo"/>
                <a:ea typeface="Meiryo"/>
                <a:cs typeface="Meiryo"/>
              </a:defRPr>
            </a:pPr>
            <a:r>
              <a:rPr sz="2250" b="1">
                <a:solidFill>
                  <a:srgbClr val="007E87"/>
                </a:solidFill>
                <a:latin typeface="Meiryo"/>
                <a:ea typeface="Meiryo"/>
                <a:cs typeface="Meiryo"/>
              </a:rPr>
              <a:t>S1</a:t>
            </a:r>
          </a:p>
        </p:txBody>
      </p:sp>
      <p:sp>
        <p:nvSpPr>
          <p:cNvPr id="5" name="">
            <a:extLst xmlns:a="http://schemas.openxmlformats.org/drawingml/2006/main">
              <a:ext uri="{FF2B5EF4-FFF2-40B4-BE49-F238E27FC236}">
                <a16:creationId xmlns:a16="http://schemas.microsoft.com/office/drawing/2014/main" id="{0697FF9A-BA4A-4D28-AD49-CBA1EB312F43}"/>
              </a:ext>
            </a:extLst>
          </p:cNvPr>
          <p:cNvSpPr>
            <a:spLocks xmlns:a="http://schemas.openxmlformats.org/drawingml/2006/main" noGrp="1"/>
          </p:cNvSpPr>
          <p:nvPr/>
        </p:nvSpPr>
        <p:spPr>
          <a:xfrm xmlns:a="http://schemas.openxmlformats.org/drawingml/2006/main">
            <a:off x="523875" y="2190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203645"/>
                </a:solidFill>
                <a:latin typeface="Meiryo"/>
                <a:ea typeface="Meiryo"/>
                <a:cs typeface="Meiryo"/>
              </a:defRPr>
            </a:pPr>
            <a:r>
              <a:rPr sz="1800" b="1">
                <a:solidFill>
                  <a:srgbClr val="203645"/>
                </a:solidFill>
                <a:latin typeface="Meiryo"/>
                <a:ea typeface="Meiryo"/>
                <a:cs typeface="Meiryo"/>
              </a:rPr>
              <a:t>手法群</a:t>
            </a:r>
          </a:p>
        </p:txBody>
      </p:sp>
      <p:sp>
        <p:nvSpPr>
          <p:cNvPr id="6" name="">
            <a:extLst xmlns:a="http://schemas.openxmlformats.org/drawingml/2006/main">
              <a:ext uri="{FF2B5EF4-FFF2-40B4-BE49-F238E27FC236}">
                <a16:creationId xmlns:a16="http://schemas.microsoft.com/office/drawing/2014/main" id="{BC8BABAB-2186-4F8C-BE89-F2EB16693C27}"/>
              </a:ext>
            </a:extLst>
          </p:cNvPr>
          <p:cNvSpPr>
            <a:spLocks xmlns:a="http://schemas.openxmlformats.org/drawingml/2006/main" noGrp="1"/>
          </p:cNvSpPr>
          <p:nvPr/>
        </p:nvSpPr>
        <p:spPr>
          <a:xfrm xmlns:a="http://schemas.openxmlformats.org/drawingml/2006/main">
            <a:off x="523875" y="2619375"/>
            <a:ext cx="33337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69C4E6C-C63A-4B40-B82D-F53D040973C2}"/>
              </a:ext>
            </a:extLst>
          </p:cNvPr>
          <p:cNvSpPr>
            <a:spLocks xmlns:a="http://schemas.openxmlformats.org/drawingml/2006/main" noGrp="1"/>
          </p:cNvSpPr>
          <p:nvPr/>
        </p:nvSpPr>
        <p:spPr>
          <a:xfrm xmlns:a="http://schemas.openxmlformats.org/drawingml/2006/main">
            <a:off x="523875" y="2924175"/>
            <a:ext cx="3381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従来型</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機械学習</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DNN（機械学習の一部）</a:t>
            </a:r>
          </a:p>
        </p:txBody>
      </p:sp>
      <p:sp>
        <p:nvSpPr>
          <p:cNvPr id="8" name="">
            <a:extLst xmlns:a="http://schemas.openxmlformats.org/drawingml/2006/main">
              <a:ext uri="{FF2B5EF4-FFF2-40B4-BE49-F238E27FC236}">
                <a16:creationId xmlns:a16="http://schemas.microsoft.com/office/drawing/2014/main" id="{022574F2-0B3D-4B32-8BC3-EAD5DC28A3BF}"/>
              </a:ext>
            </a:extLst>
          </p:cNvPr>
          <p:cNvSpPr>
            <a:spLocks xmlns:a="http://schemas.openxmlformats.org/drawingml/2006/main" noGrp="1"/>
          </p:cNvSpPr>
          <p:nvPr/>
        </p:nvSpPr>
        <p:spPr>
          <a:xfrm xmlns:a="http://schemas.openxmlformats.org/drawingml/2006/main">
            <a:off x="4429125" y="16478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E87"/>
                </a:solidFill>
                <a:latin typeface="Meiryo"/>
                <a:ea typeface="Meiryo"/>
                <a:cs typeface="Meiryo"/>
              </a:defRPr>
            </a:pPr>
            <a:r>
              <a:rPr sz="2250" b="1">
                <a:solidFill>
                  <a:srgbClr val="007E87"/>
                </a:solidFill>
                <a:latin typeface="Meiryo"/>
                <a:ea typeface="Meiryo"/>
                <a:cs typeface="Meiryo"/>
              </a:rPr>
              <a:t>S3</a:t>
            </a:r>
          </a:p>
        </p:txBody>
      </p:sp>
      <p:sp>
        <p:nvSpPr>
          <p:cNvPr id="9" name="">
            <a:extLst xmlns:a="http://schemas.openxmlformats.org/drawingml/2006/main">
              <a:ext uri="{FF2B5EF4-FFF2-40B4-BE49-F238E27FC236}">
                <a16:creationId xmlns:a16="http://schemas.microsoft.com/office/drawing/2014/main" id="{F0EE9701-1F10-4BE7-9C18-8EAC79D56344}"/>
              </a:ext>
            </a:extLst>
          </p:cNvPr>
          <p:cNvSpPr>
            <a:spLocks xmlns:a="http://schemas.openxmlformats.org/drawingml/2006/main" noGrp="1"/>
          </p:cNvSpPr>
          <p:nvPr/>
        </p:nvSpPr>
        <p:spPr>
          <a:xfrm xmlns:a="http://schemas.openxmlformats.org/drawingml/2006/main">
            <a:off x="4429125" y="2190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203645"/>
                </a:solidFill>
                <a:latin typeface="Meiryo"/>
                <a:ea typeface="Meiryo"/>
                <a:cs typeface="Meiryo"/>
              </a:defRPr>
            </a:pPr>
            <a:r>
              <a:rPr sz="1800" b="1">
                <a:solidFill>
                  <a:srgbClr val="203645"/>
                </a:solidFill>
                <a:latin typeface="Meiryo"/>
                <a:ea typeface="Meiryo"/>
                <a:cs typeface="Meiryo"/>
              </a:rPr>
              <a:t>三つの分類軸</a:t>
            </a:r>
          </a:p>
        </p:txBody>
      </p:sp>
      <p:sp>
        <p:nvSpPr>
          <p:cNvPr id="10" name="">
            <a:extLst xmlns:a="http://schemas.openxmlformats.org/drawingml/2006/main">
              <a:ext uri="{FF2B5EF4-FFF2-40B4-BE49-F238E27FC236}">
                <a16:creationId xmlns:a16="http://schemas.microsoft.com/office/drawing/2014/main" id="{7CE054E1-95EE-4B83-816D-1C8F343EE6EA}"/>
              </a:ext>
            </a:extLst>
          </p:cNvPr>
          <p:cNvSpPr>
            <a:spLocks xmlns:a="http://schemas.openxmlformats.org/drawingml/2006/main" noGrp="1"/>
          </p:cNvSpPr>
          <p:nvPr/>
        </p:nvSpPr>
        <p:spPr>
          <a:xfrm xmlns:a="http://schemas.openxmlformats.org/drawingml/2006/main">
            <a:off x="4429125" y="2619375"/>
            <a:ext cx="33337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9A9D52-85AD-47A4-B70B-0E857C3CA44A}"/>
              </a:ext>
            </a:extLst>
          </p:cNvPr>
          <p:cNvSpPr>
            <a:spLocks xmlns:a="http://schemas.openxmlformats.org/drawingml/2006/main" noGrp="1"/>
          </p:cNvSpPr>
          <p:nvPr/>
        </p:nvSpPr>
        <p:spPr>
          <a:xfrm xmlns:a="http://schemas.openxmlformats.org/drawingml/2006/main">
            <a:off x="4429125" y="2924175"/>
            <a:ext cx="3381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入力の種類</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異常対象の粒度</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単変量・多変量手法</a:t>
            </a:r>
          </a:p>
        </p:txBody>
      </p:sp>
      <p:sp>
        <p:nvSpPr>
          <p:cNvPr id="12" name="">
            <a:extLst xmlns:a="http://schemas.openxmlformats.org/drawingml/2006/main">
              <a:ext uri="{FF2B5EF4-FFF2-40B4-BE49-F238E27FC236}">
                <a16:creationId xmlns:a16="http://schemas.microsoft.com/office/drawing/2014/main" id="{24BE63AE-4C44-4979-82CF-B4DB054E98AA}"/>
              </a:ext>
            </a:extLst>
          </p:cNvPr>
          <p:cNvSpPr>
            <a:spLocks xmlns:a="http://schemas.openxmlformats.org/drawingml/2006/main" noGrp="1"/>
          </p:cNvSpPr>
          <p:nvPr/>
        </p:nvSpPr>
        <p:spPr>
          <a:xfrm xmlns:a="http://schemas.openxmlformats.org/drawingml/2006/main">
            <a:off x="8334375" y="16478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E87"/>
                </a:solidFill>
                <a:latin typeface="Meiryo"/>
                <a:ea typeface="Meiryo"/>
                <a:cs typeface="Meiryo"/>
              </a:defRPr>
            </a:pPr>
            <a:r>
              <a:rPr sz="2250" b="1">
                <a:solidFill>
                  <a:srgbClr val="007E87"/>
                </a:solidFill>
                <a:latin typeface="Meiryo"/>
                <a:ea typeface="Meiryo"/>
                <a:cs typeface="Meiryo"/>
              </a:rPr>
              <a:t>S6</a:t>
            </a:r>
          </a:p>
        </p:txBody>
      </p:sp>
      <p:sp>
        <p:nvSpPr>
          <p:cNvPr id="13" name="">
            <a:extLst xmlns:a="http://schemas.openxmlformats.org/drawingml/2006/main">
              <a:ext uri="{FF2B5EF4-FFF2-40B4-BE49-F238E27FC236}">
                <a16:creationId xmlns:a16="http://schemas.microsoft.com/office/drawing/2014/main" id="{90746E3D-BC32-4B1E-A5EE-DE3B7B17BE08}"/>
              </a:ext>
            </a:extLst>
          </p:cNvPr>
          <p:cNvSpPr>
            <a:spLocks xmlns:a="http://schemas.openxmlformats.org/drawingml/2006/main" noGrp="1"/>
          </p:cNvSpPr>
          <p:nvPr/>
        </p:nvSpPr>
        <p:spPr>
          <a:xfrm xmlns:a="http://schemas.openxmlformats.org/drawingml/2006/main">
            <a:off x="8334375" y="2190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203645"/>
                </a:solidFill>
                <a:latin typeface="Meiryo"/>
                <a:ea typeface="Meiryo"/>
                <a:cs typeface="Meiryo"/>
              </a:defRPr>
            </a:pPr>
            <a:r>
              <a:rPr sz="1800" b="1">
                <a:solidFill>
                  <a:srgbClr val="203645"/>
                </a:solidFill>
                <a:latin typeface="Meiryo"/>
                <a:ea typeface="Meiryo"/>
                <a:cs typeface="Meiryo"/>
              </a:rPr>
              <a:t>深層手法のスコア生成</a:t>
            </a:r>
          </a:p>
        </p:txBody>
      </p:sp>
      <p:sp>
        <p:nvSpPr>
          <p:cNvPr id="14" name="">
            <a:extLst xmlns:a="http://schemas.openxmlformats.org/drawingml/2006/main">
              <a:ext uri="{FF2B5EF4-FFF2-40B4-BE49-F238E27FC236}">
                <a16:creationId xmlns:a16="http://schemas.microsoft.com/office/drawing/2014/main" id="{80310C55-63F6-4055-A4BF-6465843FE4C6}"/>
              </a:ext>
            </a:extLst>
          </p:cNvPr>
          <p:cNvSpPr>
            <a:spLocks xmlns:a="http://schemas.openxmlformats.org/drawingml/2006/main" noGrp="1"/>
          </p:cNvSpPr>
          <p:nvPr/>
        </p:nvSpPr>
        <p:spPr>
          <a:xfrm xmlns:a="http://schemas.openxmlformats.org/drawingml/2006/main">
            <a:off x="8334375" y="2619375"/>
            <a:ext cx="33337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B17EBBC-42C2-4F2A-8D7E-B2D109FE4886}"/>
              </a:ext>
            </a:extLst>
          </p:cNvPr>
          <p:cNvSpPr>
            <a:spLocks xmlns:a="http://schemas.openxmlformats.org/drawingml/2006/main" noGrp="1"/>
          </p:cNvSpPr>
          <p:nvPr/>
        </p:nvSpPr>
        <p:spPr>
          <a:xfrm xmlns:a="http://schemas.openxmlformats.org/drawingml/2006/main">
            <a:off x="8334375" y="2924175"/>
            <a:ext cx="3381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予測型</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再構成型</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対照学習型</a:t>
            </a:r>
          </a:p>
        </p:txBody>
      </p:sp>
      <p:sp>
        <p:nvSpPr>
          <p:cNvPr id="16" name="">
            <a:extLst xmlns:a="http://schemas.openxmlformats.org/drawingml/2006/main">
              <a:ext uri="{FF2B5EF4-FFF2-40B4-BE49-F238E27FC236}">
                <a16:creationId xmlns:a16="http://schemas.microsoft.com/office/drawing/2014/main" id="{F9B49B96-4D63-4405-9425-BF37816BD81E}"/>
              </a:ext>
            </a:extLst>
          </p:cNvPr>
          <p:cNvSpPr>
            <a:spLocks xmlns:a="http://schemas.openxmlformats.org/drawingml/2006/main" noGrp="1"/>
          </p:cNvSpPr>
          <p:nvPr/>
        </p:nvSpPr>
        <p:spPr>
          <a:xfrm xmlns:a="http://schemas.openxmlformats.org/drawingml/2006/main">
            <a:off x="1476375" y="51054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1">
                <a:solidFill>
                  <a:srgbClr val="08273C"/>
                </a:solidFill>
                <a:latin typeface="Meiryo"/>
                <a:ea typeface="Meiryo"/>
                <a:cs typeface="Meiryo"/>
              </a:defRPr>
            </a:pPr>
            <a:r>
              <a:rPr sz="2100" b="1">
                <a:solidFill>
                  <a:srgbClr val="08273C"/>
                </a:solidFill>
                <a:latin typeface="Meiryo"/>
                <a:ea typeface="Meiryo"/>
                <a:cs typeface="Meiryo"/>
              </a:rPr>
              <a:t>検知根拠　×　必要情報　×　時間窓　×　回帰器への依存</a:t>
            </a:r>
          </a:p>
        </p:txBody>
      </p:sp>
      <p:cxnSp>
        <p:nvCxnSpPr>
          <p:cNvPr id="58" name=""/>
          <p:cNvCxnSpPr>
            <a:stCxn xmlns:a="http://schemas.openxmlformats.org/drawingml/2006/main" id="7" idx="2"/>
            <a:endCxn xmlns:a="http://schemas.openxmlformats.org/drawingml/2006/main" id="16" idx="0"/>
          </p:cNvCxnSpPr>
          <p:nvPr/>
        </p:nvCxnSpPr>
        <p:spPr>
          <a:xfrm xmlns:a="http://schemas.openxmlformats.org/drawingml/2006/main">
            <a:off x="2214563" y="4257675"/>
            <a:ext cx="4405313" cy="847725"/>
          </a:xfrm>
          <a:prstGeom xmlns:a="http://schemas.openxmlformats.org/drawingml/2006/main" prst="bentConnector4">
            <a:avLst>
              <a:gd name="adj1" fmla="val 0"/>
              <a:gd name="adj2" fmla="val 50000"/>
            </a:avLst>
          </a:prstGeom>
          <a:ln xmlns:a="http://schemas.openxmlformats.org/drawingml/2006/main" w="12859">
            <a:solidFill>
              <a:srgbClr val="85939A"/>
            </a:solidFill>
            <a:prstDash val="solid"/>
            <a:tailEnd type="triangle" w="sm" len="sm"/>
          </a:ln>
        </p:spPr>
      </p:cxnSp>
      <p:cxnSp>
        <p:nvCxnSpPr>
          <p:cNvPr id="59" name=""/>
          <p:cNvCxnSpPr>
            <a:stCxn xmlns:a="http://schemas.openxmlformats.org/drawingml/2006/main" id="11" idx="2"/>
            <a:endCxn xmlns:a="http://schemas.openxmlformats.org/drawingml/2006/main" id="16" idx="0"/>
          </p:cNvCxnSpPr>
          <p:nvPr/>
        </p:nvCxnSpPr>
        <p:spPr>
          <a:xfrm xmlns:a="http://schemas.openxmlformats.org/drawingml/2006/main">
            <a:off x="6119813" y="4257675"/>
            <a:ext cx="500063" cy="847725"/>
          </a:xfrm>
          <a:prstGeom xmlns:a="http://schemas.openxmlformats.org/drawingml/2006/main" prst="bentConnector4">
            <a:avLst>
              <a:gd name="adj1" fmla="val 0"/>
              <a:gd name="adj2" fmla="val 50000"/>
            </a:avLst>
          </a:prstGeom>
          <a:ln xmlns:a="http://schemas.openxmlformats.org/drawingml/2006/main" w="12859">
            <a:solidFill>
              <a:srgbClr val="85939A"/>
            </a:solidFill>
            <a:prstDash val="solid"/>
            <a:tailEnd type="triangle" w="sm" len="sm"/>
          </a:ln>
        </p:spPr>
      </p:cxnSp>
      <p:cxnSp>
        <p:nvCxnSpPr>
          <p:cNvPr id="60" name=""/>
          <p:cNvCxnSpPr>
            <a:stCxn xmlns:a="http://schemas.openxmlformats.org/drawingml/2006/main" id="15" idx="2"/>
            <a:endCxn xmlns:a="http://schemas.openxmlformats.org/drawingml/2006/main" id="16" idx="0"/>
          </p:cNvCxnSpPr>
          <p:nvPr/>
        </p:nvCxnSpPr>
        <p:spPr>
          <a:xfrm xmlns:a="http://schemas.openxmlformats.org/drawingml/2006/main" flipH="1">
            <a:off x="6619875" y="4257675"/>
            <a:ext cx="3405188" cy="847725"/>
          </a:xfrm>
          <a:prstGeom xmlns:a="http://schemas.openxmlformats.org/drawingml/2006/main" prst="bentConnector4">
            <a:avLst>
              <a:gd name="adj1" fmla="val 0"/>
              <a:gd name="adj2" fmla="val 50000"/>
            </a:avLst>
          </a:prstGeom>
          <a:ln xmlns:a="http://schemas.openxmlformats.org/drawingml/2006/main" w="12859">
            <a:solidFill>
              <a:srgbClr val="85939A"/>
            </a:solidFill>
            <a:prstDash val="solid"/>
            <a:tailEnd type="triangle" w="sm" len="sm"/>
          </a:ln>
        </p:spPr>
      </p:cxnSp>
      <p:sp>
        <p:nvSpPr>
          <p:cNvPr id="20" name="">
            <a:extLst xmlns:a="http://schemas.openxmlformats.org/drawingml/2006/main">
              <a:ext uri="{FF2B5EF4-FFF2-40B4-BE49-F238E27FC236}">
                <a16:creationId xmlns:a16="http://schemas.microsoft.com/office/drawing/2014/main" id="{921CF34E-FDDC-4755-B903-B2566AE4EBFE}"/>
              </a:ext>
            </a:extLst>
          </p:cNvPr>
          <p:cNvSpPr>
            <a:spLocks xmlns:a="http://schemas.openxmlformats.org/drawingml/2006/main" noGrp="1"/>
          </p:cNvSpPr>
          <p:nvPr/>
        </p:nvSpPr>
        <p:spPr>
          <a:xfrm xmlns:a="http://schemas.openxmlformats.org/drawingml/2006/main">
            <a:off x="476250" y="5857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BDB9519-717F-461C-99F8-CEBBEE69EB79}"/>
              </a:ext>
            </a:extLst>
          </p:cNvPr>
          <p:cNvSpPr>
            <a:spLocks xmlns:a="http://schemas.openxmlformats.org/drawingml/2006/main" noGrp="1"/>
          </p:cNvSpPr>
          <p:nvPr/>
        </p:nvSpPr>
        <p:spPr>
          <a:xfrm xmlns:a="http://schemas.openxmlformats.org/drawingml/2006/main">
            <a:off x="476250" y="60007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08273C"/>
                </a:solidFill>
                <a:latin typeface="Meiryo"/>
                <a:ea typeface="Meiryo"/>
                <a:cs typeface="Meiryo"/>
              </a:defRPr>
            </a:pPr>
            <a:r>
              <a:rPr sz="1650" b="1">
                <a:solidFill>
                  <a:srgbClr val="08273C"/>
                </a:solidFill>
                <a:latin typeface="Meiryo"/>
                <a:ea typeface="Meiryo"/>
                <a:cs typeface="Meiryo"/>
              </a:rPr>
              <a:t>分類名を統一するのではなく、適用条件を共通の軸で整理する。</a:t>
            </a:r>
          </a:p>
        </p:txBody>
      </p:sp>
      <p:sp>
        <p:nvSpPr>
          <p:cNvPr id="22" name="">
            <a:extLst xmlns:a="http://schemas.openxmlformats.org/drawingml/2006/main">
              <a:ext uri="{FF2B5EF4-FFF2-40B4-BE49-F238E27FC236}">
                <a16:creationId xmlns:a16="http://schemas.microsoft.com/office/drawing/2014/main" id="{574033D0-2C89-4311-B034-24C6D1CCDFC5}"/>
              </a:ext>
            </a:extLst>
          </p:cNvPr>
          <p:cNvSpPr>
            <a:spLocks xmlns:a="http://schemas.openxmlformats.org/drawingml/2006/main" noGrp="1"/>
          </p:cNvSpPr>
          <p:nvPr/>
        </p:nvSpPr>
        <p:spPr>
          <a:xfrm xmlns:a="http://schemas.openxmlformats.org/drawingml/2006/main">
            <a:off x="476250" y="6496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61717B"/>
                </a:solidFill>
                <a:latin typeface="Meiryo"/>
                <a:ea typeface="Meiryo"/>
                <a:cs typeface="Meiryo"/>
              </a:defRPr>
            </a:pPr>
            <a:r>
              <a:rPr sz="825" b="0">
                <a:solidFill>
                  <a:srgbClr val="61717B"/>
                </a:solidFill>
                <a:latin typeface="Meiryo"/>
                <a:ea typeface="Meiryo"/>
                <a:cs typeface="Meiryo"/>
              </a:rPr>
              <a:t>S1 §4、S3 §2–3、S6 §3。本調査による整理。学習形態・構造・オンライン性も確認する。</a:t>
            </a:r>
          </a:p>
        </p:txBody>
      </p:sp>
      <p:sp>
        <p:nvSpPr>
          <p:cNvPr id="42" name="">
            <a:extLst xmlns:a="http://schemas.openxmlformats.org/drawingml/2006/main">
              <a:ext uri="{FF2B5EF4-FFF2-40B4-BE49-F238E27FC236}">
                <a16:creationId xmlns:a16="http://schemas.microsoft.com/office/drawing/2014/main" id="{88D39C86-DAC9-4DCE-9577-47C0DDB20478}"/>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08</a:t>
            </a:r>
          </a:p>
        </p:txBody>
      </p:sp>
    </p:spTree>
    <p:extLst>
      <p:ext uri="{BB962C8B-B14F-4D97-AF65-F5344CB8AC3E}">
        <p14:creationId xmlns:p14="http://schemas.microsoft.com/office/powerpoint/2010/main" val="21017198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F2F9AFBA-3614-43C1-82B7-BED921C93131}"/>
              </a:ext>
            </a:extLst>
          </p:cNvPr>
          <p:cNvSpPr>
            <a:spLocks xmlns:a="http://schemas.openxmlformats.org/drawingml/2006/main" noGrp="1"/>
          </p:cNvSpPr>
          <p:nvPr/>
        </p:nvSpPr>
        <p:spPr>
          <a:xfrm xmlns:a="http://schemas.openxmlformats.org/drawingml/2006/main">
            <a:off x="476250" y="457200"/>
            <a:ext cx="1123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AEの学習・校正・推論の詳細フロー</a:t>
            </a:r>
          </a:p>
        </p:txBody>
      </p:sp>
      <p:sp>
        <p:nvSpPr>
          <p:cNvPr id="2" name="">
            <a:extLst xmlns:a="http://schemas.openxmlformats.org/drawingml/2006/main">
              <a:ext uri="{FF2B5EF4-FFF2-40B4-BE49-F238E27FC236}">
                <a16:creationId xmlns:a16="http://schemas.microsoft.com/office/drawing/2014/main" id="{D9DC630D-2625-4182-8444-2E12777015B0}"/>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938B10-F73D-47BF-B86F-6CE10B765992}"/>
              </a:ext>
            </a:extLst>
          </p:cNvPr>
          <p:cNvSpPr>
            <a:spLocks xmlns:a="http://schemas.openxmlformats.org/drawingml/2006/main" noGrp="1"/>
          </p:cNvSpPr>
          <p:nvPr/>
        </p:nvSpPr>
        <p:spPr>
          <a:xfrm xmlns:a="http://schemas.openxmlformats.org/drawingml/2006/main">
            <a:off x="523875" y="14668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203645"/>
                </a:solidFill>
                <a:latin typeface="Meiryo"/>
                <a:ea typeface="Meiryo"/>
                <a:cs typeface="Meiryo"/>
              </a:defRPr>
            </a:pPr>
            <a:r>
              <a:rPr sz="1650" b="1">
                <a:solidFill>
                  <a:srgbClr val="203645"/>
                </a:solidFill>
                <a:latin typeface="Meiryo"/>
                <a:ea typeface="Meiryo"/>
                <a:cs typeface="Meiryo"/>
              </a:rPr>
              <a:t>(a) 学習：正常な入力の再構成誤差を小さくする</a:t>
            </a:r>
          </a:p>
        </p:txBody>
      </p:sp>
      <p:sp>
        <p:nvSpPr>
          <p:cNvPr id="4" name="">
            <a:extLst xmlns:a="http://schemas.openxmlformats.org/drawingml/2006/main">
              <a:ext uri="{FF2B5EF4-FFF2-40B4-BE49-F238E27FC236}">
                <a16:creationId xmlns:a16="http://schemas.microsoft.com/office/drawing/2014/main" id="{B7058941-B088-42CB-9323-5671FBB8C9BA}"/>
              </a:ext>
            </a:extLst>
          </p:cNvPr>
          <p:cNvSpPr>
            <a:spLocks xmlns:a="http://schemas.openxmlformats.org/drawingml/2006/main" noGrp="1"/>
          </p:cNvSpPr>
          <p:nvPr/>
        </p:nvSpPr>
        <p:spPr>
          <a:xfrm xmlns:a="http://schemas.openxmlformats.org/drawingml/2006/main">
            <a:off x="523875" y="1943100"/>
            <a:ext cx="2095500"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5" name="">
            <a:extLst xmlns:a="http://schemas.openxmlformats.org/drawingml/2006/main">
              <a:ext uri="{FF2B5EF4-FFF2-40B4-BE49-F238E27FC236}">
                <a16:creationId xmlns:a16="http://schemas.microsoft.com/office/drawing/2014/main" id="{A80BCE48-77BC-4035-A4FC-D7C2D110CE0F}"/>
              </a:ext>
            </a:extLst>
          </p:cNvPr>
          <p:cNvSpPr>
            <a:spLocks xmlns:a="http://schemas.openxmlformats.org/drawingml/2006/main" noGrp="1"/>
          </p:cNvSpPr>
          <p:nvPr/>
        </p:nvSpPr>
        <p:spPr>
          <a:xfrm xmlns:a="http://schemas.openxmlformats.org/drawingml/2006/main">
            <a:off x="628650" y="2038350"/>
            <a:ext cx="188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正常な X_train</a:t>
            </a:r>
          </a:p>
        </p:txBody>
      </p:sp>
      <p:sp>
        <p:nvSpPr>
          <p:cNvPr id="6" name="">
            <a:extLst xmlns:a="http://schemas.openxmlformats.org/drawingml/2006/main">
              <a:ext uri="{FF2B5EF4-FFF2-40B4-BE49-F238E27FC236}">
                <a16:creationId xmlns:a16="http://schemas.microsoft.com/office/drawing/2014/main" id="{A2179EF4-7D2F-467B-8B1A-392B4F7AF514}"/>
              </a:ext>
            </a:extLst>
          </p:cNvPr>
          <p:cNvSpPr>
            <a:spLocks xmlns:a="http://schemas.openxmlformats.org/drawingml/2006/main" noGrp="1"/>
          </p:cNvSpPr>
          <p:nvPr/>
        </p:nvSpPr>
        <p:spPr>
          <a:xfrm xmlns:a="http://schemas.openxmlformats.org/drawingml/2006/main">
            <a:off x="628650" y="2381250"/>
            <a:ext cx="1885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回帰 Y は不要</a:t>
            </a:r>
          </a:p>
        </p:txBody>
      </p:sp>
      <p:sp>
        <p:nvSpPr>
          <p:cNvPr id="7" name="">
            <a:extLst xmlns:a="http://schemas.openxmlformats.org/drawingml/2006/main">
              <a:ext uri="{FF2B5EF4-FFF2-40B4-BE49-F238E27FC236}">
                <a16:creationId xmlns:a16="http://schemas.microsoft.com/office/drawing/2014/main" id="{A6137FFB-B6E2-40DC-B5AF-8975985FACFF}"/>
              </a:ext>
            </a:extLst>
          </p:cNvPr>
          <p:cNvSpPr>
            <a:spLocks xmlns:a="http://schemas.openxmlformats.org/drawingml/2006/main" noGrp="1"/>
          </p:cNvSpPr>
          <p:nvPr/>
        </p:nvSpPr>
        <p:spPr>
          <a:xfrm xmlns:a="http://schemas.openxmlformats.org/drawingml/2006/main">
            <a:off x="3048000" y="1943100"/>
            <a:ext cx="2047875"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8" name="">
            <a:extLst xmlns:a="http://schemas.openxmlformats.org/drawingml/2006/main">
              <a:ext uri="{FF2B5EF4-FFF2-40B4-BE49-F238E27FC236}">
                <a16:creationId xmlns:a16="http://schemas.microsoft.com/office/drawing/2014/main" id="{2E672083-9EDE-4047-BBB1-9F1F1E65FF16}"/>
              </a:ext>
            </a:extLst>
          </p:cNvPr>
          <p:cNvSpPr>
            <a:spLocks xmlns:a="http://schemas.openxmlformats.org/drawingml/2006/main" noGrp="1"/>
          </p:cNvSpPr>
          <p:nvPr/>
        </p:nvSpPr>
        <p:spPr>
          <a:xfrm xmlns:a="http://schemas.openxmlformats.org/drawingml/2006/main">
            <a:off x="3152775" y="2038350"/>
            <a:ext cx="1838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前処理を適用</a:t>
            </a:r>
          </a:p>
        </p:txBody>
      </p:sp>
      <p:sp>
        <p:nvSpPr>
          <p:cNvPr id="9" name="">
            <a:extLst xmlns:a="http://schemas.openxmlformats.org/drawingml/2006/main">
              <a:ext uri="{FF2B5EF4-FFF2-40B4-BE49-F238E27FC236}">
                <a16:creationId xmlns:a16="http://schemas.microsoft.com/office/drawing/2014/main" id="{FCCFCC5C-C2D6-424C-8305-9B753C97F31E}"/>
              </a:ext>
            </a:extLst>
          </p:cNvPr>
          <p:cNvSpPr>
            <a:spLocks xmlns:a="http://schemas.openxmlformats.org/drawingml/2006/main" noGrp="1"/>
          </p:cNvSpPr>
          <p:nvPr/>
        </p:nvSpPr>
        <p:spPr>
          <a:xfrm xmlns:a="http://schemas.openxmlformats.org/drawingml/2006/main">
            <a:off x="3152775" y="2381250"/>
            <a:ext cx="1838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訓練時の設定を保存</a:t>
            </a:r>
          </a:p>
        </p:txBody>
      </p:sp>
      <p:sp>
        <p:nvSpPr>
          <p:cNvPr id="10" name="">
            <a:extLst xmlns:a="http://schemas.openxmlformats.org/drawingml/2006/main">
              <a:ext uri="{FF2B5EF4-FFF2-40B4-BE49-F238E27FC236}">
                <a16:creationId xmlns:a16="http://schemas.microsoft.com/office/drawing/2014/main" id="{EEC84F44-4FB7-4DED-B991-2FEC3C845206}"/>
              </a:ext>
            </a:extLst>
          </p:cNvPr>
          <p:cNvSpPr>
            <a:spLocks xmlns:a="http://schemas.openxmlformats.org/drawingml/2006/main" noGrp="1"/>
          </p:cNvSpPr>
          <p:nvPr/>
        </p:nvSpPr>
        <p:spPr>
          <a:xfrm xmlns:a="http://schemas.openxmlformats.org/drawingml/2006/main">
            <a:off x="5524500" y="1943100"/>
            <a:ext cx="1809750"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1" name="">
            <a:extLst xmlns:a="http://schemas.openxmlformats.org/drawingml/2006/main">
              <a:ext uri="{FF2B5EF4-FFF2-40B4-BE49-F238E27FC236}">
                <a16:creationId xmlns:a16="http://schemas.microsoft.com/office/drawing/2014/main" id="{450D9B2E-CA3F-45E6-BD8A-B7088225A7B4}"/>
              </a:ext>
            </a:extLst>
          </p:cNvPr>
          <p:cNvSpPr>
            <a:spLocks xmlns:a="http://schemas.openxmlformats.org/drawingml/2006/main" noGrp="1"/>
          </p:cNvSpPr>
          <p:nvPr/>
        </p:nvSpPr>
        <p:spPr>
          <a:xfrm xmlns:a="http://schemas.openxmlformats.org/drawingml/2006/main">
            <a:off x="5629275" y="2038350"/>
            <a:ext cx="1600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Encoder gφ</a:t>
            </a:r>
          </a:p>
        </p:txBody>
      </p:sp>
      <p:sp>
        <p:nvSpPr>
          <p:cNvPr id="12" name="">
            <a:extLst xmlns:a="http://schemas.openxmlformats.org/drawingml/2006/main">
              <a:ext uri="{FF2B5EF4-FFF2-40B4-BE49-F238E27FC236}">
                <a16:creationId xmlns:a16="http://schemas.microsoft.com/office/drawing/2014/main" id="{3D4CD8BC-010E-471D-B25F-355D75FBF00C}"/>
              </a:ext>
            </a:extLst>
          </p:cNvPr>
          <p:cNvSpPr>
            <a:spLocks xmlns:a="http://schemas.openxmlformats.org/drawingml/2006/main" noGrp="1"/>
          </p:cNvSpPr>
          <p:nvPr/>
        </p:nvSpPr>
        <p:spPr>
          <a:xfrm xmlns:a="http://schemas.openxmlformats.org/drawingml/2006/main">
            <a:off x="5629275" y="2381250"/>
            <a:ext cx="1600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z = gφ(x)</a:t>
            </a:r>
          </a:p>
        </p:txBody>
      </p:sp>
      <p:sp>
        <p:nvSpPr>
          <p:cNvPr id="13" name="">
            <a:extLst xmlns:a="http://schemas.openxmlformats.org/drawingml/2006/main">
              <a:ext uri="{FF2B5EF4-FFF2-40B4-BE49-F238E27FC236}">
                <a16:creationId xmlns:a16="http://schemas.microsoft.com/office/drawing/2014/main" id="{452A9169-731B-48C3-87A7-8F5B9550B0D5}"/>
              </a:ext>
            </a:extLst>
          </p:cNvPr>
          <p:cNvSpPr>
            <a:spLocks xmlns:a="http://schemas.openxmlformats.org/drawingml/2006/main" noGrp="1"/>
          </p:cNvSpPr>
          <p:nvPr/>
        </p:nvSpPr>
        <p:spPr>
          <a:xfrm xmlns:a="http://schemas.openxmlformats.org/drawingml/2006/main">
            <a:off x="7762875" y="1943100"/>
            <a:ext cx="1809750"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4" name="">
            <a:extLst xmlns:a="http://schemas.openxmlformats.org/drawingml/2006/main">
              <a:ext uri="{FF2B5EF4-FFF2-40B4-BE49-F238E27FC236}">
                <a16:creationId xmlns:a16="http://schemas.microsoft.com/office/drawing/2014/main" id="{9AC61BCF-1FEE-431F-9550-71648FED44D6}"/>
              </a:ext>
            </a:extLst>
          </p:cNvPr>
          <p:cNvSpPr>
            <a:spLocks xmlns:a="http://schemas.openxmlformats.org/drawingml/2006/main" noGrp="1"/>
          </p:cNvSpPr>
          <p:nvPr/>
        </p:nvSpPr>
        <p:spPr>
          <a:xfrm xmlns:a="http://schemas.openxmlformats.org/drawingml/2006/main">
            <a:off x="7867650" y="2038350"/>
            <a:ext cx="1600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Decoder hθ</a:t>
            </a:r>
          </a:p>
        </p:txBody>
      </p:sp>
      <p:sp>
        <p:nvSpPr>
          <p:cNvPr id="15" name="">
            <a:extLst xmlns:a="http://schemas.openxmlformats.org/drawingml/2006/main">
              <a:ext uri="{FF2B5EF4-FFF2-40B4-BE49-F238E27FC236}">
                <a16:creationId xmlns:a16="http://schemas.microsoft.com/office/drawing/2014/main" id="{90F746B8-58A0-4C48-94F9-A52F0C5EFBAA}"/>
              </a:ext>
            </a:extLst>
          </p:cNvPr>
          <p:cNvSpPr>
            <a:spLocks xmlns:a="http://schemas.openxmlformats.org/drawingml/2006/main" noGrp="1"/>
          </p:cNvSpPr>
          <p:nvPr/>
        </p:nvSpPr>
        <p:spPr>
          <a:xfrm xmlns:a="http://schemas.openxmlformats.org/drawingml/2006/main">
            <a:off x="7867650" y="2381250"/>
            <a:ext cx="1600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r = hθ(z)</a:t>
            </a:r>
          </a:p>
        </p:txBody>
      </p:sp>
      <p:sp>
        <p:nvSpPr>
          <p:cNvPr id="16" name="">
            <a:extLst xmlns:a="http://schemas.openxmlformats.org/drawingml/2006/main">
              <a:ext uri="{FF2B5EF4-FFF2-40B4-BE49-F238E27FC236}">
                <a16:creationId xmlns:a16="http://schemas.microsoft.com/office/drawing/2014/main" id="{BC69A38C-8379-49FD-BF20-A79D4EDBF96F}"/>
              </a:ext>
            </a:extLst>
          </p:cNvPr>
          <p:cNvSpPr>
            <a:spLocks xmlns:a="http://schemas.openxmlformats.org/drawingml/2006/main" noGrp="1"/>
          </p:cNvSpPr>
          <p:nvPr/>
        </p:nvSpPr>
        <p:spPr>
          <a:xfrm xmlns:a="http://schemas.openxmlformats.org/drawingml/2006/main">
            <a:off x="10001250" y="1943100"/>
            <a:ext cx="1714500" cy="8286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7" name="">
            <a:extLst xmlns:a="http://schemas.openxmlformats.org/drawingml/2006/main">
              <a:ext uri="{FF2B5EF4-FFF2-40B4-BE49-F238E27FC236}">
                <a16:creationId xmlns:a16="http://schemas.microsoft.com/office/drawing/2014/main" id="{C07D7D86-5528-4309-B168-B060377DE1C3}"/>
              </a:ext>
            </a:extLst>
          </p:cNvPr>
          <p:cNvSpPr>
            <a:spLocks xmlns:a="http://schemas.openxmlformats.org/drawingml/2006/main" noGrp="1"/>
          </p:cNvSpPr>
          <p:nvPr/>
        </p:nvSpPr>
        <p:spPr>
          <a:xfrm xmlns:a="http://schemas.openxmlformats.org/drawingml/2006/main">
            <a:off x="10106025" y="2038350"/>
            <a:ext cx="150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再構成損失</a:t>
            </a:r>
          </a:p>
        </p:txBody>
      </p:sp>
      <p:sp>
        <p:nvSpPr>
          <p:cNvPr id="18" name="">
            <a:extLst xmlns:a="http://schemas.openxmlformats.org/drawingml/2006/main">
              <a:ext uri="{FF2B5EF4-FFF2-40B4-BE49-F238E27FC236}">
                <a16:creationId xmlns:a16="http://schemas.microsoft.com/office/drawing/2014/main" id="{FE6A0279-CAF2-43A6-B55C-375BF7042A83}"/>
              </a:ext>
            </a:extLst>
          </p:cNvPr>
          <p:cNvSpPr>
            <a:spLocks xmlns:a="http://schemas.openxmlformats.org/drawingml/2006/main" noGrp="1"/>
          </p:cNvSpPr>
          <p:nvPr/>
        </p:nvSpPr>
        <p:spPr>
          <a:xfrm xmlns:a="http://schemas.openxmlformats.org/drawingml/2006/main">
            <a:off x="10106025" y="2381250"/>
            <a:ext cx="150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x と r の差を計算</a:t>
            </a:r>
          </a:p>
        </p:txBody>
      </p:sp>
      <p:cxnSp>
        <p:nvCxnSpPr>
          <p:cNvPr id="75" name=""/>
          <p:cNvCxnSpPr>
            <a:stCxn xmlns:a="http://schemas.openxmlformats.org/drawingml/2006/main" id="4" idx="3"/>
            <a:endCxn xmlns:a="http://schemas.openxmlformats.org/drawingml/2006/main" id="7" idx="1"/>
          </p:cNvCxnSpPr>
          <p:nvPr/>
        </p:nvCxnSpPr>
        <p:spPr>
          <a:xfrm xmlns:a="http://schemas.openxmlformats.org/drawingml/2006/main">
            <a:off x="2619375" y="2357438"/>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6" name=""/>
          <p:cNvCxnSpPr>
            <a:stCxn xmlns:a="http://schemas.openxmlformats.org/drawingml/2006/main" id="7" idx="3"/>
            <a:endCxn xmlns:a="http://schemas.openxmlformats.org/drawingml/2006/main" id="10" idx="1"/>
          </p:cNvCxnSpPr>
          <p:nvPr/>
        </p:nvCxnSpPr>
        <p:spPr>
          <a:xfrm xmlns:a="http://schemas.openxmlformats.org/drawingml/2006/main">
            <a:off x="5095875" y="2357438"/>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7" name=""/>
          <p:cNvCxnSpPr>
            <a:stCxn xmlns:a="http://schemas.openxmlformats.org/drawingml/2006/main" id="10" idx="3"/>
            <a:endCxn xmlns:a="http://schemas.openxmlformats.org/drawingml/2006/main" id="13" idx="1"/>
          </p:cNvCxnSpPr>
          <p:nvPr/>
        </p:nvCxnSpPr>
        <p:spPr>
          <a:xfrm xmlns:a="http://schemas.openxmlformats.org/drawingml/2006/main">
            <a:off x="7334250" y="2357438"/>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8" name=""/>
          <p:cNvCxnSpPr>
            <a:stCxn xmlns:a="http://schemas.openxmlformats.org/drawingml/2006/main" id="13" idx="3"/>
            <a:endCxn xmlns:a="http://schemas.openxmlformats.org/drawingml/2006/main" id="16" idx="1"/>
          </p:cNvCxnSpPr>
          <p:nvPr/>
        </p:nvCxnSpPr>
        <p:spPr>
          <a:xfrm xmlns:a="http://schemas.openxmlformats.org/drawingml/2006/main">
            <a:off x="9572625" y="2357438"/>
            <a:ext cx="4286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9" name=""/>
          <p:cNvCxnSpPr>
            <a:stCxn xmlns:a="http://schemas.openxmlformats.org/drawingml/2006/main" id="16" idx="2"/>
            <a:endCxn xmlns:a="http://schemas.openxmlformats.org/drawingml/2006/main" id="10" idx="2"/>
          </p:cNvCxnSpPr>
          <p:nvPr/>
        </p:nvCxnSpPr>
        <p:spPr>
          <a:xfrm xmlns:a="http://schemas.openxmlformats.org/drawingml/2006/main" flipH="1">
            <a:off x="6429375" y="2771775"/>
            <a:ext cx="4429125" cy="0"/>
          </a:xfrm>
          <a:prstGeom xmlns:a="http://schemas.openxmlformats.org/drawingml/2006/main" prst="straightConnector1">
            <a:avLst/>
          </a:prstGeom>
          <a:ln xmlns:a="http://schemas.openxmlformats.org/drawingml/2006/main" w="13335">
            <a:solidFill>
              <a:srgbClr val="007E87"/>
            </a:solidFill>
            <a:prstDash val="dash"/>
            <a:tailEnd type="triangle" w="sm" len="sm"/>
          </a:ln>
        </p:spPr>
      </p:cxnSp>
      <p:sp>
        <p:nvSpPr>
          <p:cNvPr id="24" name="">
            <a:extLst xmlns:a="http://schemas.openxmlformats.org/drawingml/2006/main">
              <a:ext uri="{FF2B5EF4-FFF2-40B4-BE49-F238E27FC236}">
                <a16:creationId xmlns:a16="http://schemas.microsoft.com/office/drawing/2014/main" id="{5B765DEC-D1EC-4793-9B7E-810803695F30}"/>
              </a:ext>
            </a:extLst>
          </p:cNvPr>
          <p:cNvSpPr>
            <a:spLocks xmlns:a="http://schemas.openxmlformats.org/drawingml/2006/main" noGrp="1"/>
          </p:cNvSpPr>
          <p:nvPr/>
        </p:nvSpPr>
        <p:spPr>
          <a:xfrm xmlns:a="http://schemas.openxmlformats.org/drawingml/2006/main">
            <a:off x="5667375" y="30194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07E87"/>
                </a:solidFill>
                <a:latin typeface="Meiryo"/>
                <a:ea typeface="Meiryo"/>
                <a:cs typeface="Meiryo"/>
              </a:defRPr>
            </a:pPr>
            <a:r>
              <a:rPr sz="1350" b="1">
                <a:solidFill>
                  <a:srgbClr val="007E87"/>
                </a:solidFill>
                <a:latin typeface="Meiryo"/>
                <a:ea typeface="Meiryo"/>
                <a:cs typeface="Meiryo"/>
              </a:rPr>
              <a:t>損失を逆伝播 → φ, θ を更新（収束まで反復）</a:t>
            </a:r>
          </a:p>
        </p:txBody>
      </p:sp>
      <p:sp>
        <p:nvSpPr>
          <p:cNvPr id="25" name="">
            <a:extLst xmlns:a="http://schemas.openxmlformats.org/drawingml/2006/main">
              <a:ext uri="{FF2B5EF4-FFF2-40B4-BE49-F238E27FC236}">
                <a16:creationId xmlns:a16="http://schemas.microsoft.com/office/drawing/2014/main" id="{1B487DEF-8A21-4A90-8AD5-312197726C17}"/>
              </a:ext>
            </a:extLst>
          </p:cNvPr>
          <p:cNvSpPr>
            <a:spLocks xmlns:a="http://schemas.openxmlformats.org/drawingml/2006/main" noGrp="1"/>
          </p:cNvSpPr>
          <p:nvPr/>
        </p:nvSpPr>
        <p:spPr>
          <a:xfrm xmlns:a="http://schemas.openxmlformats.org/drawingml/2006/main">
            <a:off x="523875" y="34385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203645"/>
                </a:solidFill>
                <a:latin typeface="Meiryo"/>
                <a:ea typeface="Meiryo"/>
                <a:cs typeface="Meiryo"/>
              </a:defRPr>
            </a:pPr>
            <a:r>
              <a:rPr sz="1650" b="1">
                <a:solidFill>
                  <a:srgbClr val="203645"/>
                </a:solidFill>
                <a:latin typeface="Meiryo"/>
                <a:ea typeface="Meiryo"/>
                <a:cs typeface="Meiryo"/>
              </a:rPr>
              <a:t>(b) 校正：学習済みAEを固定して閾値を決める</a:t>
            </a:r>
          </a:p>
        </p:txBody>
      </p:sp>
      <p:sp>
        <p:nvSpPr>
          <p:cNvPr id="26" name="">
            <a:extLst xmlns:a="http://schemas.openxmlformats.org/drawingml/2006/main">
              <a:ext uri="{FF2B5EF4-FFF2-40B4-BE49-F238E27FC236}">
                <a16:creationId xmlns:a16="http://schemas.microsoft.com/office/drawing/2014/main" id="{3A57B2CD-B3C6-4958-8CC9-BD11B80BBDF1}"/>
              </a:ext>
            </a:extLst>
          </p:cNvPr>
          <p:cNvSpPr>
            <a:spLocks xmlns:a="http://schemas.openxmlformats.org/drawingml/2006/main" noGrp="1"/>
          </p:cNvSpPr>
          <p:nvPr/>
        </p:nvSpPr>
        <p:spPr>
          <a:xfrm xmlns:a="http://schemas.openxmlformats.org/drawingml/2006/main">
            <a:off x="523875" y="3838575"/>
            <a:ext cx="2381250" cy="7143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27" name="">
            <a:extLst xmlns:a="http://schemas.openxmlformats.org/drawingml/2006/main">
              <a:ext uri="{FF2B5EF4-FFF2-40B4-BE49-F238E27FC236}">
                <a16:creationId xmlns:a16="http://schemas.microsoft.com/office/drawing/2014/main" id="{23AFF75E-5F2F-4517-B515-AC73389F2A2F}"/>
              </a:ext>
            </a:extLst>
          </p:cNvPr>
          <p:cNvSpPr>
            <a:spLocks xmlns:a="http://schemas.openxmlformats.org/drawingml/2006/main" noGrp="1"/>
          </p:cNvSpPr>
          <p:nvPr/>
        </p:nvSpPr>
        <p:spPr>
          <a:xfrm xmlns:a="http://schemas.openxmlformats.org/drawingml/2006/main">
            <a:off x="628650" y="3933825"/>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独立した正常 X_cal</a:t>
            </a:r>
          </a:p>
        </p:txBody>
      </p:sp>
      <p:sp>
        <p:nvSpPr>
          <p:cNvPr id="28" name="">
            <a:extLst xmlns:a="http://schemas.openxmlformats.org/drawingml/2006/main">
              <a:ext uri="{FF2B5EF4-FFF2-40B4-BE49-F238E27FC236}">
                <a16:creationId xmlns:a16="http://schemas.microsoft.com/office/drawing/2014/main" id="{596F18FC-A90A-4E00-84D3-8E8E4247DE50}"/>
              </a:ext>
            </a:extLst>
          </p:cNvPr>
          <p:cNvSpPr>
            <a:spLocks xmlns:a="http://schemas.openxmlformats.org/drawingml/2006/main" noGrp="1"/>
          </p:cNvSpPr>
          <p:nvPr/>
        </p:nvSpPr>
        <p:spPr>
          <a:xfrm xmlns:a="http://schemas.openxmlformats.org/drawingml/2006/main">
            <a:off x="628650" y="427672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学習とは分けた期間</a:t>
            </a:r>
          </a:p>
        </p:txBody>
      </p:sp>
      <p:sp>
        <p:nvSpPr>
          <p:cNvPr id="29" name="">
            <a:extLst xmlns:a="http://schemas.openxmlformats.org/drawingml/2006/main">
              <a:ext uri="{FF2B5EF4-FFF2-40B4-BE49-F238E27FC236}">
                <a16:creationId xmlns:a16="http://schemas.microsoft.com/office/drawing/2014/main" id="{892A46A0-F3CC-49F3-96F9-1A95F1ED62F9}"/>
              </a:ext>
            </a:extLst>
          </p:cNvPr>
          <p:cNvSpPr>
            <a:spLocks xmlns:a="http://schemas.openxmlformats.org/drawingml/2006/main" noGrp="1"/>
          </p:cNvSpPr>
          <p:nvPr/>
        </p:nvSpPr>
        <p:spPr>
          <a:xfrm xmlns:a="http://schemas.openxmlformats.org/drawingml/2006/main">
            <a:off x="3667125" y="3838575"/>
            <a:ext cx="3429000" cy="7143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0" name="">
            <a:extLst xmlns:a="http://schemas.openxmlformats.org/drawingml/2006/main">
              <a:ext uri="{FF2B5EF4-FFF2-40B4-BE49-F238E27FC236}">
                <a16:creationId xmlns:a16="http://schemas.microsoft.com/office/drawing/2014/main" id="{83251EAC-7B60-4207-8DD3-DB8D1C76E2AF}"/>
              </a:ext>
            </a:extLst>
          </p:cNvPr>
          <p:cNvSpPr>
            <a:spLocks xmlns:a="http://schemas.openxmlformats.org/drawingml/2006/main" noGrp="1"/>
          </p:cNvSpPr>
          <p:nvPr/>
        </p:nvSpPr>
        <p:spPr>
          <a:xfrm xmlns:a="http://schemas.openxmlformats.org/drawingml/2006/main">
            <a:off x="3771900" y="39338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同じ前処理＋固定AE</a:t>
            </a:r>
          </a:p>
        </p:txBody>
      </p:sp>
      <p:sp>
        <p:nvSpPr>
          <p:cNvPr id="31" name="">
            <a:extLst xmlns:a="http://schemas.openxmlformats.org/drawingml/2006/main">
              <a:ext uri="{FF2B5EF4-FFF2-40B4-BE49-F238E27FC236}">
                <a16:creationId xmlns:a16="http://schemas.microsoft.com/office/drawing/2014/main" id="{F0BA588C-7257-45BA-83E9-C4D6570511F9}"/>
              </a:ext>
            </a:extLst>
          </p:cNvPr>
          <p:cNvSpPr>
            <a:spLocks xmlns:a="http://schemas.openxmlformats.org/drawingml/2006/main" noGrp="1"/>
          </p:cNvSpPr>
          <p:nvPr/>
        </p:nvSpPr>
        <p:spPr>
          <a:xfrm xmlns:a="http://schemas.openxmlformats.org/drawingml/2006/main">
            <a:off x="3771900" y="4276725"/>
            <a:ext cx="321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再構成スコアを取得</a:t>
            </a:r>
          </a:p>
        </p:txBody>
      </p:sp>
      <p:sp>
        <p:nvSpPr>
          <p:cNvPr id="32" name="">
            <a:extLst xmlns:a="http://schemas.openxmlformats.org/drawingml/2006/main">
              <a:ext uri="{FF2B5EF4-FFF2-40B4-BE49-F238E27FC236}">
                <a16:creationId xmlns:a16="http://schemas.microsoft.com/office/drawing/2014/main" id="{693930D3-0252-4908-8FF9-96933AE84969}"/>
              </a:ext>
            </a:extLst>
          </p:cNvPr>
          <p:cNvSpPr>
            <a:spLocks xmlns:a="http://schemas.openxmlformats.org/drawingml/2006/main" noGrp="1"/>
          </p:cNvSpPr>
          <p:nvPr/>
        </p:nvSpPr>
        <p:spPr>
          <a:xfrm xmlns:a="http://schemas.openxmlformats.org/drawingml/2006/main">
            <a:off x="7858125" y="3838575"/>
            <a:ext cx="3857625" cy="7143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3" name="">
            <a:extLst xmlns:a="http://schemas.openxmlformats.org/drawingml/2006/main">
              <a:ext uri="{FF2B5EF4-FFF2-40B4-BE49-F238E27FC236}">
                <a16:creationId xmlns:a16="http://schemas.microsoft.com/office/drawing/2014/main" id="{F5519A48-AF69-434C-93F9-1BA7869CE51E}"/>
              </a:ext>
            </a:extLst>
          </p:cNvPr>
          <p:cNvSpPr>
            <a:spLocks xmlns:a="http://schemas.openxmlformats.org/drawingml/2006/main" noGrp="1"/>
          </p:cNvSpPr>
          <p:nvPr/>
        </p:nvSpPr>
        <p:spPr>
          <a:xfrm xmlns:a="http://schemas.openxmlformats.org/drawingml/2006/main">
            <a:off x="7962900" y="3933825"/>
            <a:ext cx="3648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スコア分布から閾値 τ</a:t>
            </a:r>
          </a:p>
        </p:txBody>
      </p:sp>
      <p:sp>
        <p:nvSpPr>
          <p:cNvPr id="34" name="">
            <a:extLst xmlns:a="http://schemas.openxmlformats.org/drawingml/2006/main">
              <a:ext uri="{FF2B5EF4-FFF2-40B4-BE49-F238E27FC236}">
                <a16:creationId xmlns:a16="http://schemas.microsoft.com/office/drawing/2014/main" id="{447F6814-A352-4585-9A09-4F96E84F2331}"/>
              </a:ext>
            </a:extLst>
          </p:cNvPr>
          <p:cNvSpPr>
            <a:spLocks xmlns:a="http://schemas.openxmlformats.org/drawingml/2006/main" noGrp="1"/>
          </p:cNvSpPr>
          <p:nvPr/>
        </p:nvSpPr>
        <p:spPr>
          <a:xfrm xmlns:a="http://schemas.openxmlformats.org/drawingml/2006/main">
            <a:off x="7962900" y="4276725"/>
            <a:ext cx="3648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許容する誤警報率に応じて設定</a:t>
            </a:r>
          </a:p>
        </p:txBody>
      </p:sp>
      <p:cxnSp>
        <p:nvCxnSpPr>
          <p:cNvPr id="91" name=""/>
          <p:cNvCxnSpPr>
            <a:stCxn xmlns:a="http://schemas.openxmlformats.org/drawingml/2006/main" id="26" idx="3"/>
            <a:endCxn xmlns:a="http://schemas.openxmlformats.org/drawingml/2006/main" id="29" idx="1"/>
          </p:cNvCxnSpPr>
          <p:nvPr/>
        </p:nvCxnSpPr>
        <p:spPr>
          <a:xfrm xmlns:a="http://schemas.openxmlformats.org/drawingml/2006/main">
            <a:off x="2905125" y="4195763"/>
            <a:ext cx="7620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92" name=""/>
          <p:cNvCxnSpPr>
            <a:stCxn xmlns:a="http://schemas.openxmlformats.org/drawingml/2006/main" id="29" idx="3"/>
            <a:endCxn xmlns:a="http://schemas.openxmlformats.org/drawingml/2006/main" id="32" idx="1"/>
          </p:cNvCxnSpPr>
          <p:nvPr/>
        </p:nvCxnSpPr>
        <p:spPr>
          <a:xfrm xmlns:a="http://schemas.openxmlformats.org/drawingml/2006/main">
            <a:off x="7096125" y="4195763"/>
            <a:ext cx="7620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sp>
        <p:nvSpPr>
          <p:cNvPr id="37" name="">
            <a:extLst xmlns:a="http://schemas.openxmlformats.org/drawingml/2006/main">
              <a:ext uri="{FF2B5EF4-FFF2-40B4-BE49-F238E27FC236}">
                <a16:creationId xmlns:a16="http://schemas.microsoft.com/office/drawing/2014/main" id="{43CA6002-03EF-4982-9CAF-8BDD63498F1B}"/>
              </a:ext>
            </a:extLst>
          </p:cNvPr>
          <p:cNvSpPr>
            <a:spLocks xmlns:a="http://schemas.openxmlformats.org/drawingml/2006/main" noGrp="1"/>
          </p:cNvSpPr>
          <p:nvPr/>
        </p:nvSpPr>
        <p:spPr>
          <a:xfrm xmlns:a="http://schemas.openxmlformats.org/drawingml/2006/main">
            <a:off x="523875" y="4752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203645"/>
                </a:solidFill>
                <a:latin typeface="Meiryo"/>
                <a:ea typeface="Meiryo"/>
                <a:cs typeface="Meiryo"/>
              </a:defRPr>
            </a:pPr>
            <a:r>
              <a:rPr sz="1650" b="1">
                <a:solidFill>
                  <a:srgbClr val="203645"/>
                </a:solidFill>
                <a:latin typeface="Meiryo"/>
                <a:ea typeface="Meiryo"/>
                <a:cs typeface="Meiryo"/>
              </a:rPr>
              <a:t>(c) 推論：前処理・パラメータ・閾値を固定して判定</a:t>
            </a:r>
          </a:p>
        </p:txBody>
      </p:sp>
      <p:sp>
        <p:nvSpPr>
          <p:cNvPr id="38" name="">
            <a:extLst xmlns:a="http://schemas.openxmlformats.org/drawingml/2006/main">
              <a:ext uri="{FF2B5EF4-FFF2-40B4-BE49-F238E27FC236}">
                <a16:creationId xmlns:a16="http://schemas.microsoft.com/office/drawing/2014/main" id="{92487719-B2A9-457C-87B6-BCC0955E363F}"/>
              </a:ext>
            </a:extLst>
          </p:cNvPr>
          <p:cNvSpPr>
            <a:spLocks xmlns:a="http://schemas.openxmlformats.org/drawingml/2006/main" noGrp="1"/>
          </p:cNvSpPr>
          <p:nvPr/>
        </p:nvSpPr>
        <p:spPr>
          <a:xfrm xmlns:a="http://schemas.openxmlformats.org/drawingml/2006/main">
            <a:off x="523875" y="5219700"/>
            <a:ext cx="1809750" cy="6953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9" name="">
            <a:extLst xmlns:a="http://schemas.openxmlformats.org/drawingml/2006/main">
              <a:ext uri="{FF2B5EF4-FFF2-40B4-BE49-F238E27FC236}">
                <a16:creationId xmlns:a16="http://schemas.microsoft.com/office/drawing/2014/main" id="{7276561A-3E29-4E49-BFB4-6EF5EC1DEDB7}"/>
              </a:ext>
            </a:extLst>
          </p:cNvPr>
          <p:cNvSpPr>
            <a:spLocks xmlns:a="http://schemas.openxmlformats.org/drawingml/2006/main" noGrp="1"/>
          </p:cNvSpPr>
          <p:nvPr/>
        </p:nvSpPr>
        <p:spPr>
          <a:xfrm xmlns:a="http://schemas.openxmlformats.org/drawingml/2006/main">
            <a:off x="628650" y="5314950"/>
            <a:ext cx="1600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新規入力 x</a:t>
            </a:r>
          </a:p>
        </p:txBody>
      </p:sp>
      <p:sp>
        <p:nvSpPr>
          <p:cNvPr id="40" name="">
            <a:extLst xmlns:a="http://schemas.openxmlformats.org/drawingml/2006/main">
              <a:ext uri="{FF2B5EF4-FFF2-40B4-BE49-F238E27FC236}">
                <a16:creationId xmlns:a16="http://schemas.microsoft.com/office/drawing/2014/main" id="{23EDEED2-6198-4379-8082-9C2327DA6002}"/>
              </a:ext>
            </a:extLst>
          </p:cNvPr>
          <p:cNvSpPr>
            <a:spLocks xmlns:a="http://schemas.openxmlformats.org/drawingml/2006/main" noGrp="1"/>
          </p:cNvSpPr>
          <p:nvPr/>
        </p:nvSpPr>
        <p:spPr>
          <a:xfrm xmlns:a="http://schemas.openxmlformats.org/drawingml/2006/main">
            <a:off x="628650" y="56578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同じ前処理</a:t>
            </a:r>
          </a:p>
        </p:txBody>
      </p:sp>
      <p:sp>
        <p:nvSpPr>
          <p:cNvPr id="41" name="">
            <a:extLst xmlns:a="http://schemas.openxmlformats.org/drawingml/2006/main">
              <a:ext uri="{FF2B5EF4-FFF2-40B4-BE49-F238E27FC236}">
                <a16:creationId xmlns:a16="http://schemas.microsoft.com/office/drawing/2014/main" id="{652B895B-9CAB-4731-A597-F58F12DDEC44}"/>
              </a:ext>
            </a:extLst>
          </p:cNvPr>
          <p:cNvSpPr>
            <a:spLocks xmlns:a="http://schemas.openxmlformats.org/drawingml/2006/main" noGrp="1"/>
          </p:cNvSpPr>
          <p:nvPr/>
        </p:nvSpPr>
        <p:spPr>
          <a:xfrm xmlns:a="http://schemas.openxmlformats.org/drawingml/2006/main">
            <a:off x="2952750" y="5219700"/>
            <a:ext cx="2667000" cy="6953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42" name="">
            <a:extLst xmlns:a="http://schemas.openxmlformats.org/drawingml/2006/main">
              <a:ext uri="{FF2B5EF4-FFF2-40B4-BE49-F238E27FC236}">
                <a16:creationId xmlns:a16="http://schemas.microsoft.com/office/drawing/2014/main" id="{D0FAF288-6EE4-4DA0-9C73-0528D0B2CE68}"/>
              </a:ext>
            </a:extLst>
          </p:cNvPr>
          <p:cNvSpPr>
            <a:spLocks xmlns:a="http://schemas.openxmlformats.org/drawingml/2006/main" noGrp="1"/>
          </p:cNvSpPr>
          <p:nvPr/>
        </p:nvSpPr>
        <p:spPr>
          <a:xfrm xmlns:a="http://schemas.openxmlformats.org/drawingml/2006/main">
            <a:off x="3057525" y="53149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固定AEで再構成</a:t>
            </a:r>
          </a:p>
        </p:txBody>
      </p:sp>
      <p:sp>
        <p:nvSpPr>
          <p:cNvPr id="43" name="">
            <a:extLst xmlns:a="http://schemas.openxmlformats.org/drawingml/2006/main">
              <a:ext uri="{FF2B5EF4-FFF2-40B4-BE49-F238E27FC236}">
                <a16:creationId xmlns:a16="http://schemas.microsoft.com/office/drawing/2014/main" id="{5ED2D9F5-A619-408A-98B8-4CDAE44CA656}"/>
              </a:ext>
            </a:extLst>
          </p:cNvPr>
          <p:cNvSpPr>
            <a:spLocks xmlns:a="http://schemas.openxmlformats.org/drawingml/2006/main" noGrp="1"/>
          </p:cNvSpPr>
          <p:nvPr/>
        </p:nvSpPr>
        <p:spPr>
          <a:xfrm xmlns:a="http://schemas.openxmlformats.org/drawingml/2006/main">
            <a:off x="3057525" y="5657850"/>
            <a:ext cx="2457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r = hθ(gφ(x))</a:t>
            </a:r>
          </a:p>
        </p:txBody>
      </p:sp>
      <p:sp>
        <p:nvSpPr>
          <p:cNvPr id="44" name="">
            <a:extLst xmlns:a="http://schemas.openxmlformats.org/drawingml/2006/main">
              <a:ext uri="{FF2B5EF4-FFF2-40B4-BE49-F238E27FC236}">
                <a16:creationId xmlns:a16="http://schemas.microsoft.com/office/drawing/2014/main" id="{C7C6616C-7B79-45FE-A5DD-ED0DECEDDFBB}"/>
              </a:ext>
            </a:extLst>
          </p:cNvPr>
          <p:cNvSpPr>
            <a:spLocks xmlns:a="http://schemas.openxmlformats.org/drawingml/2006/main" noGrp="1"/>
          </p:cNvSpPr>
          <p:nvPr/>
        </p:nvSpPr>
        <p:spPr>
          <a:xfrm xmlns:a="http://schemas.openxmlformats.org/drawingml/2006/main">
            <a:off x="6191250" y="5219700"/>
            <a:ext cx="2571750" cy="6953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45" name="">
            <a:extLst xmlns:a="http://schemas.openxmlformats.org/drawingml/2006/main">
              <a:ext uri="{FF2B5EF4-FFF2-40B4-BE49-F238E27FC236}">
                <a16:creationId xmlns:a16="http://schemas.microsoft.com/office/drawing/2014/main" id="{CE729484-670D-4DF6-9026-8F05C3D53953}"/>
              </a:ext>
            </a:extLst>
          </p:cNvPr>
          <p:cNvSpPr>
            <a:spLocks xmlns:a="http://schemas.openxmlformats.org/drawingml/2006/main" noGrp="1"/>
          </p:cNvSpPr>
          <p:nvPr/>
        </p:nvSpPr>
        <p:spPr>
          <a:xfrm xmlns:a="http://schemas.openxmlformats.org/drawingml/2006/main">
            <a:off x="6296025" y="531495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s(x) = ‖x − r‖₂</a:t>
            </a:r>
          </a:p>
        </p:txBody>
      </p:sp>
      <p:sp>
        <p:nvSpPr>
          <p:cNvPr id="46" name="">
            <a:extLst xmlns:a="http://schemas.openxmlformats.org/drawingml/2006/main">
              <a:ext uri="{FF2B5EF4-FFF2-40B4-BE49-F238E27FC236}">
                <a16:creationId xmlns:a16="http://schemas.microsoft.com/office/drawing/2014/main" id="{A2716988-CD0D-4D91-A2CB-1E3C3DBCABA9}"/>
              </a:ext>
            </a:extLst>
          </p:cNvPr>
          <p:cNvSpPr>
            <a:spLocks xmlns:a="http://schemas.openxmlformats.org/drawingml/2006/main" noGrp="1"/>
          </p:cNvSpPr>
          <p:nvPr/>
        </p:nvSpPr>
        <p:spPr>
          <a:xfrm xmlns:a="http://schemas.openxmlformats.org/drawingml/2006/main">
            <a:off x="6296025" y="5657850"/>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元の観測空間で評価</a:t>
            </a:r>
          </a:p>
        </p:txBody>
      </p:sp>
      <p:sp>
        <p:nvSpPr>
          <p:cNvPr id="47" name="">
            <a:extLst xmlns:a="http://schemas.openxmlformats.org/drawingml/2006/main">
              <a:ext uri="{FF2B5EF4-FFF2-40B4-BE49-F238E27FC236}">
                <a16:creationId xmlns:a16="http://schemas.microsoft.com/office/drawing/2014/main" id="{2525F11A-3D49-4BD4-A6A3-B367C8B2155A}"/>
              </a:ext>
            </a:extLst>
          </p:cNvPr>
          <p:cNvSpPr>
            <a:spLocks xmlns:a="http://schemas.openxmlformats.org/drawingml/2006/main" noGrp="1"/>
          </p:cNvSpPr>
          <p:nvPr/>
        </p:nvSpPr>
        <p:spPr>
          <a:xfrm xmlns:a="http://schemas.openxmlformats.org/drawingml/2006/main">
            <a:off x="9334500" y="5219700"/>
            <a:ext cx="2381250" cy="6953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48" name="">
            <a:extLst xmlns:a="http://schemas.openxmlformats.org/drawingml/2006/main">
              <a:ext uri="{FF2B5EF4-FFF2-40B4-BE49-F238E27FC236}">
                <a16:creationId xmlns:a16="http://schemas.microsoft.com/office/drawing/2014/main" id="{AB67151C-8B03-4D63-B87A-B35F1F3A073C}"/>
              </a:ext>
            </a:extLst>
          </p:cNvPr>
          <p:cNvSpPr>
            <a:spLocks xmlns:a="http://schemas.openxmlformats.org/drawingml/2006/main" noGrp="1"/>
          </p:cNvSpPr>
          <p:nvPr/>
        </p:nvSpPr>
        <p:spPr>
          <a:xfrm xmlns:a="http://schemas.openxmlformats.org/drawingml/2006/main">
            <a:off x="9439275" y="53149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s(x) &gt; τ ?</a:t>
            </a:r>
          </a:p>
        </p:txBody>
      </p:sp>
      <p:sp>
        <p:nvSpPr>
          <p:cNvPr id="49" name="">
            <a:extLst xmlns:a="http://schemas.openxmlformats.org/drawingml/2006/main">
              <a:ext uri="{FF2B5EF4-FFF2-40B4-BE49-F238E27FC236}">
                <a16:creationId xmlns:a16="http://schemas.microsoft.com/office/drawing/2014/main" id="{D498921B-E4DD-499E-932E-051024A4CA86}"/>
              </a:ext>
            </a:extLst>
          </p:cNvPr>
          <p:cNvSpPr>
            <a:spLocks xmlns:a="http://schemas.openxmlformats.org/drawingml/2006/main" noGrp="1"/>
          </p:cNvSpPr>
          <p:nvPr/>
        </p:nvSpPr>
        <p:spPr>
          <a:xfrm xmlns:a="http://schemas.openxmlformats.org/drawingml/2006/main">
            <a:off x="9439275" y="565785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超過なら要確認</a:t>
            </a:r>
          </a:p>
        </p:txBody>
      </p:sp>
      <p:cxnSp>
        <p:nvCxnSpPr>
          <p:cNvPr id="106" name=""/>
          <p:cNvCxnSpPr>
            <a:stCxn xmlns:a="http://schemas.openxmlformats.org/drawingml/2006/main" id="38" idx="3"/>
            <a:endCxn xmlns:a="http://schemas.openxmlformats.org/drawingml/2006/main" id="41" idx="1"/>
          </p:cNvCxnSpPr>
          <p:nvPr/>
        </p:nvCxnSpPr>
        <p:spPr>
          <a:xfrm xmlns:a="http://schemas.openxmlformats.org/drawingml/2006/main">
            <a:off x="2333625" y="5567363"/>
            <a:ext cx="619125"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107" name=""/>
          <p:cNvCxnSpPr>
            <a:stCxn xmlns:a="http://schemas.openxmlformats.org/drawingml/2006/main" id="41" idx="3"/>
            <a:endCxn xmlns:a="http://schemas.openxmlformats.org/drawingml/2006/main" id="44" idx="1"/>
          </p:cNvCxnSpPr>
          <p:nvPr/>
        </p:nvCxnSpPr>
        <p:spPr>
          <a:xfrm xmlns:a="http://schemas.openxmlformats.org/drawingml/2006/main">
            <a:off x="5619750" y="556736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108" name=""/>
          <p:cNvCxnSpPr>
            <a:stCxn xmlns:a="http://schemas.openxmlformats.org/drawingml/2006/main" id="44" idx="3"/>
            <a:endCxn xmlns:a="http://schemas.openxmlformats.org/drawingml/2006/main" id="47" idx="1"/>
          </p:cNvCxnSpPr>
          <p:nvPr/>
        </p:nvCxnSpPr>
        <p:spPr>
          <a:xfrm xmlns:a="http://schemas.openxmlformats.org/drawingml/2006/main">
            <a:off x="8763000" y="556736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sp>
        <p:nvSpPr>
          <p:cNvPr id="53" name="">
            <a:extLst xmlns:a="http://schemas.openxmlformats.org/drawingml/2006/main">
              <a:ext uri="{FF2B5EF4-FFF2-40B4-BE49-F238E27FC236}">
                <a16:creationId xmlns:a16="http://schemas.microsoft.com/office/drawing/2014/main" id="{BF160A49-3A95-44FD-B803-8F555A206CEE}"/>
              </a:ext>
            </a:extLst>
          </p:cNvPr>
          <p:cNvSpPr>
            <a:spLocks xmlns:a="http://schemas.openxmlformats.org/drawingml/2006/main" noGrp="1"/>
          </p:cNvSpPr>
          <p:nvPr/>
        </p:nvSpPr>
        <p:spPr>
          <a:xfrm xmlns:a="http://schemas.openxmlformats.org/drawingml/2006/main">
            <a:off x="476250" y="60102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491AD4AD-8A1D-4070-8AAB-57550CB2F203}"/>
              </a:ext>
            </a:extLst>
          </p:cNvPr>
          <p:cNvSpPr>
            <a:spLocks xmlns:a="http://schemas.openxmlformats.org/drawingml/2006/main" noGrp="1"/>
          </p:cNvSpPr>
          <p:nvPr/>
        </p:nvSpPr>
        <p:spPr>
          <a:xfrm xmlns:a="http://schemas.openxmlformats.org/drawingml/2006/main">
            <a:off x="476250" y="61150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訓練に使う損失と、運用で使う閾値判定を分けて考える。</a:t>
            </a:r>
          </a:p>
        </p:txBody>
      </p:sp>
      <p:sp>
        <p:nvSpPr>
          <p:cNvPr id="55" name="">
            <a:extLst xmlns:a="http://schemas.openxmlformats.org/drawingml/2006/main">
              <a:ext uri="{FF2B5EF4-FFF2-40B4-BE49-F238E27FC236}">
                <a16:creationId xmlns:a16="http://schemas.microsoft.com/office/drawing/2014/main" id="{EC0C8348-659F-4CF3-843D-2674D218C012}"/>
              </a:ext>
            </a:extLst>
          </p:cNvPr>
          <p:cNvSpPr>
            <a:spLocks xmlns:a="http://schemas.openxmlformats.org/drawingml/2006/main" noGrp="1"/>
          </p:cNvSpPr>
          <p:nvPr/>
        </p:nvSpPr>
        <p:spPr>
          <a:xfrm xmlns:a="http://schemas.openxmlformats.org/drawingml/2006/main">
            <a:off x="476250" y="65436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88" b="0">
                <a:solidFill>
                  <a:srgbClr val="63747E"/>
                </a:solidFill>
                <a:latin typeface="Meiryo"/>
                <a:ea typeface="Meiryo"/>
                <a:cs typeface="Meiryo"/>
              </a:defRPr>
            </a:pPr>
            <a:r>
              <a:rPr sz="788" b="0">
                <a:solidFill>
                  <a:srgbClr val="63747E"/>
                </a:solidFill>
                <a:latin typeface="Meiryo"/>
                <a:ea typeface="Meiryo"/>
                <a:cs typeface="Meiryo"/>
              </a:rPr>
              <a:t>14 §3・6。前処理・独立校正・閾値の選定は本実習への運用設計案であり、原論文の実験手順そのものではない。</a:t>
            </a:r>
          </a:p>
        </p:txBody>
      </p:sp>
      <p:sp>
        <p:nvSpPr>
          <p:cNvPr id="56" name="">
            <a:extLst xmlns:a="http://schemas.openxmlformats.org/drawingml/2006/main">
              <a:ext uri="{FF2B5EF4-FFF2-40B4-BE49-F238E27FC236}">
                <a16:creationId xmlns:a16="http://schemas.microsoft.com/office/drawing/2014/main" id="{3617D6C5-C3B9-44CC-B43E-C06B1080C00C}"/>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09</a:t>
            </a:r>
          </a:p>
        </p:txBody>
      </p:sp>
    </p:spTree>
    <p:extLst>
      <p:ext uri="{BB962C8B-B14F-4D97-AF65-F5344CB8AC3E}">
        <p14:creationId xmlns:p14="http://schemas.microsoft.com/office/powerpoint/2010/main" val="21017198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E7820012-2FCE-4BBC-A0B2-26956457AFB1}"/>
              </a:ext>
            </a:extLst>
          </p:cNvPr>
          <p:cNvSpPr>
            <a:spLocks xmlns:a="http://schemas.openxmlformats.org/drawingml/2006/main" noGrp="1"/>
          </p:cNvSpPr>
          <p:nvPr/>
        </p:nvSpPr>
        <p:spPr>
          <a:xfrm xmlns:a="http://schemas.openxmlformats.org/drawingml/2006/main">
            <a:off x="476250" y="457200"/>
            <a:ext cx="1123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OutProの学習と参照近傍の計算手順</a:t>
            </a:r>
          </a:p>
        </p:txBody>
      </p:sp>
      <p:sp>
        <p:nvSpPr>
          <p:cNvPr id="2" name="">
            <a:extLst xmlns:a="http://schemas.openxmlformats.org/drawingml/2006/main">
              <a:ext uri="{FF2B5EF4-FFF2-40B4-BE49-F238E27FC236}">
                <a16:creationId xmlns:a16="http://schemas.microsoft.com/office/drawing/2014/main" id="{8FB65FEB-1C99-4E89-BF72-C09F7603EF57}"/>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C7BC38-1E0B-4B19-A6E2-680ACE2819A9}"/>
              </a:ext>
            </a:extLst>
          </p:cNvPr>
          <p:cNvSpPr>
            <a:spLocks xmlns:a="http://schemas.openxmlformats.org/drawingml/2006/main" noGrp="1"/>
          </p:cNvSpPr>
          <p:nvPr/>
        </p:nvSpPr>
        <p:spPr>
          <a:xfrm xmlns:a="http://schemas.openxmlformats.org/drawingml/2006/main">
            <a:off x="523875" y="1476375"/>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203645"/>
                </a:solidFill>
                <a:latin typeface="Meiryo"/>
                <a:ea typeface="Meiryo"/>
                <a:cs typeface="Meiryo"/>
              </a:defRPr>
            </a:pPr>
            <a:r>
              <a:rPr sz="1725" b="1">
                <a:solidFill>
                  <a:srgbClr val="203645"/>
                </a:solidFill>
                <a:latin typeface="Meiryo"/>
                <a:ea typeface="Meiryo"/>
                <a:cs typeface="Meiryo"/>
              </a:rPr>
              <a:t>(a) 学習と保存</a:t>
            </a:r>
          </a:p>
        </p:txBody>
      </p:sp>
      <p:sp>
        <p:nvSpPr>
          <p:cNvPr id="4" name="">
            <a:extLst xmlns:a="http://schemas.openxmlformats.org/drawingml/2006/main">
              <a:ext uri="{FF2B5EF4-FFF2-40B4-BE49-F238E27FC236}">
                <a16:creationId xmlns:a16="http://schemas.microsoft.com/office/drawing/2014/main" id="{FFFE1F8B-A5C5-498C-9454-B122A92EBB8C}"/>
              </a:ext>
            </a:extLst>
          </p:cNvPr>
          <p:cNvSpPr>
            <a:spLocks xmlns:a="http://schemas.openxmlformats.org/drawingml/2006/main" noGrp="1"/>
          </p:cNvSpPr>
          <p:nvPr/>
        </p:nvSpPr>
        <p:spPr>
          <a:xfrm xmlns:a="http://schemas.openxmlformats.org/drawingml/2006/main">
            <a:off x="523875" y="1943100"/>
            <a:ext cx="2381250" cy="8096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5" name="">
            <a:extLst xmlns:a="http://schemas.openxmlformats.org/drawingml/2006/main">
              <a:ext uri="{FF2B5EF4-FFF2-40B4-BE49-F238E27FC236}">
                <a16:creationId xmlns:a16="http://schemas.microsoft.com/office/drawing/2014/main" id="{AF71628A-5A81-46E9-A919-B99B50090593}"/>
              </a:ext>
            </a:extLst>
          </p:cNvPr>
          <p:cNvSpPr>
            <a:spLocks xmlns:a="http://schemas.openxmlformats.org/drawingml/2006/main" noGrp="1"/>
          </p:cNvSpPr>
          <p:nvPr/>
        </p:nvSpPr>
        <p:spPr>
          <a:xfrm xmlns:a="http://schemas.openxmlformats.org/drawingml/2006/main">
            <a:off x="628650" y="20383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01　IDデータ (X, Y)</a:t>
            </a:r>
          </a:p>
        </p:txBody>
      </p:sp>
      <p:sp>
        <p:nvSpPr>
          <p:cNvPr id="6" name="">
            <a:extLst xmlns:a="http://schemas.openxmlformats.org/drawingml/2006/main">
              <a:ext uri="{FF2B5EF4-FFF2-40B4-BE49-F238E27FC236}">
                <a16:creationId xmlns:a16="http://schemas.microsoft.com/office/drawing/2014/main" id="{6821EB6A-32C7-4C1A-82FD-0694C51D153F}"/>
              </a:ext>
            </a:extLst>
          </p:cNvPr>
          <p:cNvSpPr>
            <a:spLocks xmlns:a="http://schemas.openxmlformats.org/drawingml/2006/main" noGrp="1"/>
          </p:cNvSpPr>
          <p:nvPr/>
        </p:nvSpPr>
        <p:spPr>
          <a:xfrm xmlns:a="http://schemas.openxmlformats.org/drawingml/2006/main">
            <a:off x="628650" y="23812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回帰の目的変数を利用</a:t>
            </a:r>
          </a:p>
        </p:txBody>
      </p:sp>
      <p:sp>
        <p:nvSpPr>
          <p:cNvPr id="7" name="">
            <a:extLst xmlns:a="http://schemas.openxmlformats.org/drawingml/2006/main">
              <a:ext uri="{FF2B5EF4-FFF2-40B4-BE49-F238E27FC236}">
                <a16:creationId xmlns:a16="http://schemas.microsoft.com/office/drawing/2014/main" id="{9AB82147-126F-4B1D-A94C-58D9BE6E5EDF}"/>
              </a:ext>
            </a:extLst>
          </p:cNvPr>
          <p:cNvSpPr>
            <a:spLocks xmlns:a="http://schemas.openxmlformats.org/drawingml/2006/main" noGrp="1"/>
          </p:cNvSpPr>
          <p:nvPr/>
        </p:nvSpPr>
        <p:spPr>
          <a:xfrm xmlns:a="http://schemas.openxmlformats.org/drawingml/2006/main">
            <a:off x="3476625" y="1943100"/>
            <a:ext cx="2381250" cy="8096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8" name="">
            <a:extLst xmlns:a="http://schemas.openxmlformats.org/drawingml/2006/main">
              <a:ext uri="{FF2B5EF4-FFF2-40B4-BE49-F238E27FC236}">
                <a16:creationId xmlns:a16="http://schemas.microsoft.com/office/drawing/2014/main" id="{10BBE75B-C96D-4C54-B446-172F1FD0E6B1}"/>
              </a:ext>
            </a:extLst>
          </p:cNvPr>
          <p:cNvSpPr>
            <a:spLocks xmlns:a="http://schemas.openxmlformats.org/drawingml/2006/main" noGrp="1"/>
          </p:cNvSpPr>
          <p:nvPr/>
        </p:nvSpPr>
        <p:spPr>
          <a:xfrm xmlns:a="http://schemas.openxmlformats.org/drawingml/2006/main">
            <a:off x="3581400" y="20383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02　教師あり森林</a:t>
            </a:r>
          </a:p>
        </p:txBody>
      </p:sp>
      <p:sp>
        <p:nvSpPr>
          <p:cNvPr id="9" name="">
            <a:extLst xmlns:a="http://schemas.openxmlformats.org/drawingml/2006/main">
              <a:ext uri="{FF2B5EF4-FFF2-40B4-BE49-F238E27FC236}">
                <a16:creationId xmlns:a16="http://schemas.microsoft.com/office/drawing/2014/main" id="{B6683F51-54CD-4CB4-A956-4763D5C4E304}"/>
              </a:ext>
            </a:extLst>
          </p:cNvPr>
          <p:cNvSpPr>
            <a:spLocks xmlns:a="http://schemas.openxmlformats.org/drawingml/2006/main" noGrp="1"/>
          </p:cNvSpPr>
          <p:nvPr/>
        </p:nvSpPr>
        <p:spPr>
          <a:xfrm xmlns:a="http://schemas.openxmlformats.org/drawingml/2006/main">
            <a:off x="3581400" y="23812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終端ノードの規則を抽出</a:t>
            </a:r>
          </a:p>
        </p:txBody>
      </p:sp>
      <p:sp>
        <p:nvSpPr>
          <p:cNvPr id="10" name="">
            <a:extLst xmlns:a="http://schemas.openxmlformats.org/drawingml/2006/main">
              <a:ext uri="{FF2B5EF4-FFF2-40B4-BE49-F238E27FC236}">
                <a16:creationId xmlns:a16="http://schemas.microsoft.com/office/drawing/2014/main" id="{7FA94069-E1C2-4E90-8E67-0542EFAE41D1}"/>
              </a:ext>
            </a:extLst>
          </p:cNvPr>
          <p:cNvSpPr>
            <a:spLocks xmlns:a="http://schemas.openxmlformats.org/drawingml/2006/main" noGrp="1"/>
          </p:cNvSpPr>
          <p:nvPr/>
        </p:nvSpPr>
        <p:spPr>
          <a:xfrm xmlns:a="http://schemas.openxmlformats.org/drawingml/2006/main">
            <a:off x="6429375" y="1943100"/>
            <a:ext cx="2381250" cy="8096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1" name="">
            <a:extLst xmlns:a="http://schemas.openxmlformats.org/drawingml/2006/main">
              <a:ext uri="{FF2B5EF4-FFF2-40B4-BE49-F238E27FC236}">
                <a16:creationId xmlns:a16="http://schemas.microsoft.com/office/drawing/2014/main" id="{551DBB03-0405-4300-A5C7-97CE19CF1256}"/>
              </a:ext>
            </a:extLst>
          </p:cNvPr>
          <p:cNvSpPr>
            <a:spLocks xmlns:a="http://schemas.openxmlformats.org/drawingml/2006/main" noGrp="1"/>
          </p:cNvSpPr>
          <p:nvPr/>
        </p:nvSpPr>
        <p:spPr>
          <a:xfrm xmlns:a="http://schemas.openxmlformats.org/drawingml/2006/main">
            <a:off x="6534150" y="20383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03　VarPro</a:t>
            </a:r>
          </a:p>
        </p:txBody>
      </p:sp>
      <p:sp>
        <p:nvSpPr>
          <p:cNvPr id="12" name="">
            <a:extLst xmlns:a="http://schemas.openxmlformats.org/drawingml/2006/main">
              <a:ext uri="{FF2B5EF4-FFF2-40B4-BE49-F238E27FC236}">
                <a16:creationId xmlns:a16="http://schemas.microsoft.com/office/drawing/2014/main" id="{B68F25A0-5D20-4BD7-A2C3-5FB36471F6DB}"/>
              </a:ext>
            </a:extLst>
          </p:cNvPr>
          <p:cNvSpPr>
            <a:spLocks xmlns:a="http://schemas.openxmlformats.org/drawingml/2006/main" noGrp="1"/>
          </p:cNvSpPr>
          <p:nvPr/>
        </p:nvSpPr>
        <p:spPr>
          <a:xfrm xmlns:a="http://schemas.openxmlformats.org/drawingml/2006/main">
            <a:off x="6534150" y="23812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変数集合 S・重要度 wₛ</a:t>
            </a:r>
          </a:p>
        </p:txBody>
      </p:sp>
      <p:sp>
        <p:nvSpPr>
          <p:cNvPr id="13" name="">
            <a:extLst xmlns:a="http://schemas.openxmlformats.org/drawingml/2006/main">
              <a:ext uri="{FF2B5EF4-FFF2-40B4-BE49-F238E27FC236}">
                <a16:creationId xmlns:a16="http://schemas.microsoft.com/office/drawing/2014/main" id="{E419D5C7-BB56-4A68-9656-4303796A3744}"/>
              </a:ext>
            </a:extLst>
          </p:cNvPr>
          <p:cNvSpPr>
            <a:spLocks xmlns:a="http://schemas.openxmlformats.org/drawingml/2006/main" noGrp="1"/>
          </p:cNvSpPr>
          <p:nvPr/>
        </p:nvSpPr>
        <p:spPr>
          <a:xfrm xmlns:a="http://schemas.openxmlformats.org/drawingml/2006/main">
            <a:off x="9382125" y="1943100"/>
            <a:ext cx="2333625" cy="80962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14" name="">
            <a:extLst xmlns:a="http://schemas.openxmlformats.org/drawingml/2006/main">
              <a:ext uri="{FF2B5EF4-FFF2-40B4-BE49-F238E27FC236}">
                <a16:creationId xmlns:a16="http://schemas.microsoft.com/office/drawing/2014/main" id="{241FBD13-1737-494D-B7DC-53285A16AC18}"/>
              </a:ext>
            </a:extLst>
          </p:cNvPr>
          <p:cNvSpPr>
            <a:spLocks xmlns:a="http://schemas.openxmlformats.org/drawingml/2006/main" noGrp="1"/>
          </p:cNvSpPr>
          <p:nvPr/>
        </p:nvSpPr>
        <p:spPr>
          <a:xfrm xmlns:a="http://schemas.openxmlformats.org/drawingml/2006/main">
            <a:off x="9486900" y="2038350"/>
            <a:ext cx="2124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保存する情報</a:t>
            </a:r>
          </a:p>
        </p:txBody>
      </p:sp>
      <p:sp>
        <p:nvSpPr>
          <p:cNvPr id="15" name="">
            <a:extLst xmlns:a="http://schemas.openxmlformats.org/drawingml/2006/main">
              <a:ext uri="{FF2B5EF4-FFF2-40B4-BE49-F238E27FC236}">
                <a16:creationId xmlns:a16="http://schemas.microsoft.com/office/drawing/2014/main" id="{36424C96-2EA5-4629-BC6C-D1F9B85F4EA0}"/>
              </a:ext>
            </a:extLst>
          </p:cNvPr>
          <p:cNvSpPr>
            <a:spLocks xmlns:a="http://schemas.openxmlformats.org/drawingml/2006/main" noGrp="1"/>
          </p:cNvSpPr>
          <p:nvPr/>
        </p:nvSpPr>
        <p:spPr>
          <a:xfrm xmlns:a="http://schemas.openxmlformats.org/drawingml/2006/main">
            <a:off x="9486900" y="2381250"/>
            <a:ext cx="2124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規則・S・重要度・訓練点</a:t>
            </a:r>
          </a:p>
        </p:txBody>
      </p:sp>
      <p:cxnSp>
        <p:nvCxnSpPr>
          <p:cNvPr id="72" name=""/>
          <p:cNvCxnSpPr>
            <a:stCxn xmlns:a="http://schemas.openxmlformats.org/drawingml/2006/main" id="4" idx="3"/>
            <a:endCxn xmlns:a="http://schemas.openxmlformats.org/drawingml/2006/main" id="7" idx="1"/>
          </p:cNvCxnSpPr>
          <p:nvPr/>
        </p:nvCxnSpPr>
        <p:spPr>
          <a:xfrm xmlns:a="http://schemas.openxmlformats.org/drawingml/2006/main">
            <a:off x="2905125" y="234791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3" name=""/>
          <p:cNvCxnSpPr>
            <a:stCxn xmlns:a="http://schemas.openxmlformats.org/drawingml/2006/main" id="7" idx="3"/>
            <a:endCxn xmlns:a="http://schemas.openxmlformats.org/drawingml/2006/main" id="10" idx="1"/>
          </p:cNvCxnSpPr>
          <p:nvPr/>
        </p:nvCxnSpPr>
        <p:spPr>
          <a:xfrm xmlns:a="http://schemas.openxmlformats.org/drawingml/2006/main">
            <a:off x="5857875" y="234791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74" name=""/>
          <p:cNvCxnSpPr>
            <a:stCxn xmlns:a="http://schemas.openxmlformats.org/drawingml/2006/main" id="10" idx="3"/>
            <a:endCxn xmlns:a="http://schemas.openxmlformats.org/drawingml/2006/main" id="13" idx="1"/>
          </p:cNvCxnSpPr>
          <p:nvPr/>
        </p:nvCxnSpPr>
        <p:spPr>
          <a:xfrm xmlns:a="http://schemas.openxmlformats.org/drawingml/2006/main">
            <a:off x="8810625" y="234791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2B21DF2A-61D8-438B-9710-55A81D04CE40}"/>
              </a:ext>
            </a:extLst>
          </p:cNvPr>
          <p:cNvSpPr>
            <a:spLocks xmlns:a="http://schemas.openxmlformats.org/drawingml/2006/main" noGrp="1"/>
          </p:cNvSpPr>
          <p:nvPr/>
        </p:nvSpPr>
        <p:spPr>
          <a:xfrm xmlns:a="http://schemas.openxmlformats.org/drawingml/2006/main">
            <a:off x="523875" y="3057525"/>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203645"/>
                </a:solidFill>
                <a:latin typeface="Meiryo"/>
                <a:ea typeface="Meiryo"/>
                <a:cs typeface="Meiryo"/>
              </a:defRPr>
            </a:pPr>
            <a:r>
              <a:rPr sz="1725" b="1">
                <a:solidFill>
                  <a:srgbClr val="203645"/>
                </a:solidFill>
                <a:latin typeface="Meiryo"/>
                <a:ea typeface="Meiryo"/>
                <a:cs typeface="Meiryo"/>
              </a:rPr>
              <a:t>(b) テスト入力ごとに計算</a:t>
            </a:r>
          </a:p>
        </p:txBody>
      </p:sp>
      <p:sp>
        <p:nvSpPr>
          <p:cNvPr id="20" name="">
            <a:extLst xmlns:a="http://schemas.openxmlformats.org/drawingml/2006/main">
              <a:ext uri="{FF2B5EF4-FFF2-40B4-BE49-F238E27FC236}">
                <a16:creationId xmlns:a16="http://schemas.microsoft.com/office/drawing/2014/main" id="{6AB4E53F-8427-4A79-B9A0-08244F65CB1B}"/>
              </a:ext>
            </a:extLst>
          </p:cNvPr>
          <p:cNvSpPr>
            <a:spLocks xmlns:a="http://schemas.openxmlformats.org/drawingml/2006/main" noGrp="1"/>
          </p:cNvSpPr>
          <p:nvPr/>
        </p:nvSpPr>
        <p:spPr>
          <a:xfrm xmlns:a="http://schemas.openxmlformats.org/drawingml/2006/main">
            <a:off x="523875" y="3505200"/>
            <a:ext cx="2381250"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21" name="">
            <a:extLst xmlns:a="http://schemas.openxmlformats.org/drawingml/2006/main">
              <a:ext uri="{FF2B5EF4-FFF2-40B4-BE49-F238E27FC236}">
                <a16:creationId xmlns:a16="http://schemas.microsoft.com/office/drawing/2014/main" id="{9A18CEE4-6501-44D7-880F-77E49BEBC2A9}"/>
              </a:ext>
            </a:extLst>
          </p:cNvPr>
          <p:cNvSpPr>
            <a:spLocks xmlns:a="http://schemas.openxmlformats.org/drawingml/2006/main" noGrp="1"/>
          </p:cNvSpPr>
          <p:nvPr/>
        </p:nvSpPr>
        <p:spPr>
          <a:xfrm xmlns:a="http://schemas.openxmlformats.org/drawingml/2006/main">
            <a:off x="628650" y="36004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新しい入力 x</a:t>
            </a:r>
          </a:p>
        </p:txBody>
      </p:sp>
      <p:sp>
        <p:nvSpPr>
          <p:cNvPr id="22" name="">
            <a:extLst xmlns:a="http://schemas.openxmlformats.org/drawingml/2006/main">
              <a:ext uri="{FF2B5EF4-FFF2-40B4-BE49-F238E27FC236}">
                <a16:creationId xmlns:a16="http://schemas.microsoft.com/office/drawing/2014/main" id="{E7E549A5-0A08-44D6-8656-F7C3F3ADA24F}"/>
              </a:ext>
            </a:extLst>
          </p:cNvPr>
          <p:cNvSpPr>
            <a:spLocks xmlns:a="http://schemas.openxmlformats.org/drawingml/2006/main" noGrp="1"/>
          </p:cNvSpPr>
          <p:nvPr/>
        </p:nvSpPr>
        <p:spPr>
          <a:xfrm xmlns:a="http://schemas.openxmlformats.org/drawingml/2006/main">
            <a:off x="628650" y="3943350"/>
            <a:ext cx="2171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真の回帰出力 Y は不要</a:t>
            </a:r>
          </a:p>
        </p:txBody>
      </p:sp>
      <p:sp>
        <p:nvSpPr>
          <p:cNvPr id="23" name="">
            <a:extLst xmlns:a="http://schemas.openxmlformats.org/drawingml/2006/main">
              <a:ext uri="{FF2B5EF4-FFF2-40B4-BE49-F238E27FC236}">
                <a16:creationId xmlns:a16="http://schemas.microsoft.com/office/drawing/2014/main" id="{9CFB306F-D70E-4F60-9C05-585EC997DABD}"/>
              </a:ext>
            </a:extLst>
          </p:cNvPr>
          <p:cNvSpPr>
            <a:spLocks xmlns:a="http://schemas.openxmlformats.org/drawingml/2006/main" noGrp="1"/>
          </p:cNvSpPr>
          <p:nvPr/>
        </p:nvSpPr>
        <p:spPr>
          <a:xfrm xmlns:a="http://schemas.openxmlformats.org/drawingml/2006/main">
            <a:off x="3476625" y="3505200"/>
            <a:ext cx="2381250"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24" name="">
            <a:extLst xmlns:a="http://schemas.openxmlformats.org/drawingml/2006/main">
              <a:ext uri="{FF2B5EF4-FFF2-40B4-BE49-F238E27FC236}">
                <a16:creationId xmlns:a16="http://schemas.microsoft.com/office/drawing/2014/main" id="{F4FA1E42-B2A8-4455-9069-C1E46E5E685E}"/>
              </a:ext>
            </a:extLst>
          </p:cNvPr>
          <p:cNvSpPr>
            <a:spLocks xmlns:a="http://schemas.openxmlformats.org/drawingml/2006/main" noGrp="1"/>
          </p:cNvSpPr>
          <p:nvPr/>
        </p:nvSpPr>
        <p:spPr>
          <a:xfrm xmlns:a="http://schemas.openxmlformats.org/drawingml/2006/main">
            <a:off x="3581400" y="36004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04　該当規則 R(x)</a:t>
            </a:r>
          </a:p>
        </p:txBody>
      </p:sp>
      <p:sp>
        <p:nvSpPr>
          <p:cNvPr id="25" name="">
            <a:extLst xmlns:a="http://schemas.openxmlformats.org/drawingml/2006/main">
              <a:ext uri="{FF2B5EF4-FFF2-40B4-BE49-F238E27FC236}">
                <a16:creationId xmlns:a16="http://schemas.microsoft.com/office/drawing/2014/main" id="{CC7086C0-E128-48E8-86E0-46D9D5380F0A}"/>
              </a:ext>
            </a:extLst>
          </p:cNvPr>
          <p:cNvSpPr>
            <a:spLocks xmlns:a="http://schemas.openxmlformats.org/drawingml/2006/main" noGrp="1"/>
          </p:cNvSpPr>
          <p:nvPr/>
        </p:nvSpPr>
        <p:spPr>
          <a:xfrm xmlns:a="http://schemas.openxmlformats.org/drawingml/2006/main">
            <a:off x="3581400" y="3943350"/>
            <a:ext cx="2171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x を含む終端領域を取得</a:t>
            </a:r>
          </a:p>
        </p:txBody>
      </p:sp>
      <p:sp>
        <p:nvSpPr>
          <p:cNvPr id="26" name="">
            <a:extLst xmlns:a="http://schemas.openxmlformats.org/drawingml/2006/main">
              <a:ext uri="{FF2B5EF4-FFF2-40B4-BE49-F238E27FC236}">
                <a16:creationId xmlns:a16="http://schemas.microsoft.com/office/drawing/2014/main" id="{4EA7D88F-025E-42F8-A08E-B26293DE2B5B}"/>
              </a:ext>
            </a:extLst>
          </p:cNvPr>
          <p:cNvSpPr>
            <a:spLocks xmlns:a="http://schemas.openxmlformats.org/drawingml/2006/main" noGrp="1"/>
          </p:cNvSpPr>
          <p:nvPr/>
        </p:nvSpPr>
        <p:spPr>
          <a:xfrm xmlns:a="http://schemas.openxmlformats.org/drawingml/2006/main">
            <a:off x="6429375" y="3505200"/>
            <a:ext cx="2381250"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27" name="">
            <a:extLst xmlns:a="http://schemas.openxmlformats.org/drawingml/2006/main">
              <a:ext uri="{FF2B5EF4-FFF2-40B4-BE49-F238E27FC236}">
                <a16:creationId xmlns:a16="http://schemas.microsoft.com/office/drawing/2014/main" id="{73926E1E-8EC7-4773-B42F-5E7C265262F5}"/>
              </a:ext>
            </a:extLst>
          </p:cNvPr>
          <p:cNvSpPr>
            <a:spLocks xmlns:a="http://schemas.openxmlformats.org/drawingml/2006/main" noGrp="1"/>
          </p:cNvSpPr>
          <p:nvPr/>
        </p:nvSpPr>
        <p:spPr>
          <a:xfrm xmlns:a="http://schemas.openxmlformats.org/drawingml/2006/main">
            <a:off x="6534150" y="360045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05　制約を一つ解放</a:t>
            </a:r>
          </a:p>
        </p:txBody>
      </p:sp>
      <p:sp>
        <p:nvSpPr>
          <p:cNvPr id="28" name="">
            <a:extLst xmlns:a="http://schemas.openxmlformats.org/drawingml/2006/main">
              <a:ext uri="{FF2B5EF4-FFF2-40B4-BE49-F238E27FC236}">
                <a16:creationId xmlns:a16="http://schemas.microsoft.com/office/drawing/2014/main" id="{E296A979-43C5-483B-A096-A7C2E792BBC9}"/>
              </a:ext>
            </a:extLst>
          </p:cNvPr>
          <p:cNvSpPr>
            <a:spLocks xmlns:a="http://schemas.openxmlformats.org/drawingml/2006/main" noGrp="1"/>
          </p:cNvSpPr>
          <p:nvPr/>
        </p:nvSpPr>
        <p:spPr>
          <a:xfrm xmlns:a="http://schemas.openxmlformats.org/drawingml/2006/main">
            <a:off x="6534150" y="3943350"/>
            <a:ext cx="2171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各 s ∈ S・各規則で反復</a:t>
            </a:r>
          </a:p>
        </p:txBody>
      </p:sp>
      <p:sp>
        <p:nvSpPr>
          <p:cNvPr id="29" name="">
            <a:extLst xmlns:a="http://schemas.openxmlformats.org/drawingml/2006/main">
              <a:ext uri="{FF2B5EF4-FFF2-40B4-BE49-F238E27FC236}">
                <a16:creationId xmlns:a16="http://schemas.microsoft.com/office/drawing/2014/main" id="{35C67A8F-DB05-413F-9AE2-F36104C303B2}"/>
              </a:ext>
            </a:extLst>
          </p:cNvPr>
          <p:cNvSpPr>
            <a:spLocks xmlns:a="http://schemas.openxmlformats.org/drawingml/2006/main" noGrp="1"/>
          </p:cNvSpPr>
          <p:nvPr/>
        </p:nvSpPr>
        <p:spPr>
          <a:xfrm xmlns:a="http://schemas.openxmlformats.org/drawingml/2006/main">
            <a:off x="9382125" y="3505200"/>
            <a:ext cx="2333625"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0" name="">
            <a:extLst xmlns:a="http://schemas.openxmlformats.org/drawingml/2006/main">
              <a:ext uri="{FF2B5EF4-FFF2-40B4-BE49-F238E27FC236}">
                <a16:creationId xmlns:a16="http://schemas.microsoft.com/office/drawing/2014/main" id="{D7F71E34-D9E1-41D9-9808-B9E8CCECF76C}"/>
              </a:ext>
            </a:extLst>
          </p:cNvPr>
          <p:cNvSpPr>
            <a:spLocks xmlns:a="http://schemas.openxmlformats.org/drawingml/2006/main" noGrp="1"/>
          </p:cNvSpPr>
          <p:nvPr/>
        </p:nvSpPr>
        <p:spPr>
          <a:xfrm xmlns:a="http://schemas.openxmlformats.org/drawingml/2006/main">
            <a:off x="9486900" y="3600450"/>
            <a:ext cx="2124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06　出現頻度を集計</a:t>
            </a:r>
          </a:p>
        </p:txBody>
      </p:sp>
      <p:sp>
        <p:nvSpPr>
          <p:cNvPr id="31" name="">
            <a:extLst xmlns:a="http://schemas.openxmlformats.org/drawingml/2006/main">
              <a:ext uri="{FF2B5EF4-FFF2-40B4-BE49-F238E27FC236}">
                <a16:creationId xmlns:a16="http://schemas.microsoft.com/office/drawing/2014/main" id="{C3CCE818-EE3E-4823-B5CC-198056DAF216}"/>
              </a:ext>
            </a:extLst>
          </p:cNvPr>
          <p:cNvSpPr>
            <a:spLocks xmlns:a="http://schemas.openxmlformats.org/drawingml/2006/main" noGrp="1"/>
          </p:cNvSpPr>
          <p:nvPr/>
        </p:nvSpPr>
        <p:spPr>
          <a:xfrm xmlns:a="http://schemas.openxmlformats.org/drawingml/2006/main">
            <a:off x="9486900" y="3943350"/>
            <a:ext cx="2124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各訓練点の nₛ を更新</a:t>
            </a:r>
          </a:p>
        </p:txBody>
      </p:sp>
      <p:cxnSp>
        <p:nvCxnSpPr>
          <p:cNvPr id="88" name=""/>
          <p:cNvCxnSpPr>
            <a:stCxn xmlns:a="http://schemas.openxmlformats.org/drawingml/2006/main" id="20" idx="3"/>
            <a:endCxn xmlns:a="http://schemas.openxmlformats.org/drawingml/2006/main" id="23" idx="1"/>
          </p:cNvCxnSpPr>
          <p:nvPr/>
        </p:nvCxnSpPr>
        <p:spPr>
          <a:xfrm xmlns:a="http://schemas.openxmlformats.org/drawingml/2006/main">
            <a:off x="2905125" y="3957638"/>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89" name=""/>
          <p:cNvCxnSpPr>
            <a:stCxn xmlns:a="http://schemas.openxmlformats.org/drawingml/2006/main" id="23" idx="3"/>
            <a:endCxn xmlns:a="http://schemas.openxmlformats.org/drawingml/2006/main" id="26" idx="1"/>
          </p:cNvCxnSpPr>
          <p:nvPr/>
        </p:nvCxnSpPr>
        <p:spPr>
          <a:xfrm xmlns:a="http://schemas.openxmlformats.org/drawingml/2006/main">
            <a:off x="5857875" y="3957638"/>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90" name=""/>
          <p:cNvCxnSpPr>
            <a:stCxn xmlns:a="http://schemas.openxmlformats.org/drawingml/2006/main" id="26" idx="3"/>
            <a:endCxn xmlns:a="http://schemas.openxmlformats.org/drawingml/2006/main" id="29" idx="1"/>
          </p:cNvCxnSpPr>
          <p:nvPr/>
        </p:nvCxnSpPr>
        <p:spPr>
          <a:xfrm xmlns:a="http://schemas.openxmlformats.org/drawingml/2006/main">
            <a:off x="8810625" y="3957638"/>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91" name=""/>
          <p:cNvCxnSpPr>
            <a:stCxn xmlns:a="http://schemas.openxmlformats.org/drawingml/2006/main" id="13" idx="2"/>
            <a:endCxn xmlns:a="http://schemas.openxmlformats.org/drawingml/2006/main" id="23" idx="0"/>
          </p:cNvCxnSpPr>
          <p:nvPr/>
        </p:nvCxnSpPr>
        <p:spPr>
          <a:xfrm xmlns:a="http://schemas.openxmlformats.org/drawingml/2006/main" flipH="1">
            <a:off x="4667250" y="2752725"/>
            <a:ext cx="5881688" cy="752475"/>
          </a:xfrm>
          <a:prstGeom xmlns:a="http://schemas.openxmlformats.org/drawingml/2006/main" prst="bentConnector4">
            <a:avLst>
              <a:gd name="adj1" fmla="val 0"/>
              <a:gd name="adj2" fmla="val 50000"/>
            </a:avLst>
          </a:prstGeom>
          <a:ln xmlns:a="http://schemas.openxmlformats.org/drawingml/2006/main" w="13335">
            <a:solidFill>
              <a:srgbClr val="63747E"/>
            </a:solidFill>
            <a:prstDash val="dash"/>
            <a:tailEnd type="triangle" w="sm" len="sm"/>
          </a:ln>
        </p:spPr>
      </p:cxnSp>
      <p:sp>
        <p:nvSpPr>
          <p:cNvPr id="36" name="">
            <a:extLst xmlns:a="http://schemas.openxmlformats.org/drawingml/2006/main">
              <a:ext uri="{FF2B5EF4-FFF2-40B4-BE49-F238E27FC236}">
                <a16:creationId xmlns:a16="http://schemas.microsoft.com/office/drawing/2014/main" id="{225EFC81-11A8-4B01-9155-AEF94611BDF2}"/>
              </a:ext>
            </a:extLst>
          </p:cNvPr>
          <p:cNvSpPr>
            <a:spLocks xmlns:a="http://schemas.openxmlformats.org/drawingml/2006/main" noGrp="1"/>
          </p:cNvSpPr>
          <p:nvPr/>
        </p:nvSpPr>
        <p:spPr>
          <a:xfrm xmlns:a="http://schemas.openxmlformats.org/drawingml/2006/main">
            <a:off x="9382125" y="5038725"/>
            <a:ext cx="2333625"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37" name="">
            <a:extLst xmlns:a="http://schemas.openxmlformats.org/drawingml/2006/main">
              <a:ext uri="{FF2B5EF4-FFF2-40B4-BE49-F238E27FC236}">
                <a16:creationId xmlns:a16="http://schemas.microsoft.com/office/drawing/2014/main" id="{22F844C9-2056-4A94-B86D-669EE9D41EB9}"/>
              </a:ext>
            </a:extLst>
          </p:cNvPr>
          <p:cNvSpPr>
            <a:spLocks xmlns:a="http://schemas.openxmlformats.org/drawingml/2006/main" noGrp="1"/>
          </p:cNvSpPr>
          <p:nvPr/>
        </p:nvSpPr>
        <p:spPr>
          <a:xfrm xmlns:a="http://schemas.openxmlformats.org/drawingml/2006/main">
            <a:off x="9486900" y="5133975"/>
            <a:ext cx="2124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07　W = nG を計算</a:t>
            </a:r>
          </a:p>
        </p:txBody>
      </p:sp>
      <p:sp>
        <p:nvSpPr>
          <p:cNvPr id="38" name="">
            <a:extLst xmlns:a="http://schemas.openxmlformats.org/drawingml/2006/main">
              <a:ext uri="{FF2B5EF4-FFF2-40B4-BE49-F238E27FC236}">
                <a16:creationId xmlns:a16="http://schemas.microsoft.com/office/drawing/2014/main" id="{4A60708B-0A6B-4080-8D8A-387B5E835A62}"/>
              </a:ext>
            </a:extLst>
          </p:cNvPr>
          <p:cNvSpPr>
            <a:spLocks xmlns:a="http://schemas.openxmlformats.org/drawingml/2006/main" noGrp="1"/>
          </p:cNvSpPr>
          <p:nvPr/>
        </p:nvSpPr>
        <p:spPr>
          <a:xfrm xmlns:a="http://schemas.openxmlformats.org/drawingml/2006/main">
            <a:off x="9486900" y="5476875"/>
            <a:ext cx="2124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n = Σnₛ、pₛ = nₛ/n</a:t>
            </a:r>
          </a:p>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G = Σpₛ(1−pₛ)</a:t>
            </a:r>
          </a:p>
        </p:txBody>
      </p:sp>
      <p:sp>
        <p:nvSpPr>
          <p:cNvPr id="39" name="">
            <a:extLst xmlns:a="http://schemas.openxmlformats.org/drawingml/2006/main">
              <a:ext uri="{FF2B5EF4-FFF2-40B4-BE49-F238E27FC236}">
                <a16:creationId xmlns:a16="http://schemas.microsoft.com/office/drawing/2014/main" id="{45E68374-8D99-4915-A32E-0D57CFC0EA39}"/>
              </a:ext>
            </a:extLst>
          </p:cNvPr>
          <p:cNvSpPr>
            <a:spLocks xmlns:a="http://schemas.openxmlformats.org/drawingml/2006/main" noGrp="1"/>
          </p:cNvSpPr>
          <p:nvPr/>
        </p:nvSpPr>
        <p:spPr>
          <a:xfrm xmlns:a="http://schemas.openxmlformats.org/drawingml/2006/main">
            <a:off x="6429375" y="5038725"/>
            <a:ext cx="2381250"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40" name="">
            <a:extLst xmlns:a="http://schemas.openxmlformats.org/drawingml/2006/main">
              <a:ext uri="{FF2B5EF4-FFF2-40B4-BE49-F238E27FC236}">
                <a16:creationId xmlns:a16="http://schemas.microsoft.com/office/drawing/2014/main" id="{562357ED-0CBC-4C72-BB2A-0529BE2C8B39}"/>
              </a:ext>
            </a:extLst>
          </p:cNvPr>
          <p:cNvSpPr>
            <a:spLocks xmlns:a="http://schemas.openxmlformats.org/drawingml/2006/main" noGrp="1"/>
          </p:cNvSpPr>
          <p:nvPr/>
        </p:nvSpPr>
        <p:spPr>
          <a:xfrm xmlns:a="http://schemas.openxmlformats.org/drawingml/2006/main">
            <a:off x="6534150" y="5133975"/>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08　上位 K 点を選択</a:t>
            </a:r>
          </a:p>
        </p:txBody>
      </p:sp>
      <p:sp>
        <p:nvSpPr>
          <p:cNvPr id="41" name="">
            <a:extLst xmlns:a="http://schemas.openxmlformats.org/drawingml/2006/main">
              <a:ext uri="{FF2B5EF4-FFF2-40B4-BE49-F238E27FC236}">
                <a16:creationId xmlns:a16="http://schemas.microsoft.com/office/drawing/2014/main" id="{53A1D864-3BE9-46D3-880F-8E4A8A221AAA}"/>
              </a:ext>
            </a:extLst>
          </p:cNvPr>
          <p:cNvSpPr>
            <a:spLocks xmlns:a="http://schemas.openxmlformats.org/drawingml/2006/main" noGrp="1"/>
          </p:cNvSpPr>
          <p:nvPr/>
        </p:nvSpPr>
        <p:spPr>
          <a:xfrm xmlns:a="http://schemas.openxmlformats.org/drawingml/2006/main">
            <a:off x="6534150" y="5476875"/>
            <a:ext cx="2171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W の降順 → Nₖ(x)</a:t>
            </a:r>
          </a:p>
        </p:txBody>
      </p:sp>
      <p:sp>
        <p:nvSpPr>
          <p:cNvPr id="42" name="">
            <a:extLst xmlns:a="http://schemas.openxmlformats.org/drawingml/2006/main">
              <a:ext uri="{FF2B5EF4-FFF2-40B4-BE49-F238E27FC236}">
                <a16:creationId xmlns:a16="http://schemas.microsoft.com/office/drawing/2014/main" id="{8BA45505-6C86-4FC9-A421-546F67C601A5}"/>
              </a:ext>
            </a:extLst>
          </p:cNvPr>
          <p:cNvSpPr>
            <a:spLocks xmlns:a="http://schemas.openxmlformats.org/drawingml/2006/main" noGrp="1"/>
          </p:cNvSpPr>
          <p:nvPr/>
        </p:nvSpPr>
        <p:spPr>
          <a:xfrm xmlns:a="http://schemas.openxmlformats.org/drawingml/2006/main">
            <a:off x="3476625" y="5038725"/>
            <a:ext cx="2381250"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43" name="">
            <a:extLst xmlns:a="http://schemas.openxmlformats.org/drawingml/2006/main">
              <a:ext uri="{FF2B5EF4-FFF2-40B4-BE49-F238E27FC236}">
                <a16:creationId xmlns:a16="http://schemas.microsoft.com/office/drawing/2014/main" id="{54B1463C-6701-4126-BC2F-3970E1ADFC47}"/>
              </a:ext>
            </a:extLst>
          </p:cNvPr>
          <p:cNvSpPr>
            <a:spLocks xmlns:a="http://schemas.openxmlformats.org/drawingml/2006/main" noGrp="1"/>
          </p:cNvSpPr>
          <p:nvPr/>
        </p:nvSpPr>
        <p:spPr>
          <a:xfrm xmlns:a="http://schemas.openxmlformats.org/drawingml/2006/main">
            <a:off x="3581400" y="5133975"/>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09　S上で距離を評価</a:t>
            </a:r>
          </a:p>
        </p:txBody>
      </p:sp>
      <p:sp>
        <p:nvSpPr>
          <p:cNvPr id="44" name="">
            <a:extLst xmlns:a="http://schemas.openxmlformats.org/drawingml/2006/main">
              <a:ext uri="{FF2B5EF4-FFF2-40B4-BE49-F238E27FC236}">
                <a16:creationId xmlns:a16="http://schemas.microsoft.com/office/drawing/2014/main" id="{87477980-8F39-4DFE-B252-0B2C810BF616}"/>
              </a:ext>
            </a:extLst>
          </p:cNvPr>
          <p:cNvSpPr>
            <a:spLocks xmlns:a="http://schemas.openxmlformats.org/drawingml/2006/main" noGrp="1"/>
          </p:cNvSpPr>
          <p:nvPr/>
        </p:nvSpPr>
        <p:spPr>
          <a:xfrm xmlns:a="http://schemas.openxmlformats.org/drawingml/2006/main">
            <a:off x="3581400" y="5476875"/>
            <a:ext cx="2171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訓練統計で標準化</a:t>
            </a:r>
          </a:p>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必要に応じて重み付け</a:t>
            </a:r>
          </a:p>
        </p:txBody>
      </p:sp>
      <p:sp>
        <p:nvSpPr>
          <p:cNvPr id="45" name="">
            <a:extLst xmlns:a="http://schemas.openxmlformats.org/drawingml/2006/main">
              <a:ext uri="{FF2B5EF4-FFF2-40B4-BE49-F238E27FC236}">
                <a16:creationId xmlns:a16="http://schemas.microsoft.com/office/drawing/2014/main" id="{4520C697-451D-40A5-BFD2-03CFC401686C}"/>
              </a:ext>
            </a:extLst>
          </p:cNvPr>
          <p:cNvSpPr>
            <a:spLocks xmlns:a="http://schemas.openxmlformats.org/drawingml/2006/main" noGrp="1"/>
          </p:cNvSpPr>
          <p:nvPr/>
        </p:nvSpPr>
        <p:spPr>
          <a:xfrm xmlns:a="http://schemas.openxmlformats.org/drawingml/2006/main">
            <a:off x="523875" y="5038725"/>
            <a:ext cx="2381250" cy="904875"/>
          </a:xfrm>
          <a:prstGeom xmlns:a="http://schemas.openxmlformats.org/drawingml/2006/main" prst="rect">
            <a:avLst/>
          </a:prstGeom>
          <a:noFill xmlns:a="http://schemas.openxmlformats.org/drawingml/2006/main"/>
          <a:ln xmlns:a="http://schemas.openxmlformats.org/drawingml/2006/main" w="9525">
            <a:solidFill>
              <a:srgbClr val="86989F"/>
            </a:solidFill>
          </a:ln>
        </p:spPr>
      </p:sp>
      <p:sp>
        <p:nvSpPr>
          <p:cNvPr id="46" name="">
            <a:extLst xmlns:a="http://schemas.openxmlformats.org/drawingml/2006/main">
              <a:ext uri="{FF2B5EF4-FFF2-40B4-BE49-F238E27FC236}">
                <a16:creationId xmlns:a16="http://schemas.microsoft.com/office/drawing/2014/main" id="{8C5B23A3-F8E9-4A82-9353-3CCB8BCEC964}"/>
              </a:ext>
            </a:extLst>
          </p:cNvPr>
          <p:cNvSpPr>
            <a:spLocks xmlns:a="http://schemas.openxmlformats.org/drawingml/2006/main" noGrp="1"/>
          </p:cNvSpPr>
          <p:nvPr/>
        </p:nvSpPr>
        <p:spPr>
          <a:xfrm xmlns:a="http://schemas.openxmlformats.org/drawingml/2006/main">
            <a:off x="628650" y="5133975"/>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273C"/>
                </a:solidFill>
                <a:latin typeface="Meiryo"/>
                <a:ea typeface="Meiryo"/>
                <a:cs typeface="Meiryo"/>
              </a:defRPr>
            </a:pPr>
            <a:r>
              <a:rPr sz="1500" b="1">
                <a:solidFill>
                  <a:srgbClr val="08273C"/>
                </a:solidFill>
                <a:latin typeface="Meiryo"/>
                <a:ea typeface="Meiryo"/>
                <a:cs typeface="Meiryo"/>
              </a:rPr>
              <a:t>OODスコア d(x)</a:t>
            </a:r>
          </a:p>
        </p:txBody>
      </p:sp>
      <p:sp>
        <p:nvSpPr>
          <p:cNvPr id="47" name="">
            <a:extLst xmlns:a="http://schemas.openxmlformats.org/drawingml/2006/main">
              <a:ext uri="{FF2B5EF4-FFF2-40B4-BE49-F238E27FC236}">
                <a16:creationId xmlns:a16="http://schemas.microsoft.com/office/drawing/2014/main" id="{976DBC84-E5DB-4896-B1A8-809385056978}"/>
              </a:ext>
            </a:extLst>
          </p:cNvPr>
          <p:cNvSpPr>
            <a:spLocks xmlns:a="http://schemas.openxmlformats.org/drawingml/2006/main" noGrp="1"/>
          </p:cNvSpPr>
          <p:nvPr/>
        </p:nvSpPr>
        <p:spPr>
          <a:xfrm xmlns:a="http://schemas.openxmlformats.org/drawingml/2006/main">
            <a:off x="628650" y="5476875"/>
            <a:ext cx="2171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3747E"/>
                </a:solidFill>
                <a:latin typeface="Meiryo"/>
                <a:ea typeface="Meiryo"/>
                <a:cs typeface="Meiryo"/>
              </a:defRPr>
            </a:pPr>
            <a:r>
              <a:rPr sz="1275" b="0">
                <a:solidFill>
                  <a:srgbClr val="63747E"/>
                </a:solidFill>
                <a:latin typeface="Meiryo"/>
                <a:ea typeface="Meiryo"/>
                <a:cs typeface="Meiryo"/>
              </a:rPr>
              <a:t>通常版：K点との距離平均</a:t>
            </a:r>
          </a:p>
        </p:txBody>
      </p:sp>
      <p:cxnSp>
        <p:nvCxnSpPr>
          <p:cNvPr id="104" name=""/>
          <p:cNvCxnSpPr>
            <a:stCxn xmlns:a="http://schemas.openxmlformats.org/drawingml/2006/main" id="29" idx="2"/>
            <a:endCxn xmlns:a="http://schemas.openxmlformats.org/drawingml/2006/main" id="36" idx="0"/>
          </p:cNvCxnSpPr>
          <p:nvPr/>
        </p:nvCxnSpPr>
        <p:spPr>
          <a:xfrm xmlns:a="http://schemas.openxmlformats.org/drawingml/2006/main">
            <a:off x="10548938" y="4410075"/>
            <a:ext cx="0" cy="62865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105" name=""/>
          <p:cNvCxnSpPr>
            <a:stCxn xmlns:a="http://schemas.openxmlformats.org/drawingml/2006/main" id="36" idx="1"/>
            <a:endCxn xmlns:a="http://schemas.openxmlformats.org/drawingml/2006/main" id="39" idx="3"/>
          </p:cNvCxnSpPr>
          <p:nvPr/>
        </p:nvCxnSpPr>
        <p:spPr>
          <a:xfrm xmlns:a="http://schemas.openxmlformats.org/drawingml/2006/main" flipH="1">
            <a:off x="8810625" y="549116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106" name=""/>
          <p:cNvCxnSpPr>
            <a:stCxn xmlns:a="http://schemas.openxmlformats.org/drawingml/2006/main" id="39" idx="1"/>
            <a:endCxn xmlns:a="http://schemas.openxmlformats.org/drawingml/2006/main" id="42" idx="3"/>
          </p:cNvCxnSpPr>
          <p:nvPr/>
        </p:nvCxnSpPr>
        <p:spPr>
          <a:xfrm xmlns:a="http://schemas.openxmlformats.org/drawingml/2006/main" flipH="1">
            <a:off x="5857875" y="549116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cxnSp>
        <p:nvCxnSpPr>
          <p:cNvPr id="107" name=""/>
          <p:cNvCxnSpPr>
            <a:stCxn xmlns:a="http://schemas.openxmlformats.org/drawingml/2006/main" id="42" idx="1"/>
            <a:endCxn xmlns:a="http://schemas.openxmlformats.org/drawingml/2006/main" id="45" idx="3"/>
          </p:cNvCxnSpPr>
          <p:nvPr/>
        </p:nvCxnSpPr>
        <p:spPr>
          <a:xfrm xmlns:a="http://schemas.openxmlformats.org/drawingml/2006/main" flipH="1">
            <a:off x="2905125" y="5491163"/>
            <a:ext cx="571500" cy="0"/>
          </a:xfrm>
          <a:prstGeom xmlns:a="http://schemas.openxmlformats.org/drawingml/2006/main" prst="straightConnector1">
            <a:avLst/>
          </a:prstGeom>
          <a:ln xmlns:a="http://schemas.openxmlformats.org/drawingml/2006/main" w="13335">
            <a:solidFill>
              <a:srgbClr val="203645"/>
            </a:solidFill>
            <a:prstDash val="solid"/>
            <a:tailEnd type="triangle" w="sm" len="sm"/>
          </a:ln>
        </p:spPr>
      </p:cxnSp>
      <p:sp>
        <p:nvSpPr>
          <p:cNvPr id="52" name="">
            <a:extLst xmlns:a="http://schemas.openxmlformats.org/drawingml/2006/main">
              <a:ext uri="{FF2B5EF4-FFF2-40B4-BE49-F238E27FC236}">
                <a16:creationId xmlns:a16="http://schemas.microsoft.com/office/drawing/2014/main" id="{CC4DE974-025C-4725-9E54-6B8E857107CC}"/>
              </a:ext>
            </a:extLst>
          </p:cNvPr>
          <p:cNvSpPr>
            <a:spLocks xmlns:a="http://schemas.openxmlformats.org/drawingml/2006/main" noGrp="1"/>
          </p:cNvSpPr>
          <p:nvPr/>
        </p:nvSpPr>
        <p:spPr>
          <a:xfrm xmlns:a="http://schemas.openxmlformats.org/drawingml/2006/main">
            <a:off x="6286500" y="4619625"/>
            <a:ext cx="542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007E87"/>
                </a:solidFill>
                <a:latin typeface="Meiryo"/>
                <a:ea typeface="Meiryo"/>
                <a:cs typeface="Meiryo"/>
              </a:defRPr>
            </a:pPr>
            <a:r>
              <a:rPr sz="1275" b="0">
                <a:solidFill>
                  <a:srgbClr val="007E87"/>
                </a:solidFill>
                <a:latin typeface="Meiryo"/>
                <a:ea typeface="Meiryo"/>
                <a:cs typeface="Meiryo"/>
              </a:rPr>
              <a:t>各訓練点が、どの変数の解放領域に何回現れたかを記録</a:t>
            </a:r>
          </a:p>
        </p:txBody>
      </p:sp>
      <p:sp>
        <p:nvSpPr>
          <p:cNvPr id="53" name="">
            <a:extLst xmlns:a="http://schemas.openxmlformats.org/drawingml/2006/main">
              <a:ext uri="{FF2B5EF4-FFF2-40B4-BE49-F238E27FC236}">
                <a16:creationId xmlns:a16="http://schemas.microsoft.com/office/drawing/2014/main" id="{31C4FECA-11C5-4468-8010-BFBEF435CBA4}"/>
              </a:ext>
            </a:extLst>
          </p:cNvPr>
          <p:cNvSpPr>
            <a:spLocks xmlns:a="http://schemas.openxmlformats.org/drawingml/2006/main" noGrp="1"/>
          </p:cNvSpPr>
          <p:nvPr/>
        </p:nvSpPr>
        <p:spPr>
          <a:xfrm xmlns:a="http://schemas.openxmlformats.org/drawingml/2006/main">
            <a:off x="476250" y="6010275"/>
            <a:ext cx="11239500" cy="9525"/>
          </a:xfrm>
          <a:prstGeom xmlns:a="http://schemas.openxmlformats.org/drawingml/2006/main" prst="rect">
            <a:avLst/>
          </a:prstGeom>
          <a:solidFill xmlns:a="http://schemas.openxmlformats.org/drawingml/2006/main">
            <a:srgbClr val="CCD5D9"/>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4B7668BF-B00C-4B6F-A48A-B5C95A9A6278}"/>
              </a:ext>
            </a:extLst>
          </p:cNvPr>
          <p:cNvSpPr>
            <a:spLocks xmlns:a="http://schemas.openxmlformats.org/drawingml/2006/main" noGrp="1"/>
          </p:cNvSpPr>
          <p:nvPr/>
        </p:nvSpPr>
        <p:spPr>
          <a:xfrm xmlns:a="http://schemas.openxmlformats.org/drawingml/2006/main">
            <a:off x="476250" y="61150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近傍は通常の距離順ではなく、規則解放の頻度プロファイルから選択する。</a:t>
            </a:r>
          </a:p>
        </p:txBody>
      </p:sp>
      <p:sp>
        <p:nvSpPr>
          <p:cNvPr id="55" name="">
            <a:extLst xmlns:a="http://schemas.openxmlformats.org/drawingml/2006/main">
              <a:ext uri="{FF2B5EF4-FFF2-40B4-BE49-F238E27FC236}">
                <a16:creationId xmlns:a16="http://schemas.microsoft.com/office/drawing/2014/main" id="{FF71E775-DB42-4237-B053-E286B93EE1F4}"/>
              </a:ext>
            </a:extLst>
          </p:cNvPr>
          <p:cNvSpPr>
            <a:spLocks xmlns:a="http://schemas.openxmlformats.org/drawingml/2006/main" noGrp="1"/>
          </p:cNvSpPr>
          <p:nvPr/>
        </p:nvSpPr>
        <p:spPr>
          <a:xfrm xmlns:a="http://schemas.openxmlformats.org/drawingml/2006/main">
            <a:off x="476250" y="65436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88" b="0">
                <a:solidFill>
                  <a:srgbClr val="63747E"/>
                </a:solidFill>
                <a:latin typeface="Meiryo"/>
                <a:ea typeface="Meiryo"/>
                <a:cs typeface="Meiryo"/>
              </a:defRPr>
            </a:pPr>
            <a:r>
              <a:rPr sz="788" b="0">
                <a:solidFill>
                  <a:srgbClr val="63747E"/>
                </a:solidFill>
                <a:latin typeface="Meiryo"/>
                <a:ea typeface="Meiryo"/>
                <a:cs typeface="Meiryo"/>
              </a:rPr>
              <a:t>13 Algorithm1・§3。n=0ではpₛ=0。OPTICS版は到達可能性スコア。運用の閾値決定は別途校正が必要。</a:t>
            </a:r>
          </a:p>
        </p:txBody>
      </p:sp>
      <p:sp>
        <p:nvSpPr>
          <p:cNvPr id="56" name="">
            <a:extLst xmlns:a="http://schemas.openxmlformats.org/drawingml/2006/main">
              <a:ext uri="{FF2B5EF4-FFF2-40B4-BE49-F238E27FC236}">
                <a16:creationId xmlns:a16="http://schemas.microsoft.com/office/drawing/2014/main" id="{3133C29B-C0CC-4E05-A1B1-2D158D44AB42}"/>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10</a:t>
            </a:r>
          </a:p>
        </p:txBody>
      </p:sp>
    </p:spTree>
    <p:extLst>
      <p:ext uri="{BB962C8B-B14F-4D97-AF65-F5344CB8AC3E}">
        <p14:creationId xmlns:p14="http://schemas.microsoft.com/office/powerpoint/2010/main" val="21017198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CC3FE2-0572-4EE3-9FCD-1F0774D1AC5F}"/>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008E99"/>
                </a:solidFill>
                <a:latin typeface="Meiryo"/>
                <a:ea typeface="Meiryo"/>
                <a:cs typeface="Meiryo"/>
              </a:defRPr>
            </a:pPr>
            <a:r>
              <a:rPr sz="1200" b="1">
                <a:solidFill>
                  <a:srgbClr val="008E99"/>
                </a:solidFill>
                <a:latin typeface="Meiryo"/>
                <a:ea typeface="Meiryo"/>
                <a:cs typeface="Meiryo"/>
              </a:rPr>
              <a:t>具体的手法と比較</a:t>
            </a:r>
          </a:p>
        </p:txBody>
      </p:sp>
      <p:sp>
        <p:nvSpPr>
          <p:cNvPr id="2" name="">
            <a:extLst xmlns:a="http://schemas.openxmlformats.org/drawingml/2006/main">
              <a:ext uri="{FF2B5EF4-FFF2-40B4-BE49-F238E27FC236}">
                <a16:creationId xmlns:a16="http://schemas.microsoft.com/office/drawing/2014/main" id="{8FC0AB84-E9FD-4227-B94E-56E8E8B1A636}"/>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08273C"/>
                </a:solidFill>
                <a:latin typeface="Meiryo"/>
                <a:ea typeface="Meiryo"/>
                <a:cs typeface="Meiryo"/>
              </a:defRPr>
            </a:pPr>
            <a:r>
              <a:rPr sz="2625" b="1">
                <a:solidFill>
                  <a:srgbClr val="08273C"/>
                </a:solidFill>
                <a:latin typeface="Meiryo"/>
                <a:ea typeface="Meiryo"/>
                <a:cs typeface="Meiryo"/>
              </a:rPr>
              <a:t>比較①　AEとOutProを各分類軸に対応付ける</a:t>
            </a:r>
          </a:p>
        </p:txBody>
      </p:sp>
      <p:graphicFrame>
        <p:nvGraphicFramePr>
          <p:cNvPr id="14" name=""/>
          <p:cNvGraphicFramePr/>
          <p:nvPr/>
        </p:nvGraphicFramePr>
        <p:xfrm>
          <a:off xmlns:a="http://schemas.openxmlformats.org/drawingml/2006/main" x="476250" y="1600200"/>
          <a:ext xmlns:a="http://schemas.openxmlformats.org/drawingml/2006/main" cx="11239500" cy="3248025"/>
        </p:xfrm>
        <a:graphic xmlns:a="http://schemas.openxmlformats.org/drawingml/2006/main">
          <a:graphicData uri="http://schemas.openxmlformats.org/drawingml/2006/table">
            <a:tbl>
              <a:tblPr/>
              <a:tblGrid>
                <a:gridCol w="2143125"/>
                <a:gridCol w="4524375"/>
                <a:gridCol w="4572000"/>
              </a:tblGrid>
              <a:tr h="812006">
                <a:tc>
                  <a:txBody>
                    <a:bodyPr/>
                    <a:lstStyle/>
                    <a:p>
                      <a:r>
                        <a:rPr sz="1725" b="1">
                          <a:solidFill>
                            <a:srgbClr val="FFFFFF"/>
                          </a:solidFill>
                          <a:latin typeface="Meiryo"/>
                          <a:ea typeface="Meiryo"/>
                          <a:cs typeface="Meiryo"/>
                        </a:rPr>
                        <a:t>分類の軸</a:t>
                      </a:r>
                    </a:p>
                  </a:txBody>
                  <a:tcPr marL="114300" marR="95250" marT="76200" marB="57150" anchor="ctr">
                    <a:solidFill>
                      <a:srgbClr val="08273C"/>
                    </a:solidFill>
                  </a:tcPr>
                </a:tc>
                <a:tc>
                  <a:txBody>
                    <a:bodyPr/>
                    <a:lstStyle/>
                    <a:p>
                      <a:r>
                        <a:rPr sz="1725" b="1">
                          <a:solidFill>
                            <a:srgbClr val="FFFFFF"/>
                          </a:solidFill>
                          <a:latin typeface="Meiryo"/>
                          <a:ea typeface="Meiryo"/>
                          <a:cs typeface="Meiryo"/>
                        </a:rPr>
                        <a:t>AE（14）</a:t>
                      </a:r>
                    </a:p>
                  </a:txBody>
                  <a:tcPr marL="114300" marR="95250" marT="76200" marB="57150" anchor="ctr">
                    <a:solidFill>
                      <a:srgbClr val="08273C"/>
                    </a:solidFill>
                  </a:tcPr>
                </a:tc>
                <a:tc>
                  <a:txBody>
                    <a:bodyPr/>
                    <a:lstStyle/>
                    <a:p>
                      <a:r>
                        <a:rPr sz="1725" b="1">
                          <a:solidFill>
                            <a:srgbClr val="FFFFFF"/>
                          </a:solidFill>
                          <a:latin typeface="Meiryo"/>
                          <a:ea typeface="Meiryo"/>
                          <a:cs typeface="Meiryo"/>
                        </a:rPr>
                        <a:t>OutPro（13）</a:t>
                      </a:r>
                    </a:p>
                  </a:txBody>
                  <a:tcPr marL="114300" marR="95250" marT="76200" marB="57150" anchor="ctr">
                    <a:solidFill>
                      <a:srgbClr val="08273C"/>
                    </a:solidFill>
                  </a:tcPr>
                </a:tc>
              </a:tr>
              <a:tr h="812006">
                <a:tc>
                  <a:txBody>
                    <a:bodyPr/>
                    <a:lstStyle/>
                    <a:p>
                      <a:r>
                        <a:rPr sz="1725" b="0">
                          <a:solidFill>
                            <a:srgbClr val="19384B"/>
                          </a:solidFill>
                          <a:latin typeface="Meiryo"/>
                          <a:ea typeface="Meiryo"/>
                          <a:cs typeface="Meiryo"/>
                        </a:rPr>
                        <a:t>S1の手法群</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DNN群で扱うAE系</a:t>
                      </a:r>
                    </a:p>
                    <a:p>
                      <a:r>
                        <a:rPr sz="1725" b="0">
                          <a:solidFill>
                            <a:srgbClr val="19384B"/>
                          </a:solidFill>
                          <a:latin typeface="Meiryo"/>
                          <a:ea typeface="Meiryo"/>
                          <a:cs typeface="Meiryo"/>
                        </a:rPr>
                        <a:t>原論文の構造の深さとは区別</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機械学習＋距離を用いる手法</a:t>
                      </a:r>
                    </a:p>
                    <a:p>
                      <a:r>
                        <a:rPr sz="1725" b="0">
                          <a:solidFill>
                            <a:srgbClr val="19384B"/>
                          </a:solidFill>
                          <a:latin typeface="Meiryo"/>
                          <a:ea typeface="Meiryo"/>
                          <a:cs typeface="Meiryo"/>
                        </a:rPr>
                        <a:t>本調査での対応付け</a:t>
                      </a:r>
                    </a:p>
                  </a:txBody>
                  <a:tcPr marL="114300" marR="95250" marT="76200" marB="57150" anchor="ctr">
                    <a:solidFill>
                      <a:srgbClr val="EDF6F8"/>
                    </a:solidFill>
                  </a:tcPr>
                </a:tc>
              </a:tr>
              <a:tr h="812006">
                <a:tc>
                  <a:txBody>
                    <a:bodyPr/>
                    <a:lstStyle/>
                    <a:p>
                      <a:r>
                        <a:rPr sz="1725" b="0">
                          <a:solidFill>
                            <a:srgbClr val="19384B"/>
                          </a:solidFill>
                          <a:latin typeface="Meiryo"/>
                          <a:ea typeface="Meiryo"/>
                          <a:cs typeface="Meiryo"/>
                        </a:rPr>
                        <a:t>S3の三つの軸</a:t>
                      </a:r>
                    </a:p>
                  </a:txBody>
                  <a:tcPr marL="114300" marR="95250" marT="76200" marB="57150" anchor="ctr">
                    <a:solidFill>
                      <a:srgbClr val="FFFFFF"/>
                    </a:solidFill>
                  </a:tcPr>
                </a:tc>
                <a:tc>
                  <a:txBody>
                    <a:bodyPr/>
                    <a:lstStyle/>
                    <a:p>
                      <a:r>
                        <a:rPr sz="1725" b="0">
                          <a:solidFill>
                            <a:srgbClr val="19384B"/>
                          </a:solidFill>
                          <a:latin typeface="Meiryo"/>
                          <a:ea typeface="Meiryo"/>
                          <a:cs typeface="Meiryo"/>
                        </a:rPr>
                        <a:t>多変量入力／点単位の判定</a:t>
                      </a:r>
                    </a:p>
                    <a:p>
                      <a:r>
                        <a:rPr sz="1725" b="0">
                          <a:solidFill>
                            <a:srgbClr val="19384B"/>
                          </a:solidFill>
                          <a:latin typeface="Meiryo"/>
                          <a:ea typeface="Meiryo"/>
                          <a:cs typeface="Meiryo"/>
                        </a:rPr>
                        <a:t>多変量手法</a:t>
                      </a:r>
                    </a:p>
                  </a:txBody>
                  <a:tcPr marL="114300" marR="95250" marT="76200" marB="57150" anchor="ctr">
                    <a:solidFill>
                      <a:srgbClr val="FFFFFF"/>
                    </a:solidFill>
                  </a:tcPr>
                </a:tc>
                <a:tc>
                  <a:txBody>
                    <a:bodyPr/>
                    <a:lstStyle/>
                    <a:p>
                      <a:r>
                        <a:rPr sz="1725" b="0">
                          <a:solidFill>
                            <a:srgbClr val="19384B"/>
                          </a:solidFill>
                          <a:latin typeface="Meiryo"/>
                          <a:ea typeface="Meiryo"/>
                          <a:cs typeface="Meiryo"/>
                        </a:rPr>
                        <a:t>多変量入力／点単位の判定</a:t>
                      </a:r>
                    </a:p>
                    <a:p>
                      <a:r>
                        <a:rPr sz="1725" b="0">
                          <a:solidFill>
                            <a:srgbClr val="19384B"/>
                          </a:solidFill>
                          <a:latin typeface="Meiryo"/>
                          <a:ea typeface="Meiryo"/>
                          <a:cs typeface="Meiryo"/>
                        </a:rPr>
                        <a:t>多変量手法</a:t>
                      </a:r>
                    </a:p>
                  </a:txBody>
                  <a:tcPr marL="114300" marR="95250" marT="76200" marB="57150" anchor="ctr">
                    <a:solidFill>
                      <a:srgbClr val="FFFFFF"/>
                    </a:solidFill>
                  </a:tcPr>
                </a:tc>
              </a:tr>
              <a:tr h="812006">
                <a:tc>
                  <a:txBody>
                    <a:bodyPr/>
                    <a:lstStyle/>
                    <a:p>
                      <a:r>
                        <a:rPr sz="1725" b="0">
                          <a:solidFill>
                            <a:srgbClr val="19384B"/>
                          </a:solidFill>
                          <a:latin typeface="Meiryo"/>
                          <a:ea typeface="Meiryo"/>
                          <a:cs typeface="Meiryo"/>
                        </a:rPr>
                        <a:t>S6の深層手法分類</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再構成型／Point入力</a:t>
                      </a:r>
                    </a:p>
                    <a:p>
                      <a:r>
                        <a:rPr sz="1725" b="0">
                          <a:solidFill>
                            <a:srgbClr val="19384B"/>
                          </a:solidFill>
                          <a:latin typeface="Meiryo"/>
                          <a:ea typeface="Meiryo"/>
                          <a:cs typeface="Meiryo"/>
                        </a:rPr>
                        <a:t>原論文では時間順序を使わない</a:t>
                      </a:r>
                    </a:p>
                  </a:txBody>
                  <a:tcPr marL="114300" marR="95250" marT="76200" marB="57150" anchor="ctr">
                    <a:solidFill>
                      <a:srgbClr val="EDF6F8"/>
                    </a:solidFill>
                  </a:tcPr>
                </a:tc>
                <a:tc>
                  <a:txBody>
                    <a:bodyPr/>
                    <a:lstStyle/>
                    <a:p>
                      <a:r>
                        <a:rPr sz="1725" b="0">
                          <a:solidFill>
                            <a:srgbClr val="19384B"/>
                          </a:solidFill>
                          <a:latin typeface="Meiryo"/>
                          <a:ea typeface="Meiryo"/>
                          <a:cs typeface="Meiryo"/>
                        </a:rPr>
                        <a:t>予測・再構成・対照学習の</a:t>
                      </a:r>
                    </a:p>
                    <a:p>
                      <a:r>
                        <a:rPr sz="1725" b="0">
                          <a:solidFill>
                            <a:srgbClr val="19384B"/>
                          </a:solidFill>
                          <a:latin typeface="Meiryo"/>
                          <a:ea typeface="Meiryo"/>
                          <a:cs typeface="Meiryo"/>
                        </a:rPr>
                        <a:t>深層三分類には直接該当しない</a:t>
                      </a:r>
                    </a:p>
                  </a:txBody>
                  <a:tcPr marL="114300" marR="95250" marT="76200" marB="57150" anchor="ctr">
                    <a:solidFill>
                      <a:srgbClr val="EDF6F8"/>
                    </a:solidFill>
                  </a:tcPr>
                </a:tc>
              </a:tr>
            </a:tbl>
          </a:graphicData>
        </a:graphic>
      </p:graphicFrame>
      <p:sp>
        <p:nvSpPr>
          <p:cNvPr id="5" name="">
            <a:extLst xmlns:a="http://schemas.openxmlformats.org/drawingml/2006/main">
              <a:ext uri="{FF2B5EF4-FFF2-40B4-BE49-F238E27FC236}">
                <a16:creationId xmlns:a16="http://schemas.microsoft.com/office/drawing/2014/main" id="{B66C04EB-578C-400D-A947-76ABBCA2AF67}"/>
              </a:ext>
            </a:extLst>
          </p:cNvPr>
          <p:cNvSpPr>
            <a:spLocks xmlns:a="http://schemas.openxmlformats.org/drawingml/2006/main" noGrp="1"/>
          </p:cNvSpPr>
          <p:nvPr/>
        </p:nvSpPr>
        <p:spPr>
          <a:xfrm xmlns:a="http://schemas.openxmlformats.org/drawingml/2006/main">
            <a:off x="523875" y="5172075"/>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1">
                <a:solidFill>
                  <a:srgbClr val="008E99"/>
                </a:solidFill>
                <a:latin typeface="Meiryo"/>
                <a:ea typeface="Meiryo"/>
                <a:cs typeface="Meiryo"/>
              </a:defRPr>
            </a:pPr>
            <a:r>
              <a:rPr sz="1875" b="1">
                <a:solidFill>
                  <a:srgbClr val="008E99"/>
                </a:solidFill>
                <a:latin typeface="Meiryo"/>
                <a:ea typeface="Meiryo"/>
                <a:cs typeface="Meiryo"/>
              </a:rPr>
              <a:t>共通点：1時刻の多変量ベクトルを検知対象にできる</a:t>
            </a:r>
          </a:p>
        </p:txBody>
      </p:sp>
      <p:sp>
        <p:nvSpPr>
          <p:cNvPr id="6" name="">
            <a:extLst xmlns:a="http://schemas.openxmlformats.org/drawingml/2006/main">
              <a:ext uri="{FF2B5EF4-FFF2-40B4-BE49-F238E27FC236}">
                <a16:creationId xmlns:a16="http://schemas.microsoft.com/office/drawing/2014/main" id="{8EFAC71D-999A-4730-A639-0BD4D07C383D}"/>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4822ECF-FFE4-4FA5-BE6F-BC04F07E2246}"/>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08273C"/>
                </a:solidFill>
                <a:latin typeface="Meiryo"/>
                <a:ea typeface="Meiryo"/>
                <a:cs typeface="Meiryo"/>
              </a:defRPr>
            </a:pPr>
            <a:r>
              <a:rPr sz="1575" b="1">
                <a:solidFill>
                  <a:srgbClr val="08273C"/>
                </a:solidFill>
                <a:latin typeface="Meiryo"/>
                <a:ea typeface="Meiryo"/>
                <a:cs typeface="Meiryo"/>
              </a:rPr>
              <a:t>これは本調査による整理。OutProが先行サーベイに収録されているとは主張しない</a:t>
            </a:r>
          </a:p>
        </p:txBody>
      </p:sp>
      <p:sp>
        <p:nvSpPr>
          <p:cNvPr id="8" name="">
            <a:extLst xmlns:a="http://schemas.openxmlformats.org/drawingml/2006/main">
              <a:ext uri="{FF2B5EF4-FFF2-40B4-BE49-F238E27FC236}">
                <a16:creationId xmlns:a16="http://schemas.microsoft.com/office/drawing/2014/main" id="{6D66CD5D-2243-4C87-8223-0C4681DC0E96}"/>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586E7C"/>
                </a:solidFill>
                <a:latin typeface="Meiryo"/>
                <a:ea typeface="Meiryo"/>
                <a:cs typeface="Meiryo"/>
              </a:defRPr>
            </a:pPr>
            <a:r>
              <a:rPr sz="825" b="0">
                <a:solidFill>
                  <a:srgbClr val="586E7C"/>
                </a:solidFill>
                <a:latin typeface="Meiryo"/>
                <a:ea typeface="Meiryo"/>
                <a:cs typeface="Meiryo"/>
              </a:rPr>
              <a:t>分類軸：S1・S3・S6。手法仕様：13・14。OutProは2026年、各サーベイより後の論文。</a:t>
            </a:r>
          </a:p>
        </p:txBody>
      </p:sp>
      <p:sp>
        <p:nvSpPr>
          <p:cNvPr id="11" name="">
            <a:extLst xmlns:a="http://schemas.openxmlformats.org/drawingml/2006/main">
              <a:ext uri="{FF2B5EF4-FFF2-40B4-BE49-F238E27FC236}">
                <a16:creationId xmlns:a16="http://schemas.microsoft.com/office/drawing/2014/main" id="{A1D896D3-3C6B-43D2-B0FD-FB15087B8B8A}"/>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11</a:t>
            </a:r>
          </a:p>
        </p:txBody>
      </p:sp>
    </p:spTree>
    <p:extLst>
      <p:ext uri="{BB962C8B-B14F-4D97-AF65-F5344CB8AC3E}">
        <p14:creationId xmlns:p14="http://schemas.microsoft.com/office/powerpoint/2010/main" val="21017198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3C42E6-6B98-4C80-A35E-1A08A0581C5B}"/>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008E99"/>
                </a:solidFill>
                <a:latin typeface="Meiryo"/>
                <a:ea typeface="Meiryo"/>
                <a:cs typeface="Meiryo"/>
              </a:defRPr>
            </a:pPr>
            <a:r>
              <a:rPr sz="1200" b="1">
                <a:solidFill>
                  <a:srgbClr val="008E99"/>
                </a:solidFill>
                <a:latin typeface="Meiryo"/>
                <a:ea typeface="Meiryo"/>
                <a:cs typeface="Meiryo"/>
              </a:rPr>
              <a:t>具体的手法と比較</a:t>
            </a:r>
          </a:p>
        </p:txBody>
      </p:sp>
      <p:sp>
        <p:nvSpPr>
          <p:cNvPr id="2" name="">
            <a:extLst xmlns:a="http://schemas.openxmlformats.org/drawingml/2006/main">
              <a:ext uri="{FF2B5EF4-FFF2-40B4-BE49-F238E27FC236}">
                <a16:creationId xmlns:a16="http://schemas.microsoft.com/office/drawing/2014/main" id="{86A02346-B3D1-46B3-BC0D-6B011B0AC543}"/>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08273C"/>
                </a:solidFill>
                <a:latin typeface="Meiryo"/>
                <a:ea typeface="Meiryo"/>
                <a:cs typeface="Meiryo"/>
              </a:defRPr>
            </a:pPr>
            <a:r>
              <a:rPr sz="2625" b="1">
                <a:solidFill>
                  <a:srgbClr val="08273C"/>
                </a:solidFill>
                <a:latin typeface="Meiryo"/>
                <a:ea typeface="Meiryo"/>
                <a:cs typeface="Meiryo"/>
              </a:rPr>
              <a:t>比較②　入力条件と検知できる関係</a:t>
            </a:r>
          </a:p>
        </p:txBody>
      </p:sp>
      <p:graphicFrame>
        <p:nvGraphicFramePr>
          <p:cNvPr id="14" name=""/>
          <p:cNvGraphicFramePr/>
          <p:nvPr/>
        </p:nvGraphicFramePr>
        <p:xfrm>
          <a:off xmlns:a="http://schemas.openxmlformats.org/drawingml/2006/main" x="476250" y="1600200"/>
          <a:ext xmlns:a="http://schemas.openxmlformats.org/drawingml/2006/main" cx="11239500" cy="3924300"/>
        </p:xfrm>
        <a:graphic xmlns:a="http://schemas.openxmlformats.org/drawingml/2006/main">
          <a:graphicData uri="http://schemas.openxmlformats.org/drawingml/2006/table">
            <a:tbl>
              <a:tblPr/>
              <a:tblGrid>
                <a:gridCol w="3714750"/>
                <a:gridCol w="3762375"/>
                <a:gridCol w="3762375"/>
              </a:tblGrid>
              <a:tr h="560614">
                <a:tc>
                  <a:txBody>
                    <a:bodyPr/>
                    <a:lstStyle/>
                    <a:p>
                      <a:r>
                        <a:rPr sz="1650" b="1">
                          <a:solidFill>
                            <a:srgbClr val="FFFFFF"/>
                          </a:solidFill>
                          <a:latin typeface="Meiryo"/>
                          <a:ea typeface="Meiryo"/>
                          <a:cs typeface="Meiryo"/>
                        </a:rPr>
                        <a:t>比較項目</a:t>
                      </a:r>
                    </a:p>
                  </a:txBody>
                  <a:tcPr marL="114300" marR="95250" marT="76200" marB="57150" anchor="ctr">
                    <a:solidFill>
                      <a:srgbClr val="08273C"/>
                    </a:solidFill>
                  </a:tcPr>
                </a:tc>
                <a:tc>
                  <a:txBody>
                    <a:bodyPr/>
                    <a:lstStyle/>
                    <a:p>
                      <a:r>
                        <a:rPr sz="1650" b="1">
                          <a:solidFill>
                            <a:srgbClr val="FFFFFF"/>
                          </a:solidFill>
                          <a:latin typeface="Meiryo"/>
                          <a:ea typeface="Meiryo"/>
                          <a:cs typeface="Meiryo"/>
                        </a:rPr>
                        <a:t>AE（14）</a:t>
                      </a:r>
                    </a:p>
                  </a:txBody>
                  <a:tcPr marL="114300" marR="95250" marT="76200" marB="57150" anchor="ctr">
                    <a:solidFill>
                      <a:srgbClr val="08273C"/>
                    </a:solidFill>
                  </a:tcPr>
                </a:tc>
                <a:tc>
                  <a:txBody>
                    <a:bodyPr/>
                    <a:lstStyle/>
                    <a:p>
                      <a:r>
                        <a:rPr sz="1650" b="1">
                          <a:solidFill>
                            <a:srgbClr val="FFFFFF"/>
                          </a:solidFill>
                          <a:latin typeface="Meiryo"/>
                          <a:ea typeface="Meiryo"/>
                          <a:cs typeface="Meiryo"/>
                        </a:rPr>
                        <a:t>OutPro（13）</a:t>
                      </a:r>
                    </a:p>
                  </a:txBody>
                  <a:tcPr marL="114300" marR="95250" marT="76200" marB="57150" anchor="ctr">
                    <a:solidFill>
                      <a:srgbClr val="08273C"/>
                    </a:solidFill>
                  </a:tcPr>
                </a:tc>
              </a:tr>
              <a:tr h="560614">
                <a:tc>
                  <a:txBody>
                    <a:bodyPr/>
                    <a:lstStyle/>
                    <a:p>
                      <a:r>
                        <a:rPr sz="1650" b="0">
                          <a:solidFill>
                            <a:srgbClr val="19384B"/>
                          </a:solidFill>
                          <a:latin typeface="Meiryo"/>
                          <a:ea typeface="Meiryo"/>
                          <a:cs typeface="Meiryo"/>
                        </a:rPr>
                        <a:t>多変量の数値入力</a:t>
                      </a:r>
                    </a:p>
                  </a:txBody>
                  <a:tcPr marL="114300" marR="95250" marT="76200" marB="57150" anchor="ctr">
                    <a:solidFill>
                      <a:srgbClr val="EDF6F8"/>
                    </a:solidFill>
                  </a:tcPr>
                </a:tc>
                <a:tc>
                  <a:txBody>
                    <a:bodyPr/>
                    <a:lstStyle/>
                    <a:p>
                      <a:r>
                        <a:rPr sz="1650" b="0">
                          <a:solidFill>
                            <a:srgbClr val="19384B"/>
                          </a:solidFill>
                          <a:latin typeface="Meiryo"/>
                          <a:ea typeface="Meiryo"/>
                          <a:cs typeface="Meiryo"/>
                        </a:rPr>
                        <a:t>○ 複数変数を共同で再構成</a:t>
                      </a:r>
                    </a:p>
                  </a:txBody>
                  <a:tcPr marL="114300" marR="95250" marT="76200" marB="57150" anchor="ctr">
                    <a:solidFill>
                      <a:srgbClr val="EDF6F8"/>
                    </a:solidFill>
                  </a:tcPr>
                </a:tc>
                <a:tc>
                  <a:txBody>
                    <a:bodyPr/>
                    <a:lstStyle/>
                    <a:p>
                      <a:r>
                        <a:rPr sz="1650" b="0">
                          <a:solidFill>
                            <a:srgbClr val="19384B"/>
                          </a:solidFill>
                          <a:latin typeface="Meiryo"/>
                          <a:ea typeface="Meiryo"/>
                          <a:cs typeface="Meiryo"/>
                        </a:rPr>
                        <a:t>○ 選択変数空間で評価</a:t>
                      </a:r>
                    </a:p>
                  </a:txBody>
                  <a:tcPr marL="114300" marR="95250" marT="76200" marB="57150" anchor="ctr">
                    <a:solidFill>
                      <a:srgbClr val="EDF6F8"/>
                    </a:solidFill>
                  </a:tcPr>
                </a:tc>
              </a:tr>
              <a:tr h="560614">
                <a:tc>
                  <a:txBody>
                    <a:bodyPr/>
                    <a:lstStyle/>
                    <a:p>
                      <a:r>
                        <a:rPr sz="1650" b="0">
                          <a:solidFill>
                            <a:srgbClr val="19384B"/>
                          </a:solidFill>
                          <a:latin typeface="Meiryo"/>
                          <a:ea typeface="Meiryo"/>
                          <a:cs typeface="Meiryo"/>
                        </a:rPr>
                        <a:t>非線形な変数関係</a:t>
                      </a:r>
                    </a:p>
                  </a:txBody>
                  <a:tcPr marL="114300" marR="95250" marT="76200" marB="57150" anchor="ctr">
                    <a:solidFill>
                      <a:srgbClr val="FFFFFF"/>
                    </a:solidFill>
                  </a:tcPr>
                </a:tc>
                <a:tc>
                  <a:txBody>
                    <a:bodyPr/>
                    <a:lstStyle/>
                    <a:p>
                      <a:r>
                        <a:rPr sz="1650" b="0">
                          <a:solidFill>
                            <a:srgbClr val="19384B"/>
                          </a:solidFill>
                          <a:latin typeface="Meiryo"/>
                          <a:ea typeface="Meiryo"/>
                          <a:cs typeface="Meiryo"/>
                        </a:rPr>
                        <a:t>○ AEで表現できる</a:t>
                      </a:r>
                    </a:p>
                  </a:txBody>
                  <a:tcPr marL="114300" marR="95250" marT="76200" marB="57150" anchor="ctr">
                    <a:solidFill>
                      <a:srgbClr val="FFFFFF"/>
                    </a:solidFill>
                  </a:tcPr>
                </a:tc>
                <a:tc>
                  <a:txBody>
                    <a:bodyPr/>
                    <a:lstStyle/>
                    <a:p>
                      <a:r>
                        <a:rPr sz="1650" b="0">
                          <a:solidFill>
                            <a:srgbClr val="19384B"/>
                          </a:solidFill>
                          <a:latin typeface="Meiryo"/>
                          <a:ea typeface="Meiryo"/>
                          <a:cs typeface="Meiryo"/>
                        </a:rPr>
                        <a:t>○ 森林の分割・変数選択を利用</a:t>
                      </a:r>
                    </a:p>
                  </a:txBody>
                  <a:tcPr marL="114300" marR="95250" marT="76200" marB="57150" anchor="ctr">
                    <a:solidFill>
                      <a:srgbClr val="FFFFFF"/>
                    </a:solidFill>
                  </a:tcPr>
                </a:tc>
              </a:tr>
              <a:tr h="560614">
                <a:tc>
                  <a:txBody>
                    <a:bodyPr/>
                    <a:lstStyle/>
                    <a:p>
                      <a:r>
                        <a:rPr sz="1650" b="0">
                          <a:solidFill>
                            <a:srgbClr val="19384B"/>
                          </a:solidFill>
                          <a:latin typeface="Meiryo"/>
                          <a:ea typeface="Meiryo"/>
                          <a:cs typeface="Meiryo"/>
                        </a:rPr>
                        <a:t>1時刻入力への適用</a:t>
                      </a:r>
                    </a:p>
                  </a:txBody>
                  <a:tcPr marL="114300" marR="95250" marT="76200" marB="57150" anchor="ctr">
                    <a:solidFill>
                      <a:srgbClr val="EDF6F8"/>
                    </a:solidFill>
                  </a:tcPr>
                </a:tc>
                <a:tc>
                  <a:txBody>
                    <a:bodyPr/>
                    <a:lstStyle/>
                    <a:p>
                      <a:r>
                        <a:rPr sz="1650" b="0">
                          <a:solidFill>
                            <a:srgbClr val="19384B"/>
                          </a:solidFill>
                          <a:latin typeface="Meiryo"/>
                          <a:ea typeface="Meiryo"/>
                          <a:cs typeface="Meiryo"/>
                        </a:rPr>
                        <a:t>○ 原論文で独立に処理</a:t>
                      </a:r>
                    </a:p>
                  </a:txBody>
                  <a:tcPr marL="114300" marR="95250" marT="76200" marB="57150" anchor="ctr">
                    <a:solidFill>
                      <a:srgbClr val="EDF6F8"/>
                    </a:solidFill>
                  </a:tcPr>
                </a:tc>
                <a:tc>
                  <a:txBody>
                    <a:bodyPr/>
                    <a:lstStyle/>
                    <a:p>
                      <a:r>
                        <a:rPr sz="1650" b="0">
                          <a:solidFill>
                            <a:srgbClr val="19384B"/>
                          </a:solidFill>
                          <a:latin typeface="Meiryo"/>
                          <a:ea typeface="Meiryo"/>
                          <a:cs typeface="Meiryo"/>
                        </a:rPr>
                        <a:t>○ 一つの入力点にスコア</a:t>
                      </a:r>
                    </a:p>
                  </a:txBody>
                  <a:tcPr marL="114300" marR="95250" marT="76200" marB="57150" anchor="ctr">
                    <a:solidFill>
                      <a:srgbClr val="EDF6F8"/>
                    </a:solidFill>
                  </a:tcPr>
                </a:tc>
              </a:tr>
              <a:tr h="560614">
                <a:tc>
                  <a:txBody>
                    <a:bodyPr/>
                    <a:lstStyle/>
                    <a:p>
                      <a:r>
                        <a:rPr sz="1650" b="0">
                          <a:solidFill>
                            <a:srgbClr val="19384B"/>
                          </a:solidFill>
                          <a:latin typeface="Meiryo"/>
                          <a:ea typeface="Meiryo"/>
                          <a:cs typeface="Meiryo"/>
                        </a:rPr>
                        <a:t>過去時系列が必須か</a:t>
                      </a:r>
                    </a:p>
                  </a:txBody>
                  <a:tcPr marL="114300" marR="95250" marT="76200" marB="57150" anchor="ctr">
                    <a:solidFill>
                      <a:srgbClr val="FFFFFF"/>
                    </a:solidFill>
                  </a:tcPr>
                </a:tc>
                <a:tc>
                  <a:txBody>
                    <a:bodyPr/>
                    <a:lstStyle/>
                    <a:p>
                      <a:r>
                        <a:rPr sz="1650" b="0">
                          <a:solidFill>
                            <a:srgbClr val="19384B"/>
                          </a:solidFill>
                          <a:latin typeface="Meiryo"/>
                          <a:ea typeface="Meiryo"/>
                          <a:cs typeface="Meiryo"/>
                        </a:rPr>
                        <a:t>× 原論文では不要</a:t>
                      </a:r>
                    </a:p>
                  </a:txBody>
                  <a:tcPr marL="114300" marR="95250" marT="76200" marB="57150" anchor="ctr">
                    <a:solidFill>
                      <a:srgbClr val="FFFFFF"/>
                    </a:solidFill>
                  </a:tcPr>
                </a:tc>
                <a:tc>
                  <a:txBody>
                    <a:bodyPr/>
                    <a:lstStyle/>
                    <a:p>
                      <a:r>
                        <a:rPr sz="1650" b="0">
                          <a:solidFill>
                            <a:srgbClr val="19384B"/>
                          </a:solidFill>
                          <a:latin typeface="Meiryo"/>
                          <a:ea typeface="Meiryo"/>
                          <a:cs typeface="Meiryo"/>
                        </a:rPr>
                        <a:t>× 原論文では不要</a:t>
                      </a:r>
                    </a:p>
                  </a:txBody>
                  <a:tcPr marL="114300" marR="95250" marT="76200" marB="57150" anchor="ctr">
                    <a:solidFill>
                      <a:srgbClr val="FFFFFF"/>
                    </a:solidFill>
                  </a:tcPr>
                </a:tc>
              </a:tr>
              <a:tr h="560614">
                <a:tc>
                  <a:txBody>
                    <a:bodyPr/>
                    <a:lstStyle/>
                    <a:p>
                      <a:r>
                        <a:rPr sz="1650" b="0">
                          <a:solidFill>
                            <a:srgbClr val="19384B"/>
                          </a:solidFill>
                          <a:latin typeface="Meiryo"/>
                          <a:ea typeface="Meiryo"/>
                          <a:cs typeface="Meiryo"/>
                        </a:rPr>
                        <a:t>運用時に真の Y が必要か</a:t>
                      </a:r>
                    </a:p>
                  </a:txBody>
                  <a:tcPr marL="114300" marR="95250" marT="76200" marB="57150" anchor="ctr">
                    <a:solidFill>
                      <a:srgbClr val="EDF6F8"/>
                    </a:solidFill>
                  </a:tcPr>
                </a:tc>
                <a:tc>
                  <a:txBody>
                    <a:bodyPr/>
                    <a:lstStyle/>
                    <a:p>
                      <a:r>
                        <a:rPr sz="1650" b="0">
                          <a:solidFill>
                            <a:srgbClr val="19384B"/>
                          </a:solidFill>
                          <a:latin typeface="Meiryo"/>
                          <a:ea typeface="Meiryo"/>
                          <a:cs typeface="Meiryo"/>
                        </a:rPr>
                        <a:t>× 不要</a:t>
                      </a:r>
                    </a:p>
                  </a:txBody>
                  <a:tcPr marL="114300" marR="95250" marT="76200" marB="57150" anchor="ctr">
                    <a:solidFill>
                      <a:srgbClr val="EDF6F8"/>
                    </a:solidFill>
                  </a:tcPr>
                </a:tc>
                <a:tc>
                  <a:txBody>
                    <a:bodyPr/>
                    <a:lstStyle/>
                    <a:p>
                      <a:r>
                        <a:rPr sz="1650" b="0">
                          <a:solidFill>
                            <a:srgbClr val="19384B"/>
                          </a:solidFill>
                          <a:latin typeface="Meiryo"/>
                          <a:ea typeface="Meiryo"/>
                          <a:cs typeface="Meiryo"/>
                        </a:rPr>
                        <a:t>× 不要</a:t>
                      </a:r>
                    </a:p>
                  </a:txBody>
                  <a:tcPr marL="114300" marR="95250" marT="76200" marB="57150" anchor="ctr">
                    <a:solidFill>
                      <a:srgbClr val="EDF6F8"/>
                    </a:solidFill>
                  </a:tcPr>
                </a:tc>
              </a:tr>
              <a:tr h="560614">
                <a:tc>
                  <a:txBody>
                    <a:bodyPr/>
                    <a:lstStyle/>
                    <a:p>
                      <a:r>
                        <a:rPr sz="1650" b="0">
                          <a:solidFill>
                            <a:srgbClr val="19384B"/>
                          </a:solidFill>
                          <a:latin typeface="Meiryo"/>
                          <a:ea typeface="Meiryo"/>
                          <a:cs typeface="Meiryo"/>
                        </a:rPr>
                        <a:t>未知の変数関係の検知</a:t>
                      </a:r>
                    </a:p>
                  </a:txBody>
                  <a:tcPr marL="114300" marR="95250" marT="76200" marB="57150" anchor="ctr">
                    <a:solidFill>
                      <a:srgbClr val="FFFFFF"/>
                    </a:solidFill>
                  </a:tcPr>
                </a:tc>
                <a:tc>
                  <a:txBody>
                    <a:bodyPr/>
                    <a:lstStyle/>
                    <a:p>
                      <a:r>
                        <a:rPr sz="1650" b="0">
                          <a:solidFill>
                            <a:srgbClr val="19384B"/>
                          </a:solidFill>
                          <a:latin typeface="Meiryo"/>
                          <a:ea typeface="Meiryo"/>
                          <a:cs typeface="Meiryo"/>
                        </a:rPr>
                        <a:t>△ 学習した関係と再構成に依存</a:t>
                      </a:r>
                    </a:p>
                  </a:txBody>
                  <a:tcPr marL="114300" marR="95250" marT="76200" marB="57150" anchor="ctr">
                    <a:solidFill>
                      <a:srgbClr val="FFFFFF"/>
                    </a:solidFill>
                  </a:tcPr>
                </a:tc>
                <a:tc>
                  <a:txBody>
                    <a:bodyPr/>
                    <a:lstStyle/>
                    <a:p>
                      <a:r>
                        <a:rPr sz="1650" b="0">
                          <a:solidFill>
                            <a:srgbClr val="19384B"/>
                          </a:solidFill>
                          <a:latin typeface="Meiryo"/>
                          <a:ea typeface="Meiryo"/>
                          <a:cs typeface="Meiryo"/>
                        </a:rPr>
                        <a:t>△ 選択変数・参照領域に依存</a:t>
                      </a:r>
                    </a:p>
                  </a:txBody>
                  <a:tcPr marL="114300" marR="95250" marT="7620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7C3D274-C34B-4F33-AC34-E12E1CA19E6F}"/>
              </a:ext>
            </a:extLst>
          </p:cNvPr>
          <p:cNvSpPr>
            <a:spLocks xmlns:a="http://schemas.openxmlformats.org/drawingml/2006/main" noGrp="1"/>
          </p:cNvSpPr>
          <p:nvPr/>
        </p:nvSpPr>
        <p:spPr>
          <a:xfrm xmlns:a="http://schemas.openxmlformats.org/drawingml/2006/main">
            <a:off x="523875" y="5562600"/>
            <a:ext cx="1123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586E7C"/>
                </a:solidFill>
                <a:latin typeface="Meiryo"/>
                <a:ea typeface="Meiryo"/>
                <a:cs typeface="Meiryo"/>
              </a:defRPr>
            </a:pPr>
            <a:r>
              <a:rPr sz="1350" b="0">
                <a:solidFill>
                  <a:srgbClr val="586E7C"/>
                </a:solidFill>
                <a:latin typeface="Meiryo"/>
                <a:ea typeface="Meiryo"/>
                <a:cs typeface="Meiryo"/>
              </a:rPr>
              <a:t>○：対応・利用可能　△：条件依存　×：当該項目は不要</a:t>
            </a:r>
          </a:p>
        </p:txBody>
      </p:sp>
      <p:sp>
        <p:nvSpPr>
          <p:cNvPr id="6" name="">
            <a:extLst xmlns:a="http://schemas.openxmlformats.org/drawingml/2006/main">
              <a:ext uri="{FF2B5EF4-FFF2-40B4-BE49-F238E27FC236}">
                <a16:creationId xmlns:a16="http://schemas.microsoft.com/office/drawing/2014/main" id="{AAF15EB3-16DF-4A60-A385-A3344255D815}"/>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87D739-B204-42EF-BF21-B145B9BF2B50}"/>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08273C"/>
                </a:solidFill>
                <a:latin typeface="Meiryo"/>
                <a:ea typeface="Meiryo"/>
                <a:cs typeface="Meiryo"/>
              </a:defRPr>
            </a:pPr>
            <a:r>
              <a:rPr sz="1575" b="1">
                <a:solidFill>
                  <a:srgbClr val="08273C"/>
                </a:solidFill>
                <a:latin typeface="Meiryo"/>
                <a:ea typeface="Meiryo"/>
                <a:cs typeface="Meiryo"/>
              </a:rPr>
              <a:t>対応可能であることと、すべての学習外入力を検知できることは別である</a:t>
            </a:r>
          </a:p>
        </p:txBody>
      </p:sp>
      <p:sp>
        <p:nvSpPr>
          <p:cNvPr id="8" name="">
            <a:extLst xmlns:a="http://schemas.openxmlformats.org/drawingml/2006/main">
              <a:ext uri="{FF2B5EF4-FFF2-40B4-BE49-F238E27FC236}">
                <a16:creationId xmlns:a16="http://schemas.microsoft.com/office/drawing/2014/main" id="{8E97BE77-36AE-4761-B2D6-1AB0DD75FCB6}"/>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586E7C"/>
                </a:solidFill>
                <a:latin typeface="Meiryo"/>
                <a:ea typeface="Meiryo"/>
                <a:cs typeface="Meiryo"/>
              </a:defRPr>
            </a:pPr>
            <a:r>
              <a:rPr sz="825" b="0">
                <a:solidFill>
                  <a:srgbClr val="586E7C"/>
                </a:solidFill>
                <a:latin typeface="Meiryo"/>
                <a:ea typeface="Meiryo"/>
                <a:cs typeface="Meiryo"/>
              </a:rPr>
              <a:t>14 §3–6、13 §3–5・7。評価の優劣を○△×で点数化した表ではない。</a:t>
            </a:r>
          </a:p>
        </p:txBody>
      </p:sp>
      <p:sp>
        <p:nvSpPr>
          <p:cNvPr id="11" name="">
            <a:extLst xmlns:a="http://schemas.openxmlformats.org/drawingml/2006/main">
              <a:ext uri="{FF2B5EF4-FFF2-40B4-BE49-F238E27FC236}">
                <a16:creationId xmlns:a16="http://schemas.microsoft.com/office/drawing/2014/main" id="{D9391D86-5ACF-4F3E-88AE-1BCC4C43C657}"/>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12</a:t>
            </a:r>
          </a:p>
        </p:txBody>
      </p:sp>
    </p:spTree>
    <p:extLst>
      <p:ext uri="{BB962C8B-B14F-4D97-AF65-F5344CB8AC3E}">
        <p14:creationId xmlns:p14="http://schemas.microsoft.com/office/powerpoint/2010/main" val="21017198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BA7C42-CBE7-4320-9150-E10C3D9C2373}"/>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008E99"/>
                </a:solidFill>
                <a:latin typeface="Meiryo"/>
                <a:ea typeface="Meiryo"/>
                <a:cs typeface="Meiryo"/>
              </a:defRPr>
            </a:pPr>
            <a:r>
              <a:rPr sz="1200" b="1">
                <a:solidFill>
                  <a:srgbClr val="008E99"/>
                </a:solidFill>
                <a:latin typeface="Meiryo"/>
                <a:ea typeface="Meiryo"/>
                <a:cs typeface="Meiryo"/>
              </a:rPr>
              <a:t>具体的手法と比較</a:t>
            </a:r>
          </a:p>
        </p:txBody>
      </p:sp>
      <p:sp>
        <p:nvSpPr>
          <p:cNvPr id="2" name="">
            <a:extLst xmlns:a="http://schemas.openxmlformats.org/drawingml/2006/main">
              <a:ext uri="{FF2B5EF4-FFF2-40B4-BE49-F238E27FC236}">
                <a16:creationId xmlns:a16="http://schemas.microsoft.com/office/drawing/2014/main" id="{7A311CDF-8763-43B3-9EF7-BFFE5EF0EDD1}"/>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08273C"/>
                </a:solidFill>
                <a:latin typeface="Meiryo"/>
                <a:ea typeface="Meiryo"/>
                <a:cs typeface="Meiryo"/>
              </a:defRPr>
            </a:pPr>
            <a:r>
              <a:rPr sz="2625" b="1">
                <a:solidFill>
                  <a:srgbClr val="08273C"/>
                </a:solidFill>
                <a:latin typeface="Meiryo"/>
                <a:ea typeface="Meiryo"/>
                <a:cs typeface="Meiryo"/>
              </a:rPr>
              <a:t>比較③　モデル依存・解釈性・計算と制約</a:t>
            </a:r>
          </a:p>
        </p:txBody>
      </p:sp>
      <p:graphicFrame>
        <p:nvGraphicFramePr>
          <p:cNvPr id="14" name=""/>
          <p:cNvGraphicFramePr/>
          <p:nvPr/>
        </p:nvGraphicFramePr>
        <p:xfrm>
          <a:off xmlns:a="http://schemas.openxmlformats.org/drawingml/2006/main" x="476250" y="1438275"/>
          <a:ext xmlns:a="http://schemas.openxmlformats.org/drawingml/2006/main" cx="11239500" cy="4067175"/>
        </p:xfrm>
        <a:graphic xmlns:a="http://schemas.openxmlformats.org/drawingml/2006/main">
          <a:graphicData uri="http://schemas.openxmlformats.org/drawingml/2006/table">
            <a:tbl>
              <a:tblPr/>
              <a:tblGrid>
                <a:gridCol w="2857500"/>
                <a:gridCol w="4191000"/>
                <a:gridCol w="4191000"/>
              </a:tblGrid>
              <a:tr h="677863">
                <a:tc>
                  <a:txBody>
                    <a:bodyPr/>
                    <a:lstStyle/>
                    <a:p>
                      <a:r>
                        <a:rPr sz="1575" b="1">
                          <a:solidFill>
                            <a:srgbClr val="FFFFFF"/>
                          </a:solidFill>
                          <a:latin typeface="Meiryo"/>
                          <a:ea typeface="Meiryo"/>
                          <a:cs typeface="Meiryo"/>
                        </a:rPr>
                        <a:t>比較項目</a:t>
                      </a:r>
                    </a:p>
                  </a:txBody>
                  <a:tcPr marL="114300" marR="95250" marT="76200" marB="57150" anchor="ctr">
                    <a:solidFill>
                      <a:srgbClr val="08273C"/>
                    </a:solidFill>
                  </a:tcPr>
                </a:tc>
                <a:tc>
                  <a:txBody>
                    <a:bodyPr/>
                    <a:lstStyle/>
                    <a:p>
                      <a:r>
                        <a:rPr sz="1575" b="1">
                          <a:solidFill>
                            <a:srgbClr val="FFFFFF"/>
                          </a:solidFill>
                          <a:latin typeface="Meiryo"/>
                          <a:ea typeface="Meiryo"/>
                          <a:cs typeface="Meiryo"/>
                        </a:rPr>
                        <a:t>AE（14）</a:t>
                      </a:r>
                    </a:p>
                  </a:txBody>
                  <a:tcPr marL="114300" marR="95250" marT="76200" marB="57150" anchor="ctr">
                    <a:solidFill>
                      <a:srgbClr val="08273C"/>
                    </a:solidFill>
                  </a:tcPr>
                </a:tc>
                <a:tc>
                  <a:txBody>
                    <a:bodyPr/>
                    <a:lstStyle/>
                    <a:p>
                      <a:r>
                        <a:rPr sz="1575" b="1">
                          <a:solidFill>
                            <a:srgbClr val="FFFFFF"/>
                          </a:solidFill>
                          <a:latin typeface="Meiryo"/>
                          <a:ea typeface="Meiryo"/>
                          <a:cs typeface="Meiryo"/>
                        </a:rPr>
                        <a:t>OutPro（13）</a:t>
                      </a:r>
                    </a:p>
                  </a:txBody>
                  <a:tcPr marL="114300" marR="95250" marT="76200" marB="57150" anchor="ctr">
                    <a:solidFill>
                      <a:srgbClr val="08273C"/>
                    </a:solidFill>
                  </a:tcPr>
                </a:tc>
              </a:tr>
              <a:tr h="677863">
                <a:tc>
                  <a:txBody>
                    <a:bodyPr/>
                    <a:lstStyle/>
                    <a:p>
                      <a:r>
                        <a:rPr sz="1575" b="0">
                          <a:solidFill>
                            <a:srgbClr val="19384B"/>
                          </a:solidFill>
                          <a:latin typeface="Meiryo"/>
                          <a:ea typeface="Meiryo"/>
                          <a:cs typeface="Meiryo"/>
                        </a:rPr>
                        <a:t>対象回帰器への依存</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 内部情報は不要</a:t>
                      </a:r>
                    </a:p>
                    <a:p>
                      <a:r>
                        <a:rPr sz="1575" b="0">
                          <a:solidFill>
                            <a:srgbClr val="19384B"/>
                          </a:solidFill>
                          <a:latin typeface="Meiryo"/>
                          <a:ea typeface="Meiryo"/>
                          <a:cs typeface="Meiryo"/>
                        </a:rPr>
                        <a:t>検知用AEを別に学習</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 教師あり森林を利用</a:t>
                      </a:r>
                    </a:p>
                    <a:p>
                      <a:r>
                        <a:rPr sz="1575" b="0">
                          <a:solidFill>
                            <a:srgbClr val="19384B"/>
                          </a:solidFill>
                          <a:latin typeface="Meiryo"/>
                          <a:ea typeface="Meiryo"/>
                          <a:cs typeface="Meiryo"/>
                        </a:rPr>
                        <a:t>別の回帰器との整合性を確認</a:t>
                      </a:r>
                    </a:p>
                  </a:txBody>
                  <a:tcPr marL="114300" marR="95250" marT="76200" marB="57150" anchor="ctr">
                    <a:solidFill>
                      <a:srgbClr val="EDF6F8"/>
                    </a:solidFill>
                  </a:tcPr>
                </a:tc>
              </a:tr>
              <a:tr h="677863">
                <a:tc>
                  <a:txBody>
                    <a:bodyPr/>
                    <a:lstStyle/>
                    <a:p>
                      <a:r>
                        <a:rPr sz="1575" b="0">
                          <a:solidFill>
                            <a:srgbClr val="19384B"/>
                          </a:solidFill>
                          <a:latin typeface="Meiryo"/>
                          <a:ea typeface="Meiryo"/>
                          <a:cs typeface="Meiryo"/>
                        </a:rPr>
                        <a:t>検知器の学習に Y が必要か</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 正常な X を使用</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 IDの X と Y を使用</a:t>
                      </a:r>
                    </a:p>
                  </a:txBody>
                  <a:tcPr marL="114300" marR="95250" marT="76200" marB="57150" anchor="ctr">
                    <a:solidFill>
                      <a:srgbClr val="FFFFFF"/>
                    </a:solidFill>
                  </a:tcPr>
                </a:tc>
              </a:tr>
              <a:tr h="677863">
                <a:tc>
                  <a:txBody>
                    <a:bodyPr/>
                    <a:lstStyle/>
                    <a:p>
                      <a:r>
                        <a:rPr sz="1575" b="0">
                          <a:solidFill>
                            <a:srgbClr val="19384B"/>
                          </a:solidFill>
                          <a:latin typeface="Meiryo"/>
                          <a:ea typeface="Meiryo"/>
                          <a:cs typeface="Meiryo"/>
                        </a:rPr>
                        <a:t>解釈性</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 変数別の再構成誤差</a:t>
                      </a:r>
                    </a:p>
                    <a:p>
                      <a:r>
                        <a:rPr sz="1575" b="0">
                          <a:solidFill>
                            <a:srgbClr val="19384B"/>
                          </a:solidFill>
                          <a:latin typeface="Meiryo"/>
                          <a:ea typeface="Meiryo"/>
                          <a:cs typeface="Meiryo"/>
                        </a:rPr>
                        <a:t>原因の断定はできない</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 重要変数・ルール・参照点</a:t>
                      </a:r>
                    </a:p>
                    <a:p>
                      <a:r>
                        <a:rPr sz="1575" b="0">
                          <a:solidFill>
                            <a:srgbClr val="19384B"/>
                          </a:solidFill>
                          <a:latin typeface="Meiryo"/>
                          <a:ea typeface="Meiryo"/>
                          <a:cs typeface="Meiryo"/>
                        </a:rPr>
                        <a:t>原因の断定はできない</a:t>
                      </a:r>
                    </a:p>
                  </a:txBody>
                  <a:tcPr marL="114300" marR="95250" marT="76200" marB="57150" anchor="ctr">
                    <a:solidFill>
                      <a:srgbClr val="EDF6F8"/>
                    </a:solidFill>
                  </a:tcPr>
                </a:tc>
              </a:tr>
              <a:tr h="677863">
                <a:tc>
                  <a:txBody>
                    <a:bodyPr/>
                    <a:lstStyle/>
                    <a:p>
                      <a:r>
                        <a:rPr sz="1575" b="0">
                          <a:solidFill>
                            <a:srgbClr val="19384B"/>
                          </a:solidFill>
                          <a:latin typeface="Meiryo"/>
                          <a:ea typeface="Meiryo"/>
                          <a:cs typeface="Meiryo"/>
                        </a:rPr>
                        <a:t>運用時の計算</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順伝播＋誤差計算</a:t>
                      </a:r>
                    </a:p>
                    <a:p>
                      <a:r>
                        <a:rPr sz="1575" b="0">
                          <a:solidFill>
                            <a:srgbClr val="19384B"/>
                          </a:solidFill>
                          <a:latin typeface="Meiryo"/>
                          <a:ea typeface="Meiryo"/>
                          <a:cs typeface="Meiryo"/>
                        </a:rPr>
                        <a:t>構造・次元に依存</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ルール探索＋頻度集計＋距離</a:t>
                      </a:r>
                    </a:p>
                    <a:p>
                      <a:r>
                        <a:rPr sz="1575" b="0">
                          <a:solidFill>
                            <a:srgbClr val="19384B"/>
                          </a:solidFill>
                          <a:latin typeface="Meiryo"/>
                          <a:ea typeface="Meiryo"/>
                          <a:cs typeface="Meiryo"/>
                        </a:rPr>
                        <a:t>森林・参照点数に依存</a:t>
                      </a:r>
                    </a:p>
                  </a:txBody>
                  <a:tcPr marL="114300" marR="95250" marT="76200" marB="57150" anchor="ctr">
                    <a:solidFill>
                      <a:srgbClr val="FFFFFF"/>
                    </a:solidFill>
                  </a:tcPr>
                </a:tc>
              </a:tr>
              <a:tr h="677863">
                <a:tc>
                  <a:txBody>
                    <a:bodyPr/>
                    <a:lstStyle/>
                    <a:p>
                      <a:r>
                        <a:rPr sz="1575" b="0">
                          <a:solidFill>
                            <a:srgbClr val="19384B"/>
                          </a:solidFill>
                          <a:latin typeface="Meiryo"/>
                          <a:ea typeface="Meiryo"/>
                          <a:cs typeface="Meiryo"/>
                        </a:rPr>
                        <a:t>閾値・必要データ量</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 カバレッジ・汎化に依存</a:t>
                      </a:r>
                    </a:p>
                    <a:p>
                      <a:r>
                        <a:rPr sz="1575" b="0">
                          <a:solidFill>
                            <a:srgbClr val="19384B"/>
                          </a:solidFill>
                          <a:latin typeface="Meiryo"/>
                          <a:ea typeface="Meiryo"/>
                          <a:cs typeface="Meiryo"/>
                        </a:rPr>
                        <a:t>汎用的な必要量は未確定</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 選択変数・参照点に依存</a:t>
                      </a:r>
                    </a:p>
                    <a:p>
                      <a:r>
                        <a:rPr sz="1575" b="0">
                          <a:solidFill>
                            <a:srgbClr val="19384B"/>
                          </a:solidFill>
                          <a:latin typeface="Meiryo"/>
                          <a:ea typeface="Meiryo"/>
                          <a:cs typeface="Meiryo"/>
                        </a:rPr>
                        <a:t>汎用的な必要量は未確定</a:t>
                      </a:r>
                    </a:p>
                  </a:txBody>
                  <a:tcPr marL="114300" marR="95250" marT="76200" marB="57150" anchor="ctr">
                    <a:solidFill>
                      <a:srgbClr val="EDF6F8"/>
                    </a:solidFill>
                  </a:tcPr>
                </a:tc>
              </a:tr>
            </a:tbl>
          </a:graphicData>
        </a:graphic>
      </p:graphicFrame>
      <p:sp>
        <p:nvSpPr>
          <p:cNvPr id="5" name="">
            <a:extLst xmlns:a="http://schemas.openxmlformats.org/drawingml/2006/main">
              <a:ext uri="{FF2B5EF4-FFF2-40B4-BE49-F238E27FC236}">
                <a16:creationId xmlns:a16="http://schemas.microsoft.com/office/drawing/2014/main" id="{ABCA1542-E371-41EC-ADB9-9A9FB4863B7F}"/>
              </a:ext>
            </a:extLst>
          </p:cNvPr>
          <p:cNvSpPr>
            <a:spLocks xmlns:a="http://schemas.openxmlformats.org/drawingml/2006/main" noGrp="1"/>
          </p:cNvSpPr>
          <p:nvPr/>
        </p:nvSpPr>
        <p:spPr>
          <a:xfrm xmlns:a="http://schemas.openxmlformats.org/drawingml/2006/main">
            <a:off x="523875" y="5543550"/>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586E7C"/>
                </a:solidFill>
                <a:latin typeface="Meiryo"/>
                <a:ea typeface="Meiryo"/>
                <a:cs typeface="Meiryo"/>
              </a:defRPr>
            </a:pPr>
            <a:r>
              <a:rPr sz="1350" b="0">
                <a:solidFill>
                  <a:srgbClr val="586E7C"/>
                </a:solidFill>
                <a:latin typeface="Meiryo"/>
                <a:ea typeface="Meiryo"/>
                <a:cs typeface="Meiryo"/>
              </a:rPr>
              <a:t>○：必要　△：条件依存　×：不要　　計算量の大小は実機測定で確認</a:t>
            </a:r>
          </a:p>
        </p:txBody>
      </p:sp>
      <p:sp>
        <p:nvSpPr>
          <p:cNvPr id="6" name="">
            <a:extLst xmlns:a="http://schemas.openxmlformats.org/drawingml/2006/main">
              <a:ext uri="{FF2B5EF4-FFF2-40B4-BE49-F238E27FC236}">
                <a16:creationId xmlns:a16="http://schemas.microsoft.com/office/drawing/2014/main" id="{25002A23-322F-4334-8833-DE84CAEA6C43}"/>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DBA593-F3C2-4873-87CD-54A12A21F14A}"/>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08273C"/>
                </a:solidFill>
                <a:latin typeface="Meiryo"/>
                <a:ea typeface="Meiryo"/>
                <a:cs typeface="Meiryo"/>
              </a:defRPr>
            </a:pPr>
            <a:r>
              <a:rPr sz="1575" b="1">
                <a:solidFill>
                  <a:srgbClr val="08273C"/>
                </a:solidFill>
                <a:latin typeface="Meiryo"/>
                <a:ea typeface="Meiryo"/>
                <a:cs typeface="Meiryo"/>
              </a:rPr>
              <a:t>両者を同じ校正・テスト条件で比較し、運用上の制約を測る必要がある</a:t>
            </a:r>
          </a:p>
        </p:txBody>
      </p:sp>
      <p:sp>
        <p:nvSpPr>
          <p:cNvPr id="8" name="">
            <a:extLst xmlns:a="http://schemas.openxmlformats.org/drawingml/2006/main">
              <a:ext uri="{FF2B5EF4-FFF2-40B4-BE49-F238E27FC236}">
                <a16:creationId xmlns:a16="http://schemas.microsoft.com/office/drawing/2014/main" id="{289D6E04-06C4-490B-8871-E69740C4E3CF}"/>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586E7C"/>
                </a:solidFill>
                <a:latin typeface="Meiryo"/>
                <a:ea typeface="Meiryo"/>
                <a:cs typeface="Meiryo"/>
              </a:defRPr>
            </a:pPr>
            <a:r>
              <a:rPr sz="825" b="0">
                <a:solidFill>
                  <a:srgbClr val="586E7C"/>
                </a:solidFill>
                <a:latin typeface="Meiryo"/>
                <a:ea typeface="Meiryo"/>
                <a:cs typeface="Meiryo"/>
              </a:rPr>
              <a:t>14 §3–6、13 §3・7。1件当たりの実機遅延や共通条件での速度比較は未確認。</a:t>
            </a:r>
          </a:p>
        </p:txBody>
      </p:sp>
      <p:sp>
        <p:nvSpPr>
          <p:cNvPr id="11" name="">
            <a:extLst xmlns:a="http://schemas.openxmlformats.org/drawingml/2006/main">
              <a:ext uri="{FF2B5EF4-FFF2-40B4-BE49-F238E27FC236}">
                <a16:creationId xmlns:a16="http://schemas.microsoft.com/office/drawing/2014/main" id="{99AEDEB6-453E-470E-8D8E-F415EDF26D11}"/>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13</a:t>
            </a:r>
          </a:p>
        </p:txBody>
      </p:sp>
    </p:spTree>
    <p:extLst>
      <p:ext uri="{BB962C8B-B14F-4D97-AF65-F5344CB8AC3E}">
        <p14:creationId xmlns:p14="http://schemas.microsoft.com/office/powerpoint/2010/main" val="21017198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87EC27-B10E-476E-87A4-F90E15159368}"/>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008E99"/>
                </a:solidFill>
                <a:latin typeface="Meiryo"/>
                <a:ea typeface="Meiryo"/>
                <a:cs typeface="Meiryo"/>
              </a:defRPr>
            </a:pPr>
            <a:r>
              <a:rPr sz="1200" b="1">
                <a:solidFill>
                  <a:srgbClr val="008E99"/>
                </a:solidFill>
                <a:latin typeface="Meiryo"/>
                <a:ea typeface="Meiryo"/>
                <a:cs typeface="Meiryo"/>
              </a:rPr>
              <a:t>評価と適用に向けて</a:t>
            </a:r>
          </a:p>
        </p:txBody>
      </p:sp>
      <p:sp>
        <p:nvSpPr>
          <p:cNvPr id="2" name="">
            <a:extLst xmlns:a="http://schemas.openxmlformats.org/drawingml/2006/main">
              <a:ext uri="{FF2B5EF4-FFF2-40B4-BE49-F238E27FC236}">
                <a16:creationId xmlns:a16="http://schemas.microsoft.com/office/drawing/2014/main" id="{157A79A0-4979-417D-B671-B9F875996A8B}"/>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08273C"/>
                </a:solidFill>
                <a:latin typeface="Meiryo"/>
                <a:ea typeface="Meiryo"/>
                <a:cs typeface="Meiryo"/>
              </a:defRPr>
            </a:pPr>
            <a:r>
              <a:rPr sz="2625" b="1">
                <a:solidFill>
                  <a:srgbClr val="08273C"/>
                </a:solidFill>
                <a:latin typeface="Meiryo"/>
                <a:ea typeface="Meiryo"/>
                <a:cs typeface="Meiryo"/>
              </a:rPr>
              <a:t>評価データと指標は、正解ラベルの意味と読む</a:t>
            </a:r>
          </a:p>
        </p:txBody>
      </p:sp>
      <p:graphicFrame>
        <p:nvGraphicFramePr>
          <p:cNvPr id="17" name=""/>
          <p:cNvGraphicFramePr/>
          <p:nvPr/>
        </p:nvGraphicFramePr>
        <p:xfrm>
          <a:off xmlns:a="http://schemas.openxmlformats.org/drawingml/2006/main" x="476250" y="1504950"/>
          <a:ext xmlns:a="http://schemas.openxmlformats.org/drawingml/2006/main" cx="11239500" cy="2543175"/>
        </p:xfrm>
        <a:graphic xmlns:a="http://schemas.openxmlformats.org/drawingml/2006/main">
          <a:graphicData uri="http://schemas.openxmlformats.org/drawingml/2006/table">
            <a:tbl>
              <a:tblPr/>
              <a:tblGrid>
                <a:gridCol w="1952625"/>
                <a:gridCol w="2714625"/>
                <a:gridCol w="2619375"/>
                <a:gridCol w="3952875"/>
              </a:tblGrid>
              <a:tr h="635794">
                <a:tc>
                  <a:txBody>
                    <a:bodyPr/>
                    <a:lstStyle/>
                    <a:p>
                      <a:r>
                        <a:rPr sz="1575" b="1">
                          <a:solidFill>
                            <a:srgbClr val="FFFFFF"/>
                          </a:solidFill>
                          <a:latin typeface="Meiryo"/>
                          <a:ea typeface="Meiryo"/>
                          <a:cs typeface="Meiryo"/>
                        </a:rPr>
                        <a:t>データ</a:t>
                      </a:r>
                    </a:p>
                  </a:txBody>
                  <a:tcPr marL="114300" marR="95250" marT="76200" marB="57150" anchor="ctr">
                    <a:solidFill>
                      <a:srgbClr val="08273C"/>
                    </a:solidFill>
                  </a:tcPr>
                </a:tc>
                <a:tc>
                  <a:txBody>
                    <a:bodyPr/>
                    <a:lstStyle/>
                    <a:p>
                      <a:r>
                        <a:rPr sz="1575" b="1">
                          <a:solidFill>
                            <a:srgbClr val="FFFFFF"/>
                          </a:solidFill>
                          <a:latin typeface="Meiryo"/>
                          <a:ea typeface="Meiryo"/>
                          <a:cs typeface="Meiryo"/>
                        </a:rPr>
                        <a:t>入力と規模</a:t>
                      </a:r>
                    </a:p>
                  </a:txBody>
                  <a:tcPr marL="114300" marR="95250" marT="76200" marB="57150" anchor="ctr">
                    <a:solidFill>
                      <a:srgbClr val="08273C"/>
                    </a:solidFill>
                  </a:tcPr>
                </a:tc>
                <a:tc>
                  <a:txBody>
                    <a:bodyPr/>
                    <a:lstStyle/>
                    <a:p>
                      <a:r>
                        <a:rPr sz="1575" b="1">
                          <a:solidFill>
                            <a:srgbClr val="FFFFFF"/>
                          </a:solidFill>
                          <a:latin typeface="Meiryo"/>
                          <a:ea typeface="Meiryo"/>
                          <a:cs typeface="Meiryo"/>
                        </a:rPr>
                        <a:t>回帰の目的変数 Y</a:t>
                      </a:r>
                    </a:p>
                  </a:txBody>
                  <a:tcPr marL="114300" marR="95250" marT="76200" marB="57150" anchor="ctr">
                    <a:solidFill>
                      <a:srgbClr val="08273C"/>
                    </a:solidFill>
                  </a:tcPr>
                </a:tc>
                <a:tc>
                  <a:txBody>
                    <a:bodyPr/>
                    <a:lstStyle/>
                    <a:p>
                      <a:r>
                        <a:rPr sz="1575" b="1">
                          <a:solidFill>
                            <a:srgbClr val="FFFFFF"/>
                          </a:solidFill>
                          <a:latin typeface="Meiryo"/>
                          <a:ea typeface="Meiryo"/>
                          <a:cs typeface="Meiryo"/>
                        </a:rPr>
                        <a:t>検知の正解ラベル</a:t>
                      </a:r>
                    </a:p>
                  </a:txBody>
                  <a:tcPr marL="114300" marR="95250" marT="76200" marB="57150" anchor="ctr">
                    <a:solidFill>
                      <a:srgbClr val="08273C"/>
                    </a:solidFill>
                  </a:tcPr>
                </a:tc>
              </a:tr>
              <a:tr h="635794">
                <a:tc>
                  <a:txBody>
                    <a:bodyPr/>
                    <a:lstStyle/>
                    <a:p>
                      <a:r>
                        <a:rPr sz="1575" b="0">
                          <a:solidFill>
                            <a:srgbClr val="19384B"/>
                          </a:solidFill>
                          <a:latin typeface="Meiryo"/>
                          <a:ea typeface="Meiryo"/>
                          <a:cs typeface="Meiryo"/>
                        </a:rPr>
                        <a:t>SWaT</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51変数</a:t>
                      </a:r>
                    </a:p>
                    <a:p>
                      <a:r>
                        <a:rPr sz="1575" b="0">
                          <a:solidFill>
                            <a:srgbClr val="19384B"/>
                          </a:solidFill>
                          <a:latin typeface="Meiryo"/>
                          <a:ea typeface="Meiryo"/>
                          <a:cs typeface="Meiryo"/>
                        </a:rPr>
                        <a:t>訓練 496,800点</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監視信号から選定が必要</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攻撃ラベル</a:t>
                      </a:r>
                    </a:p>
                    <a:p>
                      <a:r>
                        <a:rPr sz="1575" b="0">
                          <a:solidFill>
                            <a:srgbClr val="19384B"/>
                          </a:solidFill>
                          <a:latin typeface="Meiryo"/>
                          <a:ea typeface="Meiryo"/>
                          <a:cs typeface="Meiryo"/>
                        </a:rPr>
                        <a:t>OOD三条件と同義ではない</a:t>
                      </a:r>
                    </a:p>
                  </a:txBody>
                  <a:tcPr marL="114300" marR="95250" marT="76200" marB="57150" anchor="ctr">
                    <a:solidFill>
                      <a:srgbClr val="EDF6F8"/>
                    </a:solidFill>
                  </a:tcPr>
                </a:tc>
              </a:tr>
              <a:tr h="635794">
                <a:tc>
                  <a:txBody>
                    <a:bodyPr/>
                    <a:lstStyle/>
                    <a:p>
                      <a:r>
                        <a:rPr sz="1575" b="0">
                          <a:solidFill>
                            <a:srgbClr val="19384B"/>
                          </a:solidFill>
                          <a:latin typeface="Meiryo"/>
                          <a:ea typeface="Meiryo"/>
                          <a:cs typeface="Meiryo"/>
                        </a:rPr>
                        <a:t>WADI</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123変数</a:t>
                      </a:r>
                    </a:p>
                    <a:p>
                      <a:r>
                        <a:rPr sz="1575" b="0">
                          <a:solidFill>
                            <a:srgbClr val="19384B"/>
                          </a:solidFill>
                          <a:latin typeface="Meiryo"/>
                          <a:ea typeface="Meiryo"/>
                          <a:cs typeface="Meiryo"/>
                        </a:rPr>
                        <a:t>訓練 1,209,601点</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監視信号から選定が必要</a:t>
                      </a:r>
                    </a:p>
                  </a:txBody>
                  <a:tcPr marL="114300" marR="95250" marT="76200" marB="57150" anchor="ctr">
                    <a:solidFill>
                      <a:srgbClr val="FFFFFF"/>
                    </a:solidFill>
                  </a:tcPr>
                </a:tc>
                <a:tc>
                  <a:txBody>
                    <a:bodyPr/>
                    <a:lstStyle/>
                    <a:p>
                      <a:r>
                        <a:rPr sz="1575" b="0">
                          <a:solidFill>
                            <a:srgbClr val="19384B"/>
                          </a:solidFill>
                          <a:latin typeface="Meiryo"/>
                          <a:ea typeface="Meiryo"/>
                          <a:cs typeface="Meiryo"/>
                        </a:rPr>
                        <a:t>攻撃ラベル</a:t>
                      </a:r>
                    </a:p>
                    <a:p>
                      <a:r>
                        <a:rPr sz="1575" b="0">
                          <a:solidFill>
                            <a:srgbClr val="19384B"/>
                          </a:solidFill>
                          <a:latin typeface="Meiryo"/>
                          <a:ea typeface="Meiryo"/>
                          <a:cs typeface="Meiryo"/>
                        </a:rPr>
                        <a:t>評価する入力・出力を確認</a:t>
                      </a:r>
                    </a:p>
                  </a:txBody>
                  <a:tcPr marL="114300" marR="95250" marT="76200" marB="57150" anchor="ctr">
                    <a:solidFill>
                      <a:srgbClr val="FFFFFF"/>
                    </a:solidFill>
                  </a:tcPr>
                </a:tc>
              </a:tr>
              <a:tr h="635794">
                <a:tc>
                  <a:txBody>
                    <a:bodyPr/>
                    <a:lstStyle/>
                    <a:p>
                      <a:r>
                        <a:rPr sz="1575" b="0">
                          <a:solidFill>
                            <a:srgbClr val="19384B"/>
                          </a:solidFill>
                          <a:latin typeface="Meiryo"/>
                          <a:ea typeface="Meiryo"/>
                          <a:cs typeface="Meiryo"/>
                        </a:rPr>
                        <a:t>PMLB（13）</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61データ／10–124変数</a:t>
                      </a:r>
                    </a:p>
                    <a:p>
                      <a:r>
                        <a:rPr sz="1575" b="0">
                          <a:solidFill>
                            <a:srgbClr val="19384B"/>
                          </a:solidFill>
                          <a:latin typeface="Meiryo"/>
                          <a:ea typeface="Meiryo"/>
                          <a:cs typeface="Meiryo"/>
                        </a:rPr>
                        <a:t>n = 47–1,066</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各データの連続目的変数</a:t>
                      </a:r>
                    </a:p>
                  </a:txBody>
                  <a:tcPr marL="114300" marR="95250" marT="76200" marB="57150" anchor="ctr">
                    <a:solidFill>
                      <a:srgbClr val="EDF6F8"/>
                    </a:solidFill>
                  </a:tcPr>
                </a:tc>
                <a:tc>
                  <a:txBody>
                    <a:bodyPr/>
                    <a:lstStyle/>
                    <a:p>
                      <a:r>
                        <a:rPr sz="1575" b="0">
                          <a:solidFill>
                            <a:srgbClr val="19384B"/>
                          </a:solidFill>
                          <a:latin typeface="Meiryo"/>
                          <a:ea typeface="Meiryo"/>
                          <a:cs typeface="Meiryo"/>
                        </a:rPr>
                        <a:t>warp / joint / support</a:t>
                      </a:r>
                    </a:p>
                    <a:p>
                      <a:r>
                        <a:rPr sz="1575" b="0">
                          <a:solidFill>
                            <a:srgbClr val="19384B"/>
                          </a:solidFill>
                          <a:latin typeface="Meiryo"/>
                          <a:ea typeface="Meiryo"/>
                          <a:cs typeface="Meiryo"/>
                        </a:rPr>
                        <a:t>を用いた人工OOD</a:t>
                      </a:r>
                    </a:p>
                  </a:txBody>
                  <a:tcPr marL="114300" marR="95250" marT="76200" marB="57150" anchor="ctr">
                    <a:solidFill>
                      <a:srgbClr val="EDF6F8"/>
                    </a:solidFill>
                  </a:tcPr>
                </a:tc>
              </a:tr>
            </a:tbl>
          </a:graphicData>
        </a:graphic>
      </p:graphicFrame>
      <p:sp>
        <p:nvSpPr>
          <p:cNvPr id="5" name="">
            <a:extLst xmlns:a="http://schemas.openxmlformats.org/drawingml/2006/main">
              <a:ext uri="{FF2B5EF4-FFF2-40B4-BE49-F238E27FC236}">
                <a16:creationId xmlns:a16="http://schemas.microsoft.com/office/drawing/2014/main" id="{E137F3D3-E796-4616-9529-798C47192679}"/>
              </a:ext>
            </a:extLst>
          </p:cNvPr>
          <p:cNvSpPr>
            <a:spLocks xmlns:a="http://schemas.openxmlformats.org/drawingml/2006/main" noGrp="1"/>
          </p:cNvSpPr>
          <p:nvPr/>
        </p:nvSpPr>
        <p:spPr>
          <a:xfrm xmlns:a="http://schemas.openxmlformats.org/drawingml/2006/main">
            <a:off x="523875" y="43053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1">
                <a:solidFill>
                  <a:srgbClr val="008E99"/>
                </a:solidFill>
                <a:latin typeface="Meiryo"/>
                <a:ea typeface="Meiryo"/>
                <a:cs typeface="Meiryo"/>
              </a:defRPr>
            </a:pPr>
            <a:r>
              <a:rPr sz="1875" b="1">
                <a:solidFill>
                  <a:srgbClr val="008E99"/>
                </a:solidFill>
                <a:latin typeface="Meiryo"/>
                <a:ea typeface="Meiryo"/>
                <a:cs typeface="Meiryo"/>
              </a:rPr>
              <a:t>Precision　警報の正確さ</a:t>
            </a:r>
          </a:p>
        </p:txBody>
      </p:sp>
      <p:sp>
        <p:nvSpPr>
          <p:cNvPr id="6" name="">
            <a:extLst xmlns:a="http://schemas.openxmlformats.org/drawingml/2006/main">
              <a:ext uri="{FF2B5EF4-FFF2-40B4-BE49-F238E27FC236}">
                <a16:creationId xmlns:a16="http://schemas.microsoft.com/office/drawing/2014/main" id="{EA195024-FFC4-4D60-8402-BBEBB0D76AFE}"/>
              </a:ext>
            </a:extLst>
          </p:cNvPr>
          <p:cNvSpPr>
            <a:spLocks xmlns:a="http://schemas.openxmlformats.org/drawingml/2006/main" noGrp="1"/>
          </p:cNvSpPr>
          <p:nvPr/>
        </p:nvSpPr>
        <p:spPr>
          <a:xfrm xmlns:a="http://schemas.openxmlformats.org/drawingml/2006/main">
            <a:off x="523875" y="4743450"/>
            <a:ext cx="5286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TP / (TP＋FP)</a:t>
            </a:r>
          </a:p>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警報を出した中で、本当に異常だった割合</a:t>
            </a:r>
          </a:p>
        </p:txBody>
      </p:sp>
      <p:sp>
        <p:nvSpPr>
          <p:cNvPr id="7" name="">
            <a:extLst xmlns:a="http://schemas.openxmlformats.org/drawingml/2006/main">
              <a:ext uri="{FF2B5EF4-FFF2-40B4-BE49-F238E27FC236}">
                <a16:creationId xmlns:a16="http://schemas.microsoft.com/office/drawing/2014/main" id="{FCCD7A88-2BC3-4F5A-9187-8DA6FBAE1A38}"/>
              </a:ext>
            </a:extLst>
          </p:cNvPr>
          <p:cNvSpPr>
            <a:spLocks xmlns:a="http://schemas.openxmlformats.org/drawingml/2006/main" noGrp="1"/>
          </p:cNvSpPr>
          <p:nvPr/>
        </p:nvSpPr>
        <p:spPr>
          <a:xfrm xmlns:a="http://schemas.openxmlformats.org/drawingml/2006/main">
            <a:off x="6381750" y="43053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1">
                <a:solidFill>
                  <a:srgbClr val="008E99"/>
                </a:solidFill>
                <a:latin typeface="Meiryo"/>
                <a:ea typeface="Meiryo"/>
                <a:cs typeface="Meiryo"/>
              </a:defRPr>
            </a:pPr>
            <a:r>
              <a:rPr sz="1875" b="1">
                <a:solidFill>
                  <a:srgbClr val="008E99"/>
                </a:solidFill>
                <a:latin typeface="Meiryo"/>
                <a:ea typeface="Meiryo"/>
                <a:cs typeface="Meiryo"/>
              </a:rPr>
              <a:t>Recall　異常の捕捉率</a:t>
            </a:r>
          </a:p>
        </p:txBody>
      </p:sp>
      <p:sp>
        <p:nvSpPr>
          <p:cNvPr id="8" name="">
            <a:extLst xmlns:a="http://schemas.openxmlformats.org/drawingml/2006/main">
              <a:ext uri="{FF2B5EF4-FFF2-40B4-BE49-F238E27FC236}">
                <a16:creationId xmlns:a16="http://schemas.microsoft.com/office/drawing/2014/main" id="{156DC4A8-F9E4-43E7-8D4C-C9074D41E635}"/>
              </a:ext>
            </a:extLst>
          </p:cNvPr>
          <p:cNvSpPr>
            <a:spLocks xmlns:a="http://schemas.openxmlformats.org/drawingml/2006/main" noGrp="1"/>
          </p:cNvSpPr>
          <p:nvPr/>
        </p:nvSpPr>
        <p:spPr>
          <a:xfrm xmlns:a="http://schemas.openxmlformats.org/drawingml/2006/main">
            <a:off x="6381750" y="4743450"/>
            <a:ext cx="5286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TP / (TP＋FN)</a:t>
            </a:r>
          </a:p>
          <a:p xmlns:a="http://schemas.openxmlformats.org/drawingml/2006/main">
            <a:pPr algn="l">
              <a:buNone/>
              <a:defRPr sz="1725" b="0">
                <a:solidFill>
                  <a:srgbClr val="19384B"/>
                </a:solidFill>
                <a:latin typeface="Meiryo"/>
                <a:ea typeface="Meiryo"/>
                <a:cs typeface="Meiryo"/>
              </a:defRPr>
            </a:pPr>
            <a:r>
              <a:rPr sz="1725" b="0">
                <a:solidFill>
                  <a:srgbClr val="19384B"/>
                </a:solidFill>
                <a:latin typeface="Meiryo"/>
                <a:ea typeface="Meiryo"/>
                <a:cs typeface="Meiryo"/>
              </a:rPr>
              <a:t>実際の異常のうち、検出できた割合</a:t>
            </a:r>
          </a:p>
        </p:txBody>
      </p:sp>
      <p:sp>
        <p:nvSpPr>
          <p:cNvPr id="9" name="">
            <a:extLst xmlns:a="http://schemas.openxmlformats.org/drawingml/2006/main">
              <a:ext uri="{FF2B5EF4-FFF2-40B4-BE49-F238E27FC236}">
                <a16:creationId xmlns:a16="http://schemas.microsoft.com/office/drawing/2014/main" id="{D5F4896C-E7DA-4A1C-9F19-4E85310902FE}"/>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9516DA-C189-41AD-9732-704973D6E1E1}"/>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08273C"/>
                </a:solidFill>
                <a:latin typeface="Meiryo"/>
                <a:ea typeface="Meiryo"/>
                <a:cs typeface="Meiryo"/>
              </a:defRPr>
            </a:pPr>
            <a:r>
              <a:rPr sz="1575" b="1">
                <a:solidFill>
                  <a:srgbClr val="08273C"/>
                </a:solidFill>
                <a:latin typeface="Meiryo"/>
                <a:ea typeface="Meiryo"/>
                <a:cs typeface="Meiryo"/>
              </a:rPr>
              <a:t>AUROC・AUPRCは閾値を動かした順位性能。固定閾値での誤検知・見逃しも確認する</a:t>
            </a:r>
          </a:p>
        </p:txBody>
      </p:sp>
      <p:sp>
        <p:nvSpPr>
          <p:cNvPr id="11" name="">
            <a:extLst xmlns:a="http://schemas.openxmlformats.org/drawingml/2006/main">
              <a:ext uri="{FF2B5EF4-FFF2-40B4-BE49-F238E27FC236}">
                <a16:creationId xmlns:a16="http://schemas.microsoft.com/office/drawing/2014/main" id="{7D37F767-DA9D-441D-B00F-51FEBCF84B4B}"/>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586E7C"/>
                </a:solidFill>
                <a:latin typeface="Meiryo"/>
                <a:ea typeface="Meiryo"/>
                <a:cs typeface="Meiryo"/>
              </a:defRPr>
            </a:pPr>
            <a:r>
              <a:rPr sz="825" b="0">
                <a:solidFill>
                  <a:srgbClr val="586E7C"/>
                </a:solidFill>
                <a:latin typeface="Meiryo"/>
                <a:ea typeface="Meiryo"/>
                <a:cs typeface="Meiryo"/>
              </a:rPr>
              <a:t>S1 Table1・§5、13 §5。TP＝正検出、FP＝誤警報、FN＝見逃し。規模は各論文の使用版。</a:t>
            </a:r>
          </a:p>
        </p:txBody>
      </p:sp>
      <p:sp>
        <p:nvSpPr>
          <p:cNvPr id="14" name="">
            <a:extLst xmlns:a="http://schemas.openxmlformats.org/drawingml/2006/main">
              <a:ext uri="{FF2B5EF4-FFF2-40B4-BE49-F238E27FC236}">
                <a16:creationId xmlns:a16="http://schemas.microsoft.com/office/drawing/2014/main" id="{52C46154-77F4-43EB-AB1B-4A8D74CA9F24}"/>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14</a:t>
            </a:r>
          </a:p>
        </p:txBody>
      </p:sp>
    </p:spTree>
    <p:extLst>
      <p:ext uri="{BB962C8B-B14F-4D97-AF65-F5344CB8AC3E}">
        <p14:creationId xmlns:p14="http://schemas.microsoft.com/office/powerpoint/2010/main" val="210171984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AD96969-03DA-4089-B43E-93FEAC7C41CC}"/>
              </a:ext>
            </a:extLst>
          </p:cNvPr>
          <p:cNvSpPr>
            <a:spLocks xmlns:a="http://schemas.openxmlformats.org/drawingml/2006/main" noGrp="1"/>
          </p:cNvSpPr>
          <p:nvPr/>
        </p:nvSpPr>
        <p:spPr>
          <a:xfrm xmlns:a="http://schemas.openxmlformats.org/drawingml/2006/main">
            <a:off x="476250" y="4953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8273C"/>
                </a:solidFill>
                <a:latin typeface="Meiryo"/>
                <a:ea typeface="Meiryo"/>
                <a:cs typeface="Meiryo"/>
              </a:defRPr>
            </a:pPr>
            <a:r>
              <a:rPr sz="2625" b="1">
                <a:solidFill>
                  <a:srgbClr val="08273C"/>
                </a:solidFill>
                <a:latin typeface="Meiryo"/>
                <a:ea typeface="Meiryo"/>
                <a:cs typeface="Meiryo"/>
              </a:rPr>
              <a:t>適用時のトレードオフと運用上の確認事項</a:t>
            </a:r>
          </a:p>
        </p:txBody>
      </p:sp>
      <p:sp>
        <p:nvSpPr>
          <p:cNvPr id="2" name="">
            <a:extLst xmlns:a="http://schemas.openxmlformats.org/drawingml/2006/main">
              <a:ext uri="{FF2B5EF4-FFF2-40B4-BE49-F238E27FC236}">
                <a16:creationId xmlns:a16="http://schemas.microsoft.com/office/drawing/2014/main" id="{229281CB-F3B5-496C-8CB5-585A5E0CB8D1}"/>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B59B15-DF24-4177-93E0-8159BBCF3427}"/>
              </a:ext>
            </a:extLst>
          </p:cNvPr>
          <p:cNvSpPr>
            <a:spLocks xmlns:a="http://schemas.openxmlformats.org/drawingml/2006/main" noGrp="1"/>
          </p:cNvSpPr>
          <p:nvPr/>
        </p:nvSpPr>
        <p:spPr>
          <a:xfrm xmlns:a="http://schemas.openxmlformats.org/drawingml/2006/main">
            <a:off x="523875" y="15430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203645"/>
                </a:solidFill>
                <a:latin typeface="Meiryo"/>
                <a:ea typeface="Meiryo"/>
                <a:cs typeface="Meiryo"/>
              </a:defRPr>
            </a:pPr>
            <a:r>
              <a:rPr sz="1725" b="1">
                <a:solidFill>
                  <a:srgbClr val="203645"/>
                </a:solidFill>
                <a:latin typeface="Meiryo"/>
                <a:ea typeface="Meiryo"/>
                <a:cs typeface="Meiryo"/>
              </a:rPr>
              <a:t>(a) 手法の位置づけ（概念的な整理）</a:t>
            </a:r>
          </a:p>
        </p:txBody>
      </p:sp>
      <p:sp>
        <p:nvSpPr>
          <p:cNvPr id="5" name="">
            <a:extLst xmlns:a="http://schemas.openxmlformats.org/drawingml/2006/main">
              <a:ext uri="{FF2B5EF4-FFF2-40B4-BE49-F238E27FC236}">
                <a16:creationId xmlns:a16="http://schemas.microsoft.com/office/drawing/2014/main" id="{88591060-A587-43D9-8701-1921D668FDCD}"/>
              </a:ext>
            </a:extLst>
          </p:cNvPr>
          <p:cNvSpPr>
            <a:spLocks xmlns:a="http://schemas.openxmlformats.org/drawingml/2006/main" noGrp="1"/>
          </p:cNvSpPr>
          <p:nvPr/>
        </p:nvSpPr>
        <p:spPr>
          <a:xfrm xmlns:a="http://schemas.openxmlformats.org/drawingml/2006/main">
            <a:off x="1428750" y="2381250"/>
            <a:ext cx="9525" cy="2857500"/>
          </a:xfrm>
          <a:prstGeom xmlns:a="http://schemas.openxmlformats.org/drawingml/2006/main" prst="rect">
            <a:avLst/>
          </a:prstGeom>
          <a:solidFill xmlns:a="http://schemas.openxmlformats.org/drawingml/2006/main">
            <a:srgbClr val="85939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183549-7918-4B08-BC12-8D7E53E611E0}"/>
              </a:ext>
            </a:extLst>
          </p:cNvPr>
          <p:cNvSpPr>
            <a:spLocks xmlns:a="http://schemas.openxmlformats.org/drawingml/2006/main" noGrp="1"/>
          </p:cNvSpPr>
          <p:nvPr/>
        </p:nvSpPr>
        <p:spPr>
          <a:xfrm xmlns:a="http://schemas.openxmlformats.org/drawingml/2006/main">
            <a:off x="1428750" y="5229225"/>
            <a:ext cx="5905500" cy="9525"/>
          </a:xfrm>
          <a:prstGeom xmlns:a="http://schemas.openxmlformats.org/drawingml/2006/main" prst="rect">
            <a:avLst/>
          </a:prstGeom>
          <a:solidFill xmlns:a="http://schemas.openxmlformats.org/drawingml/2006/main">
            <a:srgbClr val="85939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A003F5-4D44-4D61-A7DB-FB5698FD6C36}"/>
              </a:ext>
            </a:extLst>
          </p:cNvPr>
          <p:cNvSpPr>
            <a:spLocks xmlns:a="http://schemas.openxmlformats.org/drawingml/2006/main" noGrp="1"/>
          </p:cNvSpPr>
          <p:nvPr/>
        </p:nvSpPr>
        <p:spPr>
          <a:xfrm xmlns:a="http://schemas.openxmlformats.org/drawingml/2006/main">
            <a:off x="1524000" y="20859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61717B"/>
                </a:solidFill>
                <a:latin typeface="Meiryo"/>
                <a:ea typeface="Meiryo"/>
                <a:cs typeface="Meiryo"/>
              </a:defRPr>
            </a:pPr>
            <a:r>
              <a:rPr sz="1500" b="0">
                <a:solidFill>
                  <a:srgbClr val="61717B"/>
                </a:solidFill>
                <a:latin typeface="Meiryo"/>
                <a:ea typeface="Meiryo"/>
                <a:cs typeface="Meiryo"/>
              </a:rPr>
              <a:t>複雑な関係の表現</a:t>
            </a:r>
          </a:p>
        </p:txBody>
      </p:sp>
      <p:sp>
        <p:nvSpPr>
          <p:cNvPr id="8" name="">
            <a:extLst xmlns:a="http://schemas.openxmlformats.org/drawingml/2006/main">
              <a:ext uri="{FF2B5EF4-FFF2-40B4-BE49-F238E27FC236}">
                <a16:creationId xmlns:a16="http://schemas.microsoft.com/office/drawing/2014/main" id="{426F186A-87F3-4A2C-8487-90F651A13CDA}"/>
              </a:ext>
            </a:extLst>
          </p:cNvPr>
          <p:cNvSpPr>
            <a:spLocks xmlns:a="http://schemas.openxmlformats.org/drawingml/2006/main" noGrp="1"/>
          </p:cNvSpPr>
          <p:nvPr/>
        </p:nvSpPr>
        <p:spPr>
          <a:xfrm xmlns:a="http://schemas.openxmlformats.org/drawingml/2006/main">
            <a:off x="2828925" y="3038475"/>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1">
                <a:solidFill>
                  <a:srgbClr val="007E87"/>
                </a:solidFill>
                <a:latin typeface="Meiryo"/>
                <a:ea typeface="Meiryo"/>
                <a:cs typeface="Meiryo"/>
              </a:defRPr>
            </a:pPr>
            <a:r>
              <a:rPr sz="2325" b="1">
                <a:solidFill>
                  <a:srgbClr val="007E87"/>
                </a:solidFill>
                <a:latin typeface="Meiryo"/>
                <a:ea typeface="Meiryo"/>
                <a:cs typeface="Meiryo"/>
              </a:rPr>
              <a:t>AE</a:t>
            </a:r>
          </a:p>
        </p:txBody>
      </p:sp>
      <p:sp>
        <p:nvSpPr>
          <p:cNvPr id="9" name="">
            <a:extLst xmlns:a="http://schemas.openxmlformats.org/drawingml/2006/main">
              <a:ext uri="{FF2B5EF4-FFF2-40B4-BE49-F238E27FC236}">
                <a16:creationId xmlns:a16="http://schemas.microsoft.com/office/drawing/2014/main" id="{B482D9DB-55AA-44CF-BB6C-532A39FA9B67}"/>
              </a:ext>
            </a:extLst>
          </p:cNvPr>
          <p:cNvSpPr>
            <a:spLocks xmlns:a="http://schemas.openxmlformats.org/drawingml/2006/main" noGrp="1"/>
          </p:cNvSpPr>
          <p:nvPr/>
        </p:nvSpPr>
        <p:spPr>
          <a:xfrm xmlns:a="http://schemas.openxmlformats.org/drawingml/2006/main">
            <a:off x="5162550" y="2790825"/>
            <a:ext cx="204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1">
                <a:solidFill>
                  <a:srgbClr val="08273C"/>
                </a:solidFill>
                <a:latin typeface="Meiryo"/>
                <a:ea typeface="Meiryo"/>
                <a:cs typeface="Meiryo"/>
              </a:defRPr>
            </a:pPr>
            <a:r>
              <a:rPr sz="2325" b="1">
                <a:solidFill>
                  <a:srgbClr val="08273C"/>
                </a:solidFill>
                <a:latin typeface="Meiryo"/>
                <a:ea typeface="Meiryo"/>
                <a:cs typeface="Meiryo"/>
              </a:rPr>
              <a:t>OutPro</a:t>
            </a:r>
          </a:p>
        </p:txBody>
      </p:sp>
      <p:sp>
        <p:nvSpPr>
          <p:cNvPr id="10" name="">
            <a:extLst xmlns:a="http://schemas.openxmlformats.org/drawingml/2006/main">
              <a:ext uri="{FF2B5EF4-FFF2-40B4-BE49-F238E27FC236}">
                <a16:creationId xmlns:a16="http://schemas.microsoft.com/office/drawing/2014/main" id="{54E6238B-83AD-48DA-BE99-1F5E5CA5EDE5}"/>
              </a:ext>
            </a:extLst>
          </p:cNvPr>
          <p:cNvSpPr>
            <a:spLocks xmlns:a="http://schemas.openxmlformats.org/drawingml/2006/main" noGrp="1"/>
          </p:cNvSpPr>
          <p:nvPr/>
        </p:nvSpPr>
        <p:spPr>
          <a:xfrm xmlns:a="http://schemas.openxmlformats.org/drawingml/2006/main">
            <a:off x="3571875" y="40100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203645"/>
                </a:solidFill>
                <a:latin typeface="Meiryo"/>
                <a:ea typeface="Meiryo"/>
                <a:cs typeface="Meiryo"/>
              </a:defRPr>
            </a:pPr>
            <a:r>
              <a:rPr sz="2025" b="1">
                <a:solidFill>
                  <a:srgbClr val="203645"/>
                </a:solidFill>
                <a:latin typeface="Meiryo"/>
                <a:ea typeface="Meiryo"/>
                <a:cs typeface="Meiryo"/>
              </a:rPr>
              <a:t>Distance</a:t>
            </a:r>
          </a:p>
        </p:txBody>
      </p:sp>
      <p:sp>
        <p:nvSpPr>
          <p:cNvPr id="11" name="">
            <a:extLst xmlns:a="http://schemas.openxmlformats.org/drawingml/2006/main">
              <a:ext uri="{FF2B5EF4-FFF2-40B4-BE49-F238E27FC236}">
                <a16:creationId xmlns:a16="http://schemas.microsoft.com/office/drawing/2014/main" id="{2D0EBADC-F595-4540-8859-535190D5092C}"/>
              </a:ext>
            </a:extLst>
          </p:cNvPr>
          <p:cNvSpPr>
            <a:spLocks xmlns:a="http://schemas.openxmlformats.org/drawingml/2006/main" noGrp="1"/>
          </p:cNvSpPr>
          <p:nvPr/>
        </p:nvSpPr>
        <p:spPr>
          <a:xfrm xmlns:a="http://schemas.openxmlformats.org/drawingml/2006/main">
            <a:off x="1809750" y="467677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203645"/>
                </a:solidFill>
                <a:latin typeface="Meiryo"/>
                <a:ea typeface="Meiryo"/>
                <a:cs typeface="Meiryo"/>
              </a:defRPr>
            </a:pPr>
            <a:r>
              <a:rPr sz="1875" b="1">
                <a:solidFill>
                  <a:srgbClr val="203645"/>
                </a:solidFill>
                <a:latin typeface="Meiryo"/>
                <a:ea typeface="Meiryo"/>
                <a:cs typeface="Meiryo"/>
              </a:rPr>
              <a:t>Range</a:t>
            </a:r>
          </a:p>
        </p:txBody>
      </p:sp>
      <p:sp>
        <p:nvSpPr>
          <p:cNvPr id="12" name="">
            <a:extLst xmlns:a="http://schemas.openxmlformats.org/drawingml/2006/main">
              <a:ext uri="{FF2B5EF4-FFF2-40B4-BE49-F238E27FC236}">
                <a16:creationId xmlns:a16="http://schemas.microsoft.com/office/drawing/2014/main" id="{2BB2878C-F807-4291-A94B-6026B5677C1E}"/>
              </a:ext>
            </a:extLst>
          </p:cNvPr>
          <p:cNvSpPr>
            <a:spLocks xmlns:a="http://schemas.openxmlformats.org/drawingml/2006/main" noGrp="1"/>
          </p:cNvSpPr>
          <p:nvPr/>
        </p:nvSpPr>
        <p:spPr>
          <a:xfrm xmlns:a="http://schemas.openxmlformats.org/drawingml/2006/main">
            <a:off x="1476375" y="5353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425" b="0">
                <a:solidFill>
                  <a:srgbClr val="61717B"/>
                </a:solidFill>
                <a:latin typeface="Meiryo"/>
                <a:ea typeface="Meiryo"/>
                <a:cs typeface="Meiryo"/>
              </a:defRPr>
            </a:pPr>
            <a:r>
              <a:rPr sz="1425" b="0">
                <a:solidFill>
                  <a:srgbClr val="61717B"/>
                </a:solidFill>
                <a:latin typeface="Meiryo"/>
                <a:ea typeface="Meiryo"/>
                <a:cs typeface="Meiryo"/>
              </a:rPr>
              <a:t>単純・説明しやすい</a:t>
            </a:r>
          </a:p>
        </p:txBody>
      </p:sp>
      <p:sp>
        <p:nvSpPr>
          <p:cNvPr id="13" name="">
            <a:extLst xmlns:a="http://schemas.openxmlformats.org/drawingml/2006/main">
              <a:ext uri="{FF2B5EF4-FFF2-40B4-BE49-F238E27FC236}">
                <a16:creationId xmlns:a16="http://schemas.microsoft.com/office/drawing/2014/main" id="{2593DEB8-B6D9-4BE9-990A-B9037F68FD94}"/>
              </a:ext>
            </a:extLst>
          </p:cNvPr>
          <p:cNvSpPr>
            <a:spLocks xmlns:a="http://schemas.openxmlformats.org/drawingml/2006/main" noGrp="1"/>
          </p:cNvSpPr>
          <p:nvPr/>
        </p:nvSpPr>
        <p:spPr>
          <a:xfrm xmlns:a="http://schemas.openxmlformats.org/drawingml/2006/main">
            <a:off x="1476375" y="561975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1717B"/>
                </a:solidFill>
                <a:latin typeface="Meiryo"/>
                <a:ea typeface="Meiryo"/>
                <a:cs typeface="Meiryo"/>
              </a:defRPr>
            </a:pPr>
            <a:r>
              <a:rPr sz="1275" b="0">
                <a:solidFill>
                  <a:srgbClr val="61717B"/>
                </a:solidFill>
                <a:latin typeface="Meiryo"/>
                <a:ea typeface="Meiryo"/>
                <a:cs typeface="Meiryo"/>
              </a:rPr>
              <a:t>入力Xを中心に構築</a:t>
            </a:r>
          </a:p>
        </p:txBody>
      </p:sp>
      <p:sp>
        <p:nvSpPr>
          <p:cNvPr id="14" name="">
            <a:extLst xmlns:a="http://schemas.openxmlformats.org/drawingml/2006/main">
              <a:ext uri="{FF2B5EF4-FFF2-40B4-BE49-F238E27FC236}">
                <a16:creationId xmlns:a16="http://schemas.microsoft.com/office/drawing/2014/main" id="{DB8828F9-6355-445D-B835-D3E98EB6AB6B}"/>
              </a:ext>
            </a:extLst>
          </p:cNvPr>
          <p:cNvSpPr>
            <a:spLocks xmlns:a="http://schemas.openxmlformats.org/drawingml/2006/main" noGrp="1"/>
          </p:cNvSpPr>
          <p:nvPr/>
        </p:nvSpPr>
        <p:spPr>
          <a:xfrm xmlns:a="http://schemas.openxmlformats.org/drawingml/2006/main">
            <a:off x="4657725" y="5619750"/>
            <a:ext cx="309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1717B"/>
                </a:solidFill>
                <a:latin typeface="Meiryo"/>
                <a:ea typeface="Meiryo"/>
                <a:cs typeface="Meiryo"/>
              </a:defRPr>
            </a:pPr>
            <a:r>
              <a:rPr sz="1275" b="0">
                <a:solidFill>
                  <a:srgbClr val="61717B"/>
                </a:solidFill>
                <a:latin typeface="Meiryo"/>
                <a:ea typeface="Meiryo"/>
                <a:cs typeface="Meiryo"/>
              </a:rPr>
              <a:t>X, Y・モデル情報を利用</a:t>
            </a:r>
          </a:p>
        </p:txBody>
      </p:sp>
      <p:sp>
        <p:nvSpPr>
          <p:cNvPr id="15" name="">
            <a:extLst xmlns:a="http://schemas.openxmlformats.org/drawingml/2006/main">
              <a:ext uri="{FF2B5EF4-FFF2-40B4-BE49-F238E27FC236}">
                <a16:creationId xmlns:a16="http://schemas.microsoft.com/office/drawing/2014/main" id="{38E02166-8240-4D40-8CF9-BCC96661B71A}"/>
              </a:ext>
            </a:extLst>
          </p:cNvPr>
          <p:cNvSpPr>
            <a:spLocks xmlns:a="http://schemas.openxmlformats.org/drawingml/2006/main" noGrp="1"/>
          </p:cNvSpPr>
          <p:nvPr/>
        </p:nvSpPr>
        <p:spPr>
          <a:xfrm xmlns:a="http://schemas.openxmlformats.org/drawingml/2006/main">
            <a:off x="8115300" y="1543050"/>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203645"/>
                </a:solidFill>
                <a:latin typeface="Meiryo"/>
                <a:ea typeface="Meiryo"/>
                <a:cs typeface="Meiryo"/>
              </a:defRPr>
            </a:pPr>
            <a:r>
              <a:rPr sz="1725" b="1">
                <a:solidFill>
                  <a:srgbClr val="203645"/>
                </a:solidFill>
                <a:latin typeface="Meiryo"/>
                <a:ea typeface="Meiryo"/>
                <a:cs typeface="Meiryo"/>
              </a:rPr>
              <a:t>(b) 実機で確認する項目</a:t>
            </a:r>
          </a:p>
        </p:txBody>
      </p:sp>
      <p:sp>
        <p:nvSpPr>
          <p:cNvPr id="16" name="">
            <a:extLst xmlns:a="http://schemas.openxmlformats.org/drawingml/2006/main">
              <a:ext uri="{FF2B5EF4-FFF2-40B4-BE49-F238E27FC236}">
                <a16:creationId xmlns:a16="http://schemas.microsoft.com/office/drawing/2014/main" id="{5E21CC0E-8401-464C-8F2E-59400B7E7579}"/>
              </a:ext>
            </a:extLst>
          </p:cNvPr>
          <p:cNvSpPr>
            <a:spLocks xmlns:a="http://schemas.openxmlformats.org/drawingml/2006/main" noGrp="1"/>
          </p:cNvSpPr>
          <p:nvPr/>
        </p:nvSpPr>
        <p:spPr>
          <a:xfrm xmlns:a="http://schemas.openxmlformats.org/drawingml/2006/main">
            <a:off x="8115300" y="2066925"/>
            <a:ext cx="35242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0EC9BF4-F28F-4B1C-B138-6B2F936CAC05}"/>
              </a:ext>
            </a:extLst>
          </p:cNvPr>
          <p:cNvSpPr>
            <a:spLocks xmlns:a="http://schemas.openxmlformats.org/drawingml/2006/main" noGrp="1"/>
          </p:cNvSpPr>
          <p:nvPr/>
        </p:nvSpPr>
        <p:spPr>
          <a:xfrm xmlns:a="http://schemas.openxmlformats.org/drawingml/2006/main">
            <a:off x="8115300" y="2400300"/>
            <a:ext cx="3714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検知遅延・処理時間</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誤警報と見逃し</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説明可能性</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正常データのカバレッジ</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対象モデルへの依存</a:t>
            </a:r>
          </a:p>
          <a:p xmlns:a="http://schemas.openxmlformats.org/drawingml/2006/main">
            <a:pPr>
              <a:buNone/>
              <a:defRPr sz="1800" b="0">
                <a:solidFill>
                  <a:srgbClr val="203645"/>
                </a:solidFill>
                <a:latin typeface="Meiryo"/>
                <a:ea typeface="Meiryo"/>
                <a:cs typeface="Meiryo"/>
              </a:defRPr>
            </a:pPr>
            <a:r>
              <a:rPr sz="1800" b="0">
                <a:solidFill>
                  <a:srgbClr val="203645"/>
                </a:solidFill>
                <a:latin typeface="Meiryo"/>
                <a:ea typeface="Meiryo"/>
                <a:cs typeface="Meiryo"/>
              </a:rPr>
              <a:t>保守性・閾値の安定性</a:t>
            </a:r>
          </a:p>
        </p:txBody>
      </p:sp>
      <p:sp>
        <p:nvSpPr>
          <p:cNvPr id="18" name="">
            <a:extLst xmlns:a="http://schemas.openxmlformats.org/drawingml/2006/main">
              <a:ext uri="{FF2B5EF4-FFF2-40B4-BE49-F238E27FC236}">
                <a16:creationId xmlns:a16="http://schemas.microsoft.com/office/drawing/2014/main" id="{856DA4CF-DBF4-4265-97D8-7C972EAC2CCE}"/>
              </a:ext>
            </a:extLst>
          </p:cNvPr>
          <p:cNvSpPr>
            <a:spLocks xmlns:a="http://schemas.openxmlformats.org/drawingml/2006/main" noGrp="1"/>
          </p:cNvSpPr>
          <p:nvPr/>
        </p:nvSpPr>
        <p:spPr>
          <a:xfrm xmlns:a="http://schemas.openxmlformats.org/drawingml/2006/main">
            <a:off x="476250" y="5857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AECCC08-B999-4830-BCEF-20CF00843818}"/>
              </a:ext>
            </a:extLst>
          </p:cNvPr>
          <p:cNvSpPr>
            <a:spLocks xmlns:a="http://schemas.openxmlformats.org/drawingml/2006/main" noGrp="1"/>
          </p:cNvSpPr>
          <p:nvPr/>
        </p:nvSpPr>
        <p:spPr>
          <a:xfrm xmlns:a="http://schemas.openxmlformats.org/drawingml/2006/main">
            <a:off x="476250" y="60007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08273C"/>
                </a:solidFill>
                <a:latin typeface="Meiryo"/>
                <a:ea typeface="Meiryo"/>
                <a:cs typeface="Meiryo"/>
              </a:defRPr>
            </a:pPr>
            <a:r>
              <a:rPr sz="1650" b="1">
                <a:solidFill>
                  <a:srgbClr val="08273C"/>
                </a:solidFill>
                <a:latin typeface="Meiryo"/>
                <a:ea typeface="Meiryo"/>
                <a:cs typeface="Meiryo"/>
              </a:rPr>
              <a:t>モデルの複雑さを性能の優劣と同一視せず、共通条件で比較する。</a:t>
            </a:r>
          </a:p>
        </p:txBody>
      </p:sp>
      <p:sp>
        <p:nvSpPr>
          <p:cNvPr id="20" name="">
            <a:extLst xmlns:a="http://schemas.openxmlformats.org/drawingml/2006/main">
              <a:ext uri="{FF2B5EF4-FFF2-40B4-BE49-F238E27FC236}">
                <a16:creationId xmlns:a16="http://schemas.microsoft.com/office/drawing/2014/main" id="{12AB7E4B-AD92-479E-968C-A7483ABD6DB3}"/>
              </a:ext>
            </a:extLst>
          </p:cNvPr>
          <p:cNvSpPr>
            <a:spLocks xmlns:a="http://schemas.openxmlformats.org/drawingml/2006/main" noGrp="1"/>
          </p:cNvSpPr>
          <p:nvPr/>
        </p:nvSpPr>
        <p:spPr>
          <a:xfrm xmlns:a="http://schemas.openxmlformats.org/drawingml/2006/main">
            <a:off x="476250" y="6496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61717B"/>
                </a:solidFill>
                <a:latin typeface="Meiryo"/>
                <a:ea typeface="Meiryo"/>
                <a:cs typeface="Meiryo"/>
              </a:defRPr>
            </a:pPr>
            <a:r>
              <a:rPr sz="825" b="0">
                <a:solidFill>
                  <a:srgbClr val="61717B"/>
                </a:solidFill>
                <a:latin typeface="Meiryo"/>
                <a:ea typeface="Meiryo"/>
                <a:cs typeface="Meiryo"/>
              </a:rPr>
              <a:t>本調査の考察。図は概念的配置であり、計測結果・性能順位ではない。Distance系の性質は手法ごとに異なる。</a:t>
            </a:r>
          </a:p>
        </p:txBody>
      </p:sp>
      <p:sp>
        <p:nvSpPr>
          <p:cNvPr id="22" name="">
            <a:extLst xmlns:a="http://schemas.openxmlformats.org/drawingml/2006/main">
              <a:ext uri="{FF2B5EF4-FFF2-40B4-BE49-F238E27FC236}">
                <a16:creationId xmlns:a16="http://schemas.microsoft.com/office/drawing/2014/main" id="{003C60F7-4759-42B6-928C-A4703D25529D}"/>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15</a:t>
            </a:r>
          </a:p>
        </p:txBody>
      </p:sp>
    </p:spTree>
    <p:extLst>
      <p:ext uri="{BB962C8B-B14F-4D97-AF65-F5344CB8AC3E}">
        <p14:creationId xmlns:p14="http://schemas.microsoft.com/office/powerpoint/2010/main" val="2101719847"/>
      </p:ext>
    </p:extLst>
  </p:cSld>
</p:sld>
</file>

<file path=ppt/slides/slide16.xml><?xml version="1.0" encoding="utf-8"?>
<p:sld xmlns:p="http://schemas.openxmlformats.org/presentationml/2006/main">
  <p:cSld>
    <p:bg>
      <p:bgPr>
        <a:solidFill xmlns:a="http://schemas.openxmlformats.org/drawingml/2006/main">
          <a:srgbClr val="08273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B4FA86-F34C-477D-B0E2-C322C2B82E9C}"/>
              </a:ext>
            </a:extLst>
          </p:cNvPr>
          <p:cNvSpPr>
            <a:spLocks xmlns:a="http://schemas.openxmlformats.org/drawingml/2006/main" noGrp="1"/>
          </p:cNvSpPr>
          <p:nvPr/>
        </p:nvSpPr>
        <p:spPr>
          <a:xfrm xmlns:a="http://schemas.openxmlformats.org/drawingml/2006/main">
            <a:off x="476250" y="23812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67CDCD"/>
                </a:solidFill>
                <a:latin typeface="Meiryo"/>
                <a:ea typeface="Meiryo"/>
                <a:cs typeface="Meiryo"/>
              </a:defRPr>
            </a:pPr>
            <a:r>
              <a:rPr sz="1200" b="1">
                <a:solidFill>
                  <a:srgbClr val="67CDCD"/>
                </a:solidFill>
                <a:latin typeface="Meiryo"/>
                <a:ea typeface="Meiryo"/>
                <a:cs typeface="Meiryo"/>
              </a:rPr>
              <a:t>評価と適用に向けて</a:t>
            </a:r>
          </a:p>
        </p:txBody>
      </p:sp>
      <p:sp>
        <p:nvSpPr>
          <p:cNvPr id="2" name="">
            <a:extLst xmlns:a="http://schemas.openxmlformats.org/drawingml/2006/main">
              <a:ext uri="{FF2B5EF4-FFF2-40B4-BE49-F238E27FC236}">
                <a16:creationId xmlns:a16="http://schemas.microsoft.com/office/drawing/2014/main" id="{94645DEC-CA31-4FAE-BC14-5DCBA7DB718D}"/>
              </a:ext>
            </a:extLst>
          </p:cNvPr>
          <p:cNvSpPr>
            <a:spLocks xmlns:a="http://schemas.openxmlformats.org/drawingml/2006/main" noGrp="1"/>
          </p:cNvSpPr>
          <p:nvPr/>
        </p:nvSpPr>
        <p:spPr>
          <a:xfrm xmlns:a="http://schemas.openxmlformats.org/drawingml/2006/main">
            <a:off x="476250" y="6477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625" b="1">
                <a:solidFill>
                  <a:srgbClr val="FFFFFF"/>
                </a:solidFill>
                <a:latin typeface="Meiryo"/>
                <a:ea typeface="Meiryo"/>
                <a:cs typeface="Meiryo"/>
              </a:defRPr>
            </a:pPr>
            <a:r>
              <a:rPr sz="2625" b="1">
                <a:solidFill>
                  <a:srgbClr val="FFFFFF"/>
                </a:solidFill>
                <a:latin typeface="Meiryo"/>
                <a:ea typeface="Meiryo"/>
                <a:cs typeface="Meiryo"/>
              </a:rPr>
              <a:t>まとめ・今後の課題</a:t>
            </a:r>
          </a:p>
        </p:txBody>
      </p:sp>
      <p:sp>
        <p:nvSpPr>
          <p:cNvPr id="4" name="">
            <a:extLst xmlns:a="http://schemas.openxmlformats.org/drawingml/2006/main">
              <a:ext uri="{FF2B5EF4-FFF2-40B4-BE49-F238E27FC236}">
                <a16:creationId xmlns:a16="http://schemas.microsoft.com/office/drawing/2014/main" id="{E3CD1BD3-A353-411C-B769-5A39014BE6D3}"/>
              </a:ext>
            </a:extLst>
          </p:cNvPr>
          <p:cNvSpPr>
            <a:spLocks xmlns:a="http://schemas.openxmlformats.org/drawingml/2006/main" noGrp="1"/>
          </p:cNvSpPr>
          <p:nvPr/>
        </p:nvSpPr>
        <p:spPr>
          <a:xfrm xmlns:a="http://schemas.openxmlformats.org/drawingml/2006/main">
            <a:off x="523875" y="15335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00" b="1">
                <a:solidFill>
                  <a:srgbClr val="67CDCD"/>
                </a:solidFill>
                <a:latin typeface="Meiryo"/>
                <a:ea typeface="Meiryo"/>
                <a:cs typeface="Meiryo"/>
              </a:defRPr>
            </a:pPr>
            <a:r>
              <a:rPr sz="2100" b="1">
                <a:solidFill>
                  <a:srgbClr val="67CDCD"/>
                </a:solidFill>
                <a:latin typeface="Meiryo"/>
                <a:ea typeface="Meiryo"/>
                <a:cs typeface="Meiryo"/>
              </a:rPr>
              <a:t>主な知見</a:t>
            </a:r>
          </a:p>
        </p:txBody>
      </p:sp>
      <p:sp>
        <p:nvSpPr>
          <p:cNvPr id="5" name="">
            <a:extLst xmlns:a="http://schemas.openxmlformats.org/drawingml/2006/main">
              <a:ext uri="{FF2B5EF4-FFF2-40B4-BE49-F238E27FC236}">
                <a16:creationId xmlns:a16="http://schemas.microsoft.com/office/drawing/2014/main" id="{4A348C59-AB26-4AFC-A1C3-430CFFE0E86E}"/>
              </a:ext>
            </a:extLst>
          </p:cNvPr>
          <p:cNvSpPr>
            <a:spLocks xmlns:a="http://schemas.openxmlformats.org/drawingml/2006/main" noGrp="1"/>
          </p:cNvSpPr>
          <p:nvPr/>
        </p:nvSpPr>
        <p:spPr>
          <a:xfrm xmlns:a="http://schemas.openxmlformats.org/drawingml/2006/main">
            <a:off x="523875" y="2200275"/>
            <a:ext cx="110490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950" b="0">
                <a:solidFill>
                  <a:srgbClr val="FFFFFF"/>
                </a:solidFill>
                <a:latin typeface="Meiryo"/>
                <a:ea typeface="Meiryo"/>
                <a:cs typeface="Meiryo"/>
              </a:defRPr>
            </a:pPr>
            <a:r>
              <a:rPr sz="1950" b="0">
                <a:solidFill>
                  <a:srgbClr val="FFFFFF"/>
                </a:solidFill>
                <a:latin typeface="Meiryo"/>
                <a:ea typeface="Meiryo"/>
                <a:cs typeface="Meiryo"/>
              </a:rPr>
              <a:t>01　範囲外だけでなく、低密度・未知の関係も対象</a:t>
            </a:r>
          </a:p>
          <a:p xmlns:a="http://schemas.openxmlformats.org/drawingml/2006/main">
            <a:r>
              <a:t/>
            </a:r>
          </a:p>
          <a:p xmlns:a="http://schemas.openxmlformats.org/drawingml/2006/main">
            <a:pPr algn="l">
              <a:buNone/>
              <a:defRPr sz="1950" b="0">
                <a:solidFill>
                  <a:srgbClr val="FFFFFF"/>
                </a:solidFill>
                <a:latin typeface="Meiryo"/>
                <a:ea typeface="Meiryo"/>
                <a:cs typeface="Meiryo"/>
              </a:defRPr>
            </a:pPr>
            <a:r>
              <a:rPr sz="1950" b="0">
                <a:solidFill>
                  <a:srgbClr val="FFFFFF"/>
                </a:solidFill>
                <a:latin typeface="Meiryo"/>
                <a:ea typeface="Meiryo"/>
                <a:cs typeface="Meiryo"/>
              </a:rPr>
              <a:t>02　手法は検知の根拠と必要情報で比較する</a:t>
            </a:r>
          </a:p>
          <a:p xmlns:a="http://schemas.openxmlformats.org/drawingml/2006/main">
            <a:r>
              <a:t/>
            </a:r>
          </a:p>
          <a:p xmlns:a="http://schemas.openxmlformats.org/drawingml/2006/main">
            <a:pPr algn="l">
              <a:buNone/>
              <a:defRPr sz="1950" b="0">
                <a:solidFill>
                  <a:srgbClr val="FFFFFF"/>
                </a:solidFill>
                <a:latin typeface="Meiryo"/>
                <a:ea typeface="Meiryo"/>
                <a:cs typeface="Meiryo"/>
              </a:defRPr>
            </a:pPr>
            <a:r>
              <a:rPr sz="1950" b="0">
                <a:solidFill>
                  <a:srgbClr val="FFFFFF"/>
                </a:solidFill>
                <a:latin typeface="Meiryo"/>
                <a:ea typeface="Meiryo"/>
                <a:cs typeface="Meiryo"/>
              </a:rPr>
              <a:t>03　1時刻の多変量数値入力への適用が重要</a:t>
            </a:r>
          </a:p>
          <a:p xmlns:a="http://schemas.openxmlformats.org/drawingml/2006/main">
            <a:r>
              <a:t/>
            </a:r>
          </a:p>
          <a:p xmlns:a="http://schemas.openxmlformats.org/drawingml/2006/main">
            <a:pPr algn="l">
              <a:buNone/>
              <a:defRPr sz="1950" b="0">
                <a:solidFill>
                  <a:srgbClr val="FFFFFF"/>
                </a:solidFill>
                <a:latin typeface="Meiryo"/>
                <a:ea typeface="Meiryo"/>
                <a:cs typeface="Meiryo"/>
              </a:defRPr>
            </a:pPr>
            <a:r>
              <a:rPr sz="1950" b="0">
                <a:solidFill>
                  <a:srgbClr val="FFFFFF"/>
                </a:solidFill>
                <a:latin typeface="Meiryo"/>
                <a:ea typeface="Meiryo"/>
                <a:cs typeface="Meiryo"/>
              </a:rPr>
              <a:t>04　範囲・距離、再構成、モデル情報の違いを確認</a:t>
            </a:r>
          </a:p>
        </p:txBody>
      </p:sp>
      <p:sp>
        <p:nvSpPr>
          <p:cNvPr id="6" name="">
            <a:extLst xmlns:a="http://schemas.openxmlformats.org/drawingml/2006/main">
              <a:ext uri="{FF2B5EF4-FFF2-40B4-BE49-F238E27FC236}">
                <a16:creationId xmlns:a16="http://schemas.microsoft.com/office/drawing/2014/main" id="{5B865484-7A10-4322-B7D6-54563CD311E9}"/>
              </a:ext>
            </a:extLst>
          </p:cNvPr>
          <p:cNvSpPr>
            <a:spLocks xmlns:a="http://schemas.openxmlformats.org/drawingml/2006/main" noGrp="1"/>
          </p:cNvSpPr>
          <p:nvPr/>
        </p:nvSpPr>
        <p:spPr>
          <a:xfrm xmlns:a="http://schemas.openxmlformats.org/drawingml/2006/main">
            <a:off x="428625" y="5029200"/>
            <a:ext cx="11334750" cy="69532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2E66D7-C915-4437-9047-E75A092CF0CA}"/>
              </a:ext>
            </a:extLst>
          </p:cNvPr>
          <p:cNvSpPr>
            <a:spLocks xmlns:a="http://schemas.openxmlformats.org/drawingml/2006/main" noGrp="1"/>
          </p:cNvSpPr>
          <p:nvPr/>
        </p:nvSpPr>
        <p:spPr>
          <a:xfrm xmlns:a="http://schemas.openxmlformats.org/drawingml/2006/main">
            <a:off x="571500" y="5172075"/>
            <a:ext cx="1714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1">
                <a:solidFill>
                  <a:srgbClr val="67CDCD"/>
                </a:solidFill>
                <a:latin typeface="Meiryo"/>
                <a:ea typeface="Meiryo"/>
                <a:cs typeface="Meiryo"/>
              </a:defRPr>
            </a:pPr>
            <a:r>
              <a:rPr sz="1800" b="1">
                <a:solidFill>
                  <a:srgbClr val="67CDCD"/>
                </a:solidFill>
                <a:latin typeface="Meiryo"/>
                <a:ea typeface="Meiryo"/>
                <a:cs typeface="Meiryo"/>
              </a:rPr>
              <a:t>次の課題</a:t>
            </a:r>
          </a:p>
        </p:txBody>
      </p:sp>
      <p:sp>
        <p:nvSpPr>
          <p:cNvPr id="8" name="">
            <a:extLst xmlns:a="http://schemas.openxmlformats.org/drawingml/2006/main">
              <a:ext uri="{FF2B5EF4-FFF2-40B4-BE49-F238E27FC236}">
                <a16:creationId xmlns:a16="http://schemas.microsoft.com/office/drawing/2014/main" id="{3BAB975C-1963-4F5F-B9D8-6130DF8F2E57}"/>
              </a:ext>
            </a:extLst>
          </p:cNvPr>
          <p:cNvSpPr>
            <a:spLocks xmlns:a="http://schemas.openxmlformats.org/drawingml/2006/main" noGrp="1"/>
          </p:cNvSpPr>
          <p:nvPr/>
        </p:nvSpPr>
        <p:spPr>
          <a:xfrm xmlns:a="http://schemas.openxmlformats.org/drawingml/2006/main">
            <a:off x="2371725" y="5229225"/>
            <a:ext cx="919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0">
                <a:solidFill>
                  <a:srgbClr val="FFFFFF"/>
                </a:solidFill>
                <a:latin typeface="Meiryo"/>
                <a:ea typeface="Meiryo"/>
                <a:cs typeface="Meiryo"/>
              </a:defRPr>
            </a:pPr>
            <a:r>
              <a:rPr sz="1650" b="0">
                <a:solidFill>
                  <a:srgbClr val="FFFFFF"/>
                </a:solidFill>
                <a:latin typeface="Meiryo"/>
                <a:ea typeface="Meiryo"/>
                <a:cs typeface="Meiryo"/>
              </a:rPr>
              <a:t>入力仕様を確定 → 時間順に分割・閾値を校正 → 検知と回帰誤差・遅延を評価</a:t>
            </a:r>
          </a:p>
        </p:txBody>
      </p:sp>
      <p:sp>
        <p:nvSpPr>
          <p:cNvPr id="9" name="">
            <a:extLst xmlns:a="http://schemas.openxmlformats.org/drawingml/2006/main">
              <a:ext uri="{FF2B5EF4-FFF2-40B4-BE49-F238E27FC236}">
                <a16:creationId xmlns:a16="http://schemas.microsoft.com/office/drawing/2014/main" id="{3152E3EA-F10B-42C1-82C7-2FCD5F8741A8}"/>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3AEC6A-75EC-4D3F-B739-856071008D9F}"/>
              </a:ext>
            </a:extLst>
          </p:cNvPr>
          <p:cNvSpPr>
            <a:spLocks xmlns:a="http://schemas.openxmlformats.org/drawingml/2006/main" noGrp="1"/>
          </p:cNvSpPr>
          <p:nvPr/>
        </p:nvSpPr>
        <p:spPr>
          <a:xfrm xmlns:a="http://schemas.openxmlformats.org/drawingml/2006/main">
            <a:off x="514350" y="592455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eiryo"/>
                <a:ea typeface="Meiryo"/>
                <a:cs typeface="Meiryo"/>
              </a:defRPr>
            </a:pPr>
            <a:r>
              <a:rPr sz="1575" b="1">
                <a:solidFill>
                  <a:srgbClr val="FFFFFF"/>
                </a:solidFill>
                <a:latin typeface="Meiryo"/>
                <a:ea typeface="Meiryo"/>
                <a:cs typeface="Meiryo"/>
              </a:rPr>
              <a:t>AE・OutProと単純な基準手法を、実習データ上で比較する</a:t>
            </a:r>
          </a:p>
        </p:txBody>
      </p:sp>
      <p:sp>
        <p:nvSpPr>
          <p:cNvPr id="11" name="">
            <a:extLst xmlns:a="http://schemas.openxmlformats.org/drawingml/2006/main">
              <a:ext uri="{FF2B5EF4-FFF2-40B4-BE49-F238E27FC236}">
                <a16:creationId xmlns:a16="http://schemas.microsoft.com/office/drawing/2014/main" id="{BC5DDEF6-ED71-46A6-A6DE-05969E75943D}"/>
              </a:ext>
            </a:extLst>
          </p:cNvPr>
          <p:cNvSpPr>
            <a:spLocks xmlns:a="http://schemas.openxmlformats.org/drawingml/2006/main" noGrp="1"/>
          </p:cNvSpPr>
          <p:nvPr/>
        </p:nvSpPr>
        <p:spPr>
          <a:xfrm xmlns:a="http://schemas.openxmlformats.org/drawingml/2006/main">
            <a:off x="476250" y="6438900"/>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B3CBD5"/>
                </a:solidFill>
                <a:latin typeface="Meiryo"/>
                <a:ea typeface="Meiryo"/>
                <a:cs typeface="Meiryo"/>
              </a:defRPr>
            </a:pPr>
            <a:r>
              <a:rPr sz="825" b="0">
                <a:solidFill>
                  <a:srgbClr val="B3CBD5"/>
                </a:solidFill>
                <a:latin typeface="Meiryo"/>
                <a:ea typeface="Meiryo"/>
                <a:cs typeface="Meiryo"/>
              </a:rPr>
              <a:t>本調査の結論と今後の評価案。最適手法の決定や実運用での有効性の実証は今後の課題。</a:t>
            </a:r>
          </a:p>
        </p:txBody>
      </p:sp>
      <p:sp>
        <p:nvSpPr>
          <p:cNvPr id="13" name="">
            <a:extLst xmlns:a="http://schemas.openxmlformats.org/drawingml/2006/main">
              <a:ext uri="{FF2B5EF4-FFF2-40B4-BE49-F238E27FC236}">
                <a16:creationId xmlns:a16="http://schemas.microsoft.com/office/drawing/2014/main" id="{495BB48B-E11F-47DE-A603-27B6D16252F0}"/>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16</a:t>
            </a:r>
          </a:p>
        </p:txBody>
      </p:sp>
    </p:spTree>
    <p:extLst>
      <p:ext uri="{BB962C8B-B14F-4D97-AF65-F5344CB8AC3E}">
        <p14:creationId xmlns:p14="http://schemas.microsoft.com/office/powerpoint/2010/main" val="21017198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13" name="Chart"/>
          <p:cNvGraphicFramePr/>
          <p:nvPr/>
        </p:nvGraphicFramePr>
        <p:xfrm>
          <a:off xmlns:a="http://schemas.openxmlformats.org/drawingml/2006/main" x="4476750" y="4600575"/>
          <a:ext xmlns:a="http://schemas.openxmlformats.org/drawingml/2006/main" cx="3333750" cy="1181100"/>
        </p:xfrm>
        <a:graphic xmlns:a="http://schemas.openxmlformats.org/drawingml/2006/main">
          <a:graphicData uri="http://schemas.openxmlformats.org/drawingml/2006/chart">
            <c:chart xmlns:r="http://schemas.openxmlformats.org/officeDocument/2006/relationships" xmlns:c="http://schemas.openxmlformats.org/drawingml/2006/chart" r:id="R9abb8417139f4369"/>
          </a:graphicData>
        </a:graphic>
      </p:graphicFrame>
      <p:graphicFrame>
        <p:nvGraphicFramePr>
          <p:cNvPr id="214" name="Chart"/>
          <p:cNvGraphicFramePr/>
          <p:nvPr/>
        </p:nvGraphicFramePr>
        <p:xfrm>
          <a:off xmlns:a="http://schemas.openxmlformats.org/drawingml/2006/main" x="8239125" y="4600575"/>
          <a:ext xmlns:a="http://schemas.openxmlformats.org/drawingml/2006/main" cx="3333750" cy="1181100"/>
        </p:xfrm>
        <a:graphic xmlns:a="http://schemas.openxmlformats.org/drawingml/2006/main">
          <a:graphicData uri="http://schemas.openxmlformats.org/drawingml/2006/chart">
            <c:chart xmlns:r="http://schemas.openxmlformats.org/officeDocument/2006/relationships" xmlns:c="http://schemas.openxmlformats.org/drawingml/2006/chart" r:id="R88f83ddabfd34e44"/>
          </a:graphicData>
        </a:graphic>
      </p:graphicFrame>
      <p:sp>
        <p:nvSpPr>
          <p:cNvPr id="61" name="">
            <a:extLst xmlns:a="http://schemas.openxmlformats.org/drawingml/2006/main">
              <a:ext uri="{FF2B5EF4-FFF2-40B4-BE49-F238E27FC236}">
                <a16:creationId xmlns:a16="http://schemas.microsoft.com/office/drawing/2014/main" id="{745C7E54-D298-41B1-8596-8696B0C87243}"/>
              </a:ext>
            </a:extLst>
          </p:cNvPr>
          <p:cNvSpPr>
            <a:spLocks xmlns:a="http://schemas.openxmlformats.org/drawingml/2006/main" noGrp="1"/>
          </p:cNvSpPr>
          <p:nvPr/>
        </p:nvSpPr>
        <p:spPr>
          <a:xfrm xmlns:a="http://schemas.openxmlformats.org/drawingml/2006/main">
            <a:off x="476250" y="4953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8273C"/>
                </a:solidFill>
                <a:latin typeface="Meiryo"/>
                <a:ea typeface="Meiryo"/>
                <a:cs typeface="Meiryo"/>
              </a:defRPr>
            </a:pPr>
            <a:r>
              <a:rPr sz="2625" b="1">
                <a:solidFill>
                  <a:srgbClr val="08273C"/>
                </a:solidFill>
                <a:latin typeface="Meiryo"/>
                <a:ea typeface="Meiryo"/>
                <a:cs typeface="Meiryo"/>
              </a:rPr>
              <a:t>Autoencoderによる再構成と異常スコア</a:t>
            </a:r>
          </a:p>
        </p:txBody>
      </p:sp>
      <p:sp>
        <p:nvSpPr>
          <p:cNvPr id="62" name="">
            <a:extLst xmlns:a="http://schemas.openxmlformats.org/drawingml/2006/main">
              <a:ext uri="{FF2B5EF4-FFF2-40B4-BE49-F238E27FC236}">
                <a16:creationId xmlns:a16="http://schemas.microsoft.com/office/drawing/2014/main" id="{0A918304-E4B6-464A-9F3A-23AA00B72AE5}"/>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C2C769D6-5792-4109-859E-31BB5008D921}"/>
              </a:ext>
            </a:extLst>
          </p:cNvPr>
          <p:cNvSpPr>
            <a:spLocks xmlns:a="http://schemas.openxmlformats.org/drawingml/2006/main" noGrp="1"/>
          </p:cNvSpPr>
          <p:nvPr/>
        </p:nvSpPr>
        <p:spPr>
          <a:xfrm xmlns:a="http://schemas.openxmlformats.org/drawingml/2006/main">
            <a:off x="523875" y="1466850"/>
            <a:ext cx="7810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203645"/>
                </a:solidFill>
                <a:latin typeface="Meiryo"/>
                <a:ea typeface="Meiryo"/>
                <a:cs typeface="Meiryo"/>
              </a:defRPr>
            </a:pPr>
            <a:r>
              <a:rPr sz="1725" b="1">
                <a:solidFill>
                  <a:srgbClr val="203645"/>
                </a:solidFill>
                <a:latin typeface="Meiryo"/>
                <a:ea typeface="Meiryo"/>
                <a:cs typeface="Meiryo"/>
              </a:rPr>
              <a:t>(a) 圧縮と再構成の構造</a:t>
            </a:r>
          </a:p>
        </p:txBody>
      </p:sp>
      <p:sp>
        <p:nvSpPr>
          <p:cNvPr id="65" name="">
            <a:extLst xmlns:a="http://schemas.openxmlformats.org/drawingml/2006/main">
              <a:ext uri="{FF2B5EF4-FFF2-40B4-BE49-F238E27FC236}">
                <a16:creationId xmlns:a16="http://schemas.microsoft.com/office/drawing/2014/main" id="{9CC62B5E-7804-42A7-A8BE-49C283CF6BB2}"/>
              </a:ext>
            </a:extLst>
          </p:cNvPr>
          <p:cNvSpPr>
            <a:spLocks xmlns:a="http://schemas.openxmlformats.org/drawingml/2006/main" noGrp="1"/>
          </p:cNvSpPr>
          <p:nvPr/>
        </p:nvSpPr>
        <p:spPr>
          <a:xfrm xmlns:a="http://schemas.openxmlformats.org/drawingml/2006/main">
            <a:off x="2143125" y="19240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007E87"/>
                </a:solidFill>
                <a:latin typeface="Meiryo"/>
                <a:ea typeface="Meiryo"/>
                <a:cs typeface="Meiryo"/>
              </a:defRPr>
            </a:pPr>
            <a:r>
              <a:rPr sz="1725" b="1">
                <a:solidFill>
                  <a:srgbClr val="007E87"/>
                </a:solidFill>
                <a:latin typeface="Meiryo"/>
                <a:ea typeface="Meiryo"/>
                <a:cs typeface="Meiryo"/>
              </a:rPr>
              <a:t>Encoder gφ</a:t>
            </a:r>
          </a:p>
        </p:txBody>
      </p:sp>
      <p:sp>
        <p:nvSpPr>
          <p:cNvPr id="66" name="">
            <a:extLst xmlns:a="http://schemas.openxmlformats.org/drawingml/2006/main">
              <a:ext uri="{FF2B5EF4-FFF2-40B4-BE49-F238E27FC236}">
                <a16:creationId xmlns:a16="http://schemas.microsoft.com/office/drawing/2014/main" id="{0B97FDFF-1004-4355-84EB-3AFF2814193C}"/>
              </a:ext>
            </a:extLst>
          </p:cNvPr>
          <p:cNvSpPr>
            <a:spLocks xmlns:a="http://schemas.openxmlformats.org/drawingml/2006/main" noGrp="1"/>
          </p:cNvSpPr>
          <p:nvPr/>
        </p:nvSpPr>
        <p:spPr>
          <a:xfrm xmlns:a="http://schemas.openxmlformats.org/drawingml/2006/main">
            <a:off x="5553075" y="19240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007E87"/>
                </a:solidFill>
                <a:latin typeface="Meiryo"/>
                <a:ea typeface="Meiryo"/>
                <a:cs typeface="Meiryo"/>
              </a:defRPr>
            </a:pPr>
            <a:r>
              <a:rPr sz="1725" b="1">
                <a:solidFill>
                  <a:srgbClr val="007E87"/>
                </a:solidFill>
                <a:latin typeface="Meiryo"/>
                <a:ea typeface="Meiryo"/>
                <a:cs typeface="Meiryo"/>
              </a:rPr>
              <a:t>Decoder hθ</a:t>
            </a:r>
          </a:p>
        </p:txBody>
      </p:sp>
      <p:sp>
        <p:nvSpPr>
          <p:cNvPr id="67" name="">
            <a:extLst xmlns:a="http://schemas.openxmlformats.org/drawingml/2006/main">
              <a:ext uri="{FF2B5EF4-FFF2-40B4-BE49-F238E27FC236}">
                <a16:creationId xmlns:a16="http://schemas.microsoft.com/office/drawing/2014/main" id="{BEB44EE6-B350-4B93-81D7-05229B28FCF0}"/>
              </a:ext>
            </a:extLst>
          </p:cNvPr>
          <p:cNvSpPr>
            <a:spLocks xmlns:a="http://schemas.openxmlformats.org/drawingml/2006/main" noGrp="1"/>
          </p:cNvSpPr>
          <p:nvPr/>
        </p:nvSpPr>
        <p:spPr>
          <a:xfrm xmlns:a="http://schemas.openxmlformats.org/drawingml/2006/main">
            <a:off x="952500" y="2428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68" name="">
            <a:extLst xmlns:a="http://schemas.openxmlformats.org/drawingml/2006/main">
              <a:ext uri="{FF2B5EF4-FFF2-40B4-BE49-F238E27FC236}">
                <a16:creationId xmlns:a16="http://schemas.microsoft.com/office/drawing/2014/main" id="{AC44DD0F-1DAA-4A10-8D9D-50550D4B10D5}"/>
              </a:ext>
            </a:extLst>
          </p:cNvPr>
          <p:cNvSpPr>
            <a:spLocks xmlns:a="http://schemas.openxmlformats.org/drawingml/2006/main" noGrp="1"/>
          </p:cNvSpPr>
          <p:nvPr/>
        </p:nvSpPr>
        <p:spPr>
          <a:xfrm xmlns:a="http://schemas.openxmlformats.org/drawingml/2006/main">
            <a:off x="952500" y="27336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69" name="">
            <a:extLst xmlns:a="http://schemas.openxmlformats.org/drawingml/2006/main">
              <a:ext uri="{FF2B5EF4-FFF2-40B4-BE49-F238E27FC236}">
                <a16:creationId xmlns:a16="http://schemas.microsoft.com/office/drawing/2014/main" id="{7AC9BC0A-7148-4C7D-AF2C-1FCB0A3EF912}"/>
              </a:ext>
            </a:extLst>
          </p:cNvPr>
          <p:cNvSpPr>
            <a:spLocks xmlns:a="http://schemas.openxmlformats.org/drawingml/2006/main" noGrp="1"/>
          </p:cNvSpPr>
          <p:nvPr/>
        </p:nvSpPr>
        <p:spPr>
          <a:xfrm xmlns:a="http://schemas.openxmlformats.org/drawingml/2006/main">
            <a:off x="952500" y="30384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0" name="">
            <a:extLst xmlns:a="http://schemas.openxmlformats.org/drawingml/2006/main">
              <a:ext uri="{FF2B5EF4-FFF2-40B4-BE49-F238E27FC236}">
                <a16:creationId xmlns:a16="http://schemas.microsoft.com/office/drawing/2014/main" id="{F7D96CDE-F3A4-47F4-BD19-E37FE1032C89}"/>
              </a:ext>
            </a:extLst>
          </p:cNvPr>
          <p:cNvSpPr>
            <a:spLocks xmlns:a="http://schemas.openxmlformats.org/drawingml/2006/main" noGrp="1"/>
          </p:cNvSpPr>
          <p:nvPr/>
        </p:nvSpPr>
        <p:spPr>
          <a:xfrm xmlns:a="http://schemas.openxmlformats.org/drawingml/2006/main">
            <a:off x="952500" y="3343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1" name="">
            <a:extLst xmlns:a="http://schemas.openxmlformats.org/drawingml/2006/main">
              <a:ext uri="{FF2B5EF4-FFF2-40B4-BE49-F238E27FC236}">
                <a16:creationId xmlns:a16="http://schemas.microsoft.com/office/drawing/2014/main" id="{DEC97F04-779B-4664-8A8B-D47DFBC527EF}"/>
              </a:ext>
            </a:extLst>
          </p:cNvPr>
          <p:cNvSpPr>
            <a:spLocks xmlns:a="http://schemas.openxmlformats.org/drawingml/2006/main" noGrp="1"/>
          </p:cNvSpPr>
          <p:nvPr/>
        </p:nvSpPr>
        <p:spPr>
          <a:xfrm xmlns:a="http://schemas.openxmlformats.org/drawingml/2006/main">
            <a:off x="2667000" y="2581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2" name="">
            <a:extLst xmlns:a="http://schemas.openxmlformats.org/drawingml/2006/main">
              <a:ext uri="{FF2B5EF4-FFF2-40B4-BE49-F238E27FC236}">
                <a16:creationId xmlns:a16="http://schemas.microsoft.com/office/drawing/2014/main" id="{7F0D570D-47D4-4520-AFFB-FCC67CDBDDBE}"/>
              </a:ext>
            </a:extLst>
          </p:cNvPr>
          <p:cNvSpPr>
            <a:spLocks xmlns:a="http://schemas.openxmlformats.org/drawingml/2006/main" noGrp="1"/>
          </p:cNvSpPr>
          <p:nvPr/>
        </p:nvSpPr>
        <p:spPr>
          <a:xfrm xmlns:a="http://schemas.openxmlformats.org/drawingml/2006/main">
            <a:off x="2667000" y="28860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3" name="">
            <a:extLst xmlns:a="http://schemas.openxmlformats.org/drawingml/2006/main">
              <a:ext uri="{FF2B5EF4-FFF2-40B4-BE49-F238E27FC236}">
                <a16:creationId xmlns:a16="http://schemas.microsoft.com/office/drawing/2014/main" id="{DA49E3C4-556F-4558-A8E1-4A2C30B71C44}"/>
              </a:ext>
            </a:extLst>
          </p:cNvPr>
          <p:cNvSpPr>
            <a:spLocks xmlns:a="http://schemas.openxmlformats.org/drawingml/2006/main" noGrp="1"/>
          </p:cNvSpPr>
          <p:nvPr/>
        </p:nvSpPr>
        <p:spPr>
          <a:xfrm xmlns:a="http://schemas.openxmlformats.org/drawingml/2006/main">
            <a:off x="2667000" y="3190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4" name="">
            <a:extLst xmlns:a="http://schemas.openxmlformats.org/drawingml/2006/main">
              <a:ext uri="{FF2B5EF4-FFF2-40B4-BE49-F238E27FC236}">
                <a16:creationId xmlns:a16="http://schemas.microsoft.com/office/drawing/2014/main" id="{3F5F2BBC-0C79-47D3-97E0-159B1F9BD019}"/>
              </a:ext>
            </a:extLst>
          </p:cNvPr>
          <p:cNvSpPr>
            <a:spLocks xmlns:a="http://schemas.openxmlformats.org/drawingml/2006/main" noGrp="1"/>
          </p:cNvSpPr>
          <p:nvPr/>
        </p:nvSpPr>
        <p:spPr>
          <a:xfrm xmlns:a="http://schemas.openxmlformats.org/drawingml/2006/main">
            <a:off x="4381500" y="2733675"/>
            <a:ext cx="161925" cy="161925"/>
          </a:xfrm>
          <a:prstGeom xmlns:a="http://schemas.openxmlformats.org/drawingml/2006/main" prst="ellipse">
            <a:avLst/>
          </a:prstGeom>
          <a:solidFill xmlns:a="http://schemas.openxmlformats.org/drawingml/2006/main">
            <a:srgbClr val="007E87"/>
          </a:solidFill>
          <a:ln xmlns:a="http://schemas.openxmlformats.org/drawingml/2006/main" w="11430">
            <a:solidFill>
              <a:srgbClr val="007E87"/>
            </a:solidFill>
          </a:ln>
        </p:spPr>
      </p:sp>
      <p:sp>
        <p:nvSpPr>
          <p:cNvPr id="75" name="">
            <a:extLst xmlns:a="http://schemas.openxmlformats.org/drawingml/2006/main">
              <a:ext uri="{FF2B5EF4-FFF2-40B4-BE49-F238E27FC236}">
                <a16:creationId xmlns:a16="http://schemas.microsoft.com/office/drawing/2014/main" id="{8AA43F6C-7F78-4D7E-B68B-5F586A62666C}"/>
              </a:ext>
            </a:extLst>
          </p:cNvPr>
          <p:cNvSpPr>
            <a:spLocks xmlns:a="http://schemas.openxmlformats.org/drawingml/2006/main" noGrp="1"/>
          </p:cNvSpPr>
          <p:nvPr/>
        </p:nvSpPr>
        <p:spPr>
          <a:xfrm xmlns:a="http://schemas.openxmlformats.org/drawingml/2006/main">
            <a:off x="4381500" y="3038475"/>
            <a:ext cx="161925" cy="161925"/>
          </a:xfrm>
          <a:prstGeom xmlns:a="http://schemas.openxmlformats.org/drawingml/2006/main" prst="ellipse">
            <a:avLst/>
          </a:prstGeom>
          <a:solidFill xmlns:a="http://schemas.openxmlformats.org/drawingml/2006/main">
            <a:srgbClr val="007E87"/>
          </a:solidFill>
          <a:ln xmlns:a="http://schemas.openxmlformats.org/drawingml/2006/main" w="11430">
            <a:solidFill>
              <a:srgbClr val="007E87"/>
            </a:solidFill>
          </a:ln>
        </p:spPr>
      </p:sp>
      <p:sp>
        <p:nvSpPr>
          <p:cNvPr id="76" name="">
            <a:extLst xmlns:a="http://schemas.openxmlformats.org/drawingml/2006/main">
              <a:ext uri="{FF2B5EF4-FFF2-40B4-BE49-F238E27FC236}">
                <a16:creationId xmlns:a16="http://schemas.microsoft.com/office/drawing/2014/main" id="{A650F899-D764-42DB-AC20-C01E740C86B8}"/>
              </a:ext>
            </a:extLst>
          </p:cNvPr>
          <p:cNvSpPr>
            <a:spLocks xmlns:a="http://schemas.openxmlformats.org/drawingml/2006/main" noGrp="1"/>
          </p:cNvSpPr>
          <p:nvPr/>
        </p:nvSpPr>
        <p:spPr>
          <a:xfrm xmlns:a="http://schemas.openxmlformats.org/drawingml/2006/main">
            <a:off x="6096000" y="2581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7" name="">
            <a:extLst xmlns:a="http://schemas.openxmlformats.org/drawingml/2006/main">
              <a:ext uri="{FF2B5EF4-FFF2-40B4-BE49-F238E27FC236}">
                <a16:creationId xmlns:a16="http://schemas.microsoft.com/office/drawing/2014/main" id="{0A96938E-CCCE-453F-B814-D6B4C7D70CB2}"/>
              </a:ext>
            </a:extLst>
          </p:cNvPr>
          <p:cNvSpPr>
            <a:spLocks xmlns:a="http://schemas.openxmlformats.org/drawingml/2006/main" noGrp="1"/>
          </p:cNvSpPr>
          <p:nvPr/>
        </p:nvSpPr>
        <p:spPr>
          <a:xfrm xmlns:a="http://schemas.openxmlformats.org/drawingml/2006/main">
            <a:off x="6096000" y="28860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8" name="">
            <a:extLst xmlns:a="http://schemas.openxmlformats.org/drawingml/2006/main">
              <a:ext uri="{FF2B5EF4-FFF2-40B4-BE49-F238E27FC236}">
                <a16:creationId xmlns:a16="http://schemas.microsoft.com/office/drawing/2014/main" id="{AC02DFF5-CED8-468B-97D2-ABC7A3E384C2}"/>
              </a:ext>
            </a:extLst>
          </p:cNvPr>
          <p:cNvSpPr>
            <a:spLocks xmlns:a="http://schemas.openxmlformats.org/drawingml/2006/main" noGrp="1"/>
          </p:cNvSpPr>
          <p:nvPr/>
        </p:nvSpPr>
        <p:spPr>
          <a:xfrm xmlns:a="http://schemas.openxmlformats.org/drawingml/2006/main">
            <a:off x="6096000" y="3190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79" name="">
            <a:extLst xmlns:a="http://schemas.openxmlformats.org/drawingml/2006/main">
              <a:ext uri="{FF2B5EF4-FFF2-40B4-BE49-F238E27FC236}">
                <a16:creationId xmlns:a16="http://schemas.microsoft.com/office/drawing/2014/main" id="{17246587-A463-44E4-BBF4-9FE026DA275C}"/>
              </a:ext>
            </a:extLst>
          </p:cNvPr>
          <p:cNvSpPr>
            <a:spLocks xmlns:a="http://schemas.openxmlformats.org/drawingml/2006/main" noGrp="1"/>
          </p:cNvSpPr>
          <p:nvPr/>
        </p:nvSpPr>
        <p:spPr>
          <a:xfrm xmlns:a="http://schemas.openxmlformats.org/drawingml/2006/main">
            <a:off x="7810500" y="2428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80" name="">
            <a:extLst xmlns:a="http://schemas.openxmlformats.org/drawingml/2006/main">
              <a:ext uri="{FF2B5EF4-FFF2-40B4-BE49-F238E27FC236}">
                <a16:creationId xmlns:a16="http://schemas.microsoft.com/office/drawing/2014/main" id="{C249589D-EC6E-4315-B5FA-D82D08EE43CF}"/>
              </a:ext>
            </a:extLst>
          </p:cNvPr>
          <p:cNvSpPr>
            <a:spLocks xmlns:a="http://schemas.openxmlformats.org/drawingml/2006/main" noGrp="1"/>
          </p:cNvSpPr>
          <p:nvPr/>
        </p:nvSpPr>
        <p:spPr>
          <a:xfrm xmlns:a="http://schemas.openxmlformats.org/drawingml/2006/main">
            <a:off x="7810500" y="27336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81" name="">
            <a:extLst xmlns:a="http://schemas.openxmlformats.org/drawingml/2006/main">
              <a:ext uri="{FF2B5EF4-FFF2-40B4-BE49-F238E27FC236}">
                <a16:creationId xmlns:a16="http://schemas.microsoft.com/office/drawing/2014/main" id="{59B1A251-321C-4D21-9996-F5D9853A7422}"/>
              </a:ext>
            </a:extLst>
          </p:cNvPr>
          <p:cNvSpPr>
            <a:spLocks xmlns:a="http://schemas.openxmlformats.org/drawingml/2006/main" noGrp="1"/>
          </p:cNvSpPr>
          <p:nvPr/>
        </p:nvSpPr>
        <p:spPr>
          <a:xfrm xmlns:a="http://schemas.openxmlformats.org/drawingml/2006/main">
            <a:off x="7810500" y="30384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82" name="">
            <a:extLst xmlns:a="http://schemas.openxmlformats.org/drawingml/2006/main">
              <a:ext uri="{FF2B5EF4-FFF2-40B4-BE49-F238E27FC236}">
                <a16:creationId xmlns:a16="http://schemas.microsoft.com/office/drawing/2014/main" id="{EDF0D4A9-445D-41C4-A780-95F14CC24487}"/>
              </a:ext>
            </a:extLst>
          </p:cNvPr>
          <p:cNvSpPr>
            <a:spLocks xmlns:a="http://schemas.openxmlformats.org/drawingml/2006/main" noGrp="1"/>
          </p:cNvSpPr>
          <p:nvPr/>
        </p:nvSpPr>
        <p:spPr>
          <a:xfrm xmlns:a="http://schemas.openxmlformats.org/drawingml/2006/main">
            <a:off x="7810500" y="3343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cxnSp>
        <p:nvCxnSpPr>
          <p:cNvPr id="236" name=""/>
          <p:cNvCxnSpPr>
            <a:stCxn xmlns:a="http://schemas.openxmlformats.org/drawingml/2006/main" id="67" idx="6"/>
            <a:endCxn xmlns:a="http://schemas.openxmlformats.org/drawingml/2006/main" id="71" idx="2"/>
          </p:cNvCxnSpPr>
          <p:nvPr/>
        </p:nvCxnSpPr>
        <p:spPr>
          <a:xfrm xmlns:a="http://schemas.openxmlformats.org/drawingml/2006/main">
            <a:off x="1114425" y="25098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37" name=""/>
          <p:cNvCxnSpPr>
            <a:stCxn xmlns:a="http://schemas.openxmlformats.org/drawingml/2006/main" id="67" idx="6"/>
            <a:endCxn xmlns:a="http://schemas.openxmlformats.org/drawingml/2006/main" id="72" idx="2"/>
          </p:cNvCxnSpPr>
          <p:nvPr/>
        </p:nvCxnSpPr>
        <p:spPr>
          <a:xfrm xmlns:a="http://schemas.openxmlformats.org/drawingml/2006/main">
            <a:off x="1114425" y="25098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38" name=""/>
          <p:cNvCxnSpPr>
            <a:stCxn xmlns:a="http://schemas.openxmlformats.org/drawingml/2006/main" id="67" idx="6"/>
            <a:endCxn xmlns:a="http://schemas.openxmlformats.org/drawingml/2006/main" id="73" idx="2"/>
          </p:cNvCxnSpPr>
          <p:nvPr/>
        </p:nvCxnSpPr>
        <p:spPr>
          <a:xfrm xmlns:a="http://schemas.openxmlformats.org/drawingml/2006/main">
            <a:off x="1114425" y="2509838"/>
            <a:ext cx="1552575" cy="762000"/>
          </a:xfrm>
          <a:prstGeom xmlns:a="http://schemas.openxmlformats.org/drawingml/2006/main" prst="straightConnector1">
            <a:avLst/>
          </a:prstGeom>
          <a:ln xmlns:a="http://schemas.openxmlformats.org/drawingml/2006/main" w="6191">
            <a:solidFill>
              <a:srgbClr val="B7C4C9"/>
            </a:solidFill>
          </a:ln>
        </p:spPr>
      </p:cxnSp>
      <p:cxnSp>
        <p:nvCxnSpPr>
          <p:cNvPr id="239" name=""/>
          <p:cNvCxnSpPr>
            <a:stCxn xmlns:a="http://schemas.openxmlformats.org/drawingml/2006/main" id="68" idx="6"/>
            <a:endCxn xmlns:a="http://schemas.openxmlformats.org/drawingml/2006/main" id="71" idx="2"/>
          </p:cNvCxnSpPr>
          <p:nvPr/>
        </p:nvCxnSpPr>
        <p:spPr>
          <a:xfrm xmlns:a="http://schemas.openxmlformats.org/drawingml/2006/main" flipV="1">
            <a:off x="1114425" y="26622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40" name=""/>
          <p:cNvCxnSpPr>
            <a:stCxn xmlns:a="http://schemas.openxmlformats.org/drawingml/2006/main" id="68" idx="6"/>
            <a:endCxn xmlns:a="http://schemas.openxmlformats.org/drawingml/2006/main" id="72" idx="2"/>
          </p:cNvCxnSpPr>
          <p:nvPr/>
        </p:nvCxnSpPr>
        <p:spPr>
          <a:xfrm xmlns:a="http://schemas.openxmlformats.org/drawingml/2006/main">
            <a:off x="1114425" y="28146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41" name=""/>
          <p:cNvCxnSpPr>
            <a:stCxn xmlns:a="http://schemas.openxmlformats.org/drawingml/2006/main" id="68" idx="6"/>
            <a:endCxn xmlns:a="http://schemas.openxmlformats.org/drawingml/2006/main" id="73" idx="2"/>
          </p:cNvCxnSpPr>
          <p:nvPr/>
        </p:nvCxnSpPr>
        <p:spPr>
          <a:xfrm xmlns:a="http://schemas.openxmlformats.org/drawingml/2006/main">
            <a:off x="1114425" y="28146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42" name=""/>
          <p:cNvCxnSpPr>
            <a:stCxn xmlns:a="http://schemas.openxmlformats.org/drawingml/2006/main" id="69" idx="6"/>
            <a:endCxn xmlns:a="http://schemas.openxmlformats.org/drawingml/2006/main" id="71" idx="2"/>
          </p:cNvCxnSpPr>
          <p:nvPr/>
        </p:nvCxnSpPr>
        <p:spPr>
          <a:xfrm xmlns:a="http://schemas.openxmlformats.org/drawingml/2006/main" flipV="1">
            <a:off x="1114425" y="26622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43" name=""/>
          <p:cNvCxnSpPr>
            <a:stCxn xmlns:a="http://schemas.openxmlformats.org/drawingml/2006/main" id="69" idx="6"/>
            <a:endCxn xmlns:a="http://schemas.openxmlformats.org/drawingml/2006/main" id="72" idx="2"/>
          </p:cNvCxnSpPr>
          <p:nvPr/>
        </p:nvCxnSpPr>
        <p:spPr>
          <a:xfrm xmlns:a="http://schemas.openxmlformats.org/drawingml/2006/main" flipV="1">
            <a:off x="1114425" y="29670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44" name=""/>
          <p:cNvCxnSpPr>
            <a:stCxn xmlns:a="http://schemas.openxmlformats.org/drawingml/2006/main" id="69" idx="6"/>
            <a:endCxn xmlns:a="http://schemas.openxmlformats.org/drawingml/2006/main" id="73" idx="2"/>
          </p:cNvCxnSpPr>
          <p:nvPr/>
        </p:nvCxnSpPr>
        <p:spPr>
          <a:xfrm xmlns:a="http://schemas.openxmlformats.org/drawingml/2006/main">
            <a:off x="1114425" y="31194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45" name=""/>
          <p:cNvCxnSpPr>
            <a:stCxn xmlns:a="http://schemas.openxmlformats.org/drawingml/2006/main" id="70" idx="6"/>
            <a:endCxn xmlns:a="http://schemas.openxmlformats.org/drawingml/2006/main" id="71" idx="2"/>
          </p:cNvCxnSpPr>
          <p:nvPr/>
        </p:nvCxnSpPr>
        <p:spPr>
          <a:xfrm xmlns:a="http://schemas.openxmlformats.org/drawingml/2006/main" flipV="1">
            <a:off x="1114425" y="2662238"/>
            <a:ext cx="1552575" cy="762000"/>
          </a:xfrm>
          <a:prstGeom xmlns:a="http://schemas.openxmlformats.org/drawingml/2006/main" prst="straightConnector1">
            <a:avLst/>
          </a:prstGeom>
          <a:ln xmlns:a="http://schemas.openxmlformats.org/drawingml/2006/main" w="6191">
            <a:solidFill>
              <a:srgbClr val="B7C4C9"/>
            </a:solidFill>
          </a:ln>
        </p:spPr>
      </p:cxnSp>
      <p:cxnSp>
        <p:nvCxnSpPr>
          <p:cNvPr id="246" name=""/>
          <p:cNvCxnSpPr>
            <a:stCxn xmlns:a="http://schemas.openxmlformats.org/drawingml/2006/main" id="70" idx="6"/>
            <a:endCxn xmlns:a="http://schemas.openxmlformats.org/drawingml/2006/main" id="72" idx="2"/>
          </p:cNvCxnSpPr>
          <p:nvPr/>
        </p:nvCxnSpPr>
        <p:spPr>
          <a:xfrm xmlns:a="http://schemas.openxmlformats.org/drawingml/2006/main" flipV="1">
            <a:off x="1114425" y="29670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47" name=""/>
          <p:cNvCxnSpPr>
            <a:stCxn xmlns:a="http://schemas.openxmlformats.org/drawingml/2006/main" id="70" idx="6"/>
            <a:endCxn xmlns:a="http://schemas.openxmlformats.org/drawingml/2006/main" id="73" idx="2"/>
          </p:cNvCxnSpPr>
          <p:nvPr/>
        </p:nvCxnSpPr>
        <p:spPr>
          <a:xfrm xmlns:a="http://schemas.openxmlformats.org/drawingml/2006/main" flipV="1">
            <a:off x="1114425" y="32718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48" name=""/>
          <p:cNvCxnSpPr>
            <a:stCxn xmlns:a="http://schemas.openxmlformats.org/drawingml/2006/main" id="71" idx="6"/>
            <a:endCxn xmlns:a="http://schemas.openxmlformats.org/drawingml/2006/main" id="74" idx="2"/>
          </p:cNvCxnSpPr>
          <p:nvPr/>
        </p:nvCxnSpPr>
        <p:spPr>
          <a:xfrm xmlns:a="http://schemas.openxmlformats.org/drawingml/2006/main">
            <a:off x="2828925" y="26622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49" name=""/>
          <p:cNvCxnSpPr>
            <a:stCxn xmlns:a="http://schemas.openxmlformats.org/drawingml/2006/main" id="71" idx="6"/>
            <a:endCxn xmlns:a="http://schemas.openxmlformats.org/drawingml/2006/main" id="75" idx="2"/>
          </p:cNvCxnSpPr>
          <p:nvPr/>
        </p:nvCxnSpPr>
        <p:spPr>
          <a:xfrm xmlns:a="http://schemas.openxmlformats.org/drawingml/2006/main">
            <a:off x="2828925" y="26622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50" name=""/>
          <p:cNvCxnSpPr>
            <a:stCxn xmlns:a="http://schemas.openxmlformats.org/drawingml/2006/main" id="72" idx="6"/>
            <a:endCxn xmlns:a="http://schemas.openxmlformats.org/drawingml/2006/main" id="74" idx="2"/>
          </p:cNvCxnSpPr>
          <p:nvPr/>
        </p:nvCxnSpPr>
        <p:spPr>
          <a:xfrm xmlns:a="http://schemas.openxmlformats.org/drawingml/2006/main" flipV="1">
            <a:off x="2828925" y="28146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51" name=""/>
          <p:cNvCxnSpPr>
            <a:stCxn xmlns:a="http://schemas.openxmlformats.org/drawingml/2006/main" id="72" idx="6"/>
            <a:endCxn xmlns:a="http://schemas.openxmlformats.org/drawingml/2006/main" id="75" idx="2"/>
          </p:cNvCxnSpPr>
          <p:nvPr/>
        </p:nvCxnSpPr>
        <p:spPr>
          <a:xfrm xmlns:a="http://schemas.openxmlformats.org/drawingml/2006/main">
            <a:off x="2828925" y="29670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52" name=""/>
          <p:cNvCxnSpPr>
            <a:stCxn xmlns:a="http://schemas.openxmlformats.org/drawingml/2006/main" id="73" idx="6"/>
            <a:endCxn xmlns:a="http://schemas.openxmlformats.org/drawingml/2006/main" id="74" idx="2"/>
          </p:cNvCxnSpPr>
          <p:nvPr/>
        </p:nvCxnSpPr>
        <p:spPr>
          <a:xfrm xmlns:a="http://schemas.openxmlformats.org/drawingml/2006/main" flipV="1">
            <a:off x="2828925" y="28146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53" name=""/>
          <p:cNvCxnSpPr>
            <a:stCxn xmlns:a="http://schemas.openxmlformats.org/drawingml/2006/main" id="73" idx="6"/>
            <a:endCxn xmlns:a="http://schemas.openxmlformats.org/drawingml/2006/main" id="75" idx="2"/>
          </p:cNvCxnSpPr>
          <p:nvPr/>
        </p:nvCxnSpPr>
        <p:spPr>
          <a:xfrm xmlns:a="http://schemas.openxmlformats.org/drawingml/2006/main" flipV="1">
            <a:off x="2828925" y="31194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54" name=""/>
          <p:cNvCxnSpPr>
            <a:stCxn xmlns:a="http://schemas.openxmlformats.org/drawingml/2006/main" id="74" idx="6"/>
            <a:endCxn xmlns:a="http://schemas.openxmlformats.org/drawingml/2006/main" id="76" idx="2"/>
          </p:cNvCxnSpPr>
          <p:nvPr/>
        </p:nvCxnSpPr>
        <p:spPr>
          <a:xfrm xmlns:a="http://schemas.openxmlformats.org/drawingml/2006/main" flipV="1">
            <a:off x="4543425" y="26622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55" name=""/>
          <p:cNvCxnSpPr>
            <a:stCxn xmlns:a="http://schemas.openxmlformats.org/drawingml/2006/main" id="74" idx="6"/>
            <a:endCxn xmlns:a="http://schemas.openxmlformats.org/drawingml/2006/main" id="77" idx="2"/>
          </p:cNvCxnSpPr>
          <p:nvPr/>
        </p:nvCxnSpPr>
        <p:spPr>
          <a:xfrm xmlns:a="http://schemas.openxmlformats.org/drawingml/2006/main">
            <a:off x="4543425" y="28146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56" name=""/>
          <p:cNvCxnSpPr>
            <a:stCxn xmlns:a="http://schemas.openxmlformats.org/drawingml/2006/main" id="74" idx="6"/>
            <a:endCxn xmlns:a="http://schemas.openxmlformats.org/drawingml/2006/main" id="78" idx="2"/>
          </p:cNvCxnSpPr>
          <p:nvPr/>
        </p:nvCxnSpPr>
        <p:spPr>
          <a:xfrm xmlns:a="http://schemas.openxmlformats.org/drawingml/2006/main">
            <a:off x="4543425" y="28146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57" name=""/>
          <p:cNvCxnSpPr>
            <a:stCxn xmlns:a="http://schemas.openxmlformats.org/drawingml/2006/main" id="75" idx="6"/>
            <a:endCxn xmlns:a="http://schemas.openxmlformats.org/drawingml/2006/main" id="76" idx="2"/>
          </p:cNvCxnSpPr>
          <p:nvPr/>
        </p:nvCxnSpPr>
        <p:spPr>
          <a:xfrm xmlns:a="http://schemas.openxmlformats.org/drawingml/2006/main" flipV="1">
            <a:off x="4543425" y="26622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58" name=""/>
          <p:cNvCxnSpPr>
            <a:stCxn xmlns:a="http://schemas.openxmlformats.org/drawingml/2006/main" id="75" idx="6"/>
            <a:endCxn xmlns:a="http://schemas.openxmlformats.org/drawingml/2006/main" id="77" idx="2"/>
          </p:cNvCxnSpPr>
          <p:nvPr/>
        </p:nvCxnSpPr>
        <p:spPr>
          <a:xfrm xmlns:a="http://schemas.openxmlformats.org/drawingml/2006/main" flipV="1">
            <a:off x="4543425" y="29670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59" name=""/>
          <p:cNvCxnSpPr>
            <a:stCxn xmlns:a="http://schemas.openxmlformats.org/drawingml/2006/main" id="75" idx="6"/>
            <a:endCxn xmlns:a="http://schemas.openxmlformats.org/drawingml/2006/main" id="78" idx="2"/>
          </p:cNvCxnSpPr>
          <p:nvPr/>
        </p:nvCxnSpPr>
        <p:spPr>
          <a:xfrm xmlns:a="http://schemas.openxmlformats.org/drawingml/2006/main">
            <a:off x="4543425" y="31194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60" name=""/>
          <p:cNvCxnSpPr>
            <a:stCxn xmlns:a="http://schemas.openxmlformats.org/drawingml/2006/main" id="76" idx="6"/>
            <a:endCxn xmlns:a="http://schemas.openxmlformats.org/drawingml/2006/main" id="79" idx="2"/>
          </p:cNvCxnSpPr>
          <p:nvPr/>
        </p:nvCxnSpPr>
        <p:spPr>
          <a:xfrm xmlns:a="http://schemas.openxmlformats.org/drawingml/2006/main" flipV="1">
            <a:off x="6257925" y="25098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61" name=""/>
          <p:cNvCxnSpPr>
            <a:stCxn xmlns:a="http://schemas.openxmlformats.org/drawingml/2006/main" id="76" idx="6"/>
            <a:endCxn xmlns:a="http://schemas.openxmlformats.org/drawingml/2006/main" id="80" idx="2"/>
          </p:cNvCxnSpPr>
          <p:nvPr/>
        </p:nvCxnSpPr>
        <p:spPr>
          <a:xfrm xmlns:a="http://schemas.openxmlformats.org/drawingml/2006/main">
            <a:off x="6257925" y="26622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62" name=""/>
          <p:cNvCxnSpPr>
            <a:stCxn xmlns:a="http://schemas.openxmlformats.org/drawingml/2006/main" id="76" idx="6"/>
            <a:endCxn xmlns:a="http://schemas.openxmlformats.org/drawingml/2006/main" id="81" idx="2"/>
          </p:cNvCxnSpPr>
          <p:nvPr/>
        </p:nvCxnSpPr>
        <p:spPr>
          <a:xfrm xmlns:a="http://schemas.openxmlformats.org/drawingml/2006/main">
            <a:off x="6257925" y="26622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63" name=""/>
          <p:cNvCxnSpPr>
            <a:stCxn xmlns:a="http://schemas.openxmlformats.org/drawingml/2006/main" id="76" idx="6"/>
            <a:endCxn xmlns:a="http://schemas.openxmlformats.org/drawingml/2006/main" id="82" idx="2"/>
          </p:cNvCxnSpPr>
          <p:nvPr/>
        </p:nvCxnSpPr>
        <p:spPr>
          <a:xfrm xmlns:a="http://schemas.openxmlformats.org/drawingml/2006/main">
            <a:off x="6257925" y="2662238"/>
            <a:ext cx="1552575" cy="762000"/>
          </a:xfrm>
          <a:prstGeom xmlns:a="http://schemas.openxmlformats.org/drawingml/2006/main" prst="straightConnector1">
            <a:avLst/>
          </a:prstGeom>
          <a:ln xmlns:a="http://schemas.openxmlformats.org/drawingml/2006/main" w="6191">
            <a:solidFill>
              <a:srgbClr val="B7C4C9"/>
            </a:solidFill>
          </a:ln>
        </p:spPr>
      </p:cxnSp>
      <p:cxnSp>
        <p:nvCxnSpPr>
          <p:cNvPr id="264" name=""/>
          <p:cNvCxnSpPr>
            <a:stCxn xmlns:a="http://schemas.openxmlformats.org/drawingml/2006/main" id="77" idx="6"/>
            <a:endCxn xmlns:a="http://schemas.openxmlformats.org/drawingml/2006/main" id="79" idx="2"/>
          </p:cNvCxnSpPr>
          <p:nvPr/>
        </p:nvCxnSpPr>
        <p:spPr>
          <a:xfrm xmlns:a="http://schemas.openxmlformats.org/drawingml/2006/main" flipV="1">
            <a:off x="6257925" y="25098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65" name=""/>
          <p:cNvCxnSpPr>
            <a:stCxn xmlns:a="http://schemas.openxmlformats.org/drawingml/2006/main" id="77" idx="6"/>
            <a:endCxn xmlns:a="http://schemas.openxmlformats.org/drawingml/2006/main" id="80" idx="2"/>
          </p:cNvCxnSpPr>
          <p:nvPr/>
        </p:nvCxnSpPr>
        <p:spPr>
          <a:xfrm xmlns:a="http://schemas.openxmlformats.org/drawingml/2006/main" flipV="1">
            <a:off x="6257925" y="28146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66" name=""/>
          <p:cNvCxnSpPr>
            <a:stCxn xmlns:a="http://schemas.openxmlformats.org/drawingml/2006/main" id="77" idx="6"/>
            <a:endCxn xmlns:a="http://schemas.openxmlformats.org/drawingml/2006/main" id="81" idx="2"/>
          </p:cNvCxnSpPr>
          <p:nvPr/>
        </p:nvCxnSpPr>
        <p:spPr>
          <a:xfrm xmlns:a="http://schemas.openxmlformats.org/drawingml/2006/main">
            <a:off x="6257925" y="29670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67" name=""/>
          <p:cNvCxnSpPr>
            <a:stCxn xmlns:a="http://schemas.openxmlformats.org/drawingml/2006/main" id="77" idx="6"/>
            <a:endCxn xmlns:a="http://schemas.openxmlformats.org/drawingml/2006/main" id="82" idx="2"/>
          </p:cNvCxnSpPr>
          <p:nvPr/>
        </p:nvCxnSpPr>
        <p:spPr>
          <a:xfrm xmlns:a="http://schemas.openxmlformats.org/drawingml/2006/main">
            <a:off x="6257925" y="29670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68" name=""/>
          <p:cNvCxnSpPr>
            <a:stCxn xmlns:a="http://schemas.openxmlformats.org/drawingml/2006/main" id="78" idx="6"/>
            <a:endCxn xmlns:a="http://schemas.openxmlformats.org/drawingml/2006/main" id="79" idx="2"/>
          </p:cNvCxnSpPr>
          <p:nvPr/>
        </p:nvCxnSpPr>
        <p:spPr>
          <a:xfrm xmlns:a="http://schemas.openxmlformats.org/drawingml/2006/main" flipV="1">
            <a:off x="6257925" y="2509838"/>
            <a:ext cx="1552575" cy="762000"/>
          </a:xfrm>
          <a:prstGeom xmlns:a="http://schemas.openxmlformats.org/drawingml/2006/main" prst="straightConnector1">
            <a:avLst/>
          </a:prstGeom>
          <a:ln xmlns:a="http://schemas.openxmlformats.org/drawingml/2006/main" w="6191">
            <a:solidFill>
              <a:srgbClr val="B7C4C9"/>
            </a:solidFill>
          </a:ln>
        </p:spPr>
      </p:cxnSp>
      <p:cxnSp>
        <p:nvCxnSpPr>
          <p:cNvPr id="269" name=""/>
          <p:cNvCxnSpPr>
            <a:stCxn xmlns:a="http://schemas.openxmlformats.org/drawingml/2006/main" id="78" idx="6"/>
            <a:endCxn xmlns:a="http://schemas.openxmlformats.org/drawingml/2006/main" id="80" idx="2"/>
          </p:cNvCxnSpPr>
          <p:nvPr/>
        </p:nvCxnSpPr>
        <p:spPr>
          <a:xfrm xmlns:a="http://schemas.openxmlformats.org/drawingml/2006/main" flipV="1">
            <a:off x="6257925" y="2814638"/>
            <a:ext cx="1552575" cy="457200"/>
          </a:xfrm>
          <a:prstGeom xmlns:a="http://schemas.openxmlformats.org/drawingml/2006/main" prst="straightConnector1">
            <a:avLst/>
          </a:prstGeom>
          <a:ln xmlns:a="http://schemas.openxmlformats.org/drawingml/2006/main" w="6191">
            <a:solidFill>
              <a:srgbClr val="B7C4C9"/>
            </a:solidFill>
          </a:ln>
        </p:spPr>
      </p:cxnSp>
      <p:cxnSp>
        <p:nvCxnSpPr>
          <p:cNvPr id="270" name=""/>
          <p:cNvCxnSpPr>
            <a:stCxn xmlns:a="http://schemas.openxmlformats.org/drawingml/2006/main" id="78" idx="6"/>
            <a:endCxn xmlns:a="http://schemas.openxmlformats.org/drawingml/2006/main" id="81" idx="2"/>
          </p:cNvCxnSpPr>
          <p:nvPr/>
        </p:nvCxnSpPr>
        <p:spPr>
          <a:xfrm xmlns:a="http://schemas.openxmlformats.org/drawingml/2006/main" flipV="1">
            <a:off x="6257925" y="3119438"/>
            <a:ext cx="1552575" cy="152400"/>
          </a:xfrm>
          <a:prstGeom xmlns:a="http://schemas.openxmlformats.org/drawingml/2006/main" prst="straightConnector1">
            <a:avLst/>
          </a:prstGeom>
          <a:ln xmlns:a="http://schemas.openxmlformats.org/drawingml/2006/main" w="6191">
            <a:solidFill>
              <a:srgbClr val="B7C4C9"/>
            </a:solidFill>
          </a:ln>
        </p:spPr>
      </p:cxnSp>
      <p:cxnSp>
        <p:nvCxnSpPr>
          <p:cNvPr id="271" name=""/>
          <p:cNvCxnSpPr>
            <a:stCxn xmlns:a="http://schemas.openxmlformats.org/drawingml/2006/main" id="78" idx="6"/>
            <a:endCxn xmlns:a="http://schemas.openxmlformats.org/drawingml/2006/main" id="82" idx="2"/>
          </p:cNvCxnSpPr>
          <p:nvPr/>
        </p:nvCxnSpPr>
        <p:spPr>
          <a:xfrm xmlns:a="http://schemas.openxmlformats.org/drawingml/2006/main">
            <a:off x="6257925" y="3271838"/>
            <a:ext cx="1552575" cy="152400"/>
          </a:xfrm>
          <a:prstGeom xmlns:a="http://schemas.openxmlformats.org/drawingml/2006/main" prst="straightConnector1">
            <a:avLst/>
          </a:prstGeom>
          <a:ln xmlns:a="http://schemas.openxmlformats.org/drawingml/2006/main" w="6191">
            <a:solidFill>
              <a:srgbClr val="B7C4C9"/>
            </a:solidFill>
          </a:ln>
        </p:spPr>
      </p:cxnSp>
      <p:sp>
        <p:nvSpPr>
          <p:cNvPr id="119" name="">
            <a:extLst xmlns:a="http://schemas.openxmlformats.org/drawingml/2006/main">
              <a:ext uri="{FF2B5EF4-FFF2-40B4-BE49-F238E27FC236}">
                <a16:creationId xmlns:a16="http://schemas.microsoft.com/office/drawing/2014/main" id="{3F272AFB-8515-432E-8B93-2E41CF4709ED}"/>
              </a:ext>
            </a:extLst>
          </p:cNvPr>
          <p:cNvSpPr>
            <a:spLocks xmlns:a="http://schemas.openxmlformats.org/drawingml/2006/main" noGrp="1"/>
          </p:cNvSpPr>
          <p:nvPr/>
        </p:nvSpPr>
        <p:spPr>
          <a:xfrm xmlns:a="http://schemas.openxmlformats.org/drawingml/2006/main">
            <a:off x="952500" y="2428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0" name="">
            <a:extLst xmlns:a="http://schemas.openxmlformats.org/drawingml/2006/main">
              <a:ext uri="{FF2B5EF4-FFF2-40B4-BE49-F238E27FC236}">
                <a16:creationId xmlns:a16="http://schemas.microsoft.com/office/drawing/2014/main" id="{A951FEB7-AA9C-4203-B341-37E8CE5CFCB4}"/>
              </a:ext>
            </a:extLst>
          </p:cNvPr>
          <p:cNvSpPr>
            <a:spLocks xmlns:a="http://schemas.openxmlformats.org/drawingml/2006/main" noGrp="1"/>
          </p:cNvSpPr>
          <p:nvPr/>
        </p:nvSpPr>
        <p:spPr>
          <a:xfrm xmlns:a="http://schemas.openxmlformats.org/drawingml/2006/main">
            <a:off x="952500" y="27336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1" name="">
            <a:extLst xmlns:a="http://schemas.openxmlformats.org/drawingml/2006/main">
              <a:ext uri="{FF2B5EF4-FFF2-40B4-BE49-F238E27FC236}">
                <a16:creationId xmlns:a16="http://schemas.microsoft.com/office/drawing/2014/main" id="{810234B1-A513-440B-9C51-AE0B39D9292D}"/>
              </a:ext>
            </a:extLst>
          </p:cNvPr>
          <p:cNvSpPr>
            <a:spLocks xmlns:a="http://schemas.openxmlformats.org/drawingml/2006/main" noGrp="1"/>
          </p:cNvSpPr>
          <p:nvPr/>
        </p:nvSpPr>
        <p:spPr>
          <a:xfrm xmlns:a="http://schemas.openxmlformats.org/drawingml/2006/main">
            <a:off x="952500" y="30384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2" name="">
            <a:extLst xmlns:a="http://schemas.openxmlformats.org/drawingml/2006/main">
              <a:ext uri="{FF2B5EF4-FFF2-40B4-BE49-F238E27FC236}">
                <a16:creationId xmlns:a16="http://schemas.microsoft.com/office/drawing/2014/main" id="{E2BD3CD4-9946-483E-ACBC-F4C782B9DF65}"/>
              </a:ext>
            </a:extLst>
          </p:cNvPr>
          <p:cNvSpPr>
            <a:spLocks xmlns:a="http://schemas.openxmlformats.org/drawingml/2006/main" noGrp="1"/>
          </p:cNvSpPr>
          <p:nvPr/>
        </p:nvSpPr>
        <p:spPr>
          <a:xfrm xmlns:a="http://schemas.openxmlformats.org/drawingml/2006/main">
            <a:off x="952500" y="3343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3" name="">
            <a:extLst xmlns:a="http://schemas.openxmlformats.org/drawingml/2006/main">
              <a:ext uri="{FF2B5EF4-FFF2-40B4-BE49-F238E27FC236}">
                <a16:creationId xmlns:a16="http://schemas.microsoft.com/office/drawing/2014/main" id="{4241BCAB-69B5-4FCA-919A-5B9E5CCCCA66}"/>
              </a:ext>
            </a:extLst>
          </p:cNvPr>
          <p:cNvSpPr>
            <a:spLocks xmlns:a="http://schemas.openxmlformats.org/drawingml/2006/main" noGrp="1"/>
          </p:cNvSpPr>
          <p:nvPr/>
        </p:nvSpPr>
        <p:spPr>
          <a:xfrm xmlns:a="http://schemas.openxmlformats.org/drawingml/2006/main">
            <a:off x="2667000" y="2581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4" name="">
            <a:extLst xmlns:a="http://schemas.openxmlformats.org/drawingml/2006/main">
              <a:ext uri="{FF2B5EF4-FFF2-40B4-BE49-F238E27FC236}">
                <a16:creationId xmlns:a16="http://schemas.microsoft.com/office/drawing/2014/main" id="{6ECC3A27-D3F8-483C-9D16-D3E937279B6B}"/>
              </a:ext>
            </a:extLst>
          </p:cNvPr>
          <p:cNvSpPr>
            <a:spLocks xmlns:a="http://schemas.openxmlformats.org/drawingml/2006/main" noGrp="1"/>
          </p:cNvSpPr>
          <p:nvPr/>
        </p:nvSpPr>
        <p:spPr>
          <a:xfrm xmlns:a="http://schemas.openxmlformats.org/drawingml/2006/main">
            <a:off x="2667000" y="28860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5" name="">
            <a:extLst xmlns:a="http://schemas.openxmlformats.org/drawingml/2006/main">
              <a:ext uri="{FF2B5EF4-FFF2-40B4-BE49-F238E27FC236}">
                <a16:creationId xmlns:a16="http://schemas.microsoft.com/office/drawing/2014/main" id="{4FD2886E-F937-4CD9-ADFB-6C5F406EFA16}"/>
              </a:ext>
            </a:extLst>
          </p:cNvPr>
          <p:cNvSpPr>
            <a:spLocks xmlns:a="http://schemas.openxmlformats.org/drawingml/2006/main" noGrp="1"/>
          </p:cNvSpPr>
          <p:nvPr/>
        </p:nvSpPr>
        <p:spPr>
          <a:xfrm xmlns:a="http://schemas.openxmlformats.org/drawingml/2006/main">
            <a:off x="2667000" y="3190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6" name="">
            <a:extLst xmlns:a="http://schemas.openxmlformats.org/drawingml/2006/main">
              <a:ext uri="{FF2B5EF4-FFF2-40B4-BE49-F238E27FC236}">
                <a16:creationId xmlns:a16="http://schemas.microsoft.com/office/drawing/2014/main" id="{424CE844-A9C0-431E-8482-3E5EF02C6932}"/>
              </a:ext>
            </a:extLst>
          </p:cNvPr>
          <p:cNvSpPr>
            <a:spLocks xmlns:a="http://schemas.openxmlformats.org/drawingml/2006/main" noGrp="1"/>
          </p:cNvSpPr>
          <p:nvPr/>
        </p:nvSpPr>
        <p:spPr>
          <a:xfrm xmlns:a="http://schemas.openxmlformats.org/drawingml/2006/main">
            <a:off x="4381500" y="2733675"/>
            <a:ext cx="161925" cy="161925"/>
          </a:xfrm>
          <a:prstGeom xmlns:a="http://schemas.openxmlformats.org/drawingml/2006/main" prst="ellipse">
            <a:avLst/>
          </a:prstGeom>
          <a:solidFill xmlns:a="http://schemas.openxmlformats.org/drawingml/2006/main">
            <a:srgbClr val="007E87"/>
          </a:solidFill>
          <a:ln xmlns:a="http://schemas.openxmlformats.org/drawingml/2006/main" w="11430">
            <a:solidFill>
              <a:srgbClr val="007E87"/>
            </a:solidFill>
          </a:ln>
        </p:spPr>
      </p:sp>
      <p:sp>
        <p:nvSpPr>
          <p:cNvPr id="127" name="">
            <a:extLst xmlns:a="http://schemas.openxmlformats.org/drawingml/2006/main">
              <a:ext uri="{FF2B5EF4-FFF2-40B4-BE49-F238E27FC236}">
                <a16:creationId xmlns:a16="http://schemas.microsoft.com/office/drawing/2014/main" id="{B5D3E78D-49E8-41D0-A654-90D4F049D1C8}"/>
              </a:ext>
            </a:extLst>
          </p:cNvPr>
          <p:cNvSpPr>
            <a:spLocks xmlns:a="http://schemas.openxmlformats.org/drawingml/2006/main" noGrp="1"/>
          </p:cNvSpPr>
          <p:nvPr/>
        </p:nvSpPr>
        <p:spPr>
          <a:xfrm xmlns:a="http://schemas.openxmlformats.org/drawingml/2006/main">
            <a:off x="4381500" y="3038475"/>
            <a:ext cx="161925" cy="161925"/>
          </a:xfrm>
          <a:prstGeom xmlns:a="http://schemas.openxmlformats.org/drawingml/2006/main" prst="ellipse">
            <a:avLst/>
          </a:prstGeom>
          <a:solidFill xmlns:a="http://schemas.openxmlformats.org/drawingml/2006/main">
            <a:srgbClr val="007E87"/>
          </a:solidFill>
          <a:ln xmlns:a="http://schemas.openxmlformats.org/drawingml/2006/main" w="11430">
            <a:solidFill>
              <a:srgbClr val="007E87"/>
            </a:solidFill>
          </a:ln>
        </p:spPr>
      </p:sp>
      <p:sp>
        <p:nvSpPr>
          <p:cNvPr id="128" name="">
            <a:extLst xmlns:a="http://schemas.openxmlformats.org/drawingml/2006/main">
              <a:ext uri="{FF2B5EF4-FFF2-40B4-BE49-F238E27FC236}">
                <a16:creationId xmlns:a16="http://schemas.microsoft.com/office/drawing/2014/main" id="{868D72D7-25B6-40B8-ABB0-8B68C621D443}"/>
              </a:ext>
            </a:extLst>
          </p:cNvPr>
          <p:cNvSpPr>
            <a:spLocks xmlns:a="http://schemas.openxmlformats.org/drawingml/2006/main" noGrp="1"/>
          </p:cNvSpPr>
          <p:nvPr/>
        </p:nvSpPr>
        <p:spPr>
          <a:xfrm xmlns:a="http://schemas.openxmlformats.org/drawingml/2006/main">
            <a:off x="6096000" y="2581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29" name="">
            <a:extLst xmlns:a="http://schemas.openxmlformats.org/drawingml/2006/main">
              <a:ext uri="{FF2B5EF4-FFF2-40B4-BE49-F238E27FC236}">
                <a16:creationId xmlns:a16="http://schemas.microsoft.com/office/drawing/2014/main" id="{8906C2EE-EE12-4CCE-BE39-586BEA6842D3}"/>
              </a:ext>
            </a:extLst>
          </p:cNvPr>
          <p:cNvSpPr>
            <a:spLocks xmlns:a="http://schemas.openxmlformats.org/drawingml/2006/main" noGrp="1"/>
          </p:cNvSpPr>
          <p:nvPr/>
        </p:nvSpPr>
        <p:spPr>
          <a:xfrm xmlns:a="http://schemas.openxmlformats.org/drawingml/2006/main">
            <a:off x="6096000" y="28860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30" name="">
            <a:extLst xmlns:a="http://schemas.openxmlformats.org/drawingml/2006/main">
              <a:ext uri="{FF2B5EF4-FFF2-40B4-BE49-F238E27FC236}">
                <a16:creationId xmlns:a16="http://schemas.microsoft.com/office/drawing/2014/main" id="{89E75609-85B3-4DC2-8EAD-22172BFDEF61}"/>
              </a:ext>
            </a:extLst>
          </p:cNvPr>
          <p:cNvSpPr>
            <a:spLocks xmlns:a="http://schemas.openxmlformats.org/drawingml/2006/main" noGrp="1"/>
          </p:cNvSpPr>
          <p:nvPr/>
        </p:nvSpPr>
        <p:spPr>
          <a:xfrm xmlns:a="http://schemas.openxmlformats.org/drawingml/2006/main">
            <a:off x="6096000" y="3190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31" name="">
            <a:extLst xmlns:a="http://schemas.openxmlformats.org/drawingml/2006/main">
              <a:ext uri="{FF2B5EF4-FFF2-40B4-BE49-F238E27FC236}">
                <a16:creationId xmlns:a16="http://schemas.microsoft.com/office/drawing/2014/main" id="{93D9E56E-E269-454F-9481-567D5CDF4FB0}"/>
              </a:ext>
            </a:extLst>
          </p:cNvPr>
          <p:cNvSpPr>
            <a:spLocks xmlns:a="http://schemas.openxmlformats.org/drawingml/2006/main" noGrp="1"/>
          </p:cNvSpPr>
          <p:nvPr/>
        </p:nvSpPr>
        <p:spPr>
          <a:xfrm xmlns:a="http://schemas.openxmlformats.org/drawingml/2006/main">
            <a:off x="7810500" y="24288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32" name="">
            <a:extLst xmlns:a="http://schemas.openxmlformats.org/drawingml/2006/main">
              <a:ext uri="{FF2B5EF4-FFF2-40B4-BE49-F238E27FC236}">
                <a16:creationId xmlns:a16="http://schemas.microsoft.com/office/drawing/2014/main" id="{5403766A-1C3B-4C27-9CDB-3BC32CC02E64}"/>
              </a:ext>
            </a:extLst>
          </p:cNvPr>
          <p:cNvSpPr>
            <a:spLocks xmlns:a="http://schemas.openxmlformats.org/drawingml/2006/main" noGrp="1"/>
          </p:cNvSpPr>
          <p:nvPr/>
        </p:nvSpPr>
        <p:spPr>
          <a:xfrm xmlns:a="http://schemas.openxmlformats.org/drawingml/2006/main">
            <a:off x="7810500" y="27336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33" name="">
            <a:extLst xmlns:a="http://schemas.openxmlformats.org/drawingml/2006/main">
              <a:ext uri="{FF2B5EF4-FFF2-40B4-BE49-F238E27FC236}">
                <a16:creationId xmlns:a16="http://schemas.microsoft.com/office/drawing/2014/main" id="{F875BDAC-95D9-4E1B-9D3B-72733B5D1C21}"/>
              </a:ext>
            </a:extLst>
          </p:cNvPr>
          <p:cNvSpPr>
            <a:spLocks xmlns:a="http://schemas.openxmlformats.org/drawingml/2006/main" noGrp="1"/>
          </p:cNvSpPr>
          <p:nvPr/>
        </p:nvSpPr>
        <p:spPr>
          <a:xfrm xmlns:a="http://schemas.openxmlformats.org/drawingml/2006/main">
            <a:off x="7810500" y="30384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34" name="">
            <a:extLst xmlns:a="http://schemas.openxmlformats.org/drawingml/2006/main">
              <a:ext uri="{FF2B5EF4-FFF2-40B4-BE49-F238E27FC236}">
                <a16:creationId xmlns:a16="http://schemas.microsoft.com/office/drawing/2014/main" id="{4631B048-E393-4F01-85A9-1581DC20E1C7}"/>
              </a:ext>
            </a:extLst>
          </p:cNvPr>
          <p:cNvSpPr>
            <a:spLocks xmlns:a="http://schemas.openxmlformats.org/drawingml/2006/main" noGrp="1"/>
          </p:cNvSpPr>
          <p:nvPr/>
        </p:nvSpPr>
        <p:spPr>
          <a:xfrm xmlns:a="http://schemas.openxmlformats.org/drawingml/2006/main">
            <a:off x="7810500" y="3343275"/>
            <a:ext cx="161925" cy="161925"/>
          </a:xfrm>
          <a:prstGeom xmlns:a="http://schemas.openxmlformats.org/drawingml/2006/main" prst="ellipse">
            <a:avLst/>
          </a:prstGeom>
          <a:solidFill xmlns:a="http://schemas.openxmlformats.org/drawingml/2006/main">
            <a:srgbClr val="FFFFFF"/>
          </a:solidFill>
          <a:ln xmlns:a="http://schemas.openxmlformats.org/drawingml/2006/main" w="11430">
            <a:solidFill>
              <a:srgbClr val="85939A"/>
            </a:solidFill>
          </a:ln>
        </p:spPr>
      </p:sp>
      <p:sp>
        <p:nvSpPr>
          <p:cNvPr id="135" name="">
            <a:extLst xmlns:a="http://schemas.openxmlformats.org/drawingml/2006/main">
              <a:ext uri="{FF2B5EF4-FFF2-40B4-BE49-F238E27FC236}">
                <a16:creationId xmlns:a16="http://schemas.microsoft.com/office/drawing/2014/main" id="{9ABE00C7-53D3-45D5-ADE3-FEA63946C6BA}"/>
              </a:ext>
            </a:extLst>
          </p:cNvPr>
          <p:cNvSpPr>
            <a:spLocks xmlns:a="http://schemas.openxmlformats.org/drawingml/2006/main" noGrp="1"/>
          </p:cNvSpPr>
          <p:nvPr/>
        </p:nvSpPr>
        <p:spPr>
          <a:xfrm xmlns:a="http://schemas.openxmlformats.org/drawingml/2006/main">
            <a:off x="628650" y="374332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08273C"/>
                </a:solidFill>
                <a:latin typeface="Cambria"/>
                <a:ea typeface="Cambria"/>
                <a:cs typeface="Cambria"/>
              </a:defRPr>
            </a:pPr>
            <a:r>
              <a:rPr sz="1875" b="0">
                <a:solidFill>
                  <a:srgbClr val="08273C"/>
                </a:solidFill>
                <a:latin typeface="Cambria"/>
                <a:ea typeface="Cambria"/>
                <a:cs typeface="Cambria"/>
              </a:rPr>
              <a:t>x ∈ ℝᵈ</a:t>
            </a:r>
          </a:p>
        </p:txBody>
      </p:sp>
      <p:sp>
        <p:nvSpPr>
          <p:cNvPr id="136" name="">
            <a:extLst xmlns:a="http://schemas.openxmlformats.org/drawingml/2006/main">
              <a:ext uri="{FF2B5EF4-FFF2-40B4-BE49-F238E27FC236}">
                <a16:creationId xmlns:a16="http://schemas.microsoft.com/office/drawing/2014/main" id="{EA4B784B-7F14-4F0A-A22A-3CFFCE950B3C}"/>
              </a:ext>
            </a:extLst>
          </p:cNvPr>
          <p:cNvSpPr>
            <a:spLocks xmlns:a="http://schemas.openxmlformats.org/drawingml/2006/main" noGrp="1"/>
          </p:cNvSpPr>
          <p:nvPr/>
        </p:nvSpPr>
        <p:spPr>
          <a:xfrm xmlns:a="http://schemas.openxmlformats.org/drawingml/2006/main">
            <a:off x="4038600" y="37433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08273C"/>
                </a:solidFill>
                <a:latin typeface="Cambria"/>
                <a:ea typeface="Cambria"/>
                <a:cs typeface="Cambria"/>
              </a:defRPr>
            </a:pPr>
            <a:r>
              <a:rPr sz="1875" b="0">
                <a:solidFill>
                  <a:srgbClr val="08273C"/>
                </a:solidFill>
                <a:latin typeface="Cambria"/>
                <a:ea typeface="Cambria"/>
                <a:cs typeface="Cambria"/>
              </a:rPr>
              <a:t>z ∈ ℝᵏ</a:t>
            </a:r>
          </a:p>
        </p:txBody>
      </p:sp>
      <p:sp>
        <p:nvSpPr>
          <p:cNvPr id="137" name="">
            <a:extLst xmlns:a="http://schemas.openxmlformats.org/drawingml/2006/main">
              <a:ext uri="{FF2B5EF4-FFF2-40B4-BE49-F238E27FC236}">
                <a16:creationId xmlns:a16="http://schemas.microsoft.com/office/drawing/2014/main" id="{CB34D55B-BBA9-4AC4-A1C2-30D72F00BB28}"/>
              </a:ext>
            </a:extLst>
          </p:cNvPr>
          <p:cNvSpPr>
            <a:spLocks xmlns:a="http://schemas.openxmlformats.org/drawingml/2006/main" noGrp="1"/>
          </p:cNvSpPr>
          <p:nvPr/>
        </p:nvSpPr>
        <p:spPr>
          <a:xfrm xmlns:a="http://schemas.openxmlformats.org/drawingml/2006/main">
            <a:off x="7315200" y="3743325"/>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08273C"/>
                </a:solidFill>
                <a:latin typeface="Cambria"/>
                <a:ea typeface="Cambria"/>
                <a:cs typeface="Cambria"/>
              </a:defRPr>
            </a:pPr>
            <a:r>
              <a:rPr sz="1875" b="0">
                <a:solidFill>
                  <a:srgbClr val="08273C"/>
                </a:solidFill>
                <a:latin typeface="Cambria"/>
                <a:ea typeface="Cambria"/>
                <a:cs typeface="Cambria"/>
              </a:rPr>
              <a:t>r ∈ ℝᵈ</a:t>
            </a:r>
          </a:p>
        </p:txBody>
      </p:sp>
      <p:sp>
        <p:nvSpPr>
          <p:cNvPr id="138" name="">
            <a:extLst xmlns:a="http://schemas.openxmlformats.org/drawingml/2006/main">
              <a:ext uri="{FF2B5EF4-FFF2-40B4-BE49-F238E27FC236}">
                <a16:creationId xmlns:a16="http://schemas.microsoft.com/office/drawing/2014/main" id="{497FF6FD-43C8-4307-84DC-CAEEF7B429A9}"/>
              </a:ext>
            </a:extLst>
          </p:cNvPr>
          <p:cNvSpPr>
            <a:spLocks xmlns:a="http://schemas.openxmlformats.org/drawingml/2006/main" noGrp="1"/>
          </p:cNvSpPr>
          <p:nvPr/>
        </p:nvSpPr>
        <p:spPr>
          <a:xfrm xmlns:a="http://schemas.openxmlformats.org/drawingml/2006/main">
            <a:off x="9124950" y="2124075"/>
            <a:ext cx="2809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08273C"/>
                </a:solidFill>
                <a:latin typeface="Cambria"/>
                <a:ea typeface="Cambria"/>
                <a:cs typeface="Cambria"/>
              </a:defRPr>
            </a:pPr>
            <a:r>
              <a:rPr sz="2100" b="0">
                <a:solidFill>
                  <a:srgbClr val="08273C"/>
                </a:solidFill>
                <a:latin typeface="Cambria"/>
                <a:ea typeface="Cambria"/>
                <a:cs typeface="Cambria"/>
              </a:rPr>
              <a:t>z = gφ(x)</a:t>
            </a:r>
          </a:p>
          <a:p xmlns:a="http://schemas.openxmlformats.org/drawingml/2006/main">
            <a:pPr>
              <a:buNone/>
              <a:defRPr sz="2100" b="0">
                <a:solidFill>
                  <a:srgbClr val="08273C"/>
                </a:solidFill>
                <a:latin typeface="Cambria"/>
                <a:ea typeface="Cambria"/>
                <a:cs typeface="Cambria"/>
              </a:defRPr>
            </a:pPr>
            <a:r>
              <a:rPr sz="2100" b="0">
                <a:solidFill>
                  <a:srgbClr val="08273C"/>
                </a:solidFill>
                <a:latin typeface="Cambria"/>
                <a:ea typeface="Cambria"/>
                <a:cs typeface="Cambria"/>
              </a:rPr>
              <a:t>r = hθ(z)</a:t>
            </a:r>
          </a:p>
        </p:txBody>
      </p:sp>
      <p:sp>
        <p:nvSpPr>
          <p:cNvPr id="139" name="">
            <a:extLst xmlns:a="http://schemas.openxmlformats.org/drawingml/2006/main">
              <a:ext uri="{FF2B5EF4-FFF2-40B4-BE49-F238E27FC236}">
                <a16:creationId xmlns:a16="http://schemas.microsoft.com/office/drawing/2014/main" id="{B2640396-B740-4626-ADD8-11877661C09B}"/>
              </a:ext>
            </a:extLst>
          </p:cNvPr>
          <p:cNvSpPr>
            <a:spLocks xmlns:a="http://schemas.openxmlformats.org/drawingml/2006/main" noGrp="1"/>
          </p:cNvSpPr>
          <p:nvPr/>
        </p:nvSpPr>
        <p:spPr>
          <a:xfrm xmlns:a="http://schemas.openxmlformats.org/drawingml/2006/main">
            <a:off x="9124950" y="3171825"/>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61717B"/>
                </a:solidFill>
                <a:latin typeface="Meiryo"/>
                <a:ea typeface="Meiryo"/>
                <a:cs typeface="Meiryo"/>
              </a:defRPr>
            </a:pPr>
            <a:r>
              <a:rPr sz="1650" b="0">
                <a:solidFill>
                  <a:srgbClr val="61717B"/>
                </a:solidFill>
                <a:latin typeface="Meiryo"/>
                <a:ea typeface="Meiryo"/>
                <a:cs typeface="Meiryo"/>
              </a:rPr>
              <a:t>k &lt; d</a:t>
            </a:r>
          </a:p>
          <a:p xmlns:a="http://schemas.openxmlformats.org/drawingml/2006/main">
            <a:pPr>
              <a:buNone/>
              <a:defRPr sz="1650" b="0">
                <a:solidFill>
                  <a:srgbClr val="61717B"/>
                </a:solidFill>
                <a:latin typeface="Meiryo"/>
                <a:ea typeface="Meiryo"/>
                <a:cs typeface="Meiryo"/>
              </a:defRPr>
            </a:pPr>
            <a:r>
              <a:rPr sz="1650" b="0">
                <a:solidFill>
                  <a:srgbClr val="61717B"/>
                </a:solidFill>
                <a:latin typeface="Meiryo"/>
                <a:ea typeface="Meiryo"/>
                <a:cs typeface="Meiryo"/>
              </a:rPr>
              <a:t>正常入力で学習</a:t>
            </a:r>
          </a:p>
        </p:txBody>
      </p:sp>
      <p:sp>
        <p:nvSpPr>
          <p:cNvPr id="140" name="">
            <a:extLst xmlns:a="http://schemas.openxmlformats.org/drawingml/2006/main">
              <a:ext uri="{FF2B5EF4-FFF2-40B4-BE49-F238E27FC236}">
                <a16:creationId xmlns:a16="http://schemas.microsoft.com/office/drawing/2014/main" id="{2A120FC2-1004-460B-9B67-CE856211871B}"/>
              </a:ext>
            </a:extLst>
          </p:cNvPr>
          <p:cNvSpPr>
            <a:spLocks xmlns:a="http://schemas.openxmlformats.org/drawingml/2006/main" noGrp="1"/>
          </p:cNvSpPr>
          <p:nvPr/>
        </p:nvSpPr>
        <p:spPr>
          <a:xfrm xmlns:a="http://schemas.openxmlformats.org/drawingml/2006/main">
            <a:off x="523875" y="4219575"/>
            <a:ext cx="111442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FC03699F-A600-49A5-8D36-17A21E061A7B}"/>
              </a:ext>
            </a:extLst>
          </p:cNvPr>
          <p:cNvSpPr>
            <a:spLocks xmlns:a="http://schemas.openxmlformats.org/drawingml/2006/main" noGrp="1"/>
          </p:cNvSpPr>
          <p:nvPr/>
        </p:nvSpPr>
        <p:spPr>
          <a:xfrm xmlns:a="http://schemas.openxmlformats.org/drawingml/2006/main">
            <a:off x="523875" y="4362450"/>
            <a:ext cx="3571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203645"/>
                </a:solidFill>
                <a:latin typeface="Meiryo"/>
                <a:ea typeface="Meiryo"/>
                <a:cs typeface="Meiryo"/>
              </a:defRPr>
            </a:pPr>
            <a:r>
              <a:rPr sz="1650" b="1">
                <a:solidFill>
                  <a:srgbClr val="203645"/>
                </a:solidFill>
                <a:latin typeface="Meiryo"/>
                <a:ea typeface="Meiryo"/>
                <a:cs typeface="Meiryo"/>
              </a:rPr>
              <a:t>(b) 入力と再構成の比較</a:t>
            </a:r>
          </a:p>
        </p:txBody>
      </p:sp>
      <p:sp>
        <p:nvSpPr>
          <p:cNvPr id="142" name="">
            <a:extLst xmlns:a="http://schemas.openxmlformats.org/drawingml/2006/main">
              <a:ext uri="{FF2B5EF4-FFF2-40B4-BE49-F238E27FC236}">
                <a16:creationId xmlns:a16="http://schemas.microsoft.com/office/drawing/2014/main" id="{D70C0B46-79AF-49D5-9678-EA1176924948}"/>
              </a:ext>
            </a:extLst>
          </p:cNvPr>
          <p:cNvSpPr>
            <a:spLocks xmlns:a="http://schemas.openxmlformats.org/drawingml/2006/main" noGrp="1"/>
          </p:cNvSpPr>
          <p:nvPr/>
        </p:nvSpPr>
        <p:spPr>
          <a:xfrm xmlns:a="http://schemas.openxmlformats.org/drawingml/2006/main">
            <a:off x="523875" y="4810125"/>
            <a:ext cx="3810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08273C"/>
                </a:solidFill>
                <a:latin typeface="Cambria"/>
                <a:ea typeface="Cambria"/>
                <a:cs typeface="Cambria"/>
              </a:defRPr>
            </a:pPr>
            <a:r>
              <a:rPr sz="2175" b="0">
                <a:solidFill>
                  <a:srgbClr val="08273C"/>
                </a:solidFill>
                <a:latin typeface="Cambria"/>
                <a:ea typeface="Cambria"/>
                <a:cs typeface="Cambria"/>
              </a:rPr>
              <a:t>s(x) = ‖x − r‖₂</a:t>
            </a:r>
          </a:p>
        </p:txBody>
      </p:sp>
      <p:sp>
        <p:nvSpPr>
          <p:cNvPr id="143" name="">
            <a:extLst xmlns:a="http://schemas.openxmlformats.org/drawingml/2006/main">
              <a:ext uri="{FF2B5EF4-FFF2-40B4-BE49-F238E27FC236}">
                <a16:creationId xmlns:a16="http://schemas.microsoft.com/office/drawing/2014/main" id="{CC38F69A-929B-4FEC-B2A2-99F32A0BC216}"/>
              </a:ext>
            </a:extLst>
          </p:cNvPr>
          <p:cNvSpPr>
            <a:spLocks xmlns:a="http://schemas.openxmlformats.org/drawingml/2006/main" noGrp="1"/>
          </p:cNvSpPr>
          <p:nvPr/>
        </p:nvSpPr>
        <p:spPr>
          <a:xfrm xmlns:a="http://schemas.openxmlformats.org/drawingml/2006/main">
            <a:off x="523875" y="5381625"/>
            <a:ext cx="3667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C17824"/>
                </a:solidFill>
                <a:latin typeface="Cambria"/>
                <a:ea typeface="Cambria"/>
                <a:cs typeface="Cambria"/>
              </a:defRPr>
            </a:pPr>
            <a:r>
              <a:rPr sz="1800" b="0">
                <a:solidFill>
                  <a:srgbClr val="C17824"/>
                </a:solidFill>
                <a:latin typeface="Cambria"/>
                <a:ea typeface="Cambria"/>
                <a:cs typeface="Cambria"/>
              </a:rPr>
              <a:t>s(x) &gt; τ → 要確認</a:t>
            </a:r>
          </a:p>
        </p:txBody>
      </p:sp>
      <p:sp>
        <p:nvSpPr>
          <p:cNvPr id="144" name="">
            <a:extLst xmlns:a="http://schemas.openxmlformats.org/drawingml/2006/main">
              <a:ext uri="{FF2B5EF4-FFF2-40B4-BE49-F238E27FC236}">
                <a16:creationId xmlns:a16="http://schemas.microsoft.com/office/drawing/2014/main" id="{AE1DF9B0-5B09-46C5-B1B5-78B4B4FD122B}"/>
              </a:ext>
            </a:extLst>
          </p:cNvPr>
          <p:cNvSpPr>
            <a:spLocks xmlns:a="http://schemas.openxmlformats.org/drawingml/2006/main" noGrp="1"/>
          </p:cNvSpPr>
          <p:nvPr/>
        </p:nvSpPr>
        <p:spPr>
          <a:xfrm xmlns:a="http://schemas.openxmlformats.org/drawingml/2006/main">
            <a:off x="4619625" y="43434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1">
                <a:solidFill>
                  <a:srgbClr val="007E87"/>
                </a:solidFill>
                <a:latin typeface="Meiryo"/>
                <a:ea typeface="Meiryo"/>
                <a:cs typeface="Meiryo"/>
              </a:defRPr>
            </a:pPr>
            <a:r>
              <a:rPr sz="1500" b="1">
                <a:solidFill>
                  <a:srgbClr val="007E87"/>
                </a:solidFill>
                <a:latin typeface="Meiryo"/>
                <a:ea typeface="Meiryo"/>
                <a:cs typeface="Meiryo"/>
              </a:rPr>
              <a:t>正常例</a:t>
            </a:r>
          </a:p>
        </p:txBody>
      </p:sp>
      <p:sp>
        <p:nvSpPr>
          <p:cNvPr id="145" name="">
            <a:extLst xmlns:a="http://schemas.openxmlformats.org/drawingml/2006/main">
              <a:ext uri="{FF2B5EF4-FFF2-40B4-BE49-F238E27FC236}">
                <a16:creationId xmlns:a16="http://schemas.microsoft.com/office/drawing/2014/main" id="{8BC1D8C4-490E-401C-A420-D584A7B9EA14}"/>
              </a:ext>
            </a:extLst>
          </p:cNvPr>
          <p:cNvSpPr>
            <a:spLocks xmlns:a="http://schemas.openxmlformats.org/drawingml/2006/main" noGrp="1"/>
          </p:cNvSpPr>
          <p:nvPr/>
        </p:nvSpPr>
        <p:spPr>
          <a:xfrm xmlns:a="http://schemas.openxmlformats.org/drawingml/2006/main">
            <a:off x="8391525" y="43434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1">
                <a:solidFill>
                  <a:srgbClr val="C17824"/>
                </a:solidFill>
                <a:latin typeface="Meiryo"/>
                <a:ea typeface="Meiryo"/>
                <a:cs typeface="Meiryo"/>
              </a:defRPr>
            </a:pPr>
            <a:r>
              <a:rPr sz="1500" b="1">
                <a:solidFill>
                  <a:srgbClr val="C17824"/>
                </a:solidFill>
                <a:latin typeface="Meiryo"/>
                <a:ea typeface="Meiryo"/>
                <a:cs typeface="Meiryo"/>
              </a:rPr>
              <a:t>学習外例</a:t>
            </a:r>
          </a:p>
        </p:txBody>
      </p:sp>
      <p:sp>
        <p:nvSpPr>
          <p:cNvPr id="146" name="">
            <a:extLst xmlns:a="http://schemas.openxmlformats.org/drawingml/2006/main">
              <a:ext uri="{FF2B5EF4-FFF2-40B4-BE49-F238E27FC236}">
                <a16:creationId xmlns:a16="http://schemas.microsoft.com/office/drawing/2014/main" id="{58FAA00E-4775-4E3B-947C-289E07F35F9D}"/>
              </a:ext>
            </a:extLst>
          </p:cNvPr>
          <p:cNvSpPr>
            <a:spLocks xmlns:a="http://schemas.openxmlformats.org/drawingml/2006/main" noGrp="1"/>
          </p:cNvSpPr>
          <p:nvPr/>
        </p:nvSpPr>
        <p:spPr>
          <a:xfrm xmlns:a="http://schemas.openxmlformats.org/drawingml/2006/main">
            <a:off x="8667750" y="39243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125" b="0">
                <a:solidFill>
                  <a:srgbClr val="61717B"/>
                </a:solidFill>
                <a:latin typeface="Meiryo"/>
                <a:ea typeface="Meiryo"/>
                <a:cs typeface="Meiryo"/>
              </a:defRPr>
            </a:pPr>
            <a:r>
              <a:rPr sz="1125" b="0">
                <a:solidFill>
                  <a:srgbClr val="61717B"/>
                </a:solidFill>
                <a:latin typeface="Meiryo"/>
                <a:ea typeface="Meiryo"/>
                <a:cs typeface="Meiryo"/>
              </a:rPr>
              <a:t>濃紺：入力／水色：再構成</a:t>
            </a:r>
          </a:p>
        </p:txBody>
      </p:sp>
      <p:sp>
        <p:nvSpPr>
          <p:cNvPr id="147" name="">
            <a:extLst xmlns:a="http://schemas.openxmlformats.org/drawingml/2006/main">
              <a:ext uri="{FF2B5EF4-FFF2-40B4-BE49-F238E27FC236}">
                <a16:creationId xmlns:a16="http://schemas.microsoft.com/office/drawing/2014/main" id="{EAEC3A48-C425-4071-B6E8-7C700CE85344}"/>
              </a:ext>
            </a:extLst>
          </p:cNvPr>
          <p:cNvSpPr>
            <a:spLocks xmlns:a="http://schemas.openxmlformats.org/drawingml/2006/main" noGrp="1"/>
          </p:cNvSpPr>
          <p:nvPr/>
        </p:nvSpPr>
        <p:spPr>
          <a:xfrm xmlns:a="http://schemas.openxmlformats.org/drawingml/2006/main">
            <a:off x="476250" y="5857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8" name="">
            <a:extLst xmlns:a="http://schemas.openxmlformats.org/drawingml/2006/main">
              <a:ext uri="{FF2B5EF4-FFF2-40B4-BE49-F238E27FC236}">
                <a16:creationId xmlns:a16="http://schemas.microsoft.com/office/drawing/2014/main" id="{608226A4-23E4-4BCC-9F16-CAD69ACC0BD8}"/>
              </a:ext>
            </a:extLst>
          </p:cNvPr>
          <p:cNvSpPr>
            <a:spLocks xmlns:a="http://schemas.openxmlformats.org/drawingml/2006/main" noGrp="1"/>
          </p:cNvSpPr>
          <p:nvPr/>
        </p:nvSpPr>
        <p:spPr>
          <a:xfrm xmlns:a="http://schemas.openxmlformats.org/drawingml/2006/main">
            <a:off x="476250" y="60007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08273C"/>
                </a:solidFill>
                <a:latin typeface="Meiryo"/>
                <a:ea typeface="Meiryo"/>
                <a:cs typeface="Meiryo"/>
              </a:defRPr>
            </a:pPr>
            <a:r>
              <a:rPr sz="1650" b="1">
                <a:solidFill>
                  <a:srgbClr val="08273C"/>
                </a:solidFill>
                <a:latin typeface="Meiryo"/>
                <a:ea typeface="Meiryo"/>
                <a:cs typeface="Meiryo"/>
              </a:rPr>
              <a:t>再構成誤差は検知信号であり、対象回帰モデルの予測誤差そのものではない。</a:t>
            </a:r>
          </a:p>
        </p:txBody>
      </p:sp>
      <p:sp>
        <p:nvSpPr>
          <p:cNvPr id="149" name="">
            <a:extLst xmlns:a="http://schemas.openxmlformats.org/drawingml/2006/main">
              <a:ext uri="{FF2B5EF4-FFF2-40B4-BE49-F238E27FC236}">
                <a16:creationId xmlns:a16="http://schemas.microsoft.com/office/drawing/2014/main" id="{380DC22D-6879-4407-A095-DBBCC08444EB}"/>
              </a:ext>
            </a:extLst>
          </p:cNvPr>
          <p:cNvSpPr>
            <a:spLocks xmlns:a="http://schemas.openxmlformats.org/drawingml/2006/main" noGrp="1"/>
          </p:cNvSpPr>
          <p:nvPr/>
        </p:nvSpPr>
        <p:spPr>
          <a:xfrm xmlns:a="http://schemas.openxmlformats.org/drawingml/2006/main">
            <a:off x="476250" y="6496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61717B"/>
                </a:solidFill>
                <a:latin typeface="Meiryo"/>
                <a:ea typeface="Meiryo"/>
                <a:cs typeface="Meiryo"/>
              </a:defRPr>
            </a:pPr>
            <a:r>
              <a:rPr sz="825" b="0">
                <a:solidFill>
                  <a:srgbClr val="61717B"/>
                </a:solidFill>
                <a:latin typeface="Meiryo"/>
                <a:ea typeface="Meiryo"/>
                <a:cs typeface="Meiryo"/>
              </a:rPr>
              <a:t>14 §3 Eq.(1)、§6。ネットワークの節点数と棒グラフは説明用。原論文の実験設定・結果ではない。</a:t>
            </a:r>
          </a:p>
        </p:txBody>
      </p:sp>
      <p:sp>
        <p:nvSpPr>
          <p:cNvPr id="212" name="">
            <a:extLst xmlns:a="http://schemas.openxmlformats.org/drawingml/2006/main">
              <a:ext uri="{FF2B5EF4-FFF2-40B4-BE49-F238E27FC236}">
                <a16:creationId xmlns:a16="http://schemas.microsoft.com/office/drawing/2014/main" id="{D3021DA5-FCC7-48FD-ADE1-AE5218CC871F}"/>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17</a:t>
            </a:r>
          </a:p>
        </p:txBody>
      </p:sp>
    </p:spTree>
    <p:extLst>
      <p:ext uri="{BB962C8B-B14F-4D97-AF65-F5344CB8AC3E}">
        <p14:creationId xmlns:p14="http://schemas.microsoft.com/office/powerpoint/2010/main" val="21017198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FB2B780-E975-473D-89A2-C1867ABDD23F}"/>
              </a:ext>
            </a:extLst>
          </p:cNvPr>
          <p:cNvSpPr>
            <a:spLocks xmlns:a="http://schemas.openxmlformats.org/drawingml/2006/main" noGrp="1"/>
          </p:cNvSpPr>
          <p:nvPr/>
        </p:nvSpPr>
        <p:spPr>
          <a:xfrm xmlns:a="http://schemas.openxmlformats.org/drawingml/2006/main">
            <a:off x="476250" y="495300"/>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8273C"/>
                </a:solidFill>
                <a:latin typeface="Meiryo"/>
                <a:ea typeface="Meiryo"/>
                <a:cs typeface="Meiryo"/>
              </a:defRPr>
            </a:pPr>
            <a:r>
              <a:rPr sz="2625" b="1">
                <a:solidFill>
                  <a:srgbClr val="08273C"/>
                </a:solidFill>
                <a:latin typeface="Meiryo"/>
                <a:ea typeface="Meiryo"/>
                <a:cs typeface="Meiryo"/>
              </a:rPr>
              <a:t>OutProの規則解放と参照近傍の構成</a:t>
            </a:r>
          </a:p>
        </p:txBody>
      </p:sp>
      <p:sp>
        <p:nvSpPr>
          <p:cNvPr id="2" name="">
            <a:extLst xmlns:a="http://schemas.openxmlformats.org/drawingml/2006/main">
              <a:ext uri="{FF2B5EF4-FFF2-40B4-BE49-F238E27FC236}">
                <a16:creationId xmlns:a16="http://schemas.microsoft.com/office/drawing/2014/main" id="{0ADF31E4-C892-470B-9CD4-6D649C8F2F48}"/>
              </a:ext>
            </a:extLst>
          </p:cNvPr>
          <p:cNvSpPr>
            <a:spLocks xmlns:a="http://schemas.openxmlformats.org/drawingml/2006/main" noGrp="1"/>
          </p:cNvSpPr>
          <p:nvPr/>
        </p:nvSpPr>
        <p:spPr>
          <a:xfrm xmlns:a="http://schemas.openxmlformats.org/drawingml/2006/main">
            <a:off x="476250" y="1285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190CCA-6A17-4771-B657-FB984DE33A4B}"/>
              </a:ext>
            </a:extLst>
          </p:cNvPr>
          <p:cNvSpPr>
            <a:spLocks xmlns:a="http://schemas.openxmlformats.org/drawingml/2006/main" noGrp="1"/>
          </p:cNvSpPr>
          <p:nvPr/>
        </p:nvSpPr>
        <p:spPr>
          <a:xfrm xmlns:a="http://schemas.openxmlformats.org/drawingml/2006/main">
            <a:off x="523875" y="14763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8273C"/>
                </a:solidFill>
                <a:latin typeface="Meiryo"/>
                <a:ea typeface="Meiryo"/>
                <a:cs typeface="Meiryo"/>
              </a:defRPr>
            </a:pPr>
            <a:r>
              <a:rPr sz="1875" b="1">
                <a:solidFill>
                  <a:srgbClr val="08273C"/>
                </a:solidFill>
                <a:latin typeface="Meiryo"/>
                <a:ea typeface="Meiryo"/>
                <a:cs typeface="Meiryo"/>
              </a:rPr>
              <a:t>(a) 学習： (X, Y) → Random Forest → VarPro → 選択変数 S・重要度</a:t>
            </a:r>
          </a:p>
        </p:txBody>
      </p:sp>
      <p:sp>
        <p:nvSpPr>
          <p:cNvPr id="5" name="">
            <a:extLst xmlns:a="http://schemas.openxmlformats.org/drawingml/2006/main">
              <a:ext uri="{FF2B5EF4-FFF2-40B4-BE49-F238E27FC236}">
                <a16:creationId xmlns:a16="http://schemas.microsoft.com/office/drawing/2014/main" id="{5C454BF1-C9EF-4476-992D-A4A25B284EA8}"/>
              </a:ext>
            </a:extLst>
          </p:cNvPr>
          <p:cNvSpPr>
            <a:spLocks xmlns:a="http://schemas.openxmlformats.org/drawingml/2006/main" noGrp="1"/>
          </p:cNvSpPr>
          <p:nvPr/>
        </p:nvSpPr>
        <p:spPr>
          <a:xfrm xmlns:a="http://schemas.openxmlformats.org/drawingml/2006/main">
            <a:off x="523875" y="20764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203645"/>
                </a:solidFill>
                <a:latin typeface="Meiryo"/>
                <a:ea typeface="Meiryo"/>
                <a:cs typeface="Meiryo"/>
              </a:defRPr>
            </a:pPr>
            <a:r>
              <a:rPr sz="1725" b="1">
                <a:solidFill>
                  <a:srgbClr val="203645"/>
                </a:solidFill>
                <a:latin typeface="Meiryo"/>
                <a:ea typeface="Meiryo"/>
                <a:cs typeface="Meiryo"/>
              </a:rPr>
              <a:t>(b) テスト点を含む規則の制約を、1変数ずつ解放</a:t>
            </a:r>
          </a:p>
        </p:txBody>
      </p:sp>
      <p:sp>
        <p:nvSpPr>
          <p:cNvPr id="6" name="">
            <a:extLst xmlns:a="http://schemas.openxmlformats.org/drawingml/2006/main">
              <a:ext uri="{FF2B5EF4-FFF2-40B4-BE49-F238E27FC236}">
                <a16:creationId xmlns:a16="http://schemas.microsoft.com/office/drawing/2014/main" id="{374377CC-1FD1-476A-9F14-55F07A6C8DAE}"/>
              </a:ext>
            </a:extLst>
          </p:cNvPr>
          <p:cNvSpPr>
            <a:spLocks xmlns:a="http://schemas.openxmlformats.org/drawingml/2006/main" noGrp="1"/>
          </p:cNvSpPr>
          <p:nvPr/>
        </p:nvSpPr>
        <p:spPr>
          <a:xfrm xmlns:a="http://schemas.openxmlformats.org/drawingml/2006/main">
            <a:off x="523875" y="257175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07E87"/>
                </a:solidFill>
                <a:latin typeface="Meiryo"/>
                <a:ea typeface="Meiryo"/>
                <a:cs typeface="Meiryo"/>
              </a:defRPr>
            </a:pPr>
            <a:r>
              <a:rPr sz="1575" b="1">
                <a:solidFill>
                  <a:srgbClr val="007E87"/>
                </a:solidFill>
                <a:latin typeface="Meiryo"/>
                <a:ea typeface="Meiryo"/>
                <a:cs typeface="Meiryo"/>
              </a:rPr>
              <a:t>x⁽1⁾ の制約を解放</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132c2cca1684f2b"/>
          <a:stretch xmlns:a="http://schemas.openxmlformats.org/drawingml/2006/main"/>
        </p:blipFill>
        <p:spPr>
          <a:xfrm xmlns:a="http://schemas.openxmlformats.org/drawingml/2006/main">
            <a:off x="513500" y="2971800"/>
            <a:ext cx="2259126" cy="21812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26899F2-D5D3-4670-A9D0-7DB7681336A3}"/>
              </a:ext>
            </a:extLst>
          </p:cNvPr>
          <p:cNvSpPr>
            <a:spLocks xmlns:a="http://schemas.openxmlformats.org/drawingml/2006/main" noGrp="1"/>
          </p:cNvSpPr>
          <p:nvPr/>
        </p:nvSpPr>
        <p:spPr>
          <a:xfrm xmlns:a="http://schemas.openxmlformats.org/drawingml/2006/main">
            <a:off x="2924175" y="257175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07E87"/>
                </a:solidFill>
                <a:latin typeface="Meiryo"/>
                <a:ea typeface="Meiryo"/>
                <a:cs typeface="Meiryo"/>
              </a:defRPr>
            </a:pPr>
            <a:r>
              <a:rPr sz="1575" b="1">
                <a:solidFill>
                  <a:srgbClr val="007E87"/>
                </a:solidFill>
                <a:latin typeface="Meiryo"/>
                <a:ea typeface="Meiryo"/>
                <a:cs typeface="Meiryo"/>
              </a:rPr>
              <a:t>x⁽2⁾ の制約を解放</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7a36fbe59a64d62"/>
          <a:stretch xmlns:a="http://schemas.openxmlformats.org/drawingml/2006/main"/>
        </p:blipFill>
        <p:spPr>
          <a:xfrm xmlns:a="http://schemas.openxmlformats.org/drawingml/2006/main">
            <a:off x="2876550" y="3021334"/>
            <a:ext cx="2333625" cy="2082157"/>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56DBA26-39C4-44D0-8E4D-7A6920BEF3AD}"/>
              </a:ext>
            </a:extLst>
          </p:cNvPr>
          <p:cNvSpPr>
            <a:spLocks xmlns:a="http://schemas.openxmlformats.org/drawingml/2006/main" noGrp="1"/>
          </p:cNvSpPr>
          <p:nvPr/>
        </p:nvSpPr>
        <p:spPr>
          <a:xfrm xmlns:a="http://schemas.openxmlformats.org/drawingml/2006/main">
            <a:off x="5324475" y="257175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07E87"/>
                </a:solidFill>
                <a:latin typeface="Meiryo"/>
                <a:ea typeface="Meiryo"/>
                <a:cs typeface="Meiryo"/>
              </a:defRPr>
            </a:pPr>
            <a:r>
              <a:rPr sz="1575" b="1">
                <a:solidFill>
                  <a:srgbClr val="007E87"/>
                </a:solidFill>
                <a:latin typeface="Meiryo"/>
                <a:ea typeface="Meiryo"/>
                <a:cs typeface="Meiryo"/>
              </a:rPr>
              <a:t>x⁽3⁾ の制約を解放</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004887841be45b2"/>
          <a:stretch xmlns:a="http://schemas.openxmlformats.org/drawingml/2006/main"/>
        </p:blipFill>
        <p:spPr>
          <a:xfrm xmlns:a="http://schemas.openxmlformats.org/drawingml/2006/main">
            <a:off x="5333916" y="2971800"/>
            <a:ext cx="2219492" cy="21812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810DF04-C0C8-4FDE-A499-3E653C2911F7}"/>
              </a:ext>
            </a:extLst>
          </p:cNvPr>
          <p:cNvSpPr>
            <a:spLocks xmlns:a="http://schemas.openxmlformats.org/drawingml/2006/main" noGrp="1"/>
          </p:cNvSpPr>
          <p:nvPr/>
        </p:nvSpPr>
        <p:spPr>
          <a:xfrm xmlns:a="http://schemas.openxmlformats.org/drawingml/2006/main">
            <a:off x="523875" y="5305425"/>
            <a:ext cx="704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1717B"/>
                </a:solidFill>
                <a:latin typeface="Meiryo"/>
                <a:ea typeface="Meiryo"/>
                <a:cs typeface="Meiryo"/>
              </a:defRPr>
            </a:pPr>
            <a:r>
              <a:rPr sz="1275" b="0">
                <a:solidFill>
                  <a:srgbClr val="61717B"/>
                </a:solidFill>
                <a:latin typeface="Meiryo"/>
                <a:ea typeface="Meiryo"/>
                <a:cs typeface="Meiryo"/>
              </a:rPr>
              <a:t>原論文 Fig. 1 の3次元領域（左側パネル）を引用</a:t>
            </a:r>
          </a:p>
        </p:txBody>
      </p:sp>
      <p:sp>
        <p:nvSpPr>
          <p:cNvPr id="13" name="">
            <a:extLst xmlns:a="http://schemas.openxmlformats.org/drawingml/2006/main">
              <a:ext uri="{FF2B5EF4-FFF2-40B4-BE49-F238E27FC236}">
                <a16:creationId xmlns:a16="http://schemas.microsoft.com/office/drawing/2014/main" id="{A9C9B951-17BF-48B8-B7D9-F962F1371B64}"/>
              </a:ext>
            </a:extLst>
          </p:cNvPr>
          <p:cNvSpPr>
            <a:spLocks xmlns:a="http://schemas.openxmlformats.org/drawingml/2006/main" noGrp="1"/>
          </p:cNvSpPr>
          <p:nvPr/>
        </p:nvSpPr>
        <p:spPr>
          <a:xfrm xmlns:a="http://schemas.openxmlformats.org/drawingml/2006/main">
            <a:off x="7858125" y="2066925"/>
            <a:ext cx="3857625"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580C71E-97E2-4DEA-A13A-A63C9E0F6267}"/>
              </a:ext>
            </a:extLst>
          </p:cNvPr>
          <p:cNvSpPr>
            <a:spLocks xmlns:a="http://schemas.openxmlformats.org/drawingml/2006/main" noGrp="1"/>
          </p:cNvSpPr>
          <p:nvPr/>
        </p:nvSpPr>
        <p:spPr>
          <a:xfrm xmlns:a="http://schemas.openxmlformats.org/drawingml/2006/main">
            <a:off x="8067675" y="228600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203645"/>
                </a:solidFill>
                <a:latin typeface="Meiryo"/>
                <a:ea typeface="Meiryo"/>
                <a:cs typeface="Meiryo"/>
              </a:defRPr>
            </a:pPr>
            <a:r>
              <a:rPr sz="1800" b="1">
                <a:solidFill>
                  <a:srgbClr val="203645"/>
                </a:solidFill>
                <a:latin typeface="Meiryo"/>
                <a:ea typeface="Meiryo"/>
                <a:cs typeface="Meiryo"/>
              </a:rPr>
              <a:t>(c) 頻度から近傍へ</a:t>
            </a:r>
          </a:p>
        </p:txBody>
      </p:sp>
      <p:sp>
        <p:nvSpPr>
          <p:cNvPr id="15" name="">
            <a:extLst xmlns:a="http://schemas.openxmlformats.org/drawingml/2006/main">
              <a:ext uri="{FF2B5EF4-FFF2-40B4-BE49-F238E27FC236}">
                <a16:creationId xmlns:a16="http://schemas.microsoft.com/office/drawing/2014/main" id="{F14C8588-72DD-486D-A967-B891D9DDFE60}"/>
              </a:ext>
            </a:extLst>
          </p:cNvPr>
          <p:cNvSpPr>
            <a:spLocks xmlns:a="http://schemas.openxmlformats.org/drawingml/2006/main" noGrp="1"/>
          </p:cNvSpPr>
          <p:nvPr/>
        </p:nvSpPr>
        <p:spPr>
          <a:xfrm xmlns:a="http://schemas.openxmlformats.org/drawingml/2006/main">
            <a:off x="8067675" y="2809875"/>
            <a:ext cx="3619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08273C"/>
                </a:solidFill>
                <a:latin typeface="Cambria"/>
                <a:ea typeface="Cambria"/>
                <a:cs typeface="Cambria"/>
              </a:defRPr>
            </a:pPr>
            <a:r>
              <a:rPr sz="2100" b="0">
                <a:solidFill>
                  <a:srgbClr val="08273C"/>
                </a:solidFill>
                <a:latin typeface="Cambria"/>
                <a:ea typeface="Cambria"/>
                <a:cs typeface="Cambria"/>
              </a:rPr>
              <a:t>n = Σₛ nₛ</a:t>
            </a:r>
          </a:p>
          <a:p xmlns:a="http://schemas.openxmlformats.org/drawingml/2006/main">
            <a:pPr>
              <a:buNone/>
              <a:defRPr sz="2100" b="0">
                <a:solidFill>
                  <a:srgbClr val="08273C"/>
                </a:solidFill>
                <a:latin typeface="Cambria"/>
                <a:ea typeface="Cambria"/>
                <a:cs typeface="Cambria"/>
              </a:defRPr>
            </a:pPr>
            <a:r>
              <a:rPr sz="2100" b="0">
                <a:solidFill>
                  <a:srgbClr val="08273C"/>
                </a:solidFill>
                <a:latin typeface="Cambria"/>
                <a:ea typeface="Cambria"/>
                <a:cs typeface="Cambria"/>
              </a:rPr>
              <a:t>pₛ = nₛ / n</a:t>
            </a:r>
          </a:p>
          <a:p xmlns:a="http://schemas.openxmlformats.org/drawingml/2006/main">
            <a:pPr>
              <a:buNone/>
              <a:defRPr sz="2100" b="0">
                <a:solidFill>
                  <a:srgbClr val="08273C"/>
                </a:solidFill>
                <a:latin typeface="Cambria"/>
                <a:ea typeface="Cambria"/>
                <a:cs typeface="Cambria"/>
              </a:defRPr>
            </a:pPr>
            <a:r>
              <a:rPr sz="2100" b="0">
                <a:solidFill>
                  <a:srgbClr val="08273C"/>
                </a:solidFill>
                <a:latin typeface="Cambria"/>
                <a:ea typeface="Cambria"/>
                <a:cs typeface="Cambria"/>
              </a:rPr>
              <a:t>G = Σₛ pₛ(1 − pₛ)</a:t>
            </a:r>
          </a:p>
          <a:p xmlns:a="http://schemas.openxmlformats.org/drawingml/2006/main">
            <a:pPr>
              <a:buNone/>
              <a:defRPr sz="2100" b="0">
                <a:solidFill>
                  <a:srgbClr val="08273C"/>
                </a:solidFill>
                <a:latin typeface="Cambria"/>
                <a:ea typeface="Cambria"/>
                <a:cs typeface="Cambria"/>
              </a:defRPr>
            </a:pPr>
            <a:r>
              <a:rPr sz="2100" b="0">
                <a:solidFill>
                  <a:srgbClr val="08273C"/>
                </a:solidFill>
                <a:latin typeface="Cambria"/>
                <a:ea typeface="Cambria"/>
                <a:cs typeface="Cambria"/>
              </a:rPr>
              <a:t>W = nG</a:t>
            </a:r>
          </a:p>
        </p:txBody>
      </p:sp>
      <p:sp>
        <p:nvSpPr>
          <p:cNvPr id="16" name="">
            <a:extLst xmlns:a="http://schemas.openxmlformats.org/drawingml/2006/main">
              <a:ext uri="{FF2B5EF4-FFF2-40B4-BE49-F238E27FC236}">
                <a16:creationId xmlns:a16="http://schemas.microsoft.com/office/drawing/2014/main" id="{C291E6E9-DAD3-43A5-BF4D-58D373A5FE18}"/>
              </a:ext>
            </a:extLst>
          </p:cNvPr>
          <p:cNvSpPr>
            <a:spLocks xmlns:a="http://schemas.openxmlformats.org/drawingml/2006/main" noGrp="1"/>
          </p:cNvSpPr>
          <p:nvPr/>
        </p:nvSpPr>
        <p:spPr>
          <a:xfrm xmlns:a="http://schemas.openxmlformats.org/drawingml/2006/main">
            <a:off x="8067675" y="44291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007E87"/>
                </a:solidFill>
                <a:latin typeface="Meiryo"/>
                <a:ea typeface="Meiryo"/>
                <a:cs typeface="Meiryo"/>
              </a:defRPr>
            </a:pPr>
            <a:r>
              <a:rPr sz="1800" b="1">
                <a:solidFill>
                  <a:srgbClr val="007E87"/>
                </a:solidFill>
                <a:latin typeface="Meiryo"/>
                <a:ea typeface="Meiryo"/>
                <a:cs typeface="Meiryo"/>
              </a:rPr>
              <a:t>W の上位 K 点 → Nₖ(x)</a:t>
            </a:r>
          </a:p>
        </p:txBody>
      </p:sp>
      <p:sp>
        <p:nvSpPr>
          <p:cNvPr id="17" name="">
            <a:extLst xmlns:a="http://schemas.openxmlformats.org/drawingml/2006/main">
              <a:ext uri="{FF2B5EF4-FFF2-40B4-BE49-F238E27FC236}">
                <a16:creationId xmlns:a16="http://schemas.microsoft.com/office/drawing/2014/main" id="{C8CD6B6E-7453-4F42-9369-4C328EF64071}"/>
              </a:ext>
            </a:extLst>
          </p:cNvPr>
          <p:cNvSpPr>
            <a:spLocks xmlns:a="http://schemas.openxmlformats.org/drawingml/2006/main" noGrp="1"/>
          </p:cNvSpPr>
          <p:nvPr/>
        </p:nvSpPr>
        <p:spPr>
          <a:xfrm xmlns:a="http://schemas.openxmlformats.org/drawingml/2006/main">
            <a:off x="8067675" y="4924425"/>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08273C"/>
                </a:solidFill>
                <a:latin typeface="Cambria"/>
                <a:ea typeface="Cambria"/>
                <a:cs typeface="Cambria"/>
              </a:defRPr>
            </a:pPr>
            <a:r>
              <a:rPr sz="1875" b="0">
                <a:solidFill>
                  <a:srgbClr val="08273C"/>
                </a:solidFill>
                <a:latin typeface="Cambria"/>
                <a:ea typeface="Cambria"/>
                <a:cs typeface="Cambria"/>
              </a:rPr>
              <a:t>d(x) = (1/K) Σ D(x, z)</a:t>
            </a:r>
          </a:p>
          <a:p xmlns:a="http://schemas.openxmlformats.org/drawingml/2006/main">
            <a:pPr>
              <a:buNone/>
              <a:defRPr sz="1875" b="0">
                <a:solidFill>
                  <a:srgbClr val="08273C"/>
                </a:solidFill>
                <a:latin typeface="Cambria"/>
                <a:ea typeface="Cambria"/>
                <a:cs typeface="Cambria"/>
              </a:defRPr>
            </a:pPr>
            <a:r>
              <a:rPr sz="1875" b="0">
                <a:solidFill>
                  <a:srgbClr val="08273C"/>
                </a:solidFill>
                <a:latin typeface="Cambria"/>
                <a:ea typeface="Cambria"/>
                <a:cs typeface="Cambria"/>
              </a:rPr>
              <a:t>z ∈ Nₖ(x)</a:t>
            </a:r>
          </a:p>
        </p:txBody>
      </p:sp>
      <p:sp>
        <p:nvSpPr>
          <p:cNvPr id="18" name="">
            <a:extLst xmlns:a="http://schemas.openxmlformats.org/drawingml/2006/main">
              <a:ext uri="{FF2B5EF4-FFF2-40B4-BE49-F238E27FC236}">
                <a16:creationId xmlns:a16="http://schemas.microsoft.com/office/drawing/2014/main" id="{C9493965-663C-4927-85AA-322FCDB6AA0F}"/>
              </a:ext>
            </a:extLst>
          </p:cNvPr>
          <p:cNvSpPr>
            <a:spLocks xmlns:a="http://schemas.openxmlformats.org/drawingml/2006/main" noGrp="1"/>
          </p:cNvSpPr>
          <p:nvPr/>
        </p:nvSpPr>
        <p:spPr>
          <a:xfrm xmlns:a="http://schemas.openxmlformats.org/drawingml/2006/main">
            <a:off x="476250" y="5857875"/>
            <a:ext cx="112395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FB6B74-3BA5-454B-9B5D-2827738FC27E}"/>
              </a:ext>
            </a:extLst>
          </p:cNvPr>
          <p:cNvSpPr>
            <a:spLocks xmlns:a="http://schemas.openxmlformats.org/drawingml/2006/main" noGrp="1"/>
          </p:cNvSpPr>
          <p:nvPr/>
        </p:nvSpPr>
        <p:spPr>
          <a:xfrm xmlns:a="http://schemas.openxmlformats.org/drawingml/2006/main">
            <a:off x="476250" y="60007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08273C"/>
                </a:solidFill>
                <a:latin typeface="Meiryo"/>
                <a:ea typeface="Meiryo"/>
                <a:cs typeface="Meiryo"/>
              </a:defRPr>
            </a:pPr>
            <a:r>
              <a:rPr sz="1650" b="1">
                <a:solidFill>
                  <a:srgbClr val="08273C"/>
                </a:solidFill>
                <a:latin typeface="Meiryo"/>
                <a:ea typeface="Meiryo"/>
                <a:cs typeface="Meiryo"/>
              </a:rPr>
              <a:t>通常のkNNと異なり、ルール解放への出現頻度を使って参照点を選ぶ。</a:t>
            </a:r>
          </a:p>
        </p:txBody>
      </p:sp>
      <p:sp>
        <p:nvSpPr>
          <p:cNvPr id="20" name="">
            <a:extLst xmlns:a="http://schemas.openxmlformats.org/drawingml/2006/main">
              <a:ext uri="{FF2B5EF4-FFF2-40B4-BE49-F238E27FC236}">
                <a16:creationId xmlns:a16="http://schemas.microsoft.com/office/drawing/2014/main" id="{D54EF2A4-8B2B-4A48-B0E5-719DA8782421}"/>
              </a:ext>
            </a:extLst>
          </p:cNvPr>
          <p:cNvSpPr>
            <a:spLocks xmlns:a="http://schemas.openxmlformats.org/drawingml/2006/main" noGrp="1"/>
          </p:cNvSpPr>
          <p:nvPr/>
        </p:nvSpPr>
        <p:spPr>
          <a:xfrm xmlns:a="http://schemas.openxmlformats.org/drawingml/2006/main">
            <a:off x="476250" y="6496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61717B"/>
                </a:solidFill>
                <a:latin typeface="Meiryo"/>
                <a:ea typeface="Meiryo"/>
                <a:cs typeface="Meiryo"/>
              </a:defRPr>
            </a:pPr>
            <a:r>
              <a:rPr sz="825" b="0">
                <a:solidFill>
                  <a:srgbClr val="61717B"/>
                </a:solidFill>
                <a:latin typeface="Meiryo"/>
                <a:ea typeface="Meiryo"/>
                <a:cs typeface="Meiryo"/>
              </a:rPr>
              <a:t>13 §3 Algorithm1・Fig1。nₛ等は各訓練点の頻度。n=0ではpₛ=0。OPTICS版は別スコア。</a:t>
            </a:r>
          </a:p>
        </p:txBody>
      </p:sp>
      <p:sp>
        <p:nvSpPr>
          <p:cNvPr id="25" name="">
            <a:extLst xmlns:a="http://schemas.openxmlformats.org/drawingml/2006/main">
              <a:ext uri="{FF2B5EF4-FFF2-40B4-BE49-F238E27FC236}">
                <a16:creationId xmlns:a16="http://schemas.microsoft.com/office/drawing/2014/main" id="{6F24B18B-FCF0-4EF0-A42C-80986A9B9A81}"/>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18</a:t>
            </a:r>
          </a:p>
        </p:txBody>
      </p:sp>
    </p:spTree>
    <p:extLst>
      <p:ext uri="{BB962C8B-B14F-4D97-AF65-F5344CB8AC3E}">
        <p14:creationId xmlns:p14="http://schemas.microsoft.com/office/powerpoint/2010/main" val="210171984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0C6D55-EBC7-42BD-86D6-48E5E3029A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B104F4-A503-4E0A-971F-34D494A0CCE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14：ノイズ除去学習の効果はデータに依存する</a:t>
            </a:r>
          </a:p>
        </p:txBody>
      </p:sp>
      <p:graphicFrame>
        <p:nvGraphicFramePr>
          <p:cNvPr id="20" name="Chart"/>
          <p:cNvGraphicFramePr/>
          <p:nvPr/>
        </p:nvGraphicFramePr>
        <p:xfrm>
          <a:off xmlns:a="http://schemas.openxmlformats.org/drawingml/2006/main" x="428625" y="1581150"/>
          <a:ext xmlns:a="http://schemas.openxmlformats.org/drawingml/2006/main" cx="7905750" cy="3943350"/>
        </p:xfrm>
        <a:graphic xmlns:a="http://schemas.openxmlformats.org/drawingml/2006/main">
          <a:graphicData uri="http://schemas.openxmlformats.org/drawingml/2006/chart">
            <c:chart xmlns:r="http://schemas.openxmlformats.org/officeDocument/2006/relationships" xmlns:c="http://schemas.openxmlformats.org/drawingml/2006/chart" r:id="R9f4e1c807aac4343"/>
          </a:graphicData>
        </a:graphic>
      </p:graphicFrame>
      <p:sp>
        <p:nvSpPr>
          <p:cNvPr id="5" name="">
            <a:extLst xmlns:a="http://schemas.openxmlformats.org/drawingml/2006/main">
              <a:ext uri="{FF2B5EF4-FFF2-40B4-BE49-F238E27FC236}">
                <a16:creationId xmlns:a16="http://schemas.microsoft.com/office/drawing/2014/main" id="{DC067B73-5803-4EB7-8445-B8F79D36C46E}"/>
              </a:ext>
            </a:extLst>
          </p:cNvPr>
          <p:cNvSpPr>
            <a:spLocks xmlns:a="http://schemas.openxmlformats.org/drawingml/2006/main" noGrp="1"/>
          </p:cNvSpPr>
          <p:nvPr/>
        </p:nvSpPr>
        <p:spPr>
          <a:xfrm xmlns:a="http://schemas.openxmlformats.org/drawingml/2006/main">
            <a:off x="552450" y="1333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86E7C"/>
                </a:solidFill>
                <a:latin typeface="Meiryo"/>
                <a:ea typeface="Meiryo"/>
                <a:cs typeface="Meiryo"/>
              </a:defRPr>
            </a:pPr>
            <a:r>
              <a:rPr sz="1350" b="0">
                <a:solidFill>
                  <a:srgbClr val="586E7C"/>
                </a:solidFill>
                <a:latin typeface="Meiryo"/>
                <a:ea typeface="Meiryo"/>
                <a:cs typeface="Meiryo"/>
              </a:rPr>
              <a:t>AUC（原論文 Table 1）</a:t>
            </a:r>
          </a:p>
        </p:txBody>
      </p:sp>
      <p:sp>
        <p:nvSpPr>
          <p:cNvPr id="6" name="">
            <a:extLst xmlns:a="http://schemas.openxmlformats.org/drawingml/2006/main">
              <a:ext uri="{FF2B5EF4-FFF2-40B4-BE49-F238E27FC236}">
                <a16:creationId xmlns:a16="http://schemas.microsoft.com/office/drawing/2014/main" id="{3CB1D5F8-031F-4C73-A282-577566061DC4}"/>
              </a:ext>
            </a:extLst>
          </p:cNvPr>
          <p:cNvSpPr>
            <a:spLocks xmlns:a="http://schemas.openxmlformats.org/drawingml/2006/main" noGrp="1"/>
          </p:cNvSpPr>
          <p:nvPr/>
        </p:nvSpPr>
        <p:spPr>
          <a:xfrm xmlns:a="http://schemas.openxmlformats.org/drawingml/2006/main">
            <a:off x="8572500" y="18669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08E99"/>
                </a:solidFill>
                <a:latin typeface="Meiryo"/>
                <a:ea typeface="Meiryo"/>
                <a:cs typeface="Meiryo"/>
              </a:defRPr>
            </a:pPr>
            <a:r>
              <a:rPr sz="2175" b="1">
                <a:solidFill>
                  <a:srgbClr val="008E99"/>
                </a:solidFill>
                <a:latin typeface="Meiryo"/>
                <a:ea typeface="Meiryo"/>
                <a:cs typeface="Meiryo"/>
              </a:rPr>
              <a:t>改善はデータ依存</a:t>
            </a:r>
          </a:p>
        </p:txBody>
      </p:sp>
      <p:sp>
        <p:nvSpPr>
          <p:cNvPr id="7" name="">
            <a:extLst xmlns:a="http://schemas.openxmlformats.org/drawingml/2006/main">
              <a:ext uri="{FF2B5EF4-FFF2-40B4-BE49-F238E27FC236}">
                <a16:creationId xmlns:a16="http://schemas.microsoft.com/office/drawing/2014/main" id="{E7086E0A-614A-4D17-890F-C554E3708292}"/>
              </a:ext>
            </a:extLst>
          </p:cNvPr>
          <p:cNvSpPr>
            <a:spLocks xmlns:a="http://schemas.openxmlformats.org/drawingml/2006/main" noGrp="1"/>
          </p:cNvSpPr>
          <p:nvPr/>
        </p:nvSpPr>
        <p:spPr>
          <a:xfrm xmlns:a="http://schemas.openxmlformats.org/drawingml/2006/main">
            <a:off x="8572500" y="2619375"/>
            <a:ext cx="314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9384B"/>
                </a:solidFill>
                <a:latin typeface="Meiryo"/>
                <a:ea typeface="Meiryo"/>
                <a:cs typeface="Meiryo"/>
              </a:defRPr>
            </a:pPr>
            <a:r>
              <a:rPr sz="1875" b="0">
                <a:solidFill>
                  <a:srgbClr val="19384B"/>
                </a:solidFill>
                <a:latin typeface="Meiryo"/>
                <a:ea typeface="Meiryo"/>
                <a:cs typeface="Meiryo"/>
              </a:rPr>
              <a:t>ノイズ除去AEは</a:t>
            </a:r>
          </a:p>
          <a:p xmlns:a="http://schemas.openxmlformats.org/drawingml/2006/main">
            <a:pPr>
              <a:buNone/>
              <a:defRPr sz="1875" b="0">
                <a:solidFill>
                  <a:srgbClr val="19384B"/>
                </a:solidFill>
                <a:latin typeface="Meiryo"/>
                <a:ea typeface="Meiryo"/>
                <a:cs typeface="Meiryo"/>
              </a:defRPr>
            </a:pPr>
            <a:r>
              <a:rPr sz="1875" b="0">
                <a:solidFill>
                  <a:srgbClr val="19384B"/>
                </a:solidFill>
                <a:latin typeface="Meiryo"/>
                <a:ea typeface="Meiryo"/>
                <a:cs typeface="Meiryo"/>
              </a:rPr>
              <a:t>Satellite-Aで改善。</a:t>
            </a:r>
          </a:p>
          <a:p xmlns:a="http://schemas.openxmlformats.org/drawingml/2006/main">
            <a:r>
              <a:t/>
            </a:r>
          </a:p>
          <a:p xmlns:a="http://schemas.openxmlformats.org/drawingml/2006/main">
            <a:pPr>
              <a:buNone/>
              <a:defRPr sz="1875" b="0">
                <a:solidFill>
                  <a:srgbClr val="19384B"/>
                </a:solidFill>
                <a:latin typeface="Meiryo"/>
                <a:ea typeface="Meiryo"/>
                <a:cs typeface="Meiryo"/>
              </a:defRPr>
            </a:pPr>
            <a:r>
              <a:rPr sz="1875" b="0">
                <a:solidFill>
                  <a:srgbClr val="19384B"/>
                </a:solidFill>
                <a:latin typeface="Meiryo"/>
                <a:ea typeface="Meiryo"/>
                <a:cs typeface="Meiryo"/>
              </a:rPr>
              <a:t>Satellite-Bでは</a:t>
            </a:r>
          </a:p>
          <a:p xmlns:a="http://schemas.openxmlformats.org/drawingml/2006/main">
            <a:pPr>
              <a:buNone/>
              <a:defRPr sz="1875" b="0">
                <a:solidFill>
                  <a:srgbClr val="19384B"/>
                </a:solidFill>
                <a:latin typeface="Meiryo"/>
                <a:ea typeface="Meiryo"/>
                <a:cs typeface="Meiryo"/>
              </a:defRPr>
            </a:pPr>
            <a:r>
              <a:rPr sz="1875" b="0">
                <a:solidFill>
                  <a:srgbClr val="19384B"/>
                </a:solidFill>
                <a:latin typeface="Meiryo"/>
                <a:ea typeface="Meiryo"/>
                <a:cs typeface="Meiryo"/>
              </a:rPr>
              <a:t>通常AEを下回る。</a:t>
            </a:r>
          </a:p>
          <a:p xmlns:a="http://schemas.openxmlformats.org/drawingml/2006/main">
            <a:r>
              <a:t/>
            </a:r>
          </a:p>
          <a:p xmlns:a="http://schemas.openxmlformats.org/drawingml/2006/main">
            <a:pPr>
              <a:buNone/>
              <a:defRPr sz="1875" b="0">
                <a:solidFill>
                  <a:srgbClr val="19384B"/>
                </a:solidFill>
                <a:latin typeface="Meiryo"/>
                <a:ea typeface="Meiryo"/>
                <a:cs typeface="Meiryo"/>
              </a:defRPr>
            </a:pPr>
            <a:r>
              <a:rPr sz="1875" b="0">
                <a:solidFill>
                  <a:srgbClr val="19384B"/>
                </a:solidFill>
                <a:latin typeface="Meiryo"/>
                <a:ea typeface="Meiryo"/>
                <a:cs typeface="Meiryo"/>
              </a:rPr>
              <a:t>万能な優位性はない。</a:t>
            </a:r>
          </a:p>
        </p:txBody>
      </p:sp>
      <p:sp>
        <p:nvSpPr>
          <p:cNvPr id="8" name="">
            <a:extLst xmlns:a="http://schemas.openxmlformats.org/drawingml/2006/main">
              <a:ext uri="{FF2B5EF4-FFF2-40B4-BE49-F238E27FC236}">
                <a16:creationId xmlns:a16="http://schemas.microsoft.com/office/drawing/2014/main" id="{410A5F01-015C-4A05-8A6A-EEB304F125B6}"/>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32BBF3-0FDE-483B-AAF7-5C5B71527AA0}"/>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8273C"/>
                </a:solidFill>
                <a:latin typeface="Meiryo"/>
                <a:ea typeface="Meiryo"/>
                <a:cs typeface="Meiryo"/>
              </a:defRPr>
            </a:pPr>
            <a:r>
              <a:rPr sz="1575" b="1">
                <a:solidFill>
                  <a:srgbClr val="08273C"/>
                </a:solidFill>
                <a:latin typeface="Meiryo"/>
                <a:ea typeface="Meiryo"/>
                <a:cs typeface="Meiryo"/>
              </a:rPr>
              <a:t>Satellite-Aでは改善したが、Satellite-Bでは低下した</a:t>
            </a:r>
          </a:p>
        </p:txBody>
      </p:sp>
      <p:sp>
        <p:nvSpPr>
          <p:cNvPr id="10" name="">
            <a:extLst xmlns:a="http://schemas.openxmlformats.org/drawingml/2006/main">
              <a:ext uri="{FF2B5EF4-FFF2-40B4-BE49-F238E27FC236}">
                <a16:creationId xmlns:a16="http://schemas.microsoft.com/office/drawing/2014/main" id="{BBFA2B5E-0EFB-4A6E-A6B2-5AEB74DCA82B}"/>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14 §4–5、Table 1。対象：25次元合成、17次元・106次元の衛星データ</a:t>
            </a:r>
          </a:p>
        </p:txBody>
      </p:sp>
      <p:sp>
        <p:nvSpPr>
          <p:cNvPr id="14" name="">
            <a:extLst xmlns:a="http://schemas.openxmlformats.org/drawingml/2006/main">
              <a:ext uri="{FF2B5EF4-FFF2-40B4-BE49-F238E27FC236}">
                <a16:creationId xmlns:a16="http://schemas.microsoft.com/office/drawing/2014/main" id="{C713C7F0-A0D2-49F4-A66F-34414D99C414}"/>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7" name="">
            <a:extLst xmlns:a="http://schemas.openxmlformats.org/drawingml/2006/main">
              <a:ext uri="{FF2B5EF4-FFF2-40B4-BE49-F238E27FC236}">
                <a16:creationId xmlns:a16="http://schemas.microsoft.com/office/drawing/2014/main" id="{4847944F-0092-4F00-A3A2-D5840DB8FC95}"/>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19</a:t>
            </a:r>
          </a:p>
        </p:txBody>
      </p:sp>
    </p:spTree>
    <p:extLst>
      <p:ext uri="{BB962C8B-B14F-4D97-AF65-F5344CB8AC3E}">
        <p14:creationId xmlns:p14="http://schemas.microsoft.com/office/powerpoint/2010/main" val="93935646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E65D27-DB77-4A48-B931-5FD9AC1D2D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06D6A3-8BD2-4681-8CC7-8B5D1648D5B6}"/>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13：回帰での有効性と適用上の制約</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6d906a998814cb4"/>
          <a:stretch xmlns:a="http://schemas.openxmlformats.org/drawingml/2006/main"/>
        </p:blipFill>
        <p:spPr>
          <a:xfrm xmlns:a="http://schemas.openxmlformats.org/drawingml/2006/main">
            <a:off x="381000" y="1550459"/>
            <a:ext cx="6905625" cy="1823506"/>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b0efd41802c492c"/>
          <a:stretch xmlns:a="http://schemas.openxmlformats.org/drawingml/2006/main"/>
        </p:blipFill>
        <p:spPr>
          <a:xfrm xmlns:a="http://schemas.openxmlformats.org/drawingml/2006/main">
            <a:off x="381000" y="3596791"/>
            <a:ext cx="6905625" cy="17313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D14649-9870-4385-994E-6C7FD87A6668}"/>
              </a:ext>
            </a:extLst>
          </p:cNvPr>
          <p:cNvSpPr>
            <a:spLocks xmlns:a="http://schemas.openxmlformats.org/drawingml/2006/main" noGrp="1"/>
          </p:cNvSpPr>
          <p:nvPr/>
        </p:nvSpPr>
        <p:spPr>
          <a:xfrm xmlns:a="http://schemas.openxmlformats.org/drawingml/2006/main">
            <a:off x="7715250" y="1619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08E99"/>
                </a:solidFill>
                <a:latin typeface="Meiryo"/>
                <a:ea typeface="Meiryo"/>
                <a:cs typeface="Meiryo"/>
              </a:defRPr>
            </a:pPr>
            <a:r>
              <a:rPr sz="2175" b="1">
                <a:solidFill>
                  <a:srgbClr val="008E99"/>
                </a:solidFill>
                <a:latin typeface="Meiryo"/>
                <a:ea typeface="Meiryo"/>
                <a:cs typeface="Meiryo"/>
              </a:rPr>
              <a:t>61個の回帰データ</a:t>
            </a:r>
          </a:p>
        </p:txBody>
      </p:sp>
      <p:sp>
        <p:nvSpPr>
          <p:cNvPr id="7" name="">
            <a:extLst xmlns:a="http://schemas.openxmlformats.org/drawingml/2006/main">
              <a:ext uri="{FF2B5EF4-FFF2-40B4-BE49-F238E27FC236}">
                <a16:creationId xmlns:a16="http://schemas.microsoft.com/office/drawing/2014/main" id="{612E5811-F458-44F3-9F75-53423C43171D}"/>
              </a:ext>
            </a:extLst>
          </p:cNvPr>
          <p:cNvSpPr>
            <a:spLocks xmlns:a="http://schemas.openxmlformats.org/drawingml/2006/main" noGrp="1"/>
          </p:cNvSpPr>
          <p:nvPr/>
        </p:nvSpPr>
        <p:spPr>
          <a:xfrm xmlns:a="http://schemas.openxmlformats.org/drawingml/2006/main">
            <a:off x="7715250" y="2352675"/>
            <a:ext cx="3905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指標：AUC-PR</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順位は小さいほど上位。</a:t>
            </a:r>
          </a:p>
          <a:p xmlns:a="http://schemas.openxmlformats.org/drawingml/2006/main">
            <a:r>
              <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jointでOutProが上位。</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warpでは従来法も有力。</a:t>
            </a:r>
          </a:p>
          <a:p xmlns:a="http://schemas.openxmlformats.org/drawingml/2006/main">
            <a:r>
              <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時系列・水系での検証は</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別途必要。</a:t>
            </a:r>
          </a:p>
        </p:txBody>
      </p:sp>
      <p:sp>
        <p:nvSpPr>
          <p:cNvPr id="8" name="">
            <a:extLst xmlns:a="http://schemas.openxmlformats.org/drawingml/2006/main">
              <a:ext uri="{FF2B5EF4-FFF2-40B4-BE49-F238E27FC236}">
                <a16:creationId xmlns:a16="http://schemas.microsoft.com/office/drawing/2014/main" id="{01DB0247-67B1-4C82-BA54-E340C7E617D8}"/>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28F45B-AA78-49AD-AC2D-E59393FD5559}"/>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8273C"/>
                </a:solidFill>
                <a:latin typeface="Meiryo"/>
                <a:ea typeface="Meiryo"/>
                <a:cs typeface="Meiryo"/>
              </a:defRPr>
            </a:pPr>
            <a:r>
              <a:rPr sz="1575" b="1">
                <a:solidFill>
                  <a:srgbClr val="08273C"/>
                </a:solidFill>
                <a:latin typeface="Meiryo"/>
                <a:ea typeface="Meiryo"/>
                <a:cs typeface="Meiryo"/>
              </a:rPr>
              <a:t>回帰への適用根拠はあるが、水処理・配水データでの有効性は未検証</a:t>
            </a:r>
          </a:p>
        </p:txBody>
      </p:sp>
      <p:sp>
        <p:nvSpPr>
          <p:cNvPr id="10" name="">
            <a:extLst xmlns:a="http://schemas.openxmlformats.org/drawingml/2006/main">
              <a:ext uri="{FF2B5EF4-FFF2-40B4-BE49-F238E27FC236}">
                <a16:creationId xmlns:a16="http://schemas.microsoft.com/office/drawing/2014/main" id="{C3E10328-F480-41CD-82C7-524384D50CC7}"/>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13 §5.2–5.3、§7</a:t>
            </a:r>
          </a:p>
        </p:txBody>
      </p:sp>
      <p:sp>
        <p:nvSpPr>
          <p:cNvPr id="15" name="">
            <a:extLst xmlns:a="http://schemas.openxmlformats.org/drawingml/2006/main">
              <a:ext uri="{FF2B5EF4-FFF2-40B4-BE49-F238E27FC236}">
                <a16:creationId xmlns:a16="http://schemas.microsoft.com/office/drawing/2014/main" id="{96B9C3FA-EFD2-4358-8163-413445E9AD49}"/>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9" name="">
            <a:extLst xmlns:a="http://schemas.openxmlformats.org/drawingml/2006/main">
              <a:ext uri="{FF2B5EF4-FFF2-40B4-BE49-F238E27FC236}">
                <a16:creationId xmlns:a16="http://schemas.microsoft.com/office/drawing/2014/main" id="{57E2071E-D652-4BEF-8CC1-14B6D834AF73}"/>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20</a:t>
            </a:r>
          </a:p>
        </p:txBody>
      </p:sp>
    </p:spTree>
    <p:extLst>
      <p:ext uri="{BB962C8B-B14F-4D97-AF65-F5344CB8AC3E}">
        <p14:creationId xmlns:p14="http://schemas.microsoft.com/office/powerpoint/2010/main" val="199993436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2ED04C-C797-4CFA-A715-B187EF485A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4AC6F0-E249-48E4-8CD2-F961CFDEDF20}"/>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山原：末端圧力推定の適用領域</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44728854cbe4108"/>
          <a:stretch xmlns:a="http://schemas.openxmlformats.org/drawingml/2006/main"/>
        </p:blipFill>
        <p:spPr>
          <a:xfrm xmlns:a="http://schemas.openxmlformats.org/drawingml/2006/main">
            <a:off x="428625" y="2058535"/>
            <a:ext cx="7000875" cy="26456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4135C6-645C-4741-895C-48E2CBA1FE60}"/>
              </a:ext>
            </a:extLst>
          </p:cNvPr>
          <p:cNvSpPr>
            <a:spLocks xmlns:a="http://schemas.openxmlformats.org/drawingml/2006/main" noGrp="1"/>
          </p:cNvSpPr>
          <p:nvPr/>
        </p:nvSpPr>
        <p:spPr>
          <a:xfrm xmlns:a="http://schemas.openxmlformats.org/drawingml/2006/main">
            <a:off x="7858125" y="16192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1">
                <a:solidFill>
                  <a:srgbClr val="008E99"/>
                </a:solidFill>
                <a:latin typeface="Meiryo"/>
                <a:ea typeface="Meiryo"/>
                <a:cs typeface="Meiryo"/>
              </a:defRPr>
            </a:pPr>
            <a:r>
              <a:rPr sz="2100" b="1">
                <a:solidFill>
                  <a:srgbClr val="008E99"/>
                </a:solidFill>
                <a:latin typeface="Meiryo"/>
                <a:ea typeface="Meiryo"/>
                <a:cs typeface="Meiryo"/>
              </a:rPr>
              <a:t>配水圧力モデルの実例</a:t>
            </a:r>
          </a:p>
        </p:txBody>
      </p:sp>
      <p:sp>
        <p:nvSpPr>
          <p:cNvPr id="6" name="">
            <a:extLst xmlns:a="http://schemas.openxmlformats.org/drawingml/2006/main">
              <a:ext uri="{FF2B5EF4-FFF2-40B4-BE49-F238E27FC236}">
                <a16:creationId xmlns:a16="http://schemas.microsoft.com/office/drawing/2014/main" id="{0F86291B-48EA-4E7B-A05F-A3814E79B7BF}"/>
              </a:ext>
            </a:extLst>
          </p:cNvPr>
          <p:cNvSpPr>
            <a:spLocks xmlns:a="http://schemas.openxmlformats.org/drawingml/2006/main" noGrp="1"/>
          </p:cNvSpPr>
          <p:nvPr/>
        </p:nvSpPr>
        <p:spPr>
          <a:xfrm xmlns:a="http://schemas.openxmlformats.org/drawingml/2006/main">
            <a:off x="7858125" y="2428875"/>
            <a:ext cx="385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範囲・平均距離・近傍距離</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3系統、5方式を比較</a:t>
            </a:r>
          </a:p>
          <a:p xmlns:a="http://schemas.openxmlformats.org/drawingml/2006/main">
            <a:r>
              <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|推定誤差| &gt; 0.022 MPa</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を用いる代理ラベルも評価。</a:t>
            </a:r>
          </a:p>
          <a:p xmlns:a="http://schemas.openxmlformats.org/drawingml/2006/main">
            <a:pPr>
              <a:buNone/>
              <a:defRPr sz="1800" b="0">
                <a:solidFill>
                  <a:srgbClr val="19384B"/>
                </a:solidFill>
                <a:latin typeface="Meiryo"/>
                <a:ea typeface="Meiryo"/>
                <a:cs typeface="Meiryo"/>
              </a:defRPr>
            </a:pPr>
            <a:r>
              <a:rPr sz="1800" b="0">
                <a:solidFill>
                  <a:srgbClr val="19384B"/>
                </a:solidFill>
                <a:latin typeface="Meiryo"/>
                <a:ea typeface="Meiryo"/>
                <a:cs typeface="Meiryo"/>
              </a:rPr>
              <a:t>真のOODラベルとは異なる。</a:t>
            </a:r>
          </a:p>
        </p:txBody>
      </p:sp>
      <p:sp>
        <p:nvSpPr>
          <p:cNvPr id="7" name="">
            <a:extLst xmlns:a="http://schemas.openxmlformats.org/drawingml/2006/main">
              <a:ext uri="{FF2B5EF4-FFF2-40B4-BE49-F238E27FC236}">
                <a16:creationId xmlns:a16="http://schemas.microsoft.com/office/drawing/2014/main" id="{5D54BE82-2B4A-441B-ADD2-312F63BCD2B0}"/>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A119969-58C9-41A9-910B-D6DF623C7957}"/>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8273C"/>
                </a:solidFill>
                <a:latin typeface="Meiryo"/>
                <a:ea typeface="Meiryo"/>
                <a:cs typeface="Meiryo"/>
              </a:defRPr>
            </a:pPr>
            <a:r>
              <a:rPr sz="1575" b="1">
                <a:solidFill>
                  <a:srgbClr val="08273C"/>
                </a:solidFill>
                <a:latin typeface="Meiryo"/>
                <a:ea typeface="Meiryo"/>
                <a:cs typeface="Meiryo"/>
              </a:rPr>
              <a:t>AD内外の分類と、実際の圧力推定誤差との関係を評価する</a:t>
            </a:r>
          </a:p>
        </p:txBody>
      </p:sp>
      <p:sp>
        <p:nvSpPr>
          <p:cNvPr id="9" name="">
            <a:extLst xmlns:a="http://schemas.openxmlformats.org/drawingml/2006/main">
              <a:ext uri="{FF2B5EF4-FFF2-40B4-BE49-F238E27FC236}">
                <a16:creationId xmlns:a16="http://schemas.microsoft.com/office/drawing/2014/main" id="{BFB3AF4B-F154-4018-B201-CA85EF324F38}"/>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山原 §3–5、Fig. 3。図は提供されたスキャンから引用</a:t>
            </a:r>
          </a:p>
        </p:txBody>
      </p:sp>
      <p:sp>
        <p:nvSpPr>
          <p:cNvPr id="13" name="">
            <a:extLst xmlns:a="http://schemas.openxmlformats.org/drawingml/2006/main">
              <a:ext uri="{FF2B5EF4-FFF2-40B4-BE49-F238E27FC236}">
                <a16:creationId xmlns:a16="http://schemas.microsoft.com/office/drawing/2014/main" id="{C33F7721-9437-4FCB-BB99-2FB620614DE2}"/>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6" name="">
            <a:extLst xmlns:a="http://schemas.openxmlformats.org/drawingml/2006/main">
              <a:ext uri="{FF2B5EF4-FFF2-40B4-BE49-F238E27FC236}">
                <a16:creationId xmlns:a16="http://schemas.microsoft.com/office/drawing/2014/main" id="{0ABE97A5-7F07-4106-A392-66C956D00003}"/>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21</a:t>
            </a:r>
          </a:p>
        </p:txBody>
      </p:sp>
    </p:spTree>
    <p:extLst>
      <p:ext uri="{BB962C8B-B14F-4D97-AF65-F5344CB8AC3E}">
        <p14:creationId xmlns:p14="http://schemas.microsoft.com/office/powerpoint/2010/main" val="185552414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47A407-C2E0-4ECC-BA9C-77585EC5B3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5F399F-B334-4769-B1C3-E9948533E3E8}"/>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付録A　各論文の分類を並べて読む</a:t>
            </a:r>
          </a:p>
        </p:txBody>
      </p:sp>
      <p:graphicFrame>
        <p:nvGraphicFramePr>
          <p:cNvPr id="15"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1928115"/>
                <a:gridCol w="4232448"/>
                <a:gridCol w="5078937"/>
              </a:tblGrid>
              <a:tr h="666750">
                <a:tc>
                  <a:txBody>
                    <a:bodyPr/>
                    <a:lstStyle/>
                    <a:p>
                      <a:r>
                        <a:rPr sz="1650" b="1">
                          <a:solidFill>
                            <a:srgbClr val="FFFFFF"/>
                          </a:solidFill>
                          <a:latin typeface="Meiryo"/>
                          <a:ea typeface="Meiryo"/>
                          <a:cs typeface="Meiryo"/>
                        </a:rPr>
                        <a:t>出典</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上位の整理</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詳細・注意点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S1 §3.2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Point / Contextual / Collective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文脈には他変数との関係も含まれる</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S3 §2</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入力 / 外れ値の種類 / 手法の性質</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単変量・多変量、点・部分列・系列</a:t>
                      </a:r>
                    </a:p>
                    <a:p>
                      <a:r>
                        <a:rPr sz="1650" b="0">
                          <a:solidFill>
                            <a:srgbClr val="19384B"/>
                          </a:solidFill>
                          <a:latin typeface="Meiryo"/>
                          <a:ea typeface="Meiryo"/>
                          <a:cs typeface="Meiryo"/>
                        </a:rPr>
                        <a:t>時間順序とstreamingも別途確認</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 §2.2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Intra-metric</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Global / Local point</a:t>
                      </a:r>
                    </a:p>
                    <a:p>
                      <a:r>
                        <a:rPr sz="1650" b="0">
                          <a:solidFill>
                            <a:srgbClr val="19384B"/>
                          </a:solidFill>
                          <a:latin typeface="Meiryo"/>
                          <a:ea typeface="Meiryo"/>
                          <a:cs typeface="Meiryo"/>
                        </a:rPr>
                        <a:t>Shapelet / Trend / Cycle</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S6 §2.2</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Inter-metric</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Global / Local / Temporal-local</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 §3</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Forecasting / Reconstruction / Contrastive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ネットワーク構造、学習形態、</a:t>
                      </a:r>
                    </a:p>
                    <a:p>
                      <a:r>
                        <a:rPr sz="1650" b="0">
                          <a:solidFill>
                            <a:srgbClr val="19384B"/>
                          </a:solidFill>
                          <a:latin typeface="Meiryo"/>
                          <a:ea typeface="Meiryo"/>
                          <a:cs typeface="Meiryo"/>
                        </a:rPr>
                        <a:t>時間・周波数領域、Point / Window</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8E356F82-B603-4C12-A9B9-20D8EAE682A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S1 §3–4、S3 §2–3、S6 §2–3</a:t>
            </a:r>
          </a:p>
        </p:txBody>
      </p:sp>
      <p:sp>
        <p:nvSpPr>
          <p:cNvPr id="9" name="">
            <a:extLst xmlns:a="http://schemas.openxmlformats.org/drawingml/2006/main">
              <a:ext uri="{FF2B5EF4-FFF2-40B4-BE49-F238E27FC236}">
                <a16:creationId xmlns:a16="http://schemas.microsoft.com/office/drawing/2014/main" id="{E1DDBDE7-5729-4042-815D-6393066F65C7}"/>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2" name="">
            <a:extLst xmlns:a="http://schemas.openxmlformats.org/drawingml/2006/main">
              <a:ext uri="{FF2B5EF4-FFF2-40B4-BE49-F238E27FC236}">
                <a16:creationId xmlns:a16="http://schemas.microsoft.com/office/drawing/2014/main" id="{01D2F845-C2DC-48F5-B2FF-08549AA127AE}"/>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22</a:t>
            </a:r>
          </a:p>
        </p:txBody>
      </p:sp>
    </p:spTree>
    <p:extLst>
      <p:ext uri="{BB962C8B-B14F-4D97-AF65-F5344CB8AC3E}">
        <p14:creationId xmlns:p14="http://schemas.microsoft.com/office/powerpoint/2010/main" val="199399099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AC7286-1281-4C72-9BEC-450C565D79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D0CCF4-8E30-4D0A-A631-4D47FCEBFAFD}"/>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付録B　OutProの情報要件と未確認事項</a:t>
            </a:r>
          </a:p>
        </p:txBody>
      </p:sp>
      <p:graphicFrame>
        <p:nvGraphicFramePr>
          <p:cNvPr id="15"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210278"/>
                <a:gridCol w="9029222"/>
              </a:tblGrid>
              <a:tr h="666750">
                <a:tc>
                  <a:txBody>
                    <a:bodyPr/>
                    <a:lstStyle/>
                    <a:p>
                      <a:r>
                        <a:rPr sz="1650" b="1">
                          <a:solidFill>
                            <a:srgbClr val="FFFFFF"/>
                          </a:solidFill>
                          <a:latin typeface="Meiryo"/>
                          <a:ea typeface="Meiryo"/>
                          <a:cs typeface="Meiryo"/>
                        </a:rPr>
                        <a:t>項目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整理内容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必要情報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訓練：IDのX,Y、教師あり森林、VarPro</a:t>
                      </a:r>
                    </a:p>
                    <a:p>
                      <a:r>
                        <a:rPr sz="1650" b="0">
                          <a:solidFill>
                            <a:srgbClr val="19384B"/>
                          </a:solidFill>
                          <a:latin typeface="Meiryo"/>
                          <a:ea typeface="Meiryo"/>
                          <a:cs typeface="Meiryo"/>
                        </a:rPr>
                        <a:t>運用：現在のX、森林ルール、参照訓練点</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スコア</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通常は選択変数S上でK近傍への距離を平均</a:t>
                      </a:r>
                    </a:p>
                    <a:p>
                      <a:r>
                        <a:rPr sz="1650" b="0">
                          <a:solidFill>
                            <a:srgbClr val="19384B"/>
                          </a:solidFill>
                          <a:latin typeface="Meiryo"/>
                          <a:ea typeface="Meiryo"/>
                          <a:cs typeface="Meiryo"/>
                        </a:rPr>
                        <a:t>OPTICS版は到達可能性のスコアを使用</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近傍の選び方</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変数制約を解放した領域内の出現回数と</a:t>
                      </a:r>
                    </a:p>
                    <a:p>
                      <a:r>
                        <a:rPr sz="1650" b="0">
                          <a:solidFill>
                            <a:srgbClr val="19384B"/>
                          </a:solidFill>
                          <a:latin typeface="Meiryo"/>
                          <a:ea typeface="Meiryo"/>
                          <a:cs typeface="Meiryo"/>
                        </a:rPr>
                        <a:t>変数間の頻度分布を用いて順位付け</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閾値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AUC-PR評価は閾値を固定しない</a:t>
                      </a:r>
                    </a:p>
                    <a:p>
                      <a:r>
                        <a:rPr sz="1650" b="0">
                          <a:solidFill>
                            <a:srgbClr val="19384B"/>
                          </a:solidFill>
                          <a:latin typeface="Meiryo"/>
                          <a:ea typeface="Meiryo"/>
                          <a:cs typeface="Meiryo"/>
                        </a:rPr>
                        <a:t>臨床例の分位値は実習へ直接転用しない</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制約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森林による変数選択に依存、時間依存を未評価</a:t>
                      </a:r>
                    </a:p>
                    <a:p>
                      <a:r>
                        <a:rPr sz="1650" b="0">
                          <a:solidFill>
                            <a:srgbClr val="19384B"/>
                          </a:solidFill>
                          <a:latin typeface="Meiryo"/>
                          <a:ea typeface="Meiryo"/>
                          <a:cs typeface="Meiryo"/>
                        </a:rPr>
                        <a:t>純粋なconcept shiftは検知対象外</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694D37D9-F4CB-48DE-ACB9-C0A082E1DED2}"/>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13 §3、§5、§6、§7</a:t>
            </a:r>
          </a:p>
        </p:txBody>
      </p:sp>
      <p:sp>
        <p:nvSpPr>
          <p:cNvPr id="9" name="">
            <a:extLst xmlns:a="http://schemas.openxmlformats.org/drawingml/2006/main">
              <a:ext uri="{FF2B5EF4-FFF2-40B4-BE49-F238E27FC236}">
                <a16:creationId xmlns:a16="http://schemas.microsoft.com/office/drawing/2014/main" id="{43BA0857-58FC-4387-9160-AD6CB6DF68B4}"/>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2" name="">
            <a:extLst xmlns:a="http://schemas.openxmlformats.org/drawingml/2006/main">
              <a:ext uri="{FF2B5EF4-FFF2-40B4-BE49-F238E27FC236}">
                <a16:creationId xmlns:a16="http://schemas.microsoft.com/office/drawing/2014/main" id="{C677AF92-8D21-486A-B8C4-21C510DD3137}"/>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23</a:t>
            </a:r>
          </a:p>
        </p:txBody>
      </p:sp>
    </p:spTree>
    <p:extLst>
      <p:ext uri="{BB962C8B-B14F-4D97-AF65-F5344CB8AC3E}">
        <p14:creationId xmlns:p14="http://schemas.microsoft.com/office/powerpoint/2010/main" val="205104874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C6FB2-F423-4530-A4F5-9EAAD86E71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D5B7C5-E20E-45DD-BA80-AA82E088D334}"/>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付録C　AE系の情報要件と未確認事項</a:t>
            </a:r>
          </a:p>
        </p:txBody>
      </p:sp>
      <p:graphicFrame>
        <p:nvGraphicFramePr>
          <p:cNvPr id="15"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210278"/>
                <a:gridCol w="9029222"/>
              </a:tblGrid>
              <a:tr h="666750">
                <a:tc>
                  <a:txBody>
                    <a:bodyPr/>
                    <a:lstStyle/>
                    <a:p>
                      <a:r>
                        <a:rPr sz="1650" b="1">
                          <a:solidFill>
                            <a:srgbClr val="FFFFFF"/>
                          </a:solidFill>
                          <a:latin typeface="Meiryo"/>
                          <a:ea typeface="Meiryo"/>
                          <a:cs typeface="Meiryo"/>
                        </a:rPr>
                        <a:t>項目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整理内容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必要情報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訓練：正常なX</a:t>
                      </a:r>
                    </a:p>
                    <a:p>
                      <a:r>
                        <a:rPr sz="1650" b="0">
                          <a:solidFill>
                            <a:srgbClr val="19384B"/>
                          </a:solidFill>
                          <a:latin typeface="Meiryo"/>
                          <a:ea typeface="Meiryo"/>
                          <a:cs typeface="Meiryo"/>
                        </a:rPr>
                        <a:t>運用：現在のXと学習済みAE</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スコア</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元の観測空間での再構成誤差のL2ノルム</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学習設定</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通常AEと、入力の一部を0にするノイズ除去AEを比較</a:t>
                      </a:r>
                    </a:p>
                    <a:p>
                      <a:r>
                        <a:rPr sz="1650" b="0">
                          <a:solidFill>
                            <a:srgbClr val="19384B"/>
                          </a:solidFill>
                          <a:latin typeface="Meiryo"/>
                          <a:ea typeface="Meiryo"/>
                          <a:cs typeface="Meiryo"/>
                        </a:rPr>
                        <a:t>潜在次元などのパラメータは手動で調整</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評価と閾値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合成・衛星データで平均AUCを報告</a:t>
                      </a:r>
                    </a:p>
                    <a:p>
                      <a:r>
                        <a:rPr sz="1650" b="0">
                          <a:solidFill>
                            <a:srgbClr val="19384B"/>
                          </a:solidFill>
                          <a:latin typeface="Meiryo"/>
                          <a:ea typeface="Meiryo"/>
                          <a:cs typeface="Meiryo"/>
                        </a:rPr>
                        <a:t>運用向けの汎用的な閾値決定手順は未提示</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制約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正常時の関係を学習できることが前提</a:t>
                      </a:r>
                    </a:p>
                    <a:p>
                      <a:r>
                        <a:rPr sz="1650" b="0">
                          <a:solidFill>
                            <a:srgbClr val="19384B"/>
                          </a:solidFill>
                          <a:latin typeface="Meiryo"/>
                          <a:ea typeface="Meiryo"/>
                          <a:cs typeface="Meiryo"/>
                        </a:rPr>
                        <a:t>低密度の全領域や大回帰誤差を必ず検知する保証はない</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D857A54D-64C2-4AAF-AC7F-7480ACD3758A}"/>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14 §3–6、Table 1</a:t>
            </a:r>
          </a:p>
        </p:txBody>
      </p:sp>
      <p:sp>
        <p:nvSpPr>
          <p:cNvPr id="9" name="">
            <a:extLst xmlns:a="http://schemas.openxmlformats.org/drawingml/2006/main">
              <a:ext uri="{FF2B5EF4-FFF2-40B4-BE49-F238E27FC236}">
                <a16:creationId xmlns:a16="http://schemas.microsoft.com/office/drawing/2014/main" id="{AEFE18D5-4079-4E8B-B31C-0CF2BE8ACECF}"/>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2" name="">
            <a:extLst xmlns:a="http://schemas.openxmlformats.org/drawingml/2006/main">
              <a:ext uri="{FF2B5EF4-FFF2-40B4-BE49-F238E27FC236}">
                <a16:creationId xmlns:a16="http://schemas.microsoft.com/office/drawing/2014/main" id="{F867131C-186C-477B-A031-A8FD5C7AE211}"/>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24</a:t>
            </a:r>
          </a:p>
        </p:txBody>
      </p:sp>
    </p:spTree>
    <p:extLst>
      <p:ext uri="{BB962C8B-B14F-4D97-AF65-F5344CB8AC3E}">
        <p14:creationId xmlns:p14="http://schemas.microsoft.com/office/powerpoint/2010/main" val="211021923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0BCE27-44A1-4066-9039-E9A5037CB8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B55674-5B83-44BD-855F-67FB9A89F829}"/>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付録D　データセット情報の確認状況</a:t>
            </a:r>
          </a:p>
        </p:txBody>
      </p:sp>
      <p:graphicFrame>
        <p:nvGraphicFramePr>
          <p:cNvPr id="15"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3150822"/>
                <a:gridCol w="5220019"/>
                <a:gridCol w="2868659"/>
              </a:tblGrid>
              <a:tr h="666750">
                <a:tc>
                  <a:txBody>
                    <a:bodyPr/>
                    <a:lstStyle/>
                    <a:p>
                      <a:r>
                        <a:rPr sz="1650" b="1">
                          <a:solidFill>
                            <a:srgbClr val="FFFFFF"/>
                          </a:solidFill>
                          <a:latin typeface="Meiryo"/>
                          <a:ea typeface="Meiryo"/>
                          <a:cs typeface="Meiryo"/>
                        </a:rPr>
                        <a:t>データ</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論文に記載された規模・分割</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追加確認</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SWaT</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訓練496,800 / テスト449,919、51変数</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時間粒度・対象Y・版</a:t>
                      </a:r>
                    </a:p>
                    <a:p>
                      <a:r>
                        <a:rPr sz="1650" b="0">
                          <a:solidFill>
                            <a:srgbClr val="19384B"/>
                          </a:solidFill>
                          <a:latin typeface="Meiryo"/>
                          <a:ea typeface="Meiryo"/>
                          <a:cs typeface="Meiryo"/>
                        </a:rPr>
                        <a:t>利用許諾</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WADI</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訓練1,209,601 / テスト172,801、123変数</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時間粒度・対象Y・版</a:t>
                      </a:r>
                    </a:p>
                    <a:p>
                      <a:r>
                        <a:rPr sz="1650" b="0">
                          <a:solidFill>
                            <a:srgbClr val="19384B"/>
                          </a:solidFill>
                          <a:latin typeface="Meiryo"/>
                          <a:ea typeface="Meiryo"/>
                          <a:cs typeface="Meiryo"/>
                        </a:rPr>
                        <a:t>利用許諾</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PMLB（13の選択集合）</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61データ、n=47–1,066、d=10–124</a:t>
                      </a:r>
                    </a:p>
                    <a:p>
                      <a:r>
                        <a:rPr sz="1650" b="0">
                          <a:solidFill>
                            <a:srgbClr val="19384B"/>
                          </a:solidFill>
                          <a:latin typeface="Meiryo"/>
                          <a:ea typeface="Meiryo"/>
                          <a:cs typeface="Meiryo"/>
                        </a:rPr>
                        <a:t>80% / 20%分割</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各データの来歴</a:t>
                      </a:r>
                    </a:p>
                    <a:p>
                      <a:r>
                        <a:rPr sz="1650" b="0">
                          <a:solidFill>
                            <a:srgbClr val="19384B"/>
                          </a:solidFill>
                          <a:latin typeface="Meiryo"/>
                          <a:ea typeface="Meiryo"/>
                          <a:cs typeface="Meiryo"/>
                        </a:rPr>
                        <a:t>ライセンス</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Lorenz（14）</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1,000点、25次元、0.1秒間隔</a:t>
                      </a:r>
                    </a:p>
                    <a:p>
                      <a:r>
                        <a:rPr sz="1650" b="0">
                          <a:solidFill>
                            <a:srgbClr val="19384B"/>
                          </a:solidFill>
                          <a:latin typeface="Meiryo"/>
                          <a:ea typeface="Meiryo"/>
                          <a:cs typeface="Meiryo"/>
                        </a:rPr>
                        <a:t>訓練700 / テスト300</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生成の再現条件・乱数設定</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Satellite-A / B</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17変数 / 106変数</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取得方法・ラベル定義</a:t>
                      </a:r>
                    </a:p>
                    <a:p>
                      <a:r>
                        <a:rPr sz="1650" b="0">
                          <a:solidFill>
                            <a:srgbClr val="19384B"/>
                          </a:solidFill>
                          <a:latin typeface="Meiryo"/>
                          <a:ea typeface="Meiryo"/>
                          <a:cs typeface="Meiryo"/>
                        </a:rPr>
                        <a:t>利用条件</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422ECA86-8D81-4ED0-ADF6-9177C3B3774C}"/>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S1 Table 1、13 §5.3、14 §4。数値は各論文の使用版に限る</a:t>
            </a:r>
          </a:p>
        </p:txBody>
      </p:sp>
      <p:sp>
        <p:nvSpPr>
          <p:cNvPr id="9" name="">
            <a:extLst xmlns:a="http://schemas.openxmlformats.org/drawingml/2006/main">
              <a:ext uri="{FF2B5EF4-FFF2-40B4-BE49-F238E27FC236}">
                <a16:creationId xmlns:a16="http://schemas.microsoft.com/office/drawing/2014/main" id="{2F403F1A-D37B-4203-946A-E326B18B361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2" name="">
            <a:extLst xmlns:a="http://schemas.openxmlformats.org/drawingml/2006/main">
              <a:ext uri="{FF2B5EF4-FFF2-40B4-BE49-F238E27FC236}">
                <a16:creationId xmlns:a16="http://schemas.microsoft.com/office/drawing/2014/main" id="{84AD9F1C-EF31-47A3-A2A7-514640FED5B2}"/>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25</a:t>
            </a:r>
          </a:p>
        </p:txBody>
      </p:sp>
    </p:spTree>
    <p:extLst>
      <p:ext uri="{BB962C8B-B14F-4D97-AF65-F5344CB8AC3E}">
        <p14:creationId xmlns:p14="http://schemas.microsoft.com/office/powerpoint/2010/main" val="5961152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4B5E11-A4E0-4BE9-A6DA-62DE658FB5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52C1C3-5ABC-4878-A6B6-298F9DB855D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参考文献</a:t>
            </a:r>
          </a:p>
        </p:txBody>
      </p:sp>
      <p:sp>
        <p:nvSpPr>
          <p:cNvPr id="4" name="">
            <a:extLst xmlns:a="http://schemas.openxmlformats.org/drawingml/2006/main">
              <a:ext uri="{FF2B5EF4-FFF2-40B4-BE49-F238E27FC236}">
                <a16:creationId xmlns:a16="http://schemas.microsoft.com/office/drawing/2014/main" id="{F057CCCD-4FEA-4040-90BD-D1AF79CBDC62}"/>
              </a:ext>
            </a:extLst>
          </p:cNvPr>
          <p:cNvSpPr>
            <a:spLocks xmlns:a="http://schemas.openxmlformats.org/drawingml/2006/main" noGrp="1"/>
          </p:cNvSpPr>
          <p:nvPr/>
        </p:nvSpPr>
        <p:spPr>
          <a:xfrm xmlns:a="http://schemas.openxmlformats.org/drawingml/2006/main">
            <a:off x="523875" y="156210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[S1] Audibert, J., Michiardi, P., Guyard, F., Marti, S., Zuluaga, M. A. (2022). Do Deep Neural Networks Contribute to Multivariate Time Series Anomaly Detection? Pattern Recognition.</a:t>
            </a:r>
          </a:p>
        </p:txBody>
      </p:sp>
      <p:sp>
        <p:nvSpPr>
          <p:cNvPr id="5" name="">
            <a:extLst xmlns:a="http://schemas.openxmlformats.org/drawingml/2006/main">
              <a:ext uri="{FF2B5EF4-FFF2-40B4-BE49-F238E27FC236}">
                <a16:creationId xmlns:a16="http://schemas.microsoft.com/office/drawing/2014/main" id="{175D28E0-6BC6-4C02-88A2-6FF6EEC48AE9}"/>
              </a:ext>
            </a:extLst>
          </p:cNvPr>
          <p:cNvSpPr>
            <a:spLocks xmlns:a="http://schemas.openxmlformats.org/drawingml/2006/main" noGrp="1"/>
          </p:cNvSpPr>
          <p:nvPr/>
        </p:nvSpPr>
        <p:spPr>
          <a:xfrm xmlns:a="http://schemas.openxmlformats.org/drawingml/2006/main">
            <a:off x="523875" y="291465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[S3] Blázquez-García, A., Conde, A., Mori, U., Lozano, J. A. (2021). A Review on Outlier/Anomaly Detection in Time Series Data. ACM Computing Surveys, 54(3), Article 56. DOI: 10.1145/3444690.</a:t>
            </a:r>
          </a:p>
        </p:txBody>
      </p:sp>
      <p:sp>
        <p:nvSpPr>
          <p:cNvPr id="6" name="">
            <a:extLst xmlns:a="http://schemas.openxmlformats.org/drawingml/2006/main">
              <a:ext uri="{FF2B5EF4-FFF2-40B4-BE49-F238E27FC236}">
                <a16:creationId xmlns:a16="http://schemas.microsoft.com/office/drawing/2014/main" id="{9FC5795B-7901-4BDD-AB9E-7F6D1D17B38F}"/>
              </a:ext>
            </a:extLst>
          </p:cNvPr>
          <p:cNvSpPr>
            <a:spLocks xmlns:a="http://schemas.openxmlformats.org/drawingml/2006/main" noGrp="1"/>
          </p:cNvSpPr>
          <p:nvPr/>
        </p:nvSpPr>
        <p:spPr>
          <a:xfrm xmlns:a="http://schemas.openxmlformats.org/drawingml/2006/main">
            <a:off x="523875" y="426720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[S6] Wang, F., Jiang, Y., Zhang, R., Wei, A., Xie, J., Pang, X. (2025). A Survey of Deep Anomaly Detection in Multivariate Time Series: Taxonomy, Applications, and Directions. Sensors, 25, 190. DOI: 10.3390/s25010190.</a:t>
            </a:r>
          </a:p>
        </p:txBody>
      </p:sp>
      <p:sp>
        <p:nvSpPr>
          <p:cNvPr id="7" name="">
            <a:extLst xmlns:a="http://schemas.openxmlformats.org/drawingml/2006/main">
              <a:ext uri="{FF2B5EF4-FFF2-40B4-BE49-F238E27FC236}">
                <a16:creationId xmlns:a16="http://schemas.microsoft.com/office/drawing/2014/main" id="{C2CF5DAA-4B10-4707-B40C-5C8FC7FA1FAD}"/>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ユーザー提供PDFの書誌情報</a:t>
            </a:r>
          </a:p>
        </p:txBody>
      </p:sp>
      <p:sp>
        <p:nvSpPr>
          <p:cNvPr id="10" name="">
            <a:extLst xmlns:a="http://schemas.openxmlformats.org/drawingml/2006/main">
              <a:ext uri="{FF2B5EF4-FFF2-40B4-BE49-F238E27FC236}">
                <a16:creationId xmlns:a16="http://schemas.microsoft.com/office/drawing/2014/main" id="{E87CB7F3-2983-4284-9039-375AC0B3E0CE}"/>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1" name="">
            <a:extLst xmlns:a="http://schemas.openxmlformats.org/drawingml/2006/main">
              <a:ext uri="{FF2B5EF4-FFF2-40B4-BE49-F238E27FC236}">
                <a16:creationId xmlns:a16="http://schemas.microsoft.com/office/drawing/2014/main" id="{DA266C72-0918-4998-8476-AC2F6FB9EA90}"/>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26</a:t>
            </a:r>
          </a:p>
        </p:txBody>
      </p:sp>
    </p:spTree>
    <p:extLst>
      <p:ext uri="{BB962C8B-B14F-4D97-AF65-F5344CB8AC3E}">
        <p14:creationId xmlns:p14="http://schemas.microsoft.com/office/powerpoint/2010/main" val="187508054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731019-B4C1-4B78-92CF-B7549D7D86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66354E-2337-4B40-AF1A-C1114886C4B6}"/>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8273C"/>
                </a:solidFill>
                <a:latin typeface="Meiryo"/>
                <a:ea typeface="Meiryo"/>
                <a:cs typeface="Meiryo"/>
              </a:defRPr>
            </a:pPr>
            <a:r>
              <a:rPr sz="2550" b="1">
                <a:solidFill>
                  <a:srgbClr val="08273C"/>
                </a:solidFill>
                <a:latin typeface="Meiryo"/>
                <a:ea typeface="Meiryo"/>
                <a:cs typeface="Meiryo"/>
              </a:rPr>
              <a:t>参考文献と調査要件</a:t>
            </a:r>
          </a:p>
        </p:txBody>
      </p:sp>
      <p:sp>
        <p:nvSpPr>
          <p:cNvPr id="4" name="">
            <a:extLst xmlns:a="http://schemas.openxmlformats.org/drawingml/2006/main">
              <a:ext uri="{FF2B5EF4-FFF2-40B4-BE49-F238E27FC236}">
                <a16:creationId xmlns:a16="http://schemas.microsoft.com/office/drawing/2014/main" id="{8A6A592F-5A3F-4169-960C-1CE99045C33E}"/>
              </a:ext>
            </a:extLst>
          </p:cNvPr>
          <p:cNvSpPr>
            <a:spLocks xmlns:a="http://schemas.openxmlformats.org/drawingml/2006/main" noGrp="1"/>
          </p:cNvSpPr>
          <p:nvPr/>
        </p:nvSpPr>
        <p:spPr>
          <a:xfrm xmlns:a="http://schemas.openxmlformats.org/drawingml/2006/main">
            <a:off x="523875" y="1562100"/>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[13] Lu, M., Ishwaran, H. (2026). General OOD detection via model-aware and subspace-aware variable priority. Knowledge and Information Systems, 68:250. DOI: 10.1007/s10115-026-02872-5.</a:t>
            </a:r>
          </a:p>
        </p:txBody>
      </p:sp>
      <p:sp>
        <p:nvSpPr>
          <p:cNvPr id="5" name="">
            <a:extLst xmlns:a="http://schemas.openxmlformats.org/drawingml/2006/main">
              <a:ext uri="{FF2B5EF4-FFF2-40B4-BE49-F238E27FC236}">
                <a16:creationId xmlns:a16="http://schemas.microsoft.com/office/drawing/2014/main" id="{105CE98E-1862-4BC2-8E7E-73AD0EEE0B44}"/>
              </a:ext>
            </a:extLst>
          </p:cNvPr>
          <p:cNvSpPr>
            <a:spLocks xmlns:a="http://schemas.openxmlformats.org/drawingml/2006/main" noGrp="1"/>
          </p:cNvSpPr>
          <p:nvPr/>
        </p:nvSpPr>
        <p:spPr>
          <a:xfrm xmlns:a="http://schemas.openxmlformats.org/drawingml/2006/main">
            <a:off x="523875" y="2619375"/>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[14] Sakurada, M., Yairi, T. (2014). Anomaly Detection Using Autoencoders with Nonlinear Dimensionality Reduction. MLSDA ’14.</a:t>
            </a:r>
          </a:p>
        </p:txBody>
      </p:sp>
      <p:sp>
        <p:nvSpPr>
          <p:cNvPr id="6" name="">
            <a:extLst xmlns:a="http://schemas.openxmlformats.org/drawingml/2006/main">
              <a:ext uri="{FF2B5EF4-FFF2-40B4-BE49-F238E27FC236}">
                <a16:creationId xmlns:a16="http://schemas.microsoft.com/office/drawing/2014/main" id="{D1CBBE38-674F-489F-B7D1-D26B5F5AB2E2}"/>
              </a:ext>
            </a:extLst>
          </p:cNvPr>
          <p:cNvSpPr>
            <a:spLocks xmlns:a="http://schemas.openxmlformats.org/drawingml/2006/main" noGrp="1"/>
          </p:cNvSpPr>
          <p:nvPr/>
        </p:nvSpPr>
        <p:spPr>
          <a:xfrm xmlns:a="http://schemas.openxmlformats.org/drawingml/2006/main">
            <a:off x="523875" y="3676650"/>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[山原] 山原裕之・横山雄・金谷道昭. 配水管網における圧力推定のための機械学習モデルの適用領域の検討. 刊行年・発表先は提供資料では未確認。</a:t>
            </a:r>
          </a:p>
        </p:txBody>
      </p:sp>
      <p:sp>
        <p:nvSpPr>
          <p:cNvPr id="7" name="">
            <a:extLst xmlns:a="http://schemas.openxmlformats.org/drawingml/2006/main">
              <a:ext uri="{FF2B5EF4-FFF2-40B4-BE49-F238E27FC236}">
                <a16:creationId xmlns:a16="http://schemas.microsoft.com/office/drawing/2014/main" id="{D06D3DBD-3303-4C48-AC6D-F549361E856E}"/>
              </a:ext>
            </a:extLst>
          </p:cNvPr>
          <p:cNvSpPr>
            <a:spLocks xmlns:a="http://schemas.openxmlformats.org/drawingml/2006/main" noGrp="1"/>
          </p:cNvSpPr>
          <p:nvPr/>
        </p:nvSpPr>
        <p:spPr>
          <a:xfrm xmlns:a="http://schemas.openxmlformats.org/drawingml/2006/main">
            <a:off x="523875" y="4733925"/>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19384B"/>
                </a:solidFill>
                <a:latin typeface="Meiryo"/>
                <a:ea typeface="Meiryo"/>
                <a:cs typeface="Meiryo"/>
              </a:defRPr>
            </a:pPr>
            <a:r>
              <a:rPr sz="1650" b="0">
                <a:solidFill>
                  <a:srgbClr val="19384B"/>
                </a:solidFill>
                <a:latin typeface="Meiryo"/>
                <a:ea typeface="Meiryo"/>
                <a:cs typeface="Meiryo"/>
              </a:rPr>
              <a:t>[調査要件] 「学習外入力データ検知手法 調査要求」（実习要求.docx）および読解項目の整理（论文要总结内容.docx）。</a:t>
            </a:r>
          </a:p>
        </p:txBody>
      </p:sp>
      <p:sp>
        <p:nvSpPr>
          <p:cNvPr id="8" name="">
            <a:extLst xmlns:a="http://schemas.openxmlformats.org/drawingml/2006/main">
              <a:ext uri="{FF2B5EF4-FFF2-40B4-BE49-F238E27FC236}">
                <a16:creationId xmlns:a16="http://schemas.microsoft.com/office/drawing/2014/main" id="{74765878-2B6A-4CED-BE45-D9FFA5B83784}"/>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25" b="0">
                <a:solidFill>
                  <a:srgbClr val="586E7C"/>
                </a:solidFill>
                <a:latin typeface="Meiryo"/>
                <a:ea typeface="Meiryo"/>
                <a:cs typeface="Meiryo"/>
              </a:defRPr>
            </a:pPr>
            <a:r>
              <a:rPr sz="825" b="0">
                <a:solidFill>
                  <a:srgbClr val="586E7C"/>
                </a:solidFill>
                <a:latin typeface="Meiryo"/>
                <a:ea typeface="Meiryo"/>
                <a:cs typeface="Meiryo"/>
              </a:rPr>
              <a:t>ユーザー提供PDF・DOCX</a:t>
            </a:r>
          </a:p>
        </p:txBody>
      </p:sp>
      <p:sp>
        <p:nvSpPr>
          <p:cNvPr id="11" name="">
            <a:extLst xmlns:a="http://schemas.openxmlformats.org/drawingml/2006/main">
              <a:ext uri="{FF2B5EF4-FFF2-40B4-BE49-F238E27FC236}">
                <a16:creationId xmlns:a16="http://schemas.microsoft.com/office/drawing/2014/main" id="{B9B0379E-BF69-4FA0-A5D1-4CFCF314C465}"/>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12" name="">
            <a:extLst xmlns:a="http://schemas.openxmlformats.org/drawingml/2006/main">
              <a:ext uri="{FF2B5EF4-FFF2-40B4-BE49-F238E27FC236}">
                <a16:creationId xmlns:a16="http://schemas.microsoft.com/office/drawing/2014/main" id="{B7A414F9-BD1C-4CA1-B8F0-414D3550E0EB}"/>
              </a:ext>
            </a:extLst>
          </p:cNvPr>
          <p:cNvSpPr>
            <a:spLocks xmlns:a="http://schemas.openxmlformats.org/drawingml/2006/main" noGrp="1"/>
          </p:cNvSpPr>
          <p:nvPr/>
        </p:nvSpPr>
        <p:spPr>
          <a:xfrm xmlns:a="http://schemas.openxmlformats.org/drawingml/2006/main">
            <a:off x="11525250" y="646747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7E87"/>
                </a:solidFill>
                <a:latin typeface="Meiryo"/>
                <a:ea typeface="Meiryo"/>
                <a:cs typeface="Meiryo"/>
              </a:defRPr>
            </a:pPr>
            <a:r>
              <a:rPr sz="1125" b="1">
                <a:solidFill>
                  <a:srgbClr val="007E87"/>
                </a:solidFill>
                <a:latin typeface="Meiryo"/>
                <a:ea typeface="Meiryo"/>
                <a:cs typeface="Meiryo"/>
              </a:rPr>
              <a:t>27</a:t>
            </a:r>
          </a:p>
        </p:txBody>
      </p:sp>
    </p:spTree>
    <p:extLst>
      <p:ext uri="{BB962C8B-B14F-4D97-AF65-F5344CB8AC3E}">
        <p14:creationId xmlns:p14="http://schemas.microsoft.com/office/powerpoint/2010/main" val="4242049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2026-09-14T15:19:59.8260000Z</dcterms:created>
  <dcterms:modified xsi:type="dcterms:W3CDTF">2026-09-14T15:19:59.8260000Z</dcterms:modified>
</coreProperties>
</file>