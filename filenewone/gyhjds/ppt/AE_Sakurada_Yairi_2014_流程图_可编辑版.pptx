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91440"/>
            <a:ext cx="6812280" cy="54864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"/>
            <a:ext cx="6400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32D4E"/>
                </a:solidFill>
                <a:latin typeface="Yu Mincho"/>
              </a:rPr>
              <a:t>Autoencoder による異常検知（Sakurada &amp; Yairi, 2014）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6600" y="91440"/>
            <a:ext cx="4965192" cy="54864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69480" y="128016"/>
            <a:ext cx="45720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2D4E"/>
                </a:solidFill>
                <a:latin typeface="Yu Mincho"/>
              </a:rPr>
              <a:t>正常データのみで学習した Autoencoder を用いて、
入力の再構成誤差に基づき学習外データを検知する手法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749808"/>
            <a:ext cx="5806440" cy="402336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EF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D4E"/>
                </a:solidFill>
                <a:latin typeface="Yu Mincho"/>
              </a:rPr>
              <a:t>① 学習フェーズ（正常データのみ）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44768" y="749808"/>
            <a:ext cx="5907024" cy="402336"/>
          </a:xfrm>
          <a:prstGeom prst="roundRect">
            <a:avLst/>
          </a:prstGeom>
          <a:solidFill>
            <a:srgbClr val="E0F2E4"/>
          </a:solidFill>
          <a:ln w="13970">
            <a:solidFill>
              <a:srgbClr val="E0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32D4E"/>
                </a:solidFill>
                <a:latin typeface="Yu Mincho"/>
              </a:rPr>
              <a:t>② 推論フェーズ（実運用時）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53328" y="749808"/>
            <a:ext cx="0" cy="5788152"/>
          </a:xfrm>
          <a:prstGeom prst="line">
            <a:avLst/>
          </a:prstGeom>
          <a:ln>
            <a:solidFill>
              <a:srgbClr val="96B4C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n 8"/>
          <p:cNvSpPr/>
          <p:nvPr/>
        </p:nvSpPr>
        <p:spPr>
          <a:xfrm>
            <a:off x="201168" y="1856231"/>
            <a:ext cx="1234440" cy="960120"/>
          </a:xfrm>
          <a:prstGeom prst="can">
            <a:avLst/>
          </a:prstGeom>
          <a:solidFill>
            <a:srgbClr val="EFF6FC"/>
          </a:solidFill>
          <a:ln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029968"/>
            <a:ext cx="1005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2D4E"/>
                </a:solidFill>
                <a:latin typeface="Yu Mincho"/>
              </a:rPr>
              <a:t>学習データ
D_train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52928"/>
            <a:ext cx="1188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32D4E"/>
                </a:solidFill>
                <a:latin typeface="Yu Mincho"/>
              </a:rPr>
              <a:t>正常データのみ
（ラベル不要）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057400"/>
            <a:ext cx="5029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32D4E"/>
                </a:solidFill>
                <a:latin typeface="Yu Mincho"/>
              </a:rPr>
              <a:t>入力
x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17320" y="2340864"/>
            <a:ext cx="621792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1298448"/>
            <a:ext cx="251460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9192" y="1335024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32D4E"/>
                </a:solidFill>
                <a:latin typeface="Yu Mincho"/>
              </a:rPr>
              <a:t>Autoencoder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1627632"/>
            <a:ext cx="685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Encoder
f(・)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162763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潜在表現
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627632"/>
            <a:ext cx="5943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Decoder
g(・)</a:t>
            </a:r>
          </a:p>
        </p:txBody>
      </p:sp>
      <p:sp>
        <p:nvSpPr>
          <p:cNvPr id="19" name="Oval 18"/>
          <p:cNvSpPr/>
          <p:nvPr/>
        </p:nvSpPr>
        <p:spPr>
          <a:xfrm>
            <a:off x="2267712" y="201168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67712" y="217627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67712" y="234086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67712" y="250545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18004" y="206197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18004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18004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318004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318004" y="222656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318004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318004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318004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318004" y="239115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318004" y="206197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18004" y="222656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318004" y="239115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2651760" y="201168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651760" y="217627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651760" y="234086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2702052" y="206197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02052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702052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702052" y="206197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02052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2052" y="222656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02052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02052" y="222656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02052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02052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702052" y="239115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02052" y="239115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035808" y="2011680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35808" y="2176272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35808" y="2340864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35808" y="2505456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227832" y="2039112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27832" y="2212848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227832" y="2386584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703320" y="201168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03320" y="217627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03320" y="234086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703320" y="250545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3753611" y="206197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753611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753611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753611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753611" y="222656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753611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753611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753611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753611" y="239115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753611" y="206197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753611" y="222656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53611" y="239115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4087368" y="201168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087368" y="217627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087368" y="234086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4137659" y="206197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37659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137659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137659" y="206197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137659" y="206197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37659" y="222656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37659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137659" y="222656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137659" y="206197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137659" y="222656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137659" y="239115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137659" y="239115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4471416" y="2011680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4471416" y="2176272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4471416" y="2340864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471416" y="2505456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>
            <a:off x="4526280" y="2340864"/>
            <a:ext cx="365760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4901184" y="1847088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再構成データ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01184" y="2139696"/>
            <a:ext cx="932688" cy="50292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2D4E"/>
                </a:solidFill>
                <a:latin typeface="Yu Mincho"/>
              </a:rPr>
              <a:t>x̂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423160" y="3227832"/>
            <a:ext cx="1874519" cy="640080"/>
          </a:xfrm>
          <a:prstGeom prst="roundRect">
            <a:avLst/>
          </a:prstGeom>
          <a:solidFill>
            <a:srgbClr val="FDEBEB"/>
          </a:solidFill>
          <a:ln w="1397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32D4E"/>
                </a:solidFill>
                <a:latin typeface="Yu Mincho"/>
              </a:rPr>
              <a:t>再構成誤差で学習
L = ||x − x̂||²
（例：MSE）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367528" y="2651760"/>
            <a:ext cx="0" cy="886968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4297680" y="3538728"/>
            <a:ext cx="1069848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1737360" y="2340864"/>
            <a:ext cx="0" cy="1197864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1737360" y="3538728"/>
            <a:ext cx="685800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164592" y="4069080"/>
            <a:ext cx="5715000" cy="2148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2608" y="4096512"/>
            <a:ext cx="2926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2D4E"/>
                </a:solidFill>
                <a:latin typeface="Yu Mincho"/>
              </a:rPr>
              <a:t>動作イメージ（例：2次元データの再構成誤差）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94360" y="446227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学習データ（正常）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594360" y="5925312"/>
            <a:ext cx="1874519" cy="0"/>
          </a:xfrm>
          <a:prstGeom prst="line">
            <a:avLst/>
          </a:prstGeom>
          <a:ln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94360" y="4736592"/>
            <a:ext cx="0" cy="1188720"/>
          </a:xfrm>
          <a:prstGeom prst="line">
            <a:avLst/>
          </a:prstGeom>
          <a:ln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822960" y="569671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69264" y="562356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1115568" y="555040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261872" y="547725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408176" y="540410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54480" y="533095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700784" y="525780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847088" y="518464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1993392" y="511149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22960" y="566013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69264" y="558698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115568" y="551383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261872" y="544068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408176" y="536752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554480" y="529437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00784" y="522122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847088" y="514807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993392" y="507492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2960" y="562356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969264" y="555040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15568" y="547725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261872" y="540410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08176" y="533095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554480" y="525780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00784" y="518464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47088" y="511149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993392" y="503834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22960" y="558698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9264" y="551383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1115568" y="544068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1261872" y="536752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1408176" y="529437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1554480" y="522122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700784" y="514807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1847088" y="507492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46120" y="446227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テストデータ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3246120" y="5925312"/>
            <a:ext cx="1874520" cy="0"/>
          </a:xfrm>
          <a:prstGeom prst="line">
            <a:avLst/>
          </a:prstGeom>
          <a:ln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246120" y="4736592"/>
            <a:ext cx="0" cy="1188720"/>
          </a:xfrm>
          <a:prstGeom prst="line">
            <a:avLst/>
          </a:prstGeom>
          <a:ln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3474720" y="569671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621024" y="562356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767328" y="555040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913631" y="547725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4059935" y="540410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4206240" y="533095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4352544" y="525780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4498848" y="518464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4645152" y="511149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474720" y="566013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621024" y="558698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767328" y="551383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913631" y="544068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4059935" y="536752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4206240" y="529437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4352544" y="522122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4498848" y="514807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4645152" y="507492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474720" y="562356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3621024" y="555040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3767328" y="547725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3913631" y="540410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4059935" y="533095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4206240" y="525780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4352544" y="518464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4498848" y="511149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4645152" y="503834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474720" y="558698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621024" y="551383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3767328" y="544068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913631" y="5367528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4059935" y="5294376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4206240" y="5221224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4352544" y="5148072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4498848" y="5074920"/>
            <a:ext cx="41148" cy="41148"/>
          </a:xfrm>
          <a:prstGeom prst="ellipse">
            <a:avLst/>
          </a:prstGeom>
          <a:solidFill>
            <a:srgbClr val="5B8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5074920" y="4709160"/>
            <a:ext cx="64008" cy="6400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4846320" y="5074920"/>
            <a:ext cx="64008" cy="6400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5212080" y="5532120"/>
            <a:ext cx="64008" cy="64008"/>
          </a:xfrm>
          <a:prstGeom prst="ellipse">
            <a:avLst/>
          </a:prstGeom>
          <a:solidFill>
            <a:srgbClr val="CD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160520" y="44805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132D4E"/>
                </a:solidFill>
                <a:latin typeface="Yu Mincho"/>
              </a:rPr>
              <a:t>● 正常データ（再構成誤差 小）
● 異常データ（再構成誤差 大）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355080" y="1874519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32D4E"/>
                </a:solidFill>
                <a:latin typeface="Yu Mincho"/>
              </a:rPr>
              <a:t>新しい入力
x_new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327648" y="2286000"/>
            <a:ext cx="1143000" cy="50292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入力データ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7479792" y="2542032"/>
            <a:ext cx="338328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Rounded Rectangle 184"/>
          <p:cNvSpPr/>
          <p:nvPr/>
        </p:nvSpPr>
        <p:spPr>
          <a:xfrm>
            <a:off x="7818120" y="1298448"/>
            <a:ext cx="2240280" cy="19019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001000" y="1344168"/>
            <a:ext cx="18745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32D4E"/>
                </a:solidFill>
                <a:latin typeface="Yu Mincho"/>
              </a:rPr>
              <a:t>学習済み Autoencoder
（パラメータ固定）</a:t>
            </a:r>
          </a:p>
        </p:txBody>
      </p:sp>
      <p:sp>
        <p:nvSpPr>
          <p:cNvPr id="187" name="Oval 186"/>
          <p:cNvSpPr/>
          <p:nvPr/>
        </p:nvSpPr>
        <p:spPr>
          <a:xfrm>
            <a:off x="8065008" y="196596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065008" y="213055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065008" y="22951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065008" y="245973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>
            <a:off x="8115300" y="201625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8115300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115300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115300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8115300" y="218084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8115300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115300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115300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115300" y="234543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115300" y="201625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115300" y="218084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115300" y="234543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Oval 202"/>
          <p:cNvSpPr/>
          <p:nvPr/>
        </p:nvSpPr>
        <p:spPr>
          <a:xfrm>
            <a:off x="8449056" y="196596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8449056" y="213055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8449056" y="22951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8499348" y="201625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499348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499348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499348" y="201625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 flipV="1">
            <a:off x="8499348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499348" y="218084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8499348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8499348" y="218084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8499348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8499348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8499348" y="234543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8499348" y="234543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Oval 217"/>
          <p:cNvSpPr/>
          <p:nvPr/>
        </p:nvSpPr>
        <p:spPr>
          <a:xfrm>
            <a:off x="8833104" y="1965960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8833104" y="2130552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8833104" y="2295144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833104" y="2459736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025128" y="1993392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9025128" y="2167128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9025128" y="2340864"/>
            <a:ext cx="109728" cy="109728"/>
          </a:xfrm>
          <a:prstGeom prst="ellipse">
            <a:avLst/>
          </a:prstGeom>
          <a:solidFill>
            <a:srgbClr val="FDEBEB"/>
          </a:solidFill>
          <a:ln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308592" y="196596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308592" y="213055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308592" y="22951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9308592" y="2459736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9358884" y="201625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358884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9358884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9358884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9358884" y="218084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9358884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9358884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9358884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9358884" y="234543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9358884" y="201625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9358884" y="218084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V="1">
            <a:off x="9358884" y="234543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9692640" y="1965960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692640" y="2130552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9692640" y="2295144"/>
            <a:ext cx="100584" cy="100584"/>
          </a:xfrm>
          <a:prstGeom prst="ellipse">
            <a:avLst/>
          </a:prstGeom>
          <a:solidFill>
            <a:srgbClr val="FFFFFF"/>
          </a:solidFill>
          <a:ln>
            <a:solidFill>
              <a:srgbClr val="13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9742932" y="2016252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9742932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9742932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9742932" y="2016252"/>
            <a:ext cx="384048" cy="493776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V="1">
            <a:off x="9742932" y="2016252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9742932" y="2180844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9742932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9742932" y="2180844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9742932" y="2016252"/>
            <a:ext cx="384048" cy="329184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9742932" y="2180844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9742932" y="2345436"/>
            <a:ext cx="384048" cy="0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9742932" y="2345436"/>
            <a:ext cx="384048" cy="164592"/>
          </a:xfrm>
          <a:prstGeom prst="line">
            <a:avLst/>
          </a:prstGeom>
          <a:ln w="5715">
            <a:solidFill>
              <a:srgbClr val="96AA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Oval 255"/>
          <p:cNvSpPr/>
          <p:nvPr/>
        </p:nvSpPr>
        <p:spPr>
          <a:xfrm>
            <a:off x="10076688" y="1965960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0076688" y="2130552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0076688" y="2295144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0076688" y="2459736"/>
            <a:ext cx="100584" cy="100584"/>
          </a:xfrm>
          <a:prstGeom prst="ellipse">
            <a:avLst/>
          </a:prstGeom>
          <a:solidFill>
            <a:srgbClr val="E0F2E4"/>
          </a:solidFill>
          <a:ln>
            <a:solidFill>
              <a:srgbClr val="4B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10058400" y="2542032"/>
            <a:ext cx="347472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TextBox 260"/>
          <p:cNvSpPr txBox="1"/>
          <p:nvPr/>
        </p:nvSpPr>
        <p:spPr>
          <a:xfrm>
            <a:off x="10442448" y="1865376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再構成データ
x̂_new</a:t>
            </a:r>
          </a:p>
        </p:txBody>
      </p:sp>
      <p:sp>
        <p:nvSpPr>
          <p:cNvPr id="262" name="Rounded Rectangle 261"/>
          <p:cNvSpPr/>
          <p:nvPr/>
        </p:nvSpPr>
        <p:spPr>
          <a:xfrm>
            <a:off x="10451592" y="2304288"/>
            <a:ext cx="1115568" cy="50292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32D4E"/>
                </a:solidFill>
                <a:latin typeface="Yu Mincho"/>
              </a:rPr>
              <a:t>x̂_new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7223760" y="3502152"/>
            <a:ext cx="2331720" cy="658368"/>
          </a:xfrm>
          <a:prstGeom prst="roundRect">
            <a:avLst/>
          </a:prstGeom>
          <a:solidFill>
            <a:srgbClr val="FDEBEB"/>
          </a:solidFill>
          <a:ln w="1397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32D4E"/>
                </a:solidFill>
                <a:latin typeface="Yu Mincho"/>
              </a:rPr>
              <a:t>再構成誤差
s(x_new) = ||x_new − x̂_new||²
（例：MSE）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11009376" y="2807208"/>
            <a:ext cx="0" cy="466344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 flipH="1">
            <a:off x="9555480" y="3273552"/>
            <a:ext cx="1453896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9555480" y="3273552"/>
            <a:ext cx="0" cy="22860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Diamond 266"/>
          <p:cNvSpPr/>
          <p:nvPr/>
        </p:nvSpPr>
        <p:spPr>
          <a:xfrm>
            <a:off x="9738360" y="3447288"/>
            <a:ext cx="960120" cy="822960"/>
          </a:xfrm>
          <a:prstGeom prst="diamond">
            <a:avLst/>
          </a:prstGeom>
          <a:solidFill>
            <a:srgbClr val="EFF6FC"/>
          </a:solidFill>
          <a:ln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9875520" y="3602736"/>
            <a:ext cx="685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32D4E"/>
                </a:solidFill>
                <a:latin typeface="Yu Mincho"/>
              </a:rPr>
              <a:t>閾値 θ
と比較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9555480" y="3831336"/>
            <a:ext cx="182880" cy="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Rounded Rectangle 269"/>
          <p:cNvSpPr/>
          <p:nvPr/>
        </p:nvSpPr>
        <p:spPr>
          <a:xfrm>
            <a:off x="10808208" y="3182112"/>
            <a:ext cx="1143000" cy="594360"/>
          </a:xfrm>
          <a:prstGeom prst="roundRect">
            <a:avLst/>
          </a:prstGeom>
          <a:solidFill>
            <a:srgbClr val="FDEBEB"/>
          </a:solidFill>
          <a:ln w="13970">
            <a:solidFill>
              <a:srgbClr val="CD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32D4E"/>
                </a:solidFill>
                <a:latin typeface="Yu Mincho"/>
              </a:rPr>
              <a:t>異常（学習外）
s(x_new) &gt; θ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0808208" y="4005072"/>
            <a:ext cx="1143000" cy="594360"/>
          </a:xfrm>
          <a:prstGeom prst="roundRect">
            <a:avLst/>
          </a:prstGeom>
          <a:solidFill>
            <a:srgbClr val="EFF6FC"/>
          </a:solidFill>
          <a:ln w="13970">
            <a:solidFill>
              <a:srgbClr val="5B8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32D4E"/>
                </a:solidFill>
                <a:latin typeface="Yu Mincho"/>
              </a:rPr>
              <a:t>正常（学習内）
s(x_new) ≤ θ</a:t>
            </a:r>
          </a:p>
        </p:txBody>
      </p:sp>
      <p:cxnSp>
        <p:nvCxnSpPr>
          <p:cNvPr id="272" name="Connector 271"/>
          <p:cNvCxnSpPr/>
          <p:nvPr/>
        </p:nvCxnSpPr>
        <p:spPr>
          <a:xfrm flipV="1">
            <a:off x="10698480" y="3474720"/>
            <a:ext cx="109728" cy="274319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0698480" y="3931920"/>
            <a:ext cx="109728" cy="365760"/>
          </a:xfrm>
          <a:prstGeom prst="line">
            <a:avLst/>
          </a:prstGeom>
          <a:ln w="15875">
            <a:solidFill>
              <a:srgbClr val="132D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ounded Rectangle 273"/>
          <p:cNvSpPr/>
          <p:nvPr/>
        </p:nvSpPr>
        <p:spPr>
          <a:xfrm>
            <a:off x="6199632" y="4800600"/>
            <a:ext cx="576072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4C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327648" y="4846320"/>
            <a:ext cx="685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32D4E"/>
                </a:solidFill>
                <a:latin typeface="Yu Mincho"/>
              </a:rPr>
              <a:t>特徴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446520" y="5175504"/>
            <a:ext cx="52578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132D4E"/>
                </a:solidFill>
                <a:latin typeface="Yu Mincho"/>
              </a:rPr>
              <a:t>• 正常データのみで学習可能（教師なし）
• 入力を低次元の潜在空間に圧縮し、元の入力を再構成
• 再構成誤差が大きい入力を学習外データ（異常データ）として検知
• 1時刻の多変量数値入力にも適用可能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