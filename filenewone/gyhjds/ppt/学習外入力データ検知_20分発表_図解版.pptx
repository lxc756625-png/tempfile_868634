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3a7665fcfb246e5" /><Relationship Type="http://schemas.openxmlformats.org/officeDocument/2006/relationships/extended-properties" Target="/docProps/app.xml" Id="Rc4fa0777a0ce4ca2" /><Relationship Type="http://schemas.openxmlformats.org/officeDocument/2006/relationships/officeDocument" Target="/ppt/presentation.xml" Id="Rcc414041726c4fcb" /></Relationships>
</file>

<file path=ppt/presentation.xml><?xml version="1.0" encoding="utf-8"?>
<p:presentation xmlns:p="http://schemas.openxmlformats.org/presentationml/2006/main">
  <p:sldMasterIdLst>
    <p:sldMasterId xmlns:r="http://schemas.openxmlformats.org/officeDocument/2006/relationships" id="2147483648" r:id="R7f14bad410514e71"/>
  </p:sldMasterIdLst>
  <p:notesMasterIdLst>
    <p:notesMasterId xmlns:r="http://schemas.openxmlformats.org/officeDocument/2006/relationships" r:id="R9acc946417634d37"/>
  </p:notesMasterIdLst>
  <p:sldIdLst>
    <p:sldId xmlns:r="http://schemas.openxmlformats.org/officeDocument/2006/relationships" id="256" r:id="R019bf7f7ac144612"/>
    <p:sldId xmlns:r="http://schemas.openxmlformats.org/officeDocument/2006/relationships" id="257" r:id="Rae9aaa135b6b49c4"/>
    <p:sldId xmlns:r="http://schemas.openxmlformats.org/officeDocument/2006/relationships" id="258" r:id="R0f272efaa01e4280"/>
    <p:sldId xmlns:r="http://schemas.openxmlformats.org/officeDocument/2006/relationships" id="259" r:id="R085b9540be2047fc"/>
    <p:sldId xmlns:r="http://schemas.openxmlformats.org/officeDocument/2006/relationships" id="260" r:id="Rb5a95e95e2154893"/>
    <p:sldId xmlns:r="http://schemas.openxmlformats.org/officeDocument/2006/relationships" id="261" r:id="Rd72bad270bd74df3"/>
    <p:sldId xmlns:r="http://schemas.openxmlformats.org/officeDocument/2006/relationships" id="262" r:id="R7d52e71a852d4e38"/>
    <p:sldId xmlns:r="http://schemas.openxmlformats.org/officeDocument/2006/relationships" id="263" r:id="R6430650155134ce6"/>
    <p:sldId xmlns:r="http://schemas.openxmlformats.org/officeDocument/2006/relationships" id="264" r:id="R0128ffae1b574d2b"/>
    <p:sldId xmlns:r="http://schemas.openxmlformats.org/officeDocument/2006/relationships" id="265" r:id="R54b28b4b5e584af2"/>
    <p:sldId xmlns:r="http://schemas.openxmlformats.org/officeDocument/2006/relationships" id="266" r:id="R8c0a773b16f64f08"/>
    <p:sldId xmlns:r="http://schemas.openxmlformats.org/officeDocument/2006/relationships" id="267" r:id="R366f5bccfe24425c"/>
    <p:sldId xmlns:r="http://schemas.openxmlformats.org/officeDocument/2006/relationships" id="268" r:id="R393020f6bae44997"/>
    <p:sldId xmlns:r="http://schemas.openxmlformats.org/officeDocument/2006/relationships" id="269" r:id="Rd2ef3b7d034f4c79"/>
    <p:sldId xmlns:r="http://schemas.openxmlformats.org/officeDocument/2006/relationships" id="270" r:id="R5bc17d5ffe274282"/>
    <p:sldId xmlns:r="http://schemas.openxmlformats.org/officeDocument/2006/relationships" id="271" r:id="Rc5236d742d914c3f"/>
    <p:sldId xmlns:r="http://schemas.openxmlformats.org/officeDocument/2006/relationships" id="272" r:id="Ra7dba812ed4448b9"/>
    <p:sldId xmlns:r="http://schemas.openxmlformats.org/officeDocument/2006/relationships" id="273" r:id="R972eab19447f4083"/>
    <p:sldId xmlns:r="http://schemas.openxmlformats.org/officeDocument/2006/relationships" id="274" r:id="R452155bd0a7e4bc5"/>
    <p:sldId xmlns:r="http://schemas.openxmlformats.org/officeDocument/2006/relationships" id="275" r:id="R71d0689adbcd424c"/>
    <p:sldId xmlns:r="http://schemas.openxmlformats.org/officeDocument/2006/relationships" id="276" r:id="R27eb1e40a3db4fe7"/>
    <p:sldId xmlns:r="http://schemas.openxmlformats.org/officeDocument/2006/relationships" id="277" r:id="R5200335bc49640ff"/>
    <p:sldId xmlns:r="http://schemas.openxmlformats.org/officeDocument/2006/relationships" id="278" r:id="R7ed8ce1e61054fdf"/>
    <p:sldId xmlns:r="http://schemas.openxmlformats.org/officeDocument/2006/relationships" id="279" r:id="R4bd5e19105da4ea1"/>
    <p:sldId xmlns:r="http://schemas.openxmlformats.org/officeDocument/2006/relationships" id="280" r:id="R89ff5df599204f3d"/>
    <p:sldId xmlns:r="http://schemas.openxmlformats.org/officeDocument/2006/relationships" id="281" r:id="Ra2189bff99814e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11225646f2447d" /><Relationship Type="http://schemas.openxmlformats.org/officeDocument/2006/relationships/slideMaster" Target="/ppt/slideMasters/slideMaster1.xml" Id="R7f14bad410514e71" /><Relationship Type="http://schemas.openxmlformats.org/officeDocument/2006/relationships/notesMaster" Target="/ppt/notesMasters/notesMaster1.xml" Id="R9acc946417634d37" /><Relationship Type="http://schemas.openxmlformats.org/officeDocument/2006/relationships/presProps" Target="/ppt/presProps.xml" Id="Read0402aba1747f2" /><Relationship Type="http://schemas.openxmlformats.org/officeDocument/2006/relationships/tableStyles" Target="/ppt/tableStyles.xml" Id="R09da9f496ed94594" /><Relationship Type="http://schemas.openxmlformats.org/officeDocument/2006/relationships/slide" Target="/ppt/slides/slide1.xml" Id="R019bf7f7ac144612" /><Relationship Type="http://schemas.openxmlformats.org/officeDocument/2006/relationships/slide" Target="/ppt/slides/slide2.xml" Id="Rae9aaa135b6b49c4" /><Relationship Type="http://schemas.openxmlformats.org/officeDocument/2006/relationships/slide" Target="/ppt/slides/slide3.xml" Id="R0f272efaa01e4280" /><Relationship Type="http://schemas.openxmlformats.org/officeDocument/2006/relationships/slide" Target="/ppt/slides/slide4.xml" Id="R085b9540be2047fc" /><Relationship Type="http://schemas.openxmlformats.org/officeDocument/2006/relationships/slide" Target="/ppt/slides/slide5.xml" Id="Rb5a95e95e2154893" /><Relationship Type="http://schemas.openxmlformats.org/officeDocument/2006/relationships/slide" Target="/ppt/slides/slide6.xml" Id="Rd72bad270bd74df3" /><Relationship Type="http://schemas.openxmlformats.org/officeDocument/2006/relationships/slide" Target="/ppt/slides/slide7.xml" Id="R7d52e71a852d4e38" /><Relationship Type="http://schemas.openxmlformats.org/officeDocument/2006/relationships/slide" Target="/ppt/slides/slide8.xml" Id="R6430650155134ce6" /><Relationship Type="http://schemas.openxmlformats.org/officeDocument/2006/relationships/slide" Target="/ppt/slides/slide9.xml" Id="R0128ffae1b574d2b" /><Relationship Type="http://schemas.openxmlformats.org/officeDocument/2006/relationships/slide" Target="/ppt/slides/slide10.xml" Id="R54b28b4b5e584af2" /><Relationship Type="http://schemas.openxmlformats.org/officeDocument/2006/relationships/slide" Target="/ppt/slides/slide11.xml" Id="R8c0a773b16f64f08" /><Relationship Type="http://schemas.openxmlformats.org/officeDocument/2006/relationships/slide" Target="/ppt/slides/slide12.xml" Id="R366f5bccfe24425c" /><Relationship Type="http://schemas.openxmlformats.org/officeDocument/2006/relationships/slide" Target="/ppt/slides/slide13.xml" Id="R393020f6bae44997" /><Relationship Type="http://schemas.openxmlformats.org/officeDocument/2006/relationships/slide" Target="/ppt/slides/slide14.xml" Id="Rd2ef3b7d034f4c79" /><Relationship Type="http://schemas.openxmlformats.org/officeDocument/2006/relationships/slide" Target="/ppt/slides/slide15.xml" Id="R5bc17d5ffe274282" /><Relationship Type="http://schemas.openxmlformats.org/officeDocument/2006/relationships/slide" Target="/ppt/slides/slide16.xml" Id="Rc5236d742d914c3f" /><Relationship Type="http://schemas.openxmlformats.org/officeDocument/2006/relationships/slide" Target="/ppt/slides/slide17.xml" Id="Ra7dba812ed4448b9" /><Relationship Type="http://schemas.openxmlformats.org/officeDocument/2006/relationships/slide" Target="/ppt/slides/slide18.xml" Id="R972eab19447f4083" /><Relationship Type="http://schemas.openxmlformats.org/officeDocument/2006/relationships/slide" Target="/ppt/slides/slide19.xml" Id="R452155bd0a7e4bc5" /><Relationship Type="http://schemas.openxmlformats.org/officeDocument/2006/relationships/slide" Target="/ppt/slides/slide20.xml" Id="R71d0689adbcd424c" /><Relationship Type="http://schemas.openxmlformats.org/officeDocument/2006/relationships/slide" Target="/ppt/slides/slide21.xml" Id="R27eb1e40a3db4fe7" /><Relationship Type="http://schemas.openxmlformats.org/officeDocument/2006/relationships/slide" Target="/ppt/slides/slide22.xml" Id="R5200335bc49640ff" /><Relationship Type="http://schemas.openxmlformats.org/officeDocument/2006/relationships/slide" Target="/ppt/slides/slide23.xml" Id="R7ed8ce1e61054fdf" /><Relationship Type="http://schemas.openxmlformats.org/officeDocument/2006/relationships/slide" Target="/ppt/slides/slide24.xml" Id="R4bd5e19105da4ea1" /><Relationship Type="http://schemas.openxmlformats.org/officeDocument/2006/relationships/slide" Target="/ppt/slides/slide25.xml" Id="R89ff5df599204f3d" /><Relationship Type="http://schemas.openxmlformats.org/officeDocument/2006/relationships/slide" Target="/ppt/slides/slide26.xml" Id="Ra2189bff99814e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7bb761a79644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a9a11d482543a6" /><Relationship Type="http://schemas.openxmlformats.org/officeDocument/2006/relationships/notesMaster" Target="/ppt/notesMasters/notesMaster1.xml" Id="Rae8593c3e7a544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3776756bb646df" /><Relationship Type="http://schemas.openxmlformats.org/officeDocument/2006/relationships/notesMaster" Target="/ppt/notesMasters/notesMaster1.xml" Id="Rd4482f2c155d4f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a68a80dcc44518" /><Relationship Type="http://schemas.openxmlformats.org/officeDocument/2006/relationships/notesMaster" Target="/ppt/notesMasters/notesMaster1.xml" Id="Reec7a1db2a484e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c4539ba2584e58" /><Relationship Type="http://schemas.openxmlformats.org/officeDocument/2006/relationships/notesMaster" Target="/ppt/notesMasters/notesMaster1.xml" Id="R1aaf9c77e50b44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ae2e7cf7384d5d" /><Relationship Type="http://schemas.openxmlformats.org/officeDocument/2006/relationships/notesMaster" Target="/ppt/notesMasters/notesMaster1.xml" Id="R45ba65abf0ad4a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364b3918af4d15" /><Relationship Type="http://schemas.openxmlformats.org/officeDocument/2006/relationships/notesMaster" Target="/ppt/notesMasters/notesMaster1.xml" Id="Rfbf247c8992a4d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55c15a995f4b2d" /><Relationship Type="http://schemas.openxmlformats.org/officeDocument/2006/relationships/notesMaster" Target="/ppt/notesMasters/notesMaster1.xml" Id="R04502de76c1e40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70457525a04440" /><Relationship Type="http://schemas.openxmlformats.org/officeDocument/2006/relationships/notesMaster" Target="/ppt/notesMasters/notesMaster1.xml" Id="Rcad6d2e4c69649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03d165d24d4f9a" /><Relationship Type="http://schemas.openxmlformats.org/officeDocument/2006/relationships/notesMaster" Target="/ppt/notesMasters/notesMaster1.xml" Id="Rd65b33af0d3f45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2a5fe1fd434006" /><Relationship Type="http://schemas.openxmlformats.org/officeDocument/2006/relationships/notesMaster" Target="/ppt/notesMasters/notesMaster1.xml" Id="Re5a68c6de01948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024bd901074601" /><Relationship Type="http://schemas.openxmlformats.org/officeDocument/2006/relationships/notesMaster" Target="/ppt/notesMasters/notesMaster1.xml" Id="R0cae0e393c7647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6833faaeeb4bc5" /><Relationship Type="http://schemas.openxmlformats.org/officeDocument/2006/relationships/notesMaster" Target="/ppt/notesMasters/notesMaster1.xml" Id="R121ca72388ff44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0fbd5427654106" /><Relationship Type="http://schemas.openxmlformats.org/officeDocument/2006/relationships/notesMaster" Target="/ppt/notesMasters/notesMaster1.xml" Id="Re181120a0e02447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bbda7817164de0" /><Relationship Type="http://schemas.openxmlformats.org/officeDocument/2006/relationships/notesMaster" Target="/ppt/notesMasters/notesMaster1.xml" Id="Rd19a9c33cf7f450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ee6fc87e0be4fb5" /><Relationship Type="http://schemas.openxmlformats.org/officeDocument/2006/relationships/notesMaster" Target="/ppt/notesMasters/notesMaster1.xml" Id="R23d557383c61457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7039b3446f44bcc" /><Relationship Type="http://schemas.openxmlformats.org/officeDocument/2006/relationships/notesMaster" Target="/ppt/notesMasters/notesMaster1.xml" Id="R4f05a62ee2b647b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56f3f8e5144111" /><Relationship Type="http://schemas.openxmlformats.org/officeDocument/2006/relationships/notesMaster" Target="/ppt/notesMasters/notesMaster1.xml" Id="Rc7097e67363242e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c4139f836fd4a10" /><Relationship Type="http://schemas.openxmlformats.org/officeDocument/2006/relationships/notesMaster" Target="/ppt/notesMasters/notesMaster1.xml" Id="R721aa9472e184e3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64044b4acaa4dd5" /><Relationship Type="http://schemas.openxmlformats.org/officeDocument/2006/relationships/notesMaster" Target="/ppt/notesMasters/notesMaster1.xml" Id="R7472f416a526484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41666d11c7046e2" /><Relationship Type="http://schemas.openxmlformats.org/officeDocument/2006/relationships/notesMaster" Target="/ppt/notesMasters/notesMaster1.xml" Id="R43d9baf07f92466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2bd918d23f84eb9" /><Relationship Type="http://schemas.openxmlformats.org/officeDocument/2006/relationships/notesMaster" Target="/ppt/notesMasters/notesMaster1.xml" Id="Rae4a5c6a6060458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13277c88e504ded" /><Relationship Type="http://schemas.openxmlformats.org/officeDocument/2006/relationships/notesMaster" Target="/ppt/notesMasters/notesMaster1.xml" Id="R6e2ee357d4184a1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f8a59c922fc4833" /><Relationship Type="http://schemas.openxmlformats.org/officeDocument/2006/relationships/notesMaster" Target="/ppt/notesMasters/notesMaster1.xml" Id="R4d7adf1d9bd040b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ddaaed4b8a5474b" /><Relationship Type="http://schemas.openxmlformats.org/officeDocument/2006/relationships/notesMaster" Target="/ppt/notesMasters/notesMaster1.xml" Id="R673edf00301d4f7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2cf5a17c21c456f" /><Relationship Type="http://schemas.openxmlformats.org/officeDocument/2006/relationships/notesMaster" Target="/ppt/notesMasters/notesMaster1.xml" Id="Rc70a36fd71aa426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b45a855f9f34dc3" /><Relationship Type="http://schemas.openxmlformats.org/officeDocument/2006/relationships/notesMaster" Target="/ppt/notesMasters/notesMaster1.xml" Id="R3a4f0ccbd9bf48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発表時間の目安：0:00–0:25（25秒）</a:t>
            </a:r>
          </a:p>
          <a:p xmlns:a="http://schemas.openxmlformats.org/drawingml/2006/main">
            <a:r>
              <a:t/>
            </a:r>
          </a:p>
          <a:p xmlns:a="http://schemas.openxmlformats.org/drawingml/2006/main">
            <a:r>
              <a:t>発表メモ：</a:t>
            </a:r>
          </a:p>
          <a:p xmlns:a="http://schemas.openxmlformats.org/drawingml/2006/main">
            <a:r>
              <a:t>定義・分類と既存手法の比較</a:t>
            </a:r>
          </a:p>
          <a:p xmlns:a="http://schemas.openxmlformats.org/drawingml/2006/main">
            <a:r>
              <a:t/>
            </a:r>
          </a:p>
          <a:p xmlns:a="http://schemas.openxmlformats.org/drawingml/2006/main">
            <a:r>
              <a:t>補足・説明：</a:t>
            </a:r>
          </a:p>
          <a:p xmlns:a="http://schemas.openxmlformats.org/drawingml/2006/main">
            <a:r>
              <a:t>本報告では、数値の多変量回帰モデルを運用する際に、モデルが十分に学習していない可能性のある入力を検知する既存技術を整理する。S1・S3・S6を概念整理と比較の手掛かりとし、13・14を具体的な手法として読む。山原らの配水圧力推定の事例を適用先との橋渡しに用いる。出典：実習要求.docx、论文要总结内容.docx。</a:t>
            </a:r>
          </a:p>
          <a:p xmlns:a="http://schemas.openxmlformats.org/drawingml/2006/main">
            <a:r>
              <a:t/>
            </a:r>
          </a:p>
          <a:p xmlns:a="http://schemas.openxmlformats.org/drawingml/2006/main">
            <a:r>
              <a:t>出典：実習要求・読解項目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発表時間の目安：0:25–1:30（65秒）</a:t>
            </a:r>
          </a:p>
          <a:p xmlns:a="http://schemas.openxmlformats.org/drawingml/2006/main">
            <a:r>
              <a:t/>
            </a:r>
          </a:p>
          <a:p xmlns:a="http://schemas.openxmlformats.org/drawingml/2006/main">
            <a:r>
              <a:t>発表メモ：</a:t>
            </a:r>
          </a:p>
          <a:p xmlns:a="http://schemas.openxmlformats.org/drawingml/2006/main">
            <a:r>
              <a:t>末端圧力の推定。入力：時刻tの配水圧力・流量など。出力：配水管網の特定地点の圧力。。山原論文では、弁の開度なども使用。</a:t>
            </a:r>
          </a:p>
          <a:p xmlns:a="http://schemas.openxmlformats.org/drawingml/2006/main">
            <a:r>
              <a:t>処理後の濁度の予測。入力：原水濁度・薬品注入率など。出力：時刻t＋Δの処理後濁度。。具体的な変数・遅れ時間・入力窓長は未確定。</a:t>
            </a:r>
          </a:p>
          <a:p xmlns:a="http://schemas.openxmlformats.org/drawingml/2006/main">
            <a:r>
              <a:t/>
            </a:r>
          </a:p>
          <a:p xmlns:a="http://schemas.openxmlformats.org/drawingml/2006/main">
            <a:r>
              <a:t>補足・説明：</a:t>
            </a:r>
          </a:p>
          <a:p xmlns:a="http://schemas.openxmlformats.org/drawingml/2006/main">
            <a:r>
              <a:t>対象は2変数以上の数値入力を持つ回帰モデルである。入力はx_tだけの場合と、過去L時刻を含む場合の両方を想定する。分類モデルを対象外とする条件は、保護したい予測モデルの条件であり、検知器が正常／学習外の二値を出すことを禁止する意味ではない。水処理後濁度のモデルはユーザーの構想であり、山原論文の実証対象ではない。</a:t>
            </a:r>
          </a:p>
          <a:p xmlns:a="http://schemas.openxmlformats.org/drawingml/2006/main">
            <a:r>
              <a:t/>
            </a:r>
          </a:p>
          <a:p xmlns:a="http://schemas.openxmlformats.org/drawingml/2006/main">
            <a:r>
              <a:t>出典：実習要求、山原 §2、ユーザー提示のモデル構想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発表時間の目安：1:30–2:50（80秒）</a:t>
            </a:r>
          </a:p>
          <a:p xmlns:a="http://schemas.openxmlformats.org/drawingml/2006/main">
            <a:r>
              <a:t/>
            </a:r>
          </a:p>
          <a:p xmlns:a="http://schemas.openxmlformats.org/drawingml/2006/main">
            <a:r>
              <a:t>発表メモ：</a:t>
            </a:r>
          </a:p>
          <a:p xmlns:a="http://schemas.openxmlformats.org/drawingml/2006/main">
            <a:r>
              <a:t>① 分布・範囲の外。訓練時に観測した入力分布や範囲から外れる。。。例：未経験の高圧力・大流量。</a:t>
            </a:r>
          </a:p>
          <a:p xmlns:a="http://schemas.openxmlformats.org/drawingml/2006/main">
            <a:r>
              <a:t>② 学習データが疎。訓練データが少なく、十分に学習できていない可能性がある。。。例：まれな運転条件。</a:t>
            </a:r>
          </a:p>
          <a:p xmlns:a="http://schemas.openxmlformats.org/drawingml/2006/main">
            <a:r>
              <a:t>③ 未知の変数関係。各変数は範囲内でも、組合せや相関関係が訓練時と異なる。。。例：圧力と流量の関係が変化。</a:t>
            </a:r>
          </a:p>
          <a:p xmlns:a="http://schemas.openxmlformats.org/drawingml/2006/main">
            <a:r>
              <a:t/>
            </a:r>
          </a:p>
          <a:p xmlns:a="http://schemas.openxmlformats.org/drawingml/2006/main">
            <a:r>
              <a:t>補足・説明：</a:t>
            </a:r>
          </a:p>
          <a:p xmlns:a="http://schemas.openxmlformats.org/drawingml/2006/main">
            <a:r>
              <a:t>この3区分を本調査の作業定義として用いる。論文固有の異常分類と混同しない。②は訓練の支持が弱い領域に注目するが、データ数のみからモデルの誤差を確定することはできない。各例は実習場面を説明するための仮例であり、実データの観測結果ではない。</a:t>
            </a:r>
          </a:p>
          <a:p xmlns:a="http://schemas.openxmlformats.org/drawingml/2006/main">
            <a:r>
              <a:t/>
            </a:r>
          </a:p>
          <a:p xmlns:a="http://schemas.openxmlformats.org/drawingml/2006/main">
            <a:r>
              <a:t>出典：実習要求「本調査における学習外の考え方」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発表時間の目安：2:50–3:30（40秒）</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S1はレビュー的な整理を含むが、主要な貢献は比較実験である。S3とS6はサーベイとして用いる。山原論文の刊行年と発表先は提示されたスキャンから確定できない。13の年は提示PDFの書誌記載に従う。各ファイル：C:/Users/lxcfi/Desktop/S1.pdf、S3.pdf、S6.pdf、13.pdf、14.pdf、山原.pdf。</a:t>
            </a:r>
          </a:p>
          <a:p xmlns:a="http://schemas.openxmlformats.org/drawingml/2006/main">
            <a:r>
              <a:t/>
            </a:r>
          </a:p>
          <a:p xmlns:a="http://schemas.openxmlformats.org/drawingml/2006/main">
            <a:r>
              <a:t>出典：各論文の表題・要旨。正式な書誌情報は付録に記載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発表時間の目安：3:30–4:35（65秒）</a:t>
            </a:r>
          </a:p>
          <a:p xmlns:a="http://schemas.openxmlformats.org/drawingml/2006/main">
            <a:r>
              <a:t/>
            </a:r>
          </a:p>
          <a:p xmlns:a="http://schemas.openxmlformats.org/drawingml/2006/main">
            <a:r>
              <a:t>発表メモ：</a:t>
            </a:r>
          </a:p>
          <a:p xmlns:a="http://schemas.openxmlformats.org/drawingml/2006/main">
            <a:r>
              <a:t>異常、OOD、適用領域外、予測誤差の増大は同義ではない</a:t>
            </a:r>
          </a:p>
          <a:p xmlns:a="http://schemas.openxmlformats.org/drawingml/2006/main">
            <a:r>
              <a:t/>
            </a:r>
          </a:p>
          <a:p xmlns:a="http://schemas.openxmlformats.org/drawingml/2006/main">
            <a:r>
              <a:t>補足・説明：</a:t>
            </a:r>
          </a:p>
          <a:p xmlns:a="http://schemas.openxmlformats.org/drawingml/2006/main">
            <a:r>
              <a:t>用語の使い方は文献によって異なる。Noveltyについては14のキーワードと正常状態に基づく検知の説明を対応付けたものであり、全分野に共通する厳密な定義と主張しない。Data driftは運用中の分布変化として関連するが、今回の文献群だけから統一的な定義を確定していないため、独立した確定定義としては扱わない。新しい運転状態は学習外になり得るが、必ずしも故障ではない。</a:t>
            </a:r>
          </a:p>
          <a:p xmlns:a="http://schemas.openxmlformats.org/drawingml/2006/main">
            <a:r>
              <a:t/>
            </a:r>
          </a:p>
          <a:p xmlns:a="http://schemas.openxmlformats.org/drawingml/2006/main">
            <a:r>
              <a:t>出典：S1 §3、S3 §2、13 §1–2、14 §3、山原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発表時間の目安：4:35–5:40（65秒）</a:t>
            </a:r>
          </a:p>
          <a:p xmlns:a="http://schemas.openxmlformats.org/drawingml/2006/main">
            <a:r>
              <a:t/>
            </a:r>
          </a:p>
          <a:p xmlns:a="http://schemas.openxmlformats.org/drawingml/2006/main">
            <a:r>
              <a:t>発表メモ：</a:t>
            </a:r>
          </a:p>
          <a:p xmlns:a="http://schemas.openxmlformats.org/drawingml/2006/main">
            <a:r>
              <a:t>Covariate shift。P(X) が変化。P(Y｜X) は不変。。入力の分布から、変化の手掛かりを得られる。</a:t>
            </a:r>
          </a:p>
          <a:p xmlns:a="http://schemas.openxmlformats.org/drawingml/2006/main">
            <a:r>
              <a:t>Concept / conditional shift。P(Y｜X) が変化。。入力分布が不変の場合、。入力だけに検知信号が現れない。</a:t>
            </a:r>
          </a:p>
          <a:p xmlns:a="http://schemas.openxmlformats.org/drawingml/2006/main">
            <a:r>
              <a:t/>
            </a:r>
          </a:p>
          <a:p xmlns:a="http://schemas.openxmlformats.org/drawingml/2006/main">
            <a:r>
              <a:t>補足・説明：</a:t>
            </a:r>
          </a:p>
          <a:p xmlns:a="http://schemas.openxmlformats.org/drawingml/2006/main">
            <a:r>
              <a:t>13はP*(X,Y)≠P(X,Y)を広義のOODとする。一方、運用時に新しい真の出力を観測しない入力検知器には限界がある。同じ圧力・流量でも設備状態の変化で末端圧力が変わるという例は、本調査への対応付けとして提示する。真の出力が後で得られる場合には、入力検知に加えて予測誤差の監視を検討できる。</a:t>
            </a:r>
          </a:p>
          <a:p xmlns:a="http://schemas.openxmlformats.org/drawingml/2006/main">
            <a:r>
              <a:t/>
            </a:r>
          </a:p>
          <a:p xmlns:a="http://schemas.openxmlformats.org/drawingml/2006/main">
            <a:r>
              <a:t>出典：13 §1、§2.1、§7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発表時間の目安：5:40–6:55（75秒）</a:t>
            </a:r>
          </a:p>
          <a:p xmlns:a="http://schemas.openxmlformats.org/drawingml/2006/main">
            <a:r>
              <a:t/>
            </a:r>
          </a:p>
          <a:p xmlns:a="http://schemas.openxmlformats.org/drawingml/2006/main">
            <a:r>
              <a:t>発表メモ：</a:t>
            </a:r>
          </a:p>
          <a:p xmlns:a="http://schemas.openxmlformats.org/drawingml/2006/main">
            <a:r>
              <a:t>分類名を置き換えるだけでは、各論文の違いを表現できない</a:t>
            </a:r>
          </a:p>
          <a:p xmlns:a="http://schemas.openxmlformats.org/drawingml/2006/main">
            <a:r>
              <a:t/>
            </a:r>
          </a:p>
          <a:p xmlns:a="http://schemas.openxmlformats.org/drawingml/2006/main">
            <a:r>
              <a:t>補足・説明：</a:t>
            </a:r>
          </a:p>
          <a:p xmlns:a="http://schemas.openxmlformats.org/drawingml/2006/main">
            <a:r>
              <a:t>S1のContextualは特定の文脈で異常になる点を指す。S3のSubsequenceは連続した点の共同挙動に注目する。S3のOutlier time seriesには、多変量時系列の中で他と異なる挙動を示す変数系列の例がある。S6のIntra-metricは点単位のglobal/localと、shapelet/trend/cycleに分かれる。Inter-metricはglobal、local、temporal-localを説明している。</a:t>
            </a:r>
          </a:p>
          <a:p xmlns:a="http://schemas.openxmlformats.org/drawingml/2006/main">
            <a:r>
              <a:t/>
            </a:r>
          </a:p>
          <a:p xmlns:a="http://schemas.openxmlformats.org/drawingml/2006/main">
            <a:r>
              <a:t>出典：S1 §3.2、S3 §2.2、S6 §2.2。図は提供PDFの原図を引用。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発表時間の目安：6:55–7:45（50秒）</a:t>
            </a:r>
          </a:p>
          <a:p xmlns:a="http://schemas.openxmlformats.org/drawingml/2006/main">
            <a:r>
              <a:t/>
            </a:r>
          </a:p>
          <a:p xmlns:a="http://schemas.openxmlformats.org/drawingml/2006/main">
            <a:r>
              <a:t>発表メモ：</a:t>
            </a:r>
          </a:p>
          <a:p xmlns:a="http://schemas.openxmlformats.org/drawingml/2006/main">
            <a:r>
              <a:t>1時刻でも評価できる例。範囲を超える値。。複数変数の珍しい組合せ。。訓練サンプルから離れた入力</a:t>
            </a:r>
          </a:p>
          <a:p xmlns:a="http://schemas.openxmlformats.org/drawingml/2006/main">
            <a:r>
              <a:t>履歴が必要になる例。センサーの長時間の固定。。周期・傾向の変化。。複数時刻にわたる関係の崩れ</a:t>
            </a:r>
          </a:p>
          <a:p xmlns:a="http://schemas.openxmlformats.org/drawingml/2006/main">
            <a:r>
              <a:t/>
            </a:r>
          </a:p>
          <a:p xmlns:a="http://schemas.openxmlformats.org/drawingml/2006/main">
            <a:r>
              <a:t>補足・説明：</a:t>
            </a:r>
          </a:p>
          <a:p xmlns:a="http://schemas.openxmlformats.org/drawingml/2006/main">
            <a:r>
              <a:t>例は説明用である。単一時刻で点の珍しさは評価できても、固定状態の長さや周期の変化は観測できない。低密度領域が必ずPoint/Contextual/Collectiveのいずれか一つに対応するわけではない。検知器に履歴を持たせることは、回帰モデルの入力仕様とは別に設計できる。</a:t>
            </a:r>
          </a:p>
          <a:p xmlns:a="http://schemas.openxmlformats.org/drawingml/2006/main">
            <a:r>
              <a:t/>
            </a:r>
          </a:p>
          <a:p xmlns:a="http://schemas.openxmlformats.org/drawingml/2006/main">
            <a:r>
              <a:t>出典：実習要求、S1・S3・S6を基に本調査で整理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発表時間の目安：7:45–8:40（55秒）</a:t>
            </a:r>
          </a:p>
          <a:p xmlns:a="http://schemas.openxmlformats.org/drawingml/2006/main">
            <a:r>
              <a:t/>
            </a:r>
          </a:p>
          <a:p xmlns:a="http://schemas.openxmlformats.org/drawingml/2006/main">
            <a:r>
              <a:t>発表メモ：</a:t>
            </a:r>
          </a:p>
          <a:p xmlns:a="http://schemas.openxmlformats.org/drawingml/2006/main">
            <a:r>
              <a:t>S1のDNNは機械学習の一部でもあり、分類境界は完全には明確でない</a:t>
            </a:r>
          </a:p>
          <a:p xmlns:a="http://schemas.openxmlformats.org/drawingml/2006/main">
            <a:r>
              <a:t/>
            </a:r>
          </a:p>
          <a:p xmlns:a="http://schemas.openxmlformats.org/drawingml/2006/main">
            <a:r>
              <a:t>補足・説明：</a:t>
            </a:r>
          </a:p>
          <a:p xmlns:a="http://schemas.openxmlformats.org/drawingml/2006/main">
            <a:r>
              <a:t>S3のNature of the Methodは単変量の検知手法か多変量の検知手法かという軸である。多変量データを変数ごとに独立処理する方式もある。S6の学習形態の呼称は原文に依存するため、比較表では呼称だけでなく、正常Xのみか、異常ラベルを使うか、回帰Yを使うかを具体的に記載する。</a:t>
            </a:r>
          </a:p>
          <a:p xmlns:a="http://schemas.openxmlformats.org/drawingml/2006/main">
            <a:r>
              <a:t/>
            </a:r>
          </a:p>
          <a:p xmlns:a="http://schemas.openxmlformats.org/drawingml/2006/main">
            <a:r>
              <a:t>出典：S1 §4.1、S3 §2–3、S6 §3・Table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発表時間の目安：8:40–9:20（40秒）</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この表は原論文の一つの分類をそのまま転記したものではなく、実習要求に合わせた整理である。OutProは距離を使うが、変数と近傍の選定に教師あり森林を用いる。学習形態というラベルだけでは必要情報が伝わらないため、訓練時と運用時を分ける。</a:t>
            </a:r>
          </a:p>
          <a:p xmlns:a="http://schemas.openxmlformats.org/drawingml/2006/main">
            <a:r>
              <a:t/>
            </a:r>
          </a:p>
          <a:p xmlns:a="http://schemas.openxmlformats.org/drawingml/2006/main">
            <a:r>
              <a:t>出典：文献群を基にした本調査の整理。各行は排他的な分類ではない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発表時間の目安：9:20–10:25（65秒）</a:t>
            </a:r>
          </a:p>
          <a:p xmlns:a="http://schemas.openxmlformats.org/drawingml/2006/main">
            <a:r>
              <a:t/>
            </a:r>
          </a:p>
          <a:p xmlns:a="http://schemas.openxmlformats.org/drawingml/2006/main">
            <a:r>
              <a:t>発表メモ：</a:t>
            </a:r>
          </a:p>
          <a:p xmlns:a="http://schemas.openxmlformats.org/drawingml/2006/main">
            <a:r>
              <a:t>比較実験。16手法を5データセットで比較。。SWaT / WADI / SMD / SMAP / MSL。。指標：F1とAverage Precision</a:t>
            </a:r>
          </a:p>
          <a:p xmlns:a="http://schemas.openxmlformats.org/drawingml/2006/main">
            <a:r>
              <a:t>結果を読む際の条件。全データで一貫して優れる手法群はない。。。F1は多数の閾値を走査した最大値。。窓に基づく検知判定も採用する。</a:t>
            </a:r>
          </a:p>
          <a:p xmlns:a="http://schemas.openxmlformats.org/drawingml/2006/main">
            <a:r>
              <a:t/>
            </a:r>
          </a:p>
          <a:p xmlns:a="http://schemas.openxmlformats.org/drawingml/2006/main">
            <a:r>
              <a:t>補足・説明：</a:t>
            </a:r>
          </a:p>
          <a:p xmlns:a="http://schemas.openxmlformats.org/drawingml/2006/main">
            <a:r>
              <a:t>S1は0から1に正規化したスコアに対し1000個の閾値を試し最高F1を報告する。窓を使わない手法にも近傍時刻内の検知を認める評価がある。したがって、部署で固定した閾値による逐点評価と数値を直接比較できない。DNNの利点が見られる条件はあるが、全般的な優越と一般化しない。出典PDFのpp.19–31付近、§5–6。</a:t>
            </a:r>
          </a:p>
          <a:p xmlns:a="http://schemas.openxmlformats.org/drawingml/2006/main">
            <a:r>
              <a:t/>
            </a:r>
          </a:p>
          <a:p xmlns:a="http://schemas.openxmlformats.org/drawingml/2006/main">
            <a:r>
              <a:t>出典：S1 §5–6、Table 1–2。図は提供PDFの原図を引用。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発表時間の目安：10:25–11:40（75秒）</a:t>
            </a:r>
          </a:p>
          <a:p xmlns:a="http://schemas.openxmlformats.org/drawingml/2006/main">
            <a:r>
              <a:t/>
            </a:r>
          </a:p>
          <a:p xmlns:a="http://schemas.openxmlformats.org/drawingml/2006/main">
            <a:r>
              <a:t>発表メモ：</a:t>
            </a:r>
          </a:p>
          <a:p xmlns:a="http://schemas.openxmlformats.org/drawingml/2006/main">
            <a:r>
              <a:t>比較は3系統・5方式。距離にはユークリッド距離とマハラノビス距離を使用。</a:t>
            </a:r>
          </a:p>
          <a:p xmlns:a="http://schemas.openxmlformats.org/drawingml/2006/main">
            <a:r>
              <a:t>1年間の時間単位データから、14 / 28 / 91 / 182日分の訓練条件を比較。</a:t>
            </a:r>
          </a:p>
          <a:p xmlns:a="http://schemas.openxmlformats.org/drawingml/2006/main">
            <a:r>
              <a:t/>
            </a:r>
          </a:p>
          <a:p xmlns:a="http://schemas.openxmlformats.org/drawingml/2006/main">
            <a:r>
              <a:t>補足・説明：</a:t>
            </a:r>
          </a:p>
          <a:p xmlns:a="http://schemas.openxmlformats.org/drawingml/2006/main">
            <a:r>
              <a:t>原図の手書き記入も提供資料の一部として残っている。密度に基づく方法はk近傍の平均距離を用い、本文ではk=5。到平均距離の閾値は訓練中の最大距離。近傍方式では訓練各点の近傍平均距離の最大値を使う。絶対誤差が0.022 MPaより大きい点をAD外と仮定した評価も実施している。これは真の分布外ラベルではなく、推定誤差に基づく代理ラベル。総合的にはkNN_Mahを支持するが、当該データ・基準下での結論である。</a:t>
            </a:r>
          </a:p>
          <a:p xmlns:a="http://schemas.openxmlformats.org/drawingml/2006/main">
            <a:r>
              <a:t/>
            </a:r>
          </a:p>
          <a:p xmlns:a="http://schemas.openxmlformats.org/drawingml/2006/main">
            <a:r>
              <a:t>出典：山原 §3–5、Fig. 3。図は提供されたスキャンから引用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発表時間の目安：11:40–13:00（80秒）</a:t>
            </a:r>
          </a:p>
          <a:p xmlns:a="http://schemas.openxmlformats.org/drawingml/2006/main">
            <a:r>
              <a:t/>
            </a:r>
          </a:p>
          <a:p xmlns:a="http://schemas.openxmlformats.org/drawingml/2006/main">
            <a:r>
              <a:t>発表メモ：</a:t>
            </a:r>
          </a:p>
          <a:p xmlns:a="http://schemas.openxmlformats.org/drawingml/2006/main">
            <a:r>
              <a:t>訓練とスコア。正常な多変量入力を圧縮し、元の入力を再構成する。。。s(x) = ‖x − x̂‖₂。。正常時の関係を再現しにくい入力ほど、スコアが大きくなる。</a:t>
            </a:r>
          </a:p>
          <a:p xmlns:a="http://schemas.openxmlformats.org/drawingml/2006/main">
            <a:r>
              <a:t>対象回帰モデルとの関係。訓練には正常入力Xを使用。。運用時に真の回帰出力Yは不要。。。原文は各時刻のサンプルを独立に扱い、時間順序を使わない。</a:t>
            </a:r>
          </a:p>
          <a:p xmlns:a="http://schemas.openxmlformats.org/drawingml/2006/main">
            <a:r>
              <a:t/>
            </a:r>
          </a:p>
          <a:p xmlns:a="http://schemas.openxmlformats.org/drawingml/2006/main">
            <a:r>
              <a:t>補足・説明：</a:t>
            </a:r>
          </a:p>
          <a:p xmlns:a="http://schemas.openxmlformats.org/drawingml/2006/main">
            <a:r>
              <a:t>オートエンコーダの出力は入力の再構成値であり、圧力や処理後濁度の回帰出力とは異なる。圧力回帰器や濁度回帰器の前段・並列で使用できるという説明は、本調査の適用可能性に関する判断。原論文はこの回帰モデルの予測誤差抑制を直接実証していない。ノイズ除去AEは入力の一部を0にして元のデータを再構成する訓練を行う。原文の将来課題として過去サンプルを含める拡張が述べられる。</a:t>
            </a:r>
          </a:p>
          <a:p xmlns:a="http://schemas.openxmlformats.org/drawingml/2006/main">
            <a:r>
              <a:t/>
            </a:r>
          </a:p>
          <a:p xmlns:a="http://schemas.openxmlformats.org/drawingml/2006/main">
            <a:r>
              <a:t>出典：14 §3、§6、Eq.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発表時間の目安：13:00–14:00（60秒）</a:t>
            </a:r>
          </a:p>
          <a:p xmlns:a="http://schemas.openxmlformats.org/drawingml/2006/main">
            <a:r>
              <a:t/>
            </a:r>
          </a:p>
          <a:p xmlns:a="http://schemas.openxmlformats.org/drawingml/2006/main">
            <a:r>
              <a:t>発表メモ：</a:t>
            </a:r>
          </a:p>
          <a:p xmlns:a="http://schemas.openxmlformats.org/drawingml/2006/main">
            <a:r>
              <a:t>Satellite-Aでは改善したが、Satellite-Bでは低下した</a:t>
            </a:r>
          </a:p>
          <a:p xmlns:a="http://schemas.openxmlformats.org/drawingml/2006/main">
            <a:r>
              <a:t/>
            </a:r>
          </a:p>
          <a:p xmlns:a="http://schemas.openxmlformats.org/drawingml/2006/main">
            <a:r>
              <a:t>補足・説明：</a:t>
            </a:r>
          </a:p>
          <a:p xmlns:a="http://schemas.openxmlformats.org/drawingml/2006/main">
            <a:r>
              <a:t>数値は原論文Table 1に忠実に記載。本文はAUCと記載しており、ここではAUC-PRと読み替えない。Lorenzは1000点のうち700点を訓練、300点をテストに使用。潜在変数z3の850–1000番を逆順にして合成異常を作る。原論文の評価は標準的な正常／異常の分離を調べており、実習定義の3条件を網羅する保証はない。閾値、潜在次元、正則化等は実習データで検討が必要。</a:t>
            </a:r>
          </a:p>
          <a:p xmlns:a="http://schemas.openxmlformats.org/drawingml/2006/main">
            <a:r>
              <a:t/>
            </a:r>
          </a:p>
          <a:p xmlns:a="http://schemas.openxmlformats.org/drawingml/2006/main">
            <a:r>
              <a:t>出典：14 §4–5、Table 1。対象：25次元合成、17次元・106次元の衛星データ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発表時間の目安：14:00–15:25（85秒）</a:t>
            </a:r>
          </a:p>
          <a:p xmlns:a="http://schemas.openxmlformats.org/drawingml/2006/main">
            <a:r>
              <a:t/>
            </a:r>
          </a:p>
          <a:p xmlns:a="http://schemas.openxmlformats.org/drawingml/2006/main">
            <a:r>
              <a:t>発表メモ：</a:t>
            </a:r>
          </a:p>
          <a:p xmlns:a="http://schemas.openxmlformats.org/drawingml/2006/main">
            <a:r>
              <a:t>訓練時。1　IDデータ(X, Y)で森林を学習。。2　VarProで信号変数Sと重みを選択。。回帰の目的変数を利用して、比較すべき入力空間を定める。</a:t>
            </a:r>
          </a:p>
          <a:p xmlns:a="http://schemas.openxmlformats.org/drawingml/2006/main">
            <a:r>
              <a:t>運用時。3　テスト点を含むルールを取得。。4　制約を緩和した領域から近傍を選択。。5　S上で近傍との距離を計算</a:t>
            </a:r>
          </a:p>
          <a:p xmlns:a="http://schemas.openxmlformats.org/drawingml/2006/main">
            <a:r>
              <a:t/>
            </a:r>
          </a:p>
          <a:p xmlns:a="http://schemas.openxmlformats.org/drawingml/2006/main">
            <a:r>
              <a:t>補足・説明：</a:t>
            </a:r>
          </a:p>
          <a:p xmlns:a="http://schemas.openxmlformats.org/drawingml/2006/main">
            <a:r>
              <a:t>最終スコアは通常d(x)=Kの逆数×近傍内のD_S(x,z)の和。OPTICS版はreachability scoreを直接用いる例外。VarProは分割頻度ではなく、変数制約の解放による目的変数の挙動の変化を評価する。近傍は通常のユークリッドkNNそのものではない。各訓練点の出現回数nと、変数間の出現分布のGini impurity GからW=nGを作り上位K点を選ぶ。</a:t>
            </a:r>
          </a:p>
          <a:p xmlns:a="http://schemas.openxmlformats.org/drawingml/2006/main">
            <a:r>
              <a:t/>
            </a:r>
          </a:p>
          <a:p xmlns:a="http://schemas.openxmlformats.org/drawingml/2006/main">
            <a:r>
              <a:t>出典：13 §3、Algorithm 1。OutPro = OOD using variable priority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発表時間の目安：15:25–16:40（75秒）</a:t>
            </a:r>
          </a:p>
          <a:p xmlns:a="http://schemas.openxmlformats.org/drawingml/2006/main">
            <a:r>
              <a:t/>
            </a:r>
          </a:p>
          <a:p xmlns:a="http://schemas.openxmlformats.org/drawingml/2006/main">
            <a:r>
              <a:t>発表メモ：</a:t>
            </a:r>
          </a:p>
          <a:p xmlns:a="http://schemas.openxmlformats.org/drawingml/2006/main">
            <a:r>
              <a:t>評価と結果。61個のPMLB回帰データセット。80% / 20%でランダム分割。AUC-PR、100回の反復評価。。jointの変化ではOutProが上位。。warpでは従来型検知器が優位な場合もある。</a:t>
            </a:r>
          </a:p>
          <a:p xmlns:a="http://schemas.openxmlformats.org/drawingml/2006/main">
            <a:r>
              <a:t>実習への適用条件。教師あり森林と訓練時のYが必要。。元の実験は時系列の検証ではない。。。別の回帰器に併設する場合、その回帰器に重要な変数を捉えるか確認する。</a:t>
            </a:r>
          </a:p>
          <a:p xmlns:a="http://schemas.openxmlformats.org/drawingml/2006/main">
            <a:r>
              <a:t/>
            </a:r>
          </a:p>
          <a:p xmlns:a="http://schemas.openxmlformats.org/drawingml/2006/main">
            <a:r>
              <a:t>補足・説明：</a:t>
            </a:r>
          </a:p>
          <a:p xmlns:a="http://schemas.openxmlformats.org/drawingml/2006/main">
            <a:r>
              <a:t>PMLBは連続目的変数かつ10変数以上の61データセットで、n=47–1066、d=10–124。合成OODは予測に関連する上位10%の変数に適用される。warpは周辺分布の尾部、jointは依存構造、supportは観測範囲の外への変化を意図する。jointについて周辺分布そのものが厳密に不変とまでは主張しない。入力2–3変数で変数選択の利点がどれほどあるかも未確認。純粋なconcept shiftの限界は第6頁参照。</a:t>
            </a:r>
          </a:p>
          <a:p xmlns:a="http://schemas.openxmlformats.org/drawingml/2006/main">
            <a:r>
              <a:t/>
            </a:r>
          </a:p>
          <a:p xmlns:a="http://schemas.openxmlformats.org/drawingml/2006/main">
            <a:r>
              <a:t>出典：13 §5.2–5.3、§7。図は提供PDFの原図を引用。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発表時間の目安：16:40–17:40（60秒）</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山原のADを構成する段階では主として入力Xを用いるが、誤差による評価には真の出力Yが必要である。AEの運用には学習済み検知器が必要であり、入力だけで計算できるとは「何も学習済みモデルを持たない」という意味ではない。OutProも運用時には新しいYは不要だが、X,Yで学習した森林と参照サンプルを必要とする。</a:t>
            </a:r>
          </a:p>
          <a:p xmlns:a="http://schemas.openxmlformats.org/drawingml/2006/main">
            <a:r>
              <a:t/>
            </a:r>
          </a:p>
          <a:p xmlns:a="http://schemas.openxmlformats.org/drawingml/2006/main">
            <a:r>
              <a:t>出典：山原 §3–5、14 §3–6、13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発表時間の目安：17:40–18:25（45秒）</a:t>
            </a:r>
          </a:p>
          <a:p xmlns:a="http://schemas.openxmlformats.org/drawingml/2006/main">
            <a:r>
              <a:t/>
            </a:r>
          </a:p>
          <a:p xmlns:a="http://schemas.openxmlformats.org/drawingml/2006/main">
            <a:r>
              <a:t>発表メモ：</a:t>
            </a:r>
          </a:p>
          <a:p xmlns:a="http://schemas.openxmlformats.org/drawingml/2006/main">
            <a:r>
              <a:t>故障・攻撃、人工OOD、予測誤差超過のラベルは分けて扱う</a:t>
            </a:r>
          </a:p>
          <a:p xmlns:a="http://schemas.openxmlformats.org/drawingml/2006/main">
            <a:r>
              <a:t/>
            </a:r>
          </a:p>
          <a:p xmlns:a="http://schemas.openxmlformats.org/drawingml/2006/main">
            <a:r>
              <a:t>補足・説明：</a:t>
            </a:r>
          </a:p>
          <a:p xmlns:a="http://schemas.openxmlformats.org/drawingml/2006/main">
            <a:r>
              <a:t>S1ではSWaTとWADIを現実に近い水系ベンチマークとして扱う。ただし対象の連続回帰出力がそのまま含まれるとは限らない。データの公開、利用条件、ライセンス、時刻粒度、バージョン、ダウンロード可否は公式配布元で別途確認が必要。今回は提供論文を基に候補を整理した段階であり、現時点の配布条件まで確認済みとはしない。</a:t>
            </a:r>
          </a:p>
          <a:p xmlns:a="http://schemas.openxmlformats.org/drawingml/2006/main">
            <a:r>
              <a:t/>
            </a:r>
          </a:p>
          <a:p xmlns:a="http://schemas.openxmlformats.org/drawingml/2006/main">
            <a:r>
              <a:t>出典：S1 Table 1、S6 §5、13 §5、14 §4。公開条件の確認状況は付録参照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発表時間の目安：18:25–19:25（60秒）</a:t>
            </a:r>
          </a:p>
          <a:p xmlns:a="http://schemas.openxmlformats.org/drawingml/2006/main">
            <a:r>
              <a:t/>
            </a:r>
          </a:p>
          <a:p xmlns:a="http://schemas.openxmlformats.org/drawingml/2006/main">
            <a:r>
              <a:t>発表メモ：</a:t>
            </a:r>
          </a:p>
          <a:p xmlns:a="http://schemas.openxmlformats.org/drawingml/2006/main">
            <a:r>
              <a:t>データと閾値。時間順に訓練・校正・テストを分離。。範囲外・低密度・未知の関係を区別。。校正データで閾値を固定し、テストで検知率と誤検知率を評価</a:t>
            </a:r>
          </a:p>
          <a:p xmlns:a="http://schemas.openxmlformats.org/drawingml/2006/main">
            <a:r>
              <a:t>運用上の有用性。学習外判定と回帰誤差の関係。。見逃した大誤差と、不要な警報の数。。推論時間・履歴長・検知遅延</a:t>
            </a:r>
          </a:p>
          <a:p xmlns:a="http://schemas.openxmlformats.org/drawingml/2006/main">
            <a:r>
              <a:t/>
            </a:r>
          </a:p>
          <a:p xmlns:a="http://schemas.openxmlformats.org/drawingml/2006/main">
            <a:r>
              <a:t>補足・説明：</a:t>
            </a:r>
          </a:p>
          <a:p xmlns:a="http://schemas.openxmlformats.org/drawingml/2006/main">
            <a:r>
              <a:t>閾値は独立した正常校正期間の上位分位などを候補とし、運用上許容できる誤検知率に合わせる。時系列には自己相関や季節性があるため、IIDを仮定した保証をそのまま主張しない。窓型入力では訓練とテストの窓重複にも注意する。入力の合成変化に対する評価と、実測Yを用いた誤差リスク評価は区別する。合成入力だけでは正しいYが得られない場合がある。</a:t>
            </a:r>
          </a:p>
          <a:p xmlns:a="http://schemas.openxmlformats.org/drawingml/2006/main">
            <a:r>
              <a:t/>
            </a:r>
          </a:p>
          <a:p xmlns:a="http://schemas.openxmlformats.org/drawingml/2006/main">
            <a:r>
              <a:t>出典：実習要求、山原の評価観点を基にした提案。実施結果ではない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発表時間の目安：19:25–20:00（35秒）</a:t>
            </a:r>
          </a:p>
          <a:p xmlns:a="http://schemas.openxmlformats.org/drawingml/2006/main">
            <a:r>
              <a:t/>
            </a:r>
          </a:p>
          <a:p xmlns:a="http://schemas.openxmlformats.org/drawingml/2006/main">
            <a:r>
              <a:t>発表メモ：</a:t>
            </a:r>
          </a:p>
          <a:p xmlns:a="http://schemas.openxmlformats.org/drawingml/2006/main">
            <a:r>
              <a:t>文献から得られたこと。1時刻の多変量入力でも検知は可能。。。範囲・変数関係・予測タスクとの関係を分けて比較できる。。。異常検知の評価だけでは、回帰の安全性を保証できない。</a:t>
            </a:r>
          </a:p>
          <a:p xmlns:a="http://schemas.openxmlformats.org/drawingml/2006/main">
            <a:r>
              <a:t>次に確認すること。実際の入力変数・回帰器・履歴の仕様。。閾値と評価ラベルの統一。。予測不確かさ・時間的分布変化の原論文を追加調査</a:t>
            </a:r>
          </a:p>
          <a:p xmlns:a="http://schemas.openxmlformats.org/drawingml/2006/main">
            <a:r>
              <a:t/>
            </a:r>
          </a:p>
          <a:p xmlns:a="http://schemas.openxmlformats.org/drawingml/2006/main">
            <a:r>
              <a:t>補足・説明：</a:t>
            </a:r>
          </a:p>
          <a:p xmlns:a="http://schemas.openxmlformats.org/drawingml/2006/main">
            <a:r>
              <a:t>本報告の主張は候補の整理であり、特定の手法が最適と決定したものではない。とくに3つの学習外条件を満たす評価データの構成、誤検知と見逃しの許容度、運用時にYが得られるタイミングを帯同指導者と確認したい。</a:t>
            </a:r>
          </a:p>
          <a:p xmlns:a="http://schemas.openxmlformats.org/drawingml/2006/main">
            <a:r>
              <a:t/>
            </a:r>
          </a:p>
          <a:p xmlns:a="http://schemas.openxmlformats.org/drawingml/2006/main">
            <a:r>
              <a:t>出典：本調査の整理。最適手法の決定や実データでの検証は今後の課題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発表時間の目安：質疑応答用・20分の本編には含めない</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S3のglobal/localは参照する文脈の範囲にもとづく区別。S6の学習形態では用語の説明に文献依存の差があるため、本報告では必要なデータとラベルを具体的に記載する。分類は本来異なる軸を含み、単一の木に無理に統合しない。</a:t>
            </a:r>
          </a:p>
          <a:p xmlns:a="http://schemas.openxmlformats.org/drawingml/2006/main">
            <a:r>
              <a:t/>
            </a:r>
          </a:p>
          <a:p xmlns:a="http://schemas.openxmlformats.org/drawingml/2006/main">
            <a:r>
              <a:t>出典：S1 §3–4、S3 §2–3、S6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発表時間の目安：質疑応答用・20分の本編には含めない</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臨床例では95、99パーセンタイルを用いた議論があるが、その選択は当該例に依存する。一般的な校正保証は示していない。conformal calibrationは今後の課題として記載される。最低必要サンプル数や実機でのリアルタイム性を確定する根拠は今回の読解から得られていない。</a:t>
            </a:r>
          </a:p>
          <a:p xmlns:a="http://schemas.openxmlformats.org/drawingml/2006/main">
            <a:r>
              <a:t/>
            </a:r>
          </a:p>
          <a:p xmlns:a="http://schemas.openxmlformats.org/drawingml/2006/main">
            <a:r>
              <a:t>出典：13 §3、§5、§6、§7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発表時間の目安：質疑応答用・20分の本編には含めない</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原文ではKernel PCAに対する計算上の利点を議論し、実験全体の所要時間にも言及する。ただし、その結果を現在の配水モデルの1件当たりレイテンシへ読み替えない。Satelliteデータの公開条件や明示的なアノテーション手順は本論文のみから十分に確定できない。</a:t>
            </a:r>
          </a:p>
          <a:p xmlns:a="http://schemas.openxmlformats.org/drawingml/2006/main">
            <a:r>
              <a:t/>
            </a:r>
          </a:p>
          <a:p xmlns:a="http://schemas.openxmlformats.org/drawingml/2006/main">
            <a:r>
              <a:t>出典：14 §3–6、Table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発表時間の目安：質疑応答用・20分の本編には含めない</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S1 Table 1の異常比率はSWaT 11.98%、WADI 5.99%。S1には配布先としてSUTD iTrustのデータセットページ、SMDにはOmniAnomalyリポジトリ、SMAP/MSLにはTelemanom配布データの参照がある。本報告ではリンクの現時点の有効性・利用条件は未確認。PMLBはhttps://github.com/EpistasisLab/pmlb が文献で示されるプロジェクト名に対応するが、本報告では実際の取得を行っていない。時間窓長はデータ固有の属性ではなく、各検知器の前処理・入力仕様として別途記録する。</a:t>
            </a:r>
          </a:p>
          <a:p xmlns:a="http://schemas.openxmlformats.org/drawingml/2006/main">
            <a:r>
              <a:t/>
            </a:r>
          </a:p>
          <a:p xmlns:a="http://schemas.openxmlformats.org/drawingml/2006/main">
            <a:r>
              <a:t>出典：S1 Table 1、13 §5.3、14 §4。数値は各論文の使用版に限る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発表時間の目安：質疑応答用・20分の本編には含めない</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S1の提供版は2022年5月31日付の著者原稿で、Pattern Recognitionに提出された原稿として表記され、Version of Recordへのリンクがある。S3は2021年4月刊行の表示。書誌情報は提供された各PDFに基づく。</a:t>
            </a:r>
          </a:p>
          <a:p xmlns:a="http://schemas.openxmlformats.org/drawingml/2006/main">
            <a:r>
              <a:t/>
            </a:r>
          </a:p>
          <a:p xmlns:a="http://schemas.openxmlformats.org/drawingml/2006/main">
            <a:r>
              <a:t>出典：ユーザー提供PDFの書誌情報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発表時間の目安：質疑応答用・20分の本編には含めない</a:t>
            </a:r>
          </a:p>
          <a:p xmlns:a="http://schemas.openxmlformats.org/drawingml/2006/main">
            <a:r>
              <a:t/>
            </a:r>
          </a:p>
          <a:p xmlns:a="http://schemas.openxmlformats.org/drawingml/2006/main">
            <a:r>
              <a:t>発表メモ：</a:t>
            </a:r>
          </a:p>
          <a:p xmlns:a="http://schemas.openxmlformats.org/drawingml/2006/main">
            <a:r>
              <a:t>この表では、文献ごとの条件と比較軸を整理しています。</a:t>
            </a:r>
          </a:p>
          <a:p xmlns:a="http://schemas.openxmlformats.org/drawingml/2006/main">
            <a:r>
              <a:t/>
            </a:r>
          </a:p>
          <a:p xmlns:a="http://schemas.openxmlformats.org/drawingml/2006/main">
            <a:r>
              <a:t>補足・説明：</a:t>
            </a:r>
          </a:p>
          <a:p xmlns:a="http://schemas.openxmlformats.org/drawingml/2006/main">
            <a:r>
              <a:t>13、14、山原のファイル番号はユーザーのファイル名に対応し、本報告内の参照記号である。提示された資料に含まれる記述と、本報告で提案した適用判断・評価案を区別している。</a:t>
            </a:r>
          </a:p>
          <a:p xmlns:a="http://schemas.openxmlformats.org/drawingml/2006/main">
            <a:r>
              <a:t/>
            </a:r>
          </a:p>
          <a:p xmlns:a="http://schemas.openxmlformats.org/drawingml/2006/main">
            <a:r>
              <a:t>出典：ユーザー提供PDF・DOCX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473b4f3fee41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134c35d0b14297" /><Relationship Type="http://schemas.openxmlformats.org/officeDocument/2006/relationships/slideLayout" Target="/ppt/slideLayouts/slideLayout1.xml" Id="Raca0749266f945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a0749266f945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d74feac5654d4f" /><Relationship Type="http://schemas.openxmlformats.org/officeDocument/2006/relationships/image" Target="/ppt/media/image.png" Id="Rd4ab687c71414e3d" /><Relationship Type="http://schemas.openxmlformats.org/officeDocument/2006/relationships/notesSlide" Target="/ppt/notesSlides/notesSlide1.xml" Id="R4d198bd5680c42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ff36d0dfd04d1f" /><Relationship Type="http://schemas.openxmlformats.org/officeDocument/2006/relationships/image" Target="/ppt/media/image2.png" Id="R825cc7ae54a84b3a" /><Relationship Type="http://schemas.openxmlformats.org/officeDocument/2006/relationships/notesSlide" Target="/ppt/notesSlides/notesSlide2.xml" Id="R28777fcb65b146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19d79fa44d4649" /><Relationship Type="http://schemas.openxmlformats.org/officeDocument/2006/relationships/image" Target="/ppt/media/image3.png" Id="Re5ae940484b04f4e" /><Relationship Type="http://schemas.openxmlformats.org/officeDocument/2006/relationships/notesSlide" Target="/ppt/notesSlides/notesSlide3.xml" Id="Rf55efb37955c4e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421db8027d4437" /><Relationship Type="http://schemas.openxmlformats.org/officeDocument/2006/relationships/notesSlide" Target="/ppt/notesSlides/notesSlide4.xml" Id="Ra704449e5b0740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bbb909ffb74a23" /><Relationship Type="http://schemas.openxmlformats.org/officeDocument/2006/relationships/notesSlide" Target="/ppt/notesSlides/notesSlide5.xml" Id="R1d18c40910d746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27b661155948b0" /><Relationship Type="http://schemas.openxmlformats.org/officeDocument/2006/relationships/notesSlide" Target="/ppt/notesSlides/notesSlide6.xml" Id="R85e604cfd00d4e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5ce6fd03a547ae" /><Relationship Type="http://schemas.openxmlformats.org/officeDocument/2006/relationships/image" Target="/ppt/media/image4.png" Id="Rcfc9b250abab4c67" /><Relationship Type="http://schemas.openxmlformats.org/officeDocument/2006/relationships/notesSlide" Target="/ppt/notesSlides/notesSlide7.xml" Id="R7392167bd58946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247a0cfbf54163" /><Relationship Type="http://schemas.openxmlformats.org/officeDocument/2006/relationships/notesSlide" Target="/ppt/notesSlides/notesSlide8.xml" Id="Rdc2e883a3eb34a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bb1c4ad6854941" /><Relationship Type="http://schemas.openxmlformats.org/officeDocument/2006/relationships/notesSlide" Target="/ppt/notesSlides/notesSlide9.xml" Id="Rb6fe7cdd950b49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32c5206b43436b" /><Relationship Type="http://schemas.openxmlformats.org/officeDocument/2006/relationships/notesSlide" Target="/ppt/notesSlides/notesSlide10.xml" Id="R1b62bdfa8df040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e22f75585f04026" /><Relationship Type="http://schemas.openxmlformats.org/officeDocument/2006/relationships/image" Target="/ppt/media/image5.png" Id="Rd2e3d86cf22c4072" /><Relationship Type="http://schemas.openxmlformats.org/officeDocument/2006/relationships/notesSlide" Target="/ppt/notesSlides/notesSlide11.xml" Id="R44af190bcb5b435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76ef94e428c4351" /><Relationship Type="http://schemas.openxmlformats.org/officeDocument/2006/relationships/image" Target="/ppt/media/image6.png" Id="R212b4275f54e49f0" /><Relationship Type="http://schemas.openxmlformats.org/officeDocument/2006/relationships/notesSlide" Target="/ppt/notesSlides/notesSlide12.xml" Id="R02b0b0a363a140d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fae1506f6664d2b" /><Relationship Type="http://schemas.openxmlformats.org/officeDocument/2006/relationships/image" Target="/ppt/media/image7.png" Id="Rc85fbba2f625480a" /><Relationship Type="http://schemas.openxmlformats.org/officeDocument/2006/relationships/notesSlide" Target="/ppt/notesSlides/notesSlide13.xml" Id="Rbabb0287ac0342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d473a3a131d4b89" /><Relationship Type="http://schemas.openxmlformats.org/officeDocument/2006/relationships/chart" Target="/ppt/slides/charts/chart1.xml" Id="Rd25385dccd774341" /><Relationship Type="http://schemas.openxmlformats.org/officeDocument/2006/relationships/notesSlide" Target="/ppt/notesSlides/notesSlide14.xml" Id="R6908ff68c0e64a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f0eaf46d6354d04" /><Relationship Type="http://schemas.openxmlformats.org/officeDocument/2006/relationships/image" Target="/ppt/media/image8.png" Id="R80b7dd34400d4515" /><Relationship Type="http://schemas.openxmlformats.org/officeDocument/2006/relationships/notesSlide" Target="/ppt/notesSlides/notesSlide15.xml" Id="R8d4f79f0ba374e1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05ea5df4f0947c8" /><Relationship Type="http://schemas.openxmlformats.org/officeDocument/2006/relationships/image" Target="/ppt/media/image9.png" Id="R1df76ff61fac4e6c" /><Relationship Type="http://schemas.openxmlformats.org/officeDocument/2006/relationships/image" Target="/ppt/media/image10.png" Id="R4dbdb82639c740fe" /><Relationship Type="http://schemas.openxmlformats.org/officeDocument/2006/relationships/notesSlide" Target="/ppt/notesSlides/notesSlide16.xml" Id="R3950881fb36a484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957960598b44e2e" /><Relationship Type="http://schemas.openxmlformats.org/officeDocument/2006/relationships/notesSlide" Target="/ppt/notesSlides/notesSlide17.xml" Id="R5c0ec7a706d34f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0aa856d875c4f93" /><Relationship Type="http://schemas.openxmlformats.org/officeDocument/2006/relationships/notesSlide" Target="/ppt/notesSlides/notesSlide18.xml" Id="R44027aa11baf48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5fb2e4105814bb8" /><Relationship Type="http://schemas.openxmlformats.org/officeDocument/2006/relationships/notesSlide" Target="/ppt/notesSlides/notesSlide19.xml" Id="R05c5ce9be7b64bb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c9b0a67802d4212" /><Relationship Type="http://schemas.openxmlformats.org/officeDocument/2006/relationships/notesSlide" Target="/ppt/notesSlides/notesSlide20.xml" Id="R70f14124821c481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edd16ea2321432e" /><Relationship Type="http://schemas.openxmlformats.org/officeDocument/2006/relationships/notesSlide" Target="/ppt/notesSlides/notesSlide21.xml" Id="R0c47d114f62b47d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752ddc3e9724207" /><Relationship Type="http://schemas.openxmlformats.org/officeDocument/2006/relationships/notesSlide" Target="/ppt/notesSlides/notesSlide22.xml" Id="Rcf0078c64f9240f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6421c3aa16c4331" /><Relationship Type="http://schemas.openxmlformats.org/officeDocument/2006/relationships/notesSlide" Target="/ppt/notesSlides/notesSlide23.xml" Id="Re9af58af7569419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1f41900fd624992" /><Relationship Type="http://schemas.openxmlformats.org/officeDocument/2006/relationships/notesSlide" Target="/ppt/notesSlides/notesSlide24.xml" Id="Reb9386ce28744cc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9428d9818a349d8" /><Relationship Type="http://schemas.openxmlformats.org/officeDocument/2006/relationships/notesSlide" Target="/ppt/notesSlides/notesSlide25.xml" Id="R75b27f30064d44f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f675256a2054baf" /><Relationship Type="http://schemas.openxmlformats.org/officeDocument/2006/relationships/notesSlide" Target="/ppt/notesSlides/notesSlide26.xml" Id="Rd9b0830d4396410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PCA</c:v>
          </c:tx>
          <c:spPr>
            <a:solidFill xmlns:a="http://schemas.openxmlformats.org/drawingml/2006/main">
              <a:srgbClr val="94A7B4"/>
            </a:solidFill>
          </c:spPr>
          <c:cat>
            <c:strRef>
              <c:f>'Chart Data'!$A$2:$A$4</c:f>
              <c:strCache>
                <c:ptCount val="3"/>
                <c:pt idx="0">
                  <c:v>Lorenz</c:v>
                </c:pt>
                <c:pt idx="1">
                  <c:v>Satellite-A</c:v>
                </c:pt>
                <c:pt idx="2">
                  <c:v>Satellite-B</c:v>
                </c:pt>
              </c:strCache>
            </c:strRef>
          </c:cat>
          <c:val>
            <c:numRef>
              <c:f>'Chart Data'!$B$2:$B$4</c:f>
              <c:numCache>
                <c:formatCode>General</c:formatCode>
                <c:ptCount val="3"/>
                <c:pt idx="0">
                  <c:v>0.5104</c:v>
                </c:pt>
                <c:pt idx="1">
                  <c:v>0.8852</c:v>
                </c:pt>
                <c:pt idx="2">
                  <c:v>0.9764</c:v>
                </c:pt>
              </c:numCache>
            </c:numRef>
          </c:val>
        </c:ser>
        <c:ser>
          <c:idx val="1"/>
          <c:order val="1"/>
          <c:tx>
            <c:v>AE</c:v>
          </c:tx>
          <c:spPr>
            <a:solidFill xmlns:a="http://schemas.openxmlformats.org/drawingml/2006/main">
              <a:srgbClr val="235C7B"/>
            </a:solidFill>
          </c:spPr>
          <c:cat>
            <c:strRef>
              <c:f>'Chart Data'!$C$2:$C$4</c:f>
              <c:strCache>
                <c:ptCount val="3"/>
                <c:pt idx="0">
                  <c:v>Lorenz</c:v>
                </c:pt>
                <c:pt idx="1">
                  <c:v>Satellite-A</c:v>
                </c:pt>
                <c:pt idx="2">
                  <c:v>Satellite-B</c:v>
                </c:pt>
              </c:strCache>
            </c:strRef>
          </c:cat>
          <c:val>
            <c:numRef>
              <c:f>'Chart Data'!$D$2:$D$4</c:f>
              <c:numCache>
                <c:formatCode>General</c:formatCode>
                <c:ptCount val="3"/>
                <c:pt idx="0">
                  <c:v>0.6473</c:v>
                </c:pt>
                <c:pt idx="1">
                  <c:v>0.8847</c:v>
                </c:pt>
                <c:pt idx="2">
                  <c:v>0.9763</c:v>
                </c:pt>
              </c:numCache>
            </c:numRef>
          </c:val>
        </c:ser>
        <c:ser>
          <c:idx val="2"/>
          <c:order val="2"/>
          <c:tx>
            <c:v>ノイズ除去AE</c:v>
          </c:tx>
          <c:spPr>
            <a:solidFill xmlns:a="http://schemas.openxmlformats.org/drawingml/2006/main">
              <a:srgbClr val="00A2A5"/>
            </a:solidFill>
          </c:spPr>
          <c:cat>
            <c:strRef>
              <c:f>'Chart Data'!$E$2:$E$4</c:f>
              <c:strCache>
                <c:ptCount val="3"/>
                <c:pt idx="0">
                  <c:v>Lorenz</c:v>
                </c:pt>
                <c:pt idx="1">
                  <c:v>Satellite-A</c:v>
                </c:pt>
                <c:pt idx="2">
                  <c:v>Satellite-B</c:v>
                </c:pt>
              </c:strCache>
            </c:strRef>
          </c:cat>
          <c:val>
            <c:numRef>
              <c:f>'Chart Data'!$F$2:$F$4</c:f>
              <c:numCache>
                <c:formatCode>General</c:formatCode>
                <c:ptCount val="3"/>
                <c:pt idx="0">
                  <c:v>0.7011</c:v>
                </c:pt>
                <c:pt idx="1">
                  <c:v>0.9354</c:v>
                </c:pt>
                <c:pt idx="2">
                  <c:v>0.8355</c:v>
                </c:pt>
              </c:numCache>
            </c:numRef>
          </c:val>
        </c:ser>
        <c:ser>
          <c:idx val="3"/>
          <c:order val="3"/>
          <c:tx>
            <c:v>Kernel PCA</c:v>
          </c:tx>
          <c:spPr>
            <a:solidFill xmlns:a="http://schemas.openxmlformats.org/drawingml/2006/main">
              <a:srgbClr val="E8AD46"/>
            </a:solidFill>
          </c:spPr>
          <c:cat>
            <c:strRef>
              <c:f>'Chart Data'!$G$2:$G$4</c:f>
              <c:strCache>
                <c:ptCount val="3"/>
                <c:pt idx="0">
                  <c:v>Lorenz</c:v>
                </c:pt>
                <c:pt idx="1">
                  <c:v>Satellite-A</c:v>
                </c:pt>
                <c:pt idx="2">
                  <c:v>Satellite-B</c:v>
                </c:pt>
              </c:strCache>
            </c:strRef>
          </c:cat>
          <c:val>
            <c:numRef>
              <c:f>'Chart Data'!$H$2:$H$4</c:f>
              <c:numCache>
                <c:formatCode>General</c:formatCode>
                <c:ptCount val="3"/>
                <c:pt idx="0">
                  <c:v>0.7045</c:v>
                </c:pt>
                <c:pt idx="1">
                  <c:v>0.8862</c:v>
                </c:pt>
                <c:pt idx="2">
                  <c:v>0.7689</c:v>
                </c:pt>
              </c:numCache>
            </c:numRef>
          </c:val>
        </c:ser>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Meiryo"/>
                <a:ea typeface="Meiryo"/>
                <a:cs typeface="Meiryo"/>
              </a:defRPr>
            </a:pPr>
          </a:p>
        </c:txPr>
        <c:crossAx val="48672768"/>
      </c:catAx>
      <c:valAx>
        <c:axId val="48672768"/>
        <c:scaling>
          <c:orientation val="minMax"/>
          <c:max val="1"/>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eiryo"/>
                <a:ea typeface="Meiryo"/>
                <a:cs typeface="Meiryo"/>
              </a:defRPr>
            </a:pPr>
          </a:p>
        </c:txPr>
        <c:crossAx val="48650112"/>
        <c:crossBetween val="between"/>
        <c:majorUnit val="0.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Meiryo"/>
              <a:ea typeface="Meiryo"/>
              <a:cs typeface="Meiryo"/>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7C9382-502F-494F-8814-871C5B7228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4ab687c71414e3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7C6057B-AF31-4523-BB3E-8DB2F6B594DB}"/>
              </a:ext>
            </a:extLst>
          </p:cNvPr>
          <p:cNvSpPr>
            <a:spLocks xmlns:a="http://schemas.openxmlformats.org/drawingml/2006/main" noGrp="1"/>
          </p:cNvSpPr>
          <p:nvPr/>
        </p:nvSpPr>
        <p:spPr>
          <a:xfrm xmlns:a="http://schemas.openxmlformats.org/drawingml/2006/main">
            <a:off x="0" y="0"/>
            <a:ext cx="5000625" cy="6858000"/>
          </a:xfrm>
          <a:prstGeom xmlns:a="http://schemas.openxmlformats.org/drawingml/2006/main" prst="rect">
            <a:avLst/>
          </a:prstGeom>
          <a:solidFill xmlns:a="http://schemas.openxmlformats.org/drawingml/2006/main">
            <a:srgbClr val="08273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AAE3C3-0BCC-4913-8DAE-17A8DC964A91}"/>
              </a:ext>
            </a:extLst>
          </p:cNvPr>
          <p:cNvSpPr>
            <a:spLocks xmlns:a="http://schemas.openxmlformats.org/drawingml/2006/main" noGrp="1"/>
          </p:cNvSpPr>
          <p:nvPr/>
        </p:nvSpPr>
        <p:spPr>
          <a:xfrm xmlns:a="http://schemas.openxmlformats.org/drawingml/2006/main">
            <a:off x="523875" y="9048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62D4D4"/>
                </a:solidFill>
                <a:latin typeface="Meiryo"/>
                <a:ea typeface="Meiryo"/>
                <a:cs typeface="Meiryo"/>
              </a:defRPr>
            </a:pPr>
            <a:r>
              <a:rPr sz="1725" b="1">
                <a:solidFill>
                  <a:srgbClr val="62D4D4"/>
                </a:solidFill>
                <a:latin typeface="Meiryo"/>
                <a:ea typeface="Meiryo"/>
                <a:cs typeface="Meiryo"/>
              </a:rPr>
              <a:t>実習 文献調査報告</a:t>
            </a:r>
          </a:p>
        </p:txBody>
      </p:sp>
      <p:sp>
        <p:nvSpPr>
          <p:cNvPr id="5" name="">
            <a:extLst xmlns:a="http://schemas.openxmlformats.org/drawingml/2006/main">
              <a:ext uri="{FF2B5EF4-FFF2-40B4-BE49-F238E27FC236}">
                <a16:creationId xmlns:a16="http://schemas.microsoft.com/office/drawing/2014/main" id="{597D2E42-B8DF-4B87-993D-B6407CF7C686}"/>
              </a:ext>
            </a:extLst>
          </p:cNvPr>
          <p:cNvSpPr>
            <a:spLocks xmlns:a="http://schemas.openxmlformats.org/drawingml/2006/main" noGrp="1"/>
          </p:cNvSpPr>
          <p:nvPr/>
        </p:nvSpPr>
        <p:spPr>
          <a:xfrm xmlns:a="http://schemas.openxmlformats.org/drawingml/2006/main">
            <a:off x="523875" y="1962150"/>
            <a:ext cx="5619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FFFFFF"/>
                </a:solidFill>
                <a:latin typeface="Meiryo"/>
                <a:ea typeface="Meiryo"/>
                <a:cs typeface="Meiryo"/>
              </a:defRPr>
            </a:pPr>
            <a:r>
              <a:rPr sz="3600" b="1">
                <a:solidFill>
                  <a:srgbClr val="FFFFFF"/>
                </a:solidFill>
                <a:latin typeface="Meiryo"/>
                <a:ea typeface="Meiryo"/>
                <a:cs typeface="Meiryo"/>
              </a:rPr>
              <a:t>多変量回帰モデルの</a:t>
            </a:r>
          </a:p>
          <a:p xmlns:a="http://schemas.openxmlformats.org/drawingml/2006/main">
            <a:pPr>
              <a:defRPr sz="3600" b="1">
                <a:solidFill>
                  <a:srgbClr val="FFFFFF"/>
                </a:solidFill>
                <a:latin typeface="Meiryo"/>
                <a:ea typeface="Meiryo"/>
                <a:cs typeface="Meiryo"/>
              </a:defRPr>
            </a:pPr>
            <a:r>
              <a:rPr sz="3600" b="1">
                <a:solidFill>
                  <a:srgbClr val="FFFFFF"/>
                </a:solidFill>
                <a:latin typeface="Meiryo"/>
                <a:ea typeface="Meiryo"/>
                <a:cs typeface="Meiryo"/>
              </a:rPr>
              <a:t>学習外入力</a:t>
            </a:r>
          </a:p>
          <a:p xmlns:a="http://schemas.openxmlformats.org/drawingml/2006/main">
            <a:pPr>
              <a:defRPr sz="3600" b="1">
                <a:solidFill>
                  <a:srgbClr val="FFFFFF"/>
                </a:solidFill>
                <a:latin typeface="Meiryo"/>
                <a:ea typeface="Meiryo"/>
                <a:cs typeface="Meiryo"/>
              </a:defRPr>
            </a:pPr>
            <a:r>
              <a:rPr sz="3600" b="1">
                <a:solidFill>
                  <a:srgbClr val="FFFFFF"/>
                </a:solidFill>
                <a:latin typeface="Meiryo"/>
                <a:ea typeface="Meiryo"/>
                <a:cs typeface="Meiryo"/>
              </a:rPr>
              <a:t>データ検知</a:t>
            </a:r>
          </a:p>
        </p:txBody>
      </p:sp>
      <p:sp>
        <p:nvSpPr>
          <p:cNvPr id="6" name="">
            <a:extLst xmlns:a="http://schemas.openxmlformats.org/drawingml/2006/main">
              <a:ext uri="{FF2B5EF4-FFF2-40B4-BE49-F238E27FC236}">
                <a16:creationId xmlns:a16="http://schemas.microsoft.com/office/drawing/2014/main" id="{86C2D1F6-646C-4C6C-A626-FCEEA14C67C3}"/>
              </a:ext>
            </a:extLst>
          </p:cNvPr>
          <p:cNvSpPr>
            <a:spLocks xmlns:a="http://schemas.openxmlformats.org/drawingml/2006/main" noGrp="1"/>
          </p:cNvSpPr>
          <p:nvPr/>
        </p:nvSpPr>
        <p:spPr>
          <a:xfrm xmlns:a="http://schemas.openxmlformats.org/drawingml/2006/main">
            <a:off x="523875" y="4857750"/>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D9EEF2"/>
                </a:solidFill>
                <a:latin typeface="Meiryo"/>
                <a:ea typeface="Meiryo"/>
                <a:cs typeface="Meiryo"/>
              </a:defRPr>
            </a:pPr>
            <a:r>
              <a:rPr sz="1950" b="0">
                <a:solidFill>
                  <a:srgbClr val="D9EEF2"/>
                </a:solidFill>
                <a:latin typeface="Meiryo"/>
                <a:ea typeface="Meiryo"/>
                <a:cs typeface="Meiryo"/>
              </a:rPr>
              <a:t>定義・分類と既存手法の比較</a:t>
            </a:r>
          </a:p>
        </p:txBody>
      </p:sp>
      <p:sp>
        <p:nvSpPr>
          <p:cNvPr id="7" name="">
            <a:extLst xmlns:a="http://schemas.openxmlformats.org/drawingml/2006/main">
              <a:ext uri="{FF2B5EF4-FFF2-40B4-BE49-F238E27FC236}">
                <a16:creationId xmlns:a16="http://schemas.microsoft.com/office/drawing/2014/main" id="{B7077BC5-A368-4657-A397-F342A864244A}"/>
              </a:ext>
            </a:extLst>
          </p:cNvPr>
          <p:cNvSpPr>
            <a:spLocks xmlns:a="http://schemas.openxmlformats.org/drawingml/2006/main" noGrp="1"/>
          </p:cNvSpPr>
          <p:nvPr/>
        </p:nvSpPr>
        <p:spPr>
          <a:xfrm xmlns:a="http://schemas.openxmlformats.org/drawingml/2006/main">
            <a:off x="523875" y="6038850"/>
            <a:ext cx="742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A6C8D3"/>
                </a:solidFill>
                <a:latin typeface="Meiryo"/>
                <a:ea typeface="Meiryo"/>
                <a:cs typeface="Meiryo"/>
              </a:defRPr>
            </a:pPr>
            <a:r>
              <a:rPr sz="1350" b="0">
                <a:solidFill>
                  <a:srgbClr val="A6C8D3"/>
                </a:solidFill>
                <a:latin typeface="Meiryo"/>
                <a:ea typeface="Meiryo"/>
                <a:cs typeface="Meiryo"/>
              </a:rPr>
              <a:t>20分発表  |  S1・S3・S6・13・14・山原</a:t>
            </a:r>
          </a:p>
        </p:txBody>
      </p:sp>
    </p:spTree>
    <p:extLst>
      <p:ext uri="{BB962C8B-B14F-4D97-AF65-F5344CB8AC3E}">
        <p14:creationId xmlns:p14="http://schemas.microsoft.com/office/powerpoint/2010/main" val="100229475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BE82A1E-AACD-4F98-A909-2502DF7B63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EEDE4E-A10C-407F-9BFD-759BA26D4324}"/>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2EB10BBD-620E-4B66-BAAE-9A0067A5C3B4}"/>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対象モデルと調査範囲</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25cc7ae54a84b3a"/>
          <a:stretch xmlns:a="http://schemas.openxmlformats.org/drawingml/2006/main"/>
        </p:blipFill>
        <p:spPr>
          <a:xfrm xmlns:a="http://schemas.openxmlformats.org/drawingml/2006/main">
            <a:off x="3218863" y="1476375"/>
            <a:ext cx="5754274" cy="3238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23A34C0-20DB-47CE-9A28-466B7B0C7B62}"/>
              </a:ext>
            </a:extLst>
          </p:cNvPr>
          <p:cNvSpPr>
            <a:spLocks xmlns:a="http://schemas.openxmlformats.org/drawingml/2006/main" noGrp="1"/>
          </p:cNvSpPr>
          <p:nvPr/>
        </p:nvSpPr>
        <p:spPr>
          <a:xfrm xmlns:a="http://schemas.openxmlformats.org/drawingml/2006/main">
            <a:off x="571500" y="47339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9384B"/>
                </a:solidFill>
                <a:latin typeface="Meiryo"/>
                <a:ea typeface="Meiryo"/>
                <a:cs typeface="Meiryo"/>
              </a:defRPr>
            </a:pPr>
            <a:r>
              <a:rPr sz="1875" b="1">
                <a:solidFill>
                  <a:srgbClr val="19384B"/>
                </a:solidFill>
                <a:latin typeface="Meiryo"/>
                <a:ea typeface="Meiryo"/>
                <a:cs typeface="Meiryo"/>
              </a:rPr>
              <a:t>配水：圧力・流量 → 特定地点の圧力</a:t>
            </a:r>
          </a:p>
        </p:txBody>
      </p:sp>
      <p:sp>
        <p:nvSpPr>
          <p:cNvPr id="6" name="">
            <a:extLst xmlns:a="http://schemas.openxmlformats.org/drawingml/2006/main">
              <a:ext uri="{FF2B5EF4-FFF2-40B4-BE49-F238E27FC236}">
                <a16:creationId xmlns:a16="http://schemas.microsoft.com/office/drawing/2014/main" id="{36F60FB6-ECE9-4B51-AC26-F08F6A78D1A4}"/>
              </a:ext>
            </a:extLst>
          </p:cNvPr>
          <p:cNvSpPr>
            <a:spLocks xmlns:a="http://schemas.openxmlformats.org/drawingml/2006/main" noGrp="1"/>
          </p:cNvSpPr>
          <p:nvPr/>
        </p:nvSpPr>
        <p:spPr>
          <a:xfrm xmlns:a="http://schemas.openxmlformats.org/drawingml/2006/main">
            <a:off x="6381750" y="47339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9384B"/>
                </a:solidFill>
                <a:latin typeface="Meiryo"/>
                <a:ea typeface="Meiryo"/>
                <a:cs typeface="Meiryo"/>
              </a:defRPr>
            </a:pPr>
            <a:r>
              <a:rPr sz="1875" b="1">
                <a:solidFill>
                  <a:srgbClr val="19384B"/>
                </a:solidFill>
                <a:latin typeface="Meiryo"/>
                <a:ea typeface="Meiryo"/>
                <a:cs typeface="Meiryo"/>
              </a:rPr>
              <a:t>浄水：原水濁度・注入率 → 処理後濁度</a:t>
            </a:r>
          </a:p>
        </p:txBody>
      </p:sp>
      <p:sp>
        <p:nvSpPr>
          <p:cNvPr id="7" name="">
            <a:extLst xmlns:a="http://schemas.openxmlformats.org/drawingml/2006/main">
              <a:ext uri="{FF2B5EF4-FFF2-40B4-BE49-F238E27FC236}">
                <a16:creationId xmlns:a16="http://schemas.microsoft.com/office/drawing/2014/main" id="{E66F606F-ECEF-4D65-912D-59D0D6926D32}"/>
              </a:ext>
            </a:extLst>
          </p:cNvPr>
          <p:cNvSpPr>
            <a:spLocks xmlns:a="http://schemas.openxmlformats.org/drawingml/2006/main" noGrp="1"/>
          </p:cNvSpPr>
          <p:nvPr/>
        </p:nvSpPr>
        <p:spPr>
          <a:xfrm xmlns:a="http://schemas.openxmlformats.org/drawingml/2006/main">
            <a:off x="571500" y="52863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86E7C"/>
                </a:solidFill>
                <a:latin typeface="Meiryo"/>
                <a:ea typeface="Meiryo"/>
                <a:cs typeface="Meiryo"/>
              </a:defRPr>
            </a:pPr>
            <a:r>
              <a:rPr sz="1650" b="0">
                <a:solidFill>
                  <a:srgbClr val="586E7C"/>
                </a:solidFill>
                <a:latin typeface="Meiryo"/>
                <a:ea typeface="Meiryo"/>
                <a:cs typeface="Meiryo"/>
              </a:rPr>
              <a:t>現在の入力 xₜ を使用する構想</a:t>
            </a:r>
          </a:p>
        </p:txBody>
      </p:sp>
      <p:sp>
        <p:nvSpPr>
          <p:cNvPr id="8" name="">
            <a:extLst xmlns:a="http://schemas.openxmlformats.org/drawingml/2006/main">
              <a:ext uri="{FF2B5EF4-FFF2-40B4-BE49-F238E27FC236}">
                <a16:creationId xmlns:a16="http://schemas.microsoft.com/office/drawing/2014/main" id="{F01D54CA-1839-4714-9919-E905006F5FAC}"/>
              </a:ext>
            </a:extLst>
          </p:cNvPr>
          <p:cNvSpPr>
            <a:spLocks xmlns:a="http://schemas.openxmlformats.org/drawingml/2006/main" noGrp="1"/>
          </p:cNvSpPr>
          <p:nvPr/>
        </p:nvSpPr>
        <p:spPr>
          <a:xfrm xmlns:a="http://schemas.openxmlformats.org/drawingml/2006/main">
            <a:off x="6381750" y="52863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86E7C"/>
                </a:solidFill>
                <a:latin typeface="Meiryo"/>
                <a:ea typeface="Meiryo"/>
                <a:cs typeface="Meiryo"/>
              </a:defRPr>
            </a:pPr>
            <a:r>
              <a:rPr sz="1650" b="0">
                <a:solidFill>
                  <a:srgbClr val="586E7C"/>
                </a:solidFill>
                <a:latin typeface="Meiryo"/>
                <a:ea typeface="Meiryo"/>
                <a:cs typeface="Meiryo"/>
              </a:rPr>
              <a:t>遅れ Δ と入力窓長は今後確定</a:t>
            </a:r>
          </a:p>
        </p:txBody>
      </p:sp>
      <p:sp>
        <p:nvSpPr>
          <p:cNvPr id="9" name="">
            <a:extLst xmlns:a="http://schemas.openxmlformats.org/drawingml/2006/main">
              <a:ext uri="{FF2B5EF4-FFF2-40B4-BE49-F238E27FC236}">
                <a16:creationId xmlns:a16="http://schemas.microsoft.com/office/drawing/2014/main" id="{4759627F-E971-416A-A3AF-D97ED0CE0E4E}"/>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D288CAC-D61F-4564-8270-104EE5BAC743}"/>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時系列データでも、モデル入力は「1時刻のベクトル」の場合がある</a:t>
            </a:r>
          </a:p>
        </p:txBody>
      </p:sp>
      <p:sp>
        <p:nvSpPr>
          <p:cNvPr id="11" name="">
            <a:extLst xmlns:a="http://schemas.openxmlformats.org/drawingml/2006/main">
              <a:ext uri="{FF2B5EF4-FFF2-40B4-BE49-F238E27FC236}">
                <a16:creationId xmlns:a16="http://schemas.microsoft.com/office/drawing/2014/main" id="{49B3FB3D-D5B8-4745-A468-11E5F591AFE3}"/>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実習要求、山原 §2、ユーザー提示のモデル構想｜説明用概念図（生成画像）</a:t>
            </a:r>
          </a:p>
        </p:txBody>
      </p:sp>
      <p:sp>
        <p:nvSpPr>
          <p:cNvPr id="12" name="">
            <a:extLst xmlns:a="http://schemas.openxmlformats.org/drawingml/2006/main">
              <a:ext uri="{FF2B5EF4-FFF2-40B4-BE49-F238E27FC236}">
                <a16:creationId xmlns:a16="http://schemas.microsoft.com/office/drawing/2014/main" id="{F7B49F77-C576-4A80-BDA9-F25BA89760AE}"/>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02</a:t>
            </a:r>
          </a:p>
        </p:txBody>
      </p:sp>
    </p:spTree>
    <p:extLst>
      <p:ext uri="{BB962C8B-B14F-4D97-AF65-F5344CB8AC3E}">
        <p14:creationId xmlns:p14="http://schemas.microsoft.com/office/powerpoint/2010/main" val="73080932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12AD04-0528-49C4-A8A0-3E32E330ED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D513B4-7411-4FD1-A5A1-F027140CC2B6}"/>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C2873D8E-4CFD-481B-87B3-048F1415B168}"/>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本調査における「学習外」の定義</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5ae940484b04f4e"/>
          <a:stretch xmlns:a="http://schemas.openxmlformats.org/drawingml/2006/main"/>
        </p:blipFill>
        <p:spPr>
          <a:xfrm xmlns:a="http://schemas.openxmlformats.org/drawingml/2006/main">
            <a:off x="2347260" y="1390650"/>
            <a:ext cx="7497481" cy="42195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23E6BC5-AA29-45E3-9FB1-51DFD2523D99}"/>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853FD28-3ABC-47CF-ACE1-512A24F30F46}"/>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3つの条件は重なり得る。低密度だけで予測誤差の大きさは断定できない</a:t>
            </a:r>
          </a:p>
        </p:txBody>
      </p:sp>
      <p:sp>
        <p:nvSpPr>
          <p:cNvPr id="7" name="">
            <a:extLst xmlns:a="http://schemas.openxmlformats.org/drawingml/2006/main">
              <a:ext uri="{FF2B5EF4-FFF2-40B4-BE49-F238E27FC236}">
                <a16:creationId xmlns:a16="http://schemas.microsoft.com/office/drawing/2014/main" id="{480896D7-AF8E-41D2-93DE-B3F50A34A9B2}"/>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実習要求「本調査における学習外の考え方」｜説明用概念図（生成画像）</a:t>
            </a:r>
          </a:p>
        </p:txBody>
      </p:sp>
      <p:sp>
        <p:nvSpPr>
          <p:cNvPr id="8" name="">
            <a:extLst xmlns:a="http://schemas.openxmlformats.org/drawingml/2006/main">
              <a:ext uri="{FF2B5EF4-FFF2-40B4-BE49-F238E27FC236}">
                <a16:creationId xmlns:a16="http://schemas.microsoft.com/office/drawing/2014/main" id="{36726FE7-3A76-43C1-A5A6-703C6E21C0CC}"/>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03</a:t>
            </a:r>
          </a:p>
        </p:txBody>
      </p:sp>
    </p:spTree>
    <p:extLst>
      <p:ext uri="{BB962C8B-B14F-4D97-AF65-F5344CB8AC3E}">
        <p14:creationId xmlns:p14="http://schemas.microsoft.com/office/powerpoint/2010/main" val="117538295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970882-013C-44E9-BA75-CC9C0A1FE2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B8B521-6578-4EFC-8B5D-C53290F863FC}"/>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5E3542E6-6EA2-4DD0-BC6A-904BD2A70E45}"/>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読んだ文献と本報告での役割</a:t>
            </a:r>
          </a:p>
        </p:txBody>
      </p:sp>
      <p:graphicFrame>
        <p:nvGraphicFramePr>
          <p:cNvPr id="10" name=""/>
          <p:cNvGraphicFramePr/>
          <p:nvPr/>
        </p:nvGraphicFramePr>
        <p:xfrm>
          <a:off xmlns:a="http://schemas.openxmlformats.org/drawingml/2006/main" x="476250" y="1476375"/>
          <a:ext xmlns:a="http://schemas.openxmlformats.org/drawingml/2006/main" cx="11239500" cy="4286250"/>
        </p:xfrm>
        <a:graphic xmlns:a="http://schemas.openxmlformats.org/drawingml/2006/main">
          <a:graphicData uri="http://schemas.openxmlformats.org/drawingml/2006/table">
            <a:tbl>
              <a:tblPr/>
              <a:tblGrid>
                <a:gridCol w="1740006"/>
                <a:gridCol w="4937856"/>
                <a:gridCol w="4561638"/>
              </a:tblGrid>
              <a:tr h="612321">
                <a:tc>
                  <a:txBody>
                    <a:bodyPr/>
                    <a:lstStyle/>
                    <a:p>
                      <a:r>
                        <a:rPr sz="1650" b="1">
                          <a:solidFill>
                            <a:srgbClr val="FFFFFF"/>
                          </a:solidFill>
                          <a:latin typeface="Meiryo"/>
                          <a:ea typeface="Meiryo"/>
                          <a:cs typeface="Meiryo"/>
                        </a:rPr>
                        <a:t>文献</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対象と内容</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本報告での役割</a:t>
                      </a:r>
                    </a:p>
                  </a:txBody>
                  <a:tcPr marL="114300" marR="95250" marT="85725" marB="66675" anchor="ctr">
                    <a:solidFill>
                      <a:srgbClr val="08273C"/>
                    </a:solidFill>
                  </a:tcPr>
                </a:tc>
              </a:tr>
              <a:tr h="612321">
                <a:tc>
                  <a:txBody>
                    <a:bodyPr/>
                    <a:lstStyle/>
                    <a:p>
                      <a:r>
                        <a:rPr sz="1650" b="0">
                          <a:solidFill>
                            <a:srgbClr val="19384B"/>
                          </a:solidFill>
                          <a:latin typeface="Meiryo"/>
                          <a:ea typeface="Meiryo"/>
                          <a:cs typeface="Meiryo"/>
                        </a:rPr>
                        <a:t>S1 / 2022</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16手法・5データセットの比較評価</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複雑な手法の必要性を検討</a:t>
                      </a:r>
                    </a:p>
                  </a:txBody>
                  <a:tcPr marL="114300" marR="95250" marT="85725" marB="66675" anchor="ctr">
                    <a:solidFill>
                      <a:srgbClr val="F0F6F8"/>
                    </a:solidFill>
                  </a:tcPr>
                </a:tc>
              </a:tr>
              <a:tr h="612321">
                <a:tc>
                  <a:txBody>
                    <a:bodyPr/>
                    <a:lstStyle/>
                    <a:p>
                      <a:r>
                        <a:rPr sz="1650" b="0">
                          <a:solidFill>
                            <a:srgbClr val="19384B"/>
                          </a:solidFill>
                          <a:latin typeface="Meiryo"/>
                          <a:ea typeface="Meiryo"/>
                          <a:cs typeface="Meiryo"/>
                        </a:rPr>
                        <a:t>S3 / 2021</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時系列の外れ値検知レビュー</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異常の粒度・時間情報を整理</a:t>
                      </a:r>
                    </a:p>
                  </a:txBody>
                  <a:tcPr marL="114300" marR="95250" marT="85725" marB="66675" anchor="ctr">
                    <a:solidFill>
                      <a:srgbClr val="FFFFFF"/>
                    </a:solidFill>
                  </a:tcPr>
                </a:tc>
              </a:tr>
              <a:tr h="612321">
                <a:tc>
                  <a:txBody>
                    <a:bodyPr/>
                    <a:lstStyle/>
                    <a:p>
                      <a:r>
                        <a:rPr sz="1650" b="0">
                          <a:solidFill>
                            <a:srgbClr val="19384B"/>
                          </a:solidFill>
                          <a:latin typeface="Meiryo"/>
                          <a:ea typeface="Meiryo"/>
                          <a:cs typeface="Meiryo"/>
                        </a:rPr>
                        <a:t>S6 / 2025</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深層多変量時系列異常検知のサーベイ</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深層手法と変数間関係を整理</a:t>
                      </a:r>
                    </a:p>
                  </a:txBody>
                  <a:tcPr marL="114300" marR="95250" marT="85725" marB="66675" anchor="ctr">
                    <a:solidFill>
                      <a:srgbClr val="F0F6F8"/>
                    </a:solidFill>
                  </a:tcPr>
                </a:tc>
              </a:tr>
              <a:tr h="612321">
                <a:tc>
                  <a:txBody>
                    <a:bodyPr/>
                    <a:lstStyle/>
                    <a:p>
                      <a:r>
                        <a:rPr sz="1650" b="0">
                          <a:solidFill>
                            <a:srgbClr val="19384B"/>
                          </a:solidFill>
                          <a:latin typeface="Meiryo"/>
                          <a:ea typeface="Meiryo"/>
                          <a:cs typeface="Meiryo"/>
                        </a:rPr>
                        <a:t>13 / 2026</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回帰などに対するOutPro</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予測タスクを考慮したOOD検知</a:t>
                      </a:r>
                    </a:p>
                  </a:txBody>
                  <a:tcPr marL="114300" marR="95250" marT="85725" marB="66675" anchor="ctr">
                    <a:solidFill>
                      <a:srgbClr val="FFFFFF"/>
                    </a:solidFill>
                  </a:tcPr>
                </a:tc>
              </a:tr>
              <a:tr h="612321">
                <a:tc>
                  <a:txBody>
                    <a:bodyPr/>
                    <a:lstStyle/>
                    <a:p>
                      <a:r>
                        <a:rPr sz="1650" b="0">
                          <a:solidFill>
                            <a:srgbClr val="19384B"/>
                          </a:solidFill>
                          <a:latin typeface="Meiryo"/>
                          <a:ea typeface="Meiryo"/>
                          <a:cs typeface="Meiryo"/>
                        </a:rPr>
                        <a:t>14 / 2014</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AE・ノイズ除去AEによる異常検知</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1時刻入力に使える再構成型</a:t>
                      </a:r>
                    </a:p>
                  </a:txBody>
                  <a:tcPr marL="114300" marR="95250" marT="85725" marB="66675" anchor="ctr">
                    <a:solidFill>
                      <a:srgbClr val="F0F6F8"/>
                    </a:solidFill>
                  </a:tcPr>
                </a:tc>
              </a:tr>
              <a:tr h="612321">
                <a:tc>
                  <a:txBody>
                    <a:bodyPr/>
                    <a:lstStyle/>
                    <a:p>
                      <a:r>
                        <a:rPr sz="1650" b="0">
                          <a:solidFill>
                            <a:srgbClr val="19384B"/>
                          </a:solidFill>
                          <a:latin typeface="Meiryo"/>
                          <a:ea typeface="Meiryo"/>
                          <a:cs typeface="Meiryo"/>
                        </a:rPr>
                        <a:t>山原</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配水管網の圧力推定と適用領域</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社会インフラへの適用事例</a:t>
                      </a:r>
                    </a:p>
                  </a:txBody>
                  <a:tcPr marL="114300" marR="95250" marT="8572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879BA42-B4AA-4646-A5A5-4BBC662517AE}"/>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各論文の表題・要旨。正式な書誌情報は付録に記載</a:t>
            </a:r>
          </a:p>
        </p:txBody>
      </p:sp>
      <p:sp>
        <p:nvSpPr>
          <p:cNvPr id="6" name="">
            <a:extLst xmlns:a="http://schemas.openxmlformats.org/drawingml/2006/main">
              <a:ext uri="{FF2B5EF4-FFF2-40B4-BE49-F238E27FC236}">
                <a16:creationId xmlns:a16="http://schemas.microsoft.com/office/drawing/2014/main" id="{FE2CE6B8-E149-4ABE-ACAE-378CC62C19B8}"/>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04</a:t>
            </a:r>
          </a:p>
        </p:txBody>
      </p:sp>
    </p:spTree>
    <p:extLst>
      <p:ext uri="{BB962C8B-B14F-4D97-AF65-F5344CB8AC3E}">
        <p14:creationId xmlns:p14="http://schemas.microsoft.com/office/powerpoint/2010/main" val="199990584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229511-8834-4414-9229-A7FF215D9D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32BF61-2FF4-4949-BEBF-BB0DDC0BBDE8}"/>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4AFED56A-295B-4D68-A36A-773C9832CC73}"/>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関連概念の定義と基準</a:t>
            </a:r>
          </a:p>
        </p:txBody>
      </p:sp>
      <p:graphicFrame>
        <p:nvGraphicFramePr>
          <p:cNvPr id="12" name=""/>
          <p:cNvGraphicFramePr/>
          <p:nvPr/>
        </p:nvGraphicFramePr>
        <p:xfrm>
          <a:off xmlns:a="http://schemas.openxmlformats.org/drawingml/2006/main" x="476250" y="1476375"/>
          <a:ext xmlns:a="http://schemas.openxmlformats.org/drawingml/2006/main" cx="11239500" cy="4000500"/>
        </p:xfrm>
        <a:graphic xmlns:a="http://schemas.openxmlformats.org/drawingml/2006/main">
          <a:graphicData uri="http://schemas.openxmlformats.org/drawingml/2006/table">
            <a:tbl>
              <a:tblPr/>
              <a:tblGrid>
                <a:gridCol w="2774605"/>
                <a:gridCol w="6301644"/>
                <a:gridCol w="2163251"/>
              </a:tblGrid>
              <a:tr h="666750">
                <a:tc>
                  <a:txBody>
                    <a:bodyPr/>
                    <a:lstStyle/>
                    <a:p>
                      <a:r>
                        <a:rPr sz="1650" b="1">
                          <a:solidFill>
                            <a:srgbClr val="FFFFFF"/>
                          </a:solidFill>
                          <a:latin typeface="Meiryo"/>
                          <a:ea typeface="Meiryo"/>
                          <a:cs typeface="Meiryo"/>
                        </a:rPr>
                        <a:t>概念</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何を基準にするか</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主な出典</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Anomaly / Outlier</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正常な挙動や参照する文脈からの逸脱</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S1・S3・S6</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Novelty detection</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学習した正常状態との不整合</a:t>
                      </a:r>
                    </a:p>
                    <a:p>
                      <a:r>
                        <a:rPr sz="1650" b="0">
                          <a:solidFill>
                            <a:srgbClr val="19384B"/>
                          </a:solidFill>
                          <a:latin typeface="Meiryo"/>
                          <a:ea typeface="Meiryo"/>
                          <a:cs typeface="Meiryo"/>
                        </a:rPr>
                        <a:t>14で使われる関連語</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14</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OOD detection</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訓練分布に対するテスト入力の支持</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13</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Applicability Domain</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期待するモデル性能を発揮する入力領域</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山原</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Distribution shift</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訓練時とテスト時の分布の違い</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13</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9082483C-B84D-4090-89C0-31FDC3C18901}"/>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6D86C3E-6783-4894-A4C4-D4F34520B31D}"/>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異常、OOD、適用領域外、予測誤差の増大は同義ではない</a:t>
            </a:r>
          </a:p>
        </p:txBody>
      </p:sp>
      <p:sp>
        <p:nvSpPr>
          <p:cNvPr id="7" name="">
            <a:extLst xmlns:a="http://schemas.openxmlformats.org/drawingml/2006/main">
              <a:ext uri="{FF2B5EF4-FFF2-40B4-BE49-F238E27FC236}">
                <a16:creationId xmlns:a16="http://schemas.microsoft.com/office/drawing/2014/main" id="{B22002AE-C28D-4648-8C58-375FD47EDEE7}"/>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S1 §3、S3 §2、13 §1–2、14 §3、山原 §1</a:t>
            </a:r>
          </a:p>
        </p:txBody>
      </p:sp>
      <p:sp>
        <p:nvSpPr>
          <p:cNvPr id="8" name="">
            <a:extLst xmlns:a="http://schemas.openxmlformats.org/drawingml/2006/main">
              <a:ext uri="{FF2B5EF4-FFF2-40B4-BE49-F238E27FC236}">
                <a16:creationId xmlns:a16="http://schemas.microsoft.com/office/drawing/2014/main" id="{E44008ED-44D5-43F4-8B86-34195AF7B74C}"/>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05</a:t>
            </a:r>
          </a:p>
        </p:txBody>
      </p:sp>
    </p:spTree>
    <p:extLst>
      <p:ext uri="{BB962C8B-B14F-4D97-AF65-F5344CB8AC3E}">
        <p14:creationId xmlns:p14="http://schemas.microsoft.com/office/powerpoint/2010/main" val="108032073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E34FF3C-1A00-4D08-84B0-8C1986A89F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27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F93D0F-68CB-4523-9873-39B94DE14F36}"/>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7F8800E9-314F-423E-ACAC-4DE932F95855}"/>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FFFFFF"/>
                </a:solidFill>
                <a:latin typeface="Meiryo"/>
                <a:ea typeface="Meiryo"/>
                <a:cs typeface="Meiryo"/>
              </a:defRPr>
            </a:pPr>
            <a:r>
              <a:rPr sz="2550" b="1">
                <a:solidFill>
                  <a:srgbClr val="FFFFFF"/>
                </a:solidFill>
                <a:latin typeface="Meiryo"/>
                <a:ea typeface="Meiryo"/>
                <a:cs typeface="Meiryo"/>
              </a:rPr>
              <a:t>入力分布の変化と入出力関係の変化</a:t>
            </a:r>
          </a:p>
        </p:txBody>
      </p:sp>
      <p:sp>
        <p:nvSpPr>
          <p:cNvPr id="4" name="">
            <a:extLst xmlns:a="http://schemas.openxmlformats.org/drawingml/2006/main">
              <a:ext uri="{FF2B5EF4-FFF2-40B4-BE49-F238E27FC236}">
                <a16:creationId xmlns:a16="http://schemas.microsoft.com/office/drawing/2014/main" id="{61873D74-65C5-45DC-8A4F-323CB7E37563}"/>
              </a:ext>
            </a:extLst>
          </p:cNvPr>
          <p:cNvSpPr>
            <a:spLocks xmlns:a="http://schemas.openxmlformats.org/drawingml/2006/main" noGrp="1"/>
          </p:cNvSpPr>
          <p:nvPr/>
        </p:nvSpPr>
        <p:spPr>
          <a:xfrm xmlns:a="http://schemas.openxmlformats.org/drawingml/2006/main">
            <a:off x="5238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01</a:t>
            </a:r>
          </a:p>
        </p:txBody>
      </p:sp>
      <p:sp>
        <p:nvSpPr>
          <p:cNvPr id="5" name="">
            <a:extLst xmlns:a="http://schemas.openxmlformats.org/drawingml/2006/main">
              <a:ext uri="{FF2B5EF4-FFF2-40B4-BE49-F238E27FC236}">
                <a16:creationId xmlns:a16="http://schemas.microsoft.com/office/drawing/2014/main" id="{626FB559-12D7-4F06-B17F-B1BC518A2D4A}"/>
              </a:ext>
            </a:extLst>
          </p:cNvPr>
          <p:cNvSpPr>
            <a:spLocks xmlns:a="http://schemas.openxmlformats.org/drawingml/2006/main" noGrp="1"/>
          </p:cNvSpPr>
          <p:nvPr/>
        </p:nvSpPr>
        <p:spPr>
          <a:xfrm xmlns:a="http://schemas.openxmlformats.org/drawingml/2006/main">
            <a:off x="5238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FFFF"/>
                </a:solidFill>
                <a:latin typeface="Meiryo"/>
                <a:ea typeface="Meiryo"/>
                <a:cs typeface="Meiryo"/>
              </a:defRPr>
            </a:pPr>
            <a:r>
              <a:rPr sz="2100" b="1">
                <a:solidFill>
                  <a:srgbClr val="FFFFFF"/>
                </a:solidFill>
                <a:latin typeface="Meiryo"/>
                <a:ea typeface="Meiryo"/>
                <a:cs typeface="Meiryo"/>
              </a:rPr>
              <a:t>Covariate shift</a:t>
            </a:r>
          </a:p>
        </p:txBody>
      </p:sp>
      <p:sp>
        <p:nvSpPr>
          <p:cNvPr id="6" name="">
            <a:extLst xmlns:a="http://schemas.openxmlformats.org/drawingml/2006/main">
              <a:ext uri="{FF2B5EF4-FFF2-40B4-BE49-F238E27FC236}">
                <a16:creationId xmlns:a16="http://schemas.microsoft.com/office/drawing/2014/main" id="{FC4F86B5-F799-48B2-97EB-77B748A504CE}"/>
              </a:ext>
            </a:extLst>
          </p:cNvPr>
          <p:cNvSpPr>
            <a:spLocks xmlns:a="http://schemas.openxmlformats.org/drawingml/2006/main" noGrp="1"/>
          </p:cNvSpPr>
          <p:nvPr/>
        </p:nvSpPr>
        <p:spPr>
          <a:xfrm xmlns:a="http://schemas.openxmlformats.org/drawingml/2006/main">
            <a:off x="5238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P(X) が変化</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P(Y｜X) は不変</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入力の分布から、変化の手掛かりを得られる。</a:t>
            </a:r>
          </a:p>
        </p:txBody>
      </p:sp>
      <p:sp>
        <p:nvSpPr>
          <p:cNvPr id="7" name="">
            <a:extLst xmlns:a="http://schemas.openxmlformats.org/drawingml/2006/main">
              <a:ext uri="{FF2B5EF4-FFF2-40B4-BE49-F238E27FC236}">
                <a16:creationId xmlns:a16="http://schemas.microsoft.com/office/drawing/2014/main" id="{8096337A-9F65-4009-8850-6B3BED33AC2A}"/>
              </a:ext>
            </a:extLst>
          </p:cNvPr>
          <p:cNvSpPr>
            <a:spLocks xmlns:a="http://schemas.openxmlformats.org/drawingml/2006/main" noGrp="1"/>
          </p:cNvSpPr>
          <p:nvPr/>
        </p:nvSpPr>
        <p:spPr>
          <a:xfrm xmlns:a="http://schemas.openxmlformats.org/drawingml/2006/main">
            <a:off x="64293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02</a:t>
            </a:r>
          </a:p>
        </p:txBody>
      </p:sp>
      <p:sp>
        <p:nvSpPr>
          <p:cNvPr id="8" name="">
            <a:extLst xmlns:a="http://schemas.openxmlformats.org/drawingml/2006/main">
              <a:ext uri="{FF2B5EF4-FFF2-40B4-BE49-F238E27FC236}">
                <a16:creationId xmlns:a16="http://schemas.microsoft.com/office/drawing/2014/main" id="{2CF6E250-ED98-4AD5-881D-A605B7503486}"/>
              </a:ext>
            </a:extLst>
          </p:cNvPr>
          <p:cNvSpPr>
            <a:spLocks xmlns:a="http://schemas.openxmlformats.org/drawingml/2006/main" noGrp="1"/>
          </p:cNvSpPr>
          <p:nvPr/>
        </p:nvSpPr>
        <p:spPr>
          <a:xfrm xmlns:a="http://schemas.openxmlformats.org/drawingml/2006/main">
            <a:off x="64293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FFFF"/>
                </a:solidFill>
                <a:latin typeface="Meiryo"/>
                <a:ea typeface="Meiryo"/>
                <a:cs typeface="Meiryo"/>
              </a:defRPr>
            </a:pPr>
            <a:r>
              <a:rPr sz="2100" b="1">
                <a:solidFill>
                  <a:srgbClr val="FFFFFF"/>
                </a:solidFill>
                <a:latin typeface="Meiryo"/>
                <a:ea typeface="Meiryo"/>
                <a:cs typeface="Meiryo"/>
              </a:rPr>
              <a:t>Concept / conditional shift</a:t>
            </a:r>
          </a:p>
        </p:txBody>
      </p:sp>
      <p:sp>
        <p:nvSpPr>
          <p:cNvPr id="9" name="">
            <a:extLst xmlns:a="http://schemas.openxmlformats.org/drawingml/2006/main">
              <a:ext uri="{FF2B5EF4-FFF2-40B4-BE49-F238E27FC236}">
                <a16:creationId xmlns:a16="http://schemas.microsoft.com/office/drawing/2014/main" id="{3C369D8F-F80B-48FA-A09D-F176504BA8F2}"/>
              </a:ext>
            </a:extLst>
          </p:cNvPr>
          <p:cNvSpPr>
            <a:spLocks xmlns:a="http://schemas.openxmlformats.org/drawingml/2006/main" noGrp="1"/>
          </p:cNvSpPr>
          <p:nvPr/>
        </p:nvSpPr>
        <p:spPr>
          <a:xfrm xmlns:a="http://schemas.openxmlformats.org/drawingml/2006/main">
            <a:off x="64293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P(Y｜X) が変化</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入力分布が不変の場合、</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入力だけに検知信号が現れない。</a:t>
            </a:r>
          </a:p>
        </p:txBody>
      </p:sp>
      <p:sp>
        <p:nvSpPr>
          <p:cNvPr id="10" name="">
            <a:extLst xmlns:a="http://schemas.openxmlformats.org/drawingml/2006/main">
              <a:ext uri="{FF2B5EF4-FFF2-40B4-BE49-F238E27FC236}">
                <a16:creationId xmlns:a16="http://schemas.microsoft.com/office/drawing/2014/main" id="{91202A5B-B149-4DE0-9A34-2470E1888DA5}"/>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16425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F014F3F-DB2B-4241-9565-08147041827F}"/>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FFFFFF"/>
                </a:solidFill>
                <a:latin typeface="Meiryo"/>
                <a:ea typeface="Meiryo"/>
                <a:cs typeface="Meiryo"/>
              </a:defRPr>
            </a:pPr>
            <a:r>
              <a:rPr sz="1575" b="1">
                <a:solidFill>
                  <a:srgbClr val="FFFFFF"/>
                </a:solidFill>
                <a:latin typeface="Meiryo"/>
                <a:ea typeface="Meiryo"/>
                <a:cs typeface="Meiryo"/>
              </a:rPr>
              <a:t>13の定義は広いが、OutProは純粋なconcept shiftを検知できない</a:t>
            </a:r>
          </a:p>
        </p:txBody>
      </p:sp>
      <p:sp>
        <p:nvSpPr>
          <p:cNvPr id="12" name="">
            <a:extLst xmlns:a="http://schemas.openxmlformats.org/drawingml/2006/main">
              <a:ext uri="{FF2B5EF4-FFF2-40B4-BE49-F238E27FC236}">
                <a16:creationId xmlns:a16="http://schemas.microsoft.com/office/drawing/2014/main" id="{1D26C4C5-7939-4661-89B8-4993AF915586}"/>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A9C5D0"/>
                </a:solidFill>
                <a:latin typeface="Meiryo"/>
                <a:ea typeface="Meiryo"/>
                <a:cs typeface="Meiryo"/>
              </a:defRPr>
            </a:pPr>
            <a:r>
              <a:rPr sz="825" b="0">
                <a:solidFill>
                  <a:srgbClr val="A9C5D0"/>
                </a:solidFill>
                <a:latin typeface="Meiryo"/>
                <a:ea typeface="Meiryo"/>
                <a:cs typeface="Meiryo"/>
              </a:rPr>
              <a:t>13 §1、§2.1、§7</a:t>
            </a:r>
          </a:p>
        </p:txBody>
      </p:sp>
      <p:sp>
        <p:nvSpPr>
          <p:cNvPr id="13" name="">
            <a:extLst xmlns:a="http://schemas.openxmlformats.org/drawingml/2006/main">
              <a:ext uri="{FF2B5EF4-FFF2-40B4-BE49-F238E27FC236}">
                <a16:creationId xmlns:a16="http://schemas.microsoft.com/office/drawing/2014/main" id="{32DEC7CE-48A2-4516-BD2C-334D204169C9}"/>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06</a:t>
            </a:r>
          </a:p>
        </p:txBody>
      </p:sp>
    </p:spTree>
    <p:extLst>
      <p:ext uri="{BB962C8B-B14F-4D97-AF65-F5344CB8AC3E}">
        <p14:creationId xmlns:p14="http://schemas.microsoft.com/office/powerpoint/2010/main" val="212054158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BF34005-D85D-484F-8425-00B3420E26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05EC1C-7F50-462A-BD47-4EE256A0171E}"/>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B41000A4-A47E-4E33-B20C-9CCA0247971C}"/>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異常の種類は、論文ごとに分類軸が異なる</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fc9b250abab4c67"/>
          <a:stretch xmlns:a="http://schemas.openxmlformats.org/drawingml/2006/main"/>
        </p:blipFill>
        <p:spPr>
          <a:xfrm xmlns:a="http://schemas.openxmlformats.org/drawingml/2006/main">
            <a:off x="457200" y="2314798"/>
            <a:ext cx="5524500" cy="156165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0EAD064-57CC-401C-8196-ADB732E6FCE7}"/>
              </a:ext>
            </a:extLst>
          </p:cNvPr>
          <p:cNvSpPr>
            <a:spLocks xmlns:a="http://schemas.openxmlformats.org/drawingml/2006/main" noGrp="1"/>
          </p:cNvSpPr>
          <p:nvPr/>
        </p:nvSpPr>
        <p:spPr>
          <a:xfrm xmlns:a="http://schemas.openxmlformats.org/drawingml/2006/main">
            <a:off x="523875" y="483870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9384B"/>
                </a:solidFill>
                <a:latin typeface="Meiryo"/>
                <a:ea typeface="Meiryo"/>
                <a:cs typeface="Meiryo"/>
              </a:defRPr>
            </a:pPr>
            <a:r>
              <a:rPr sz="1725" b="1">
                <a:solidFill>
                  <a:srgbClr val="19384B"/>
                </a:solidFill>
                <a:latin typeface="Meiryo"/>
                <a:ea typeface="Meiryo"/>
                <a:cs typeface="Meiryo"/>
              </a:rPr>
              <a:t>S3：入力 × 異常の粒度 × 手法</a:t>
            </a:r>
          </a:p>
        </p:txBody>
      </p:sp>
      <p:sp>
        <p:nvSpPr>
          <p:cNvPr id="6" name="">
            <a:extLst xmlns:a="http://schemas.openxmlformats.org/drawingml/2006/main">
              <a:ext uri="{FF2B5EF4-FFF2-40B4-BE49-F238E27FC236}">
                <a16:creationId xmlns:a16="http://schemas.microsoft.com/office/drawing/2014/main" id="{FF5A8DD3-C821-4B94-BA0D-4782CBFC7526}"/>
              </a:ext>
            </a:extLst>
          </p:cNvPr>
          <p:cNvSpPr>
            <a:spLocks xmlns:a="http://schemas.openxmlformats.org/drawingml/2006/main" noGrp="1"/>
          </p:cNvSpPr>
          <p:nvPr/>
        </p:nvSpPr>
        <p:spPr>
          <a:xfrm xmlns:a="http://schemas.openxmlformats.org/drawingml/2006/main">
            <a:off x="6524625" y="16287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8E99"/>
                </a:solidFill>
                <a:latin typeface="Meiryo"/>
                <a:ea typeface="Meiryo"/>
                <a:cs typeface="Meiryo"/>
              </a:defRPr>
            </a:pPr>
            <a:r>
              <a:rPr sz="2100" b="1">
                <a:solidFill>
                  <a:srgbClr val="008E99"/>
                </a:solidFill>
                <a:latin typeface="Meiryo"/>
                <a:ea typeface="Meiryo"/>
                <a:cs typeface="Meiryo"/>
              </a:rPr>
              <a:t>S1：何が異常か</a:t>
            </a:r>
          </a:p>
        </p:txBody>
      </p:sp>
      <p:sp>
        <p:nvSpPr>
          <p:cNvPr id="7" name="">
            <a:extLst xmlns:a="http://schemas.openxmlformats.org/drawingml/2006/main">
              <a:ext uri="{FF2B5EF4-FFF2-40B4-BE49-F238E27FC236}">
                <a16:creationId xmlns:a16="http://schemas.microsoft.com/office/drawing/2014/main" id="{D9317C87-2FE6-418E-8DDC-B5BFA9B3117A}"/>
              </a:ext>
            </a:extLst>
          </p:cNvPr>
          <p:cNvSpPr>
            <a:spLocks xmlns:a="http://schemas.openxmlformats.org/drawingml/2006/main" noGrp="1"/>
          </p:cNvSpPr>
          <p:nvPr/>
        </p:nvSpPr>
        <p:spPr>
          <a:xfrm xmlns:a="http://schemas.openxmlformats.org/drawingml/2006/main">
            <a:off x="6524625" y="219075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Point / Contextual / Collective</a:t>
            </a:r>
          </a:p>
        </p:txBody>
      </p:sp>
      <p:sp>
        <p:nvSpPr>
          <p:cNvPr id="8" name="">
            <a:extLst xmlns:a="http://schemas.openxmlformats.org/drawingml/2006/main">
              <a:ext uri="{FF2B5EF4-FFF2-40B4-BE49-F238E27FC236}">
                <a16:creationId xmlns:a16="http://schemas.microsoft.com/office/drawing/2014/main" id="{0B3B2A05-201E-4E88-BC22-DD0ADF316D5C}"/>
              </a:ext>
            </a:extLst>
          </p:cNvPr>
          <p:cNvSpPr>
            <a:spLocks xmlns:a="http://schemas.openxmlformats.org/drawingml/2006/main" noGrp="1"/>
          </p:cNvSpPr>
          <p:nvPr/>
        </p:nvSpPr>
        <p:spPr>
          <a:xfrm xmlns:a="http://schemas.openxmlformats.org/drawingml/2006/main">
            <a:off x="6524625" y="32766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8E99"/>
                </a:solidFill>
                <a:latin typeface="Meiryo"/>
                <a:ea typeface="Meiryo"/>
                <a:cs typeface="Meiryo"/>
              </a:defRPr>
            </a:pPr>
            <a:r>
              <a:rPr sz="2100" b="1">
                <a:solidFill>
                  <a:srgbClr val="008E99"/>
                </a:solidFill>
                <a:latin typeface="Meiryo"/>
                <a:ea typeface="Meiryo"/>
                <a:cs typeface="Meiryo"/>
              </a:rPr>
              <a:t>S6：どの関係が崩れたか</a:t>
            </a:r>
          </a:p>
        </p:txBody>
      </p:sp>
      <p:sp>
        <p:nvSpPr>
          <p:cNvPr id="9" name="">
            <a:extLst xmlns:a="http://schemas.openxmlformats.org/drawingml/2006/main">
              <a:ext uri="{FF2B5EF4-FFF2-40B4-BE49-F238E27FC236}">
                <a16:creationId xmlns:a16="http://schemas.microsoft.com/office/drawing/2014/main" id="{EE61B4A5-0F5E-466D-B8E8-35DD3CBCFF1C}"/>
              </a:ext>
            </a:extLst>
          </p:cNvPr>
          <p:cNvSpPr>
            <a:spLocks xmlns:a="http://schemas.openxmlformats.org/drawingml/2006/main" noGrp="1"/>
          </p:cNvSpPr>
          <p:nvPr/>
        </p:nvSpPr>
        <p:spPr>
          <a:xfrm xmlns:a="http://schemas.openxmlformats.org/drawingml/2006/main">
            <a:off x="6524625" y="3876675"/>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Intra-metric：変数内の時間的挙動</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Inter-metric：変数間の依存関係</a:t>
            </a:r>
          </a:p>
        </p:txBody>
      </p:sp>
      <p:sp>
        <p:nvSpPr>
          <p:cNvPr id="10" name="">
            <a:extLst xmlns:a="http://schemas.openxmlformats.org/drawingml/2006/main">
              <a:ext uri="{FF2B5EF4-FFF2-40B4-BE49-F238E27FC236}">
                <a16:creationId xmlns:a16="http://schemas.microsoft.com/office/drawing/2014/main" id="{D6CB0AB8-7902-456E-A111-6BF87EBF6728}"/>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1654B54-1B3F-4D22-A4F3-7306A4ABF80E}"/>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分類名を置き換えるだけでは、各論文の違いを表現できない</a:t>
            </a:r>
          </a:p>
        </p:txBody>
      </p:sp>
      <p:sp>
        <p:nvSpPr>
          <p:cNvPr id="12" name="">
            <a:extLst xmlns:a="http://schemas.openxmlformats.org/drawingml/2006/main">
              <a:ext uri="{FF2B5EF4-FFF2-40B4-BE49-F238E27FC236}">
                <a16:creationId xmlns:a16="http://schemas.microsoft.com/office/drawing/2014/main" id="{8D635F42-2563-41A2-96A8-E3BD3A66D556}"/>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S1 §3.2、S3 §2.2、S6 §2.2</a:t>
            </a:r>
          </a:p>
        </p:txBody>
      </p:sp>
      <p:sp>
        <p:nvSpPr>
          <p:cNvPr id="13" name="">
            <a:extLst xmlns:a="http://schemas.openxmlformats.org/drawingml/2006/main">
              <a:ext uri="{FF2B5EF4-FFF2-40B4-BE49-F238E27FC236}">
                <a16:creationId xmlns:a16="http://schemas.microsoft.com/office/drawing/2014/main" id="{4041E008-F502-47AE-8B2A-ABC9341285B6}"/>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07</a:t>
            </a:r>
          </a:p>
        </p:txBody>
      </p:sp>
    </p:spTree>
    <p:extLst>
      <p:ext uri="{BB962C8B-B14F-4D97-AF65-F5344CB8AC3E}">
        <p14:creationId xmlns:p14="http://schemas.microsoft.com/office/powerpoint/2010/main" val="86850409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9A76929-7766-4E09-8F5F-A790AC3BC0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27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214E53-5323-4A70-81AE-0552DE10391B}"/>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8D5D7CDE-B91E-4DBE-ABAC-7B7139680372}"/>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FFFFFF"/>
                </a:solidFill>
                <a:latin typeface="Meiryo"/>
                <a:ea typeface="Meiryo"/>
                <a:cs typeface="Meiryo"/>
              </a:defRPr>
            </a:pPr>
            <a:r>
              <a:rPr sz="2550" b="1">
                <a:solidFill>
                  <a:srgbClr val="FFFFFF"/>
                </a:solidFill>
                <a:latin typeface="Meiryo"/>
                <a:ea typeface="Meiryo"/>
                <a:cs typeface="Meiryo"/>
              </a:rPr>
              <a:t>実習の定義と時系列の異常形態の対応</a:t>
            </a:r>
          </a:p>
        </p:txBody>
      </p:sp>
      <p:sp>
        <p:nvSpPr>
          <p:cNvPr id="4" name="">
            <a:extLst xmlns:a="http://schemas.openxmlformats.org/drawingml/2006/main">
              <a:ext uri="{FF2B5EF4-FFF2-40B4-BE49-F238E27FC236}">
                <a16:creationId xmlns:a16="http://schemas.microsoft.com/office/drawing/2014/main" id="{39E5EB24-9BD2-4781-BACF-D3A6859796AB}"/>
              </a:ext>
            </a:extLst>
          </p:cNvPr>
          <p:cNvSpPr>
            <a:spLocks xmlns:a="http://schemas.openxmlformats.org/drawingml/2006/main" noGrp="1"/>
          </p:cNvSpPr>
          <p:nvPr/>
        </p:nvSpPr>
        <p:spPr>
          <a:xfrm xmlns:a="http://schemas.openxmlformats.org/drawingml/2006/main">
            <a:off x="5238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01</a:t>
            </a:r>
          </a:p>
        </p:txBody>
      </p:sp>
      <p:sp>
        <p:nvSpPr>
          <p:cNvPr id="5" name="">
            <a:extLst xmlns:a="http://schemas.openxmlformats.org/drawingml/2006/main">
              <a:ext uri="{FF2B5EF4-FFF2-40B4-BE49-F238E27FC236}">
                <a16:creationId xmlns:a16="http://schemas.microsoft.com/office/drawing/2014/main" id="{030D2E66-C029-42B9-88AF-BB4F90CE8A2B}"/>
              </a:ext>
            </a:extLst>
          </p:cNvPr>
          <p:cNvSpPr>
            <a:spLocks xmlns:a="http://schemas.openxmlformats.org/drawingml/2006/main" noGrp="1"/>
          </p:cNvSpPr>
          <p:nvPr/>
        </p:nvSpPr>
        <p:spPr>
          <a:xfrm xmlns:a="http://schemas.openxmlformats.org/drawingml/2006/main">
            <a:off x="5238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FFFF"/>
                </a:solidFill>
                <a:latin typeface="Meiryo"/>
                <a:ea typeface="Meiryo"/>
                <a:cs typeface="Meiryo"/>
              </a:defRPr>
            </a:pPr>
            <a:r>
              <a:rPr sz="2100" b="1">
                <a:solidFill>
                  <a:srgbClr val="FFFFFF"/>
                </a:solidFill>
                <a:latin typeface="Meiryo"/>
                <a:ea typeface="Meiryo"/>
                <a:cs typeface="Meiryo"/>
              </a:rPr>
              <a:t>1時刻でも評価できる例</a:t>
            </a:r>
          </a:p>
        </p:txBody>
      </p:sp>
      <p:sp>
        <p:nvSpPr>
          <p:cNvPr id="6" name="">
            <a:extLst xmlns:a="http://schemas.openxmlformats.org/drawingml/2006/main">
              <a:ext uri="{FF2B5EF4-FFF2-40B4-BE49-F238E27FC236}">
                <a16:creationId xmlns:a16="http://schemas.microsoft.com/office/drawing/2014/main" id="{199D7689-58CD-4505-8354-235FC501B627}"/>
              </a:ext>
            </a:extLst>
          </p:cNvPr>
          <p:cNvSpPr>
            <a:spLocks xmlns:a="http://schemas.openxmlformats.org/drawingml/2006/main" noGrp="1"/>
          </p:cNvSpPr>
          <p:nvPr/>
        </p:nvSpPr>
        <p:spPr>
          <a:xfrm xmlns:a="http://schemas.openxmlformats.org/drawingml/2006/main">
            <a:off x="5238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範囲を超える値</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複数変数の珍しい組合せ</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訓練サンプルから離れた入力</a:t>
            </a:r>
          </a:p>
        </p:txBody>
      </p:sp>
      <p:sp>
        <p:nvSpPr>
          <p:cNvPr id="7" name="">
            <a:extLst xmlns:a="http://schemas.openxmlformats.org/drawingml/2006/main">
              <a:ext uri="{FF2B5EF4-FFF2-40B4-BE49-F238E27FC236}">
                <a16:creationId xmlns:a16="http://schemas.microsoft.com/office/drawing/2014/main" id="{D02F1470-06E1-408F-A287-626EC81A1FD2}"/>
              </a:ext>
            </a:extLst>
          </p:cNvPr>
          <p:cNvSpPr>
            <a:spLocks xmlns:a="http://schemas.openxmlformats.org/drawingml/2006/main" noGrp="1"/>
          </p:cNvSpPr>
          <p:nvPr/>
        </p:nvSpPr>
        <p:spPr>
          <a:xfrm xmlns:a="http://schemas.openxmlformats.org/drawingml/2006/main">
            <a:off x="64293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02</a:t>
            </a:r>
          </a:p>
        </p:txBody>
      </p:sp>
      <p:sp>
        <p:nvSpPr>
          <p:cNvPr id="8" name="">
            <a:extLst xmlns:a="http://schemas.openxmlformats.org/drawingml/2006/main">
              <a:ext uri="{FF2B5EF4-FFF2-40B4-BE49-F238E27FC236}">
                <a16:creationId xmlns:a16="http://schemas.microsoft.com/office/drawing/2014/main" id="{9B3C724E-1680-4AB3-BF71-7AE35FB5000E}"/>
              </a:ext>
            </a:extLst>
          </p:cNvPr>
          <p:cNvSpPr>
            <a:spLocks xmlns:a="http://schemas.openxmlformats.org/drawingml/2006/main" noGrp="1"/>
          </p:cNvSpPr>
          <p:nvPr/>
        </p:nvSpPr>
        <p:spPr>
          <a:xfrm xmlns:a="http://schemas.openxmlformats.org/drawingml/2006/main">
            <a:off x="64293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FFFF"/>
                </a:solidFill>
                <a:latin typeface="Meiryo"/>
                <a:ea typeface="Meiryo"/>
                <a:cs typeface="Meiryo"/>
              </a:defRPr>
            </a:pPr>
            <a:r>
              <a:rPr sz="2100" b="1">
                <a:solidFill>
                  <a:srgbClr val="FFFFFF"/>
                </a:solidFill>
                <a:latin typeface="Meiryo"/>
                <a:ea typeface="Meiryo"/>
                <a:cs typeface="Meiryo"/>
              </a:rPr>
              <a:t>履歴が必要になる例</a:t>
            </a:r>
          </a:p>
        </p:txBody>
      </p:sp>
      <p:sp>
        <p:nvSpPr>
          <p:cNvPr id="9" name="">
            <a:extLst xmlns:a="http://schemas.openxmlformats.org/drawingml/2006/main">
              <a:ext uri="{FF2B5EF4-FFF2-40B4-BE49-F238E27FC236}">
                <a16:creationId xmlns:a16="http://schemas.microsoft.com/office/drawing/2014/main" id="{C806F6CD-69F6-48C0-BFDA-27BC35E95E84}"/>
              </a:ext>
            </a:extLst>
          </p:cNvPr>
          <p:cNvSpPr>
            <a:spLocks xmlns:a="http://schemas.openxmlformats.org/drawingml/2006/main" noGrp="1"/>
          </p:cNvSpPr>
          <p:nvPr/>
        </p:nvSpPr>
        <p:spPr>
          <a:xfrm xmlns:a="http://schemas.openxmlformats.org/drawingml/2006/main">
            <a:off x="64293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センサーの長時間の固定</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周期・傾向の変化</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複数時刻にわたる関係の崩れ</a:t>
            </a:r>
          </a:p>
        </p:txBody>
      </p:sp>
      <p:sp>
        <p:nvSpPr>
          <p:cNvPr id="10" name="">
            <a:extLst xmlns:a="http://schemas.openxmlformats.org/drawingml/2006/main">
              <a:ext uri="{FF2B5EF4-FFF2-40B4-BE49-F238E27FC236}">
                <a16:creationId xmlns:a16="http://schemas.microsoft.com/office/drawing/2014/main" id="{86445961-ACAC-40B9-8F1C-9896FAD8FF96}"/>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16425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CB1C32E-12A4-4658-97CE-88603297F747}"/>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FFFFFF"/>
                </a:solidFill>
                <a:latin typeface="Meiryo"/>
                <a:ea typeface="Meiryo"/>
                <a:cs typeface="Meiryo"/>
              </a:defRPr>
            </a:pPr>
            <a:r>
              <a:rPr sz="1575" b="1">
                <a:solidFill>
                  <a:srgbClr val="FFFFFF"/>
                </a:solidFill>
                <a:latin typeface="Meiryo"/>
                <a:ea typeface="Meiryo"/>
                <a:cs typeface="Meiryo"/>
              </a:rPr>
              <a:t>「学習外の条件」と「異常の形態」は別の軸として整理する</a:t>
            </a:r>
          </a:p>
        </p:txBody>
      </p:sp>
      <p:sp>
        <p:nvSpPr>
          <p:cNvPr id="12" name="">
            <a:extLst xmlns:a="http://schemas.openxmlformats.org/drawingml/2006/main">
              <a:ext uri="{FF2B5EF4-FFF2-40B4-BE49-F238E27FC236}">
                <a16:creationId xmlns:a16="http://schemas.microsoft.com/office/drawing/2014/main" id="{C4BD49D9-75BA-47D9-A769-6642254301E4}"/>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A9C5D0"/>
                </a:solidFill>
                <a:latin typeface="Meiryo"/>
                <a:ea typeface="Meiryo"/>
                <a:cs typeface="Meiryo"/>
              </a:defRPr>
            </a:pPr>
            <a:r>
              <a:rPr sz="825" b="0">
                <a:solidFill>
                  <a:srgbClr val="A9C5D0"/>
                </a:solidFill>
                <a:latin typeface="Meiryo"/>
                <a:ea typeface="Meiryo"/>
                <a:cs typeface="Meiryo"/>
              </a:rPr>
              <a:t>実習要求、S1・S3・S6を基に本調査で整理</a:t>
            </a:r>
          </a:p>
        </p:txBody>
      </p:sp>
      <p:sp>
        <p:nvSpPr>
          <p:cNvPr id="13" name="">
            <a:extLst xmlns:a="http://schemas.openxmlformats.org/drawingml/2006/main">
              <a:ext uri="{FF2B5EF4-FFF2-40B4-BE49-F238E27FC236}">
                <a16:creationId xmlns:a16="http://schemas.microsoft.com/office/drawing/2014/main" id="{1F057FDE-5045-44FD-B8A4-54C43577830F}"/>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08</a:t>
            </a:r>
          </a:p>
        </p:txBody>
      </p:sp>
    </p:spTree>
    <p:extLst>
      <p:ext uri="{BB962C8B-B14F-4D97-AF65-F5344CB8AC3E}">
        <p14:creationId xmlns:p14="http://schemas.microsoft.com/office/powerpoint/2010/main" val="68996218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E87665-68E6-4026-B581-632341B0D9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FBAFC2-FD8E-41CB-9162-20CF6DC6B5D3}"/>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CE3C4AE0-68D2-4807-86AE-D723390E231D}"/>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検知手法の分類も、目的に応じて異なる</a:t>
            </a:r>
          </a:p>
        </p:txBody>
      </p:sp>
      <p:graphicFrame>
        <p:nvGraphicFramePr>
          <p:cNvPr id="12" name=""/>
          <p:cNvGraphicFramePr/>
          <p:nvPr/>
        </p:nvGraphicFramePr>
        <p:xfrm>
          <a:off xmlns:a="http://schemas.openxmlformats.org/drawingml/2006/main" x="476250" y="1476375"/>
          <a:ext xmlns:a="http://schemas.openxmlformats.org/drawingml/2006/main" cx="11239500" cy="2667000"/>
        </p:xfrm>
        <a:graphic xmlns:a="http://schemas.openxmlformats.org/drawingml/2006/main">
          <a:graphicData uri="http://schemas.openxmlformats.org/drawingml/2006/table">
            <a:tbl>
              <a:tblPr/>
              <a:tblGrid>
                <a:gridCol w="1269734"/>
                <a:gridCol w="4984883"/>
                <a:gridCol w="4984883"/>
              </a:tblGrid>
              <a:tr h="666750">
                <a:tc>
                  <a:txBody>
                    <a:bodyPr/>
                    <a:lstStyle/>
                    <a:p>
                      <a:r>
                        <a:rPr sz="1650" b="1">
                          <a:solidFill>
                            <a:srgbClr val="FFFFFF"/>
                          </a:solidFill>
                          <a:latin typeface="Meiryo"/>
                          <a:ea typeface="Meiryo"/>
                          <a:cs typeface="Meiryo"/>
                        </a:rPr>
                        <a:t>文献</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分類の中心</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実習で確認したい点</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S1</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従来型 / 機械学習 / DNN</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複雑さに見合う効果があるか</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S3</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入力の種類 × 異常の粒度</a:t>
                      </a:r>
                    </a:p>
                    <a:p>
                      <a:r>
                        <a:rPr sz="1650" b="0">
                          <a:solidFill>
                            <a:srgbClr val="19384B"/>
                          </a:solidFill>
                          <a:latin typeface="Meiryo"/>
                          <a:ea typeface="Meiryo"/>
                          <a:cs typeface="Meiryo"/>
                        </a:rPr>
                        <a:t>× 単変量・多変量手法</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変数を共同で扱うか</a:t>
                      </a:r>
                    </a:p>
                    <a:p>
                      <a:r>
                        <a:rPr sz="1650" b="0">
                          <a:solidFill>
                            <a:srgbClr val="19384B"/>
                          </a:solidFill>
                          <a:latin typeface="Meiryo"/>
                          <a:ea typeface="Meiryo"/>
                          <a:cs typeface="Meiryo"/>
                        </a:rPr>
                        <a:t>時間情報・オンライン処理を使うか</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S6</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予測 / 再構成 / 対照学習</a:t>
                      </a:r>
                    </a:p>
                    <a:p>
                      <a:r>
                        <a:rPr sz="1650" b="0">
                          <a:solidFill>
                            <a:srgbClr val="19384B"/>
                          </a:solidFill>
                          <a:latin typeface="Meiryo"/>
                          <a:ea typeface="Meiryo"/>
                          <a:cs typeface="Meiryo"/>
                        </a:rPr>
                        <a:t>学習形態・構造・Point/Windowも整理</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異常スコアをどう作るか</a:t>
                      </a:r>
                    </a:p>
                    <a:p>
                      <a:r>
                        <a:rPr sz="1650" b="0">
                          <a:solidFill>
                            <a:srgbClr val="19384B"/>
                          </a:solidFill>
                          <a:latin typeface="Meiryo"/>
                          <a:ea typeface="Meiryo"/>
                          <a:cs typeface="Meiryo"/>
                        </a:rPr>
                        <a:t>過去の入力をどれだけ必要とするか</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DDFAA36E-1F51-4FAE-89A8-45BAB9B24BE5}"/>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470EAD2-1F45-41F9-A73E-A9283A9346C8}"/>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S1のDNNは機械学習の一部でもあり、分類境界は完全には明確でない</a:t>
            </a:r>
          </a:p>
        </p:txBody>
      </p:sp>
      <p:sp>
        <p:nvSpPr>
          <p:cNvPr id="7" name="">
            <a:extLst xmlns:a="http://schemas.openxmlformats.org/drawingml/2006/main">
              <a:ext uri="{FF2B5EF4-FFF2-40B4-BE49-F238E27FC236}">
                <a16:creationId xmlns:a16="http://schemas.microsoft.com/office/drawing/2014/main" id="{6B8EE26A-3CC2-4C4C-BC45-A2DC54F9223A}"/>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S1 §4.1、S3 §2–3、S6 §3・Table 1</a:t>
            </a:r>
          </a:p>
        </p:txBody>
      </p:sp>
      <p:sp>
        <p:nvSpPr>
          <p:cNvPr id="8" name="">
            <a:extLst xmlns:a="http://schemas.openxmlformats.org/drawingml/2006/main">
              <a:ext uri="{FF2B5EF4-FFF2-40B4-BE49-F238E27FC236}">
                <a16:creationId xmlns:a16="http://schemas.microsoft.com/office/drawing/2014/main" id="{C8FFAC84-4038-4A15-94AF-BC5EBDCD83ED}"/>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09</a:t>
            </a:r>
          </a:p>
        </p:txBody>
      </p:sp>
    </p:spTree>
    <p:extLst>
      <p:ext uri="{BB962C8B-B14F-4D97-AF65-F5344CB8AC3E}">
        <p14:creationId xmlns:p14="http://schemas.microsoft.com/office/powerpoint/2010/main" val="141808194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67CE54-B30C-4726-B191-BD5AE66DC4A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CDD81D-093B-45A4-8E37-984BECCC725D}"/>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01  背景・定義・分類</a:t>
            </a:r>
          </a:p>
        </p:txBody>
      </p:sp>
      <p:sp>
        <p:nvSpPr>
          <p:cNvPr id="3" name="">
            <a:extLst xmlns:a="http://schemas.openxmlformats.org/drawingml/2006/main">
              <a:ext uri="{FF2B5EF4-FFF2-40B4-BE49-F238E27FC236}">
                <a16:creationId xmlns:a16="http://schemas.microsoft.com/office/drawing/2014/main" id="{BA2BF067-5015-4772-89F8-B8254A63B4F1}"/>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実習向けの共通比較軸</a:t>
            </a:r>
          </a:p>
        </p:txBody>
      </p:sp>
      <p:graphicFrame>
        <p:nvGraphicFramePr>
          <p:cNvPr id="10" name=""/>
          <p:cNvGraphicFramePr/>
          <p:nvPr/>
        </p:nvGraphicFramePr>
        <p:xfrm>
          <a:off xmlns:a="http://schemas.openxmlformats.org/drawingml/2006/main" x="476250" y="1476375"/>
          <a:ext xmlns:a="http://schemas.openxmlformats.org/drawingml/2006/main" cx="11239500" cy="4286250"/>
        </p:xfrm>
        <a:graphic xmlns:a="http://schemas.openxmlformats.org/drawingml/2006/main">
          <a:graphicData uri="http://schemas.openxmlformats.org/drawingml/2006/table">
            <a:tbl>
              <a:tblPr/>
              <a:tblGrid>
                <a:gridCol w="3432985"/>
                <a:gridCol w="4232448"/>
                <a:gridCol w="3574067"/>
              </a:tblGrid>
              <a:tr h="612321">
                <a:tc>
                  <a:txBody>
                    <a:bodyPr/>
                    <a:lstStyle/>
                    <a:p>
                      <a:r>
                        <a:rPr sz="1650" b="1">
                          <a:solidFill>
                            <a:srgbClr val="FFFFFF"/>
                          </a:solidFill>
                          <a:latin typeface="Meiryo"/>
                          <a:ea typeface="Meiryo"/>
                          <a:cs typeface="Meiryo"/>
                        </a:rPr>
                        <a:t>検知の根拠</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今回の位置付け</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追加で記録する条件</a:t>
                      </a:r>
                    </a:p>
                  </a:txBody>
                  <a:tcPr marL="114300" marR="95250" marT="85725" marB="66675" anchor="ctr">
                    <a:solidFill>
                      <a:srgbClr val="08273C"/>
                    </a:solidFill>
                  </a:tcPr>
                </a:tc>
              </a:tr>
              <a:tr h="612321">
                <a:tc>
                  <a:txBody>
                    <a:bodyPr/>
                    <a:lstStyle/>
                    <a:p>
                      <a:r>
                        <a:rPr sz="1650" b="0">
                          <a:solidFill>
                            <a:srgbClr val="19384B"/>
                          </a:solidFill>
                          <a:latin typeface="Meiryo"/>
                          <a:ea typeface="Meiryo"/>
                          <a:cs typeface="Meiryo"/>
                        </a:rPr>
                        <a:t>範囲・距離・近傍</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山原のAD手法、13のOutPro</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1時刻 / 過去窓</a:t>
                      </a:r>
                    </a:p>
                  </a:txBody>
                  <a:tcPr marL="114300" marR="95250" marT="85725" marB="66675" anchor="ctr">
                    <a:solidFill>
                      <a:srgbClr val="F0F6F8"/>
                    </a:solidFill>
                  </a:tcPr>
                </a:tc>
              </a:tr>
              <a:tr h="612321">
                <a:tc>
                  <a:txBody>
                    <a:bodyPr/>
                    <a:lstStyle/>
                    <a:p>
                      <a:r>
                        <a:rPr sz="1650" b="0">
                          <a:solidFill>
                            <a:srgbClr val="19384B"/>
                          </a:solidFill>
                          <a:latin typeface="Meiryo"/>
                          <a:ea typeface="Meiryo"/>
                          <a:cs typeface="Meiryo"/>
                        </a:rPr>
                        <a:t>密度・正常領域</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近傍密度などの候補群</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訓練時のX / Y / 異常ラベル</a:t>
                      </a:r>
                    </a:p>
                  </a:txBody>
                  <a:tcPr marL="114300" marR="95250" marT="85725" marB="66675" anchor="ctr">
                    <a:solidFill>
                      <a:srgbClr val="FFFFFF"/>
                    </a:solidFill>
                  </a:tcPr>
                </a:tc>
              </a:tr>
              <a:tr h="612321">
                <a:tc>
                  <a:txBody>
                    <a:bodyPr/>
                    <a:lstStyle/>
                    <a:p>
                      <a:r>
                        <a:rPr sz="1650" b="0">
                          <a:solidFill>
                            <a:srgbClr val="19384B"/>
                          </a:solidFill>
                          <a:latin typeface="Meiryo"/>
                          <a:ea typeface="Meiryo"/>
                          <a:cs typeface="Meiryo"/>
                        </a:rPr>
                        <a:t>次元削減・再構成誤差</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14のAE / ノイズ除去AE</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運用時の入力 / 内部情報 / 真値</a:t>
                      </a:r>
                    </a:p>
                  </a:txBody>
                  <a:tcPr marL="114300" marR="95250" marT="85725" marB="66675" anchor="ctr">
                    <a:solidFill>
                      <a:srgbClr val="F0F6F8"/>
                    </a:solidFill>
                  </a:tcPr>
                </a:tc>
              </a:tr>
              <a:tr h="612321">
                <a:tc>
                  <a:txBody>
                    <a:bodyPr/>
                    <a:lstStyle/>
                    <a:p>
                      <a:r>
                        <a:rPr sz="1650" b="0">
                          <a:solidFill>
                            <a:srgbClr val="19384B"/>
                          </a:solidFill>
                          <a:latin typeface="Meiryo"/>
                          <a:ea typeface="Meiryo"/>
                          <a:cs typeface="Meiryo"/>
                        </a:rPr>
                        <a:t>時間予測の残差</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S1・S6から追加調査</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必要な過去長・検知遅延</a:t>
                      </a:r>
                    </a:p>
                  </a:txBody>
                  <a:tcPr marL="114300" marR="95250" marT="85725" marB="66675" anchor="ctr">
                    <a:solidFill>
                      <a:srgbClr val="FFFFFF"/>
                    </a:solidFill>
                  </a:tcPr>
                </a:tc>
              </a:tr>
              <a:tr h="612321">
                <a:tc>
                  <a:txBody>
                    <a:bodyPr/>
                    <a:lstStyle/>
                    <a:p>
                      <a:r>
                        <a:rPr sz="1650" b="0">
                          <a:solidFill>
                            <a:srgbClr val="19384B"/>
                          </a:solidFill>
                          <a:latin typeface="Meiryo"/>
                          <a:ea typeface="Meiryo"/>
                          <a:cs typeface="Meiryo"/>
                        </a:rPr>
                        <a:t>予測不確かさ・モデル間差</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13の関連研究から追加調査</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対象回帰モデルへの依存</a:t>
                      </a:r>
                    </a:p>
                  </a:txBody>
                  <a:tcPr marL="114300" marR="95250" marT="85725" marB="66675" anchor="ctr">
                    <a:solidFill>
                      <a:srgbClr val="F0F6F8"/>
                    </a:solidFill>
                  </a:tcPr>
                </a:tc>
              </a:tr>
              <a:tr h="612321">
                <a:tc>
                  <a:txBody>
                    <a:bodyPr/>
                    <a:lstStyle/>
                    <a:p>
                      <a:r>
                        <a:rPr sz="1650" b="0">
                          <a:solidFill>
                            <a:srgbClr val="19384B"/>
                          </a:solidFill>
                          <a:latin typeface="Meiryo"/>
                          <a:ea typeface="Meiryo"/>
                          <a:cs typeface="Meiryo"/>
                        </a:rPr>
                        <a:t>時間的な分布変化</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追加調査の対象</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閾値・更新方法・誤検知率</a:t>
                      </a:r>
                    </a:p>
                  </a:txBody>
                  <a:tcPr marL="114300" marR="95250" marT="8572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8FF711A-B49F-48E3-A6F2-2AE14A65D3D5}"/>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文献群を基にした本調査の整理。各行は排他的な分類ではない</a:t>
            </a:r>
          </a:p>
        </p:txBody>
      </p:sp>
      <p:sp>
        <p:nvSpPr>
          <p:cNvPr id="6" name="">
            <a:extLst xmlns:a="http://schemas.openxmlformats.org/drawingml/2006/main">
              <a:ext uri="{FF2B5EF4-FFF2-40B4-BE49-F238E27FC236}">
                <a16:creationId xmlns:a16="http://schemas.microsoft.com/office/drawing/2014/main" id="{22D45B0B-D8DE-443E-8DDE-6F64FC270313}"/>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10</a:t>
            </a:r>
          </a:p>
        </p:txBody>
      </p:sp>
    </p:spTree>
    <p:extLst>
      <p:ext uri="{BB962C8B-B14F-4D97-AF65-F5344CB8AC3E}">
        <p14:creationId xmlns:p14="http://schemas.microsoft.com/office/powerpoint/2010/main" val="19116286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665FD3-6B86-4911-9E46-DCE3CC76DE3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317C89-82D8-4384-85FC-3A7753A9095D}"/>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02  文献とアルゴリズム</a:t>
            </a:r>
          </a:p>
        </p:txBody>
      </p:sp>
      <p:sp>
        <p:nvSpPr>
          <p:cNvPr id="3" name="">
            <a:extLst xmlns:a="http://schemas.openxmlformats.org/drawingml/2006/main">
              <a:ext uri="{FF2B5EF4-FFF2-40B4-BE49-F238E27FC236}">
                <a16:creationId xmlns:a16="http://schemas.microsoft.com/office/drawing/2014/main" id="{8479B3FC-904F-4E43-9558-669E3A310D1E}"/>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S1：深層手法が常に優れるわけではない</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2e3d86cf22c4072"/>
          <a:stretch xmlns:a="http://schemas.openxmlformats.org/drawingml/2006/main"/>
        </p:blipFill>
        <p:spPr>
          <a:xfrm xmlns:a="http://schemas.openxmlformats.org/drawingml/2006/main">
            <a:off x="381000" y="2601599"/>
            <a:ext cx="7620000" cy="187387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5376C3B-5FE7-4F6A-A5A3-E1AAD6EE2573}"/>
              </a:ext>
            </a:extLst>
          </p:cNvPr>
          <p:cNvSpPr>
            <a:spLocks xmlns:a="http://schemas.openxmlformats.org/drawingml/2006/main" noGrp="1"/>
          </p:cNvSpPr>
          <p:nvPr/>
        </p:nvSpPr>
        <p:spPr>
          <a:xfrm xmlns:a="http://schemas.openxmlformats.org/drawingml/2006/main">
            <a:off x="8324850" y="169545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8E99"/>
                </a:solidFill>
                <a:latin typeface="Meiryo"/>
                <a:ea typeface="Meiryo"/>
                <a:cs typeface="Meiryo"/>
              </a:defRPr>
            </a:pPr>
            <a:r>
              <a:rPr sz="2175" b="1">
                <a:solidFill>
                  <a:srgbClr val="008E99"/>
                </a:solidFill>
                <a:latin typeface="Meiryo"/>
                <a:ea typeface="Meiryo"/>
                <a:cs typeface="Meiryo"/>
              </a:rPr>
              <a:t>16手法 × 5データ</a:t>
            </a:r>
          </a:p>
        </p:txBody>
      </p:sp>
      <p:sp>
        <p:nvSpPr>
          <p:cNvPr id="6" name="">
            <a:extLst xmlns:a="http://schemas.openxmlformats.org/drawingml/2006/main">
              <a:ext uri="{FF2B5EF4-FFF2-40B4-BE49-F238E27FC236}">
                <a16:creationId xmlns:a16="http://schemas.microsoft.com/office/drawing/2014/main" id="{D3EE4935-800D-4E60-8BFD-EE00851A9319}"/>
              </a:ext>
            </a:extLst>
          </p:cNvPr>
          <p:cNvSpPr>
            <a:spLocks xmlns:a="http://schemas.openxmlformats.org/drawingml/2006/main" noGrp="1"/>
          </p:cNvSpPr>
          <p:nvPr/>
        </p:nvSpPr>
        <p:spPr>
          <a:xfrm xmlns:a="http://schemas.openxmlformats.org/drawingml/2006/main">
            <a:off x="8324850" y="2533650"/>
            <a:ext cx="3333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全データで一貫して</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優れる手法群はない。</a:t>
            </a:r>
          </a:p>
          <a:p xmlns:a="http://schemas.openxmlformats.org/drawingml/2006/main">
            <a:r>
              <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F1は閾値走査の最大値。</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固定閾値の運用性能とは</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区別して読む。</a:t>
            </a:r>
          </a:p>
        </p:txBody>
      </p:sp>
      <p:sp>
        <p:nvSpPr>
          <p:cNvPr id="7" name="">
            <a:extLst xmlns:a="http://schemas.openxmlformats.org/drawingml/2006/main">
              <a:ext uri="{FF2B5EF4-FFF2-40B4-BE49-F238E27FC236}">
                <a16:creationId xmlns:a16="http://schemas.microsoft.com/office/drawing/2014/main" id="{16FC9619-6C98-4402-89CE-70640176ACEE}"/>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3CF847C-43F4-4EAD-AF11-98F748B5AE52}"/>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候補には単純な基準手法も含め、同一の評価条件で比較する</a:t>
            </a:r>
          </a:p>
        </p:txBody>
      </p:sp>
      <p:sp>
        <p:nvSpPr>
          <p:cNvPr id="9" name="">
            <a:extLst xmlns:a="http://schemas.openxmlformats.org/drawingml/2006/main">
              <a:ext uri="{FF2B5EF4-FFF2-40B4-BE49-F238E27FC236}">
                <a16:creationId xmlns:a16="http://schemas.microsoft.com/office/drawing/2014/main" id="{8599B3B1-4BE3-434D-BB9A-53778ADD3520}"/>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S1 §5–6、Table 1–2</a:t>
            </a:r>
          </a:p>
        </p:txBody>
      </p:sp>
      <p:sp>
        <p:nvSpPr>
          <p:cNvPr id="10" name="">
            <a:extLst xmlns:a="http://schemas.openxmlformats.org/drawingml/2006/main">
              <a:ext uri="{FF2B5EF4-FFF2-40B4-BE49-F238E27FC236}">
                <a16:creationId xmlns:a16="http://schemas.microsoft.com/office/drawing/2014/main" id="{D2A53678-35FB-4F25-A15D-A0C986F61B0F}"/>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11</a:t>
            </a:r>
          </a:p>
        </p:txBody>
      </p:sp>
    </p:spTree>
    <p:extLst>
      <p:ext uri="{BB962C8B-B14F-4D97-AF65-F5344CB8AC3E}">
        <p14:creationId xmlns:p14="http://schemas.microsoft.com/office/powerpoint/2010/main" val="201950139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497D14-D971-42F5-BA33-C1ABF6A04F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3B8F93-DB0D-40D3-AA0A-333EDF902F23}"/>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02  文献とアルゴリズム</a:t>
            </a:r>
          </a:p>
        </p:txBody>
      </p:sp>
      <p:sp>
        <p:nvSpPr>
          <p:cNvPr id="3" name="">
            <a:extLst xmlns:a="http://schemas.openxmlformats.org/drawingml/2006/main">
              <a:ext uri="{FF2B5EF4-FFF2-40B4-BE49-F238E27FC236}">
                <a16:creationId xmlns:a16="http://schemas.microsoft.com/office/drawing/2014/main" id="{85F9E67A-A742-48A7-B1DC-CC9C52D0A56A}"/>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山原：末端圧力推定の適用領域</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12b4275f54e49f0"/>
          <a:stretch xmlns:a="http://schemas.openxmlformats.org/drawingml/2006/main"/>
        </p:blipFill>
        <p:spPr>
          <a:xfrm xmlns:a="http://schemas.openxmlformats.org/drawingml/2006/main">
            <a:off x="428625" y="2058535"/>
            <a:ext cx="7000875" cy="264568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456FB83-AB3B-4E75-87A4-0B42EC791BE7}"/>
              </a:ext>
            </a:extLst>
          </p:cNvPr>
          <p:cNvSpPr>
            <a:spLocks xmlns:a="http://schemas.openxmlformats.org/drawingml/2006/main" noGrp="1"/>
          </p:cNvSpPr>
          <p:nvPr/>
        </p:nvSpPr>
        <p:spPr>
          <a:xfrm xmlns:a="http://schemas.openxmlformats.org/drawingml/2006/main">
            <a:off x="7858125" y="161925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8E99"/>
                </a:solidFill>
                <a:latin typeface="Meiryo"/>
                <a:ea typeface="Meiryo"/>
                <a:cs typeface="Meiryo"/>
              </a:defRPr>
            </a:pPr>
            <a:r>
              <a:rPr sz="2100" b="1">
                <a:solidFill>
                  <a:srgbClr val="008E99"/>
                </a:solidFill>
                <a:latin typeface="Meiryo"/>
                <a:ea typeface="Meiryo"/>
                <a:cs typeface="Meiryo"/>
              </a:rPr>
              <a:t>配水圧力モデルの実例</a:t>
            </a:r>
          </a:p>
        </p:txBody>
      </p:sp>
      <p:sp>
        <p:nvSpPr>
          <p:cNvPr id="6" name="">
            <a:extLst xmlns:a="http://schemas.openxmlformats.org/drawingml/2006/main">
              <a:ext uri="{FF2B5EF4-FFF2-40B4-BE49-F238E27FC236}">
                <a16:creationId xmlns:a16="http://schemas.microsoft.com/office/drawing/2014/main" id="{DD6AD566-F627-4FEF-A3F3-47562EB0982A}"/>
              </a:ext>
            </a:extLst>
          </p:cNvPr>
          <p:cNvSpPr>
            <a:spLocks xmlns:a="http://schemas.openxmlformats.org/drawingml/2006/main" noGrp="1"/>
          </p:cNvSpPr>
          <p:nvPr/>
        </p:nvSpPr>
        <p:spPr>
          <a:xfrm xmlns:a="http://schemas.openxmlformats.org/drawingml/2006/main">
            <a:off x="7858125" y="2428875"/>
            <a:ext cx="3857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範囲・平均距離・近傍距離</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3系統、5方式を比較</a:t>
            </a:r>
          </a:p>
          <a:p xmlns:a="http://schemas.openxmlformats.org/drawingml/2006/main">
            <a:r>
              <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|推定誤差| &gt; 0.022 MPa</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を用いる代理ラベルも評価。</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真のOODラベルとは異なる。</a:t>
            </a:r>
          </a:p>
        </p:txBody>
      </p:sp>
      <p:sp>
        <p:nvSpPr>
          <p:cNvPr id="7" name="">
            <a:extLst xmlns:a="http://schemas.openxmlformats.org/drawingml/2006/main">
              <a:ext uri="{FF2B5EF4-FFF2-40B4-BE49-F238E27FC236}">
                <a16:creationId xmlns:a16="http://schemas.microsoft.com/office/drawing/2014/main" id="{EA516B03-CD16-4583-9A7E-452ED0B64AA8}"/>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F9B180F-1A58-4E35-852F-626552E393F5}"/>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AD内外の分類と、実際の圧力推定誤差との関係を評価する</a:t>
            </a:r>
          </a:p>
        </p:txBody>
      </p:sp>
      <p:sp>
        <p:nvSpPr>
          <p:cNvPr id="9" name="">
            <a:extLst xmlns:a="http://schemas.openxmlformats.org/drawingml/2006/main">
              <a:ext uri="{FF2B5EF4-FFF2-40B4-BE49-F238E27FC236}">
                <a16:creationId xmlns:a16="http://schemas.microsoft.com/office/drawing/2014/main" id="{3EFD99AD-75E4-4A33-9C03-FAA9B9D168DE}"/>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山原 §3–5、Fig. 3。図は提供されたスキャンから引用</a:t>
            </a:r>
          </a:p>
        </p:txBody>
      </p:sp>
      <p:sp>
        <p:nvSpPr>
          <p:cNvPr id="10" name="">
            <a:extLst xmlns:a="http://schemas.openxmlformats.org/drawingml/2006/main">
              <a:ext uri="{FF2B5EF4-FFF2-40B4-BE49-F238E27FC236}">
                <a16:creationId xmlns:a16="http://schemas.microsoft.com/office/drawing/2014/main" id="{63D642E9-68E4-4D0B-B79E-4FB0F66A69E5}"/>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12</a:t>
            </a:r>
          </a:p>
        </p:txBody>
      </p:sp>
    </p:spTree>
    <p:extLst>
      <p:ext uri="{BB962C8B-B14F-4D97-AF65-F5344CB8AC3E}">
        <p14:creationId xmlns:p14="http://schemas.microsoft.com/office/powerpoint/2010/main" val="128953996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A29670-2CF1-406A-A74B-8BA92710AD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36876D-787D-418C-B8F8-6A4F976326C3}"/>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02  文献とアルゴリズム</a:t>
            </a:r>
          </a:p>
        </p:txBody>
      </p:sp>
      <p:sp>
        <p:nvSpPr>
          <p:cNvPr id="3" name="">
            <a:extLst xmlns:a="http://schemas.openxmlformats.org/drawingml/2006/main">
              <a:ext uri="{FF2B5EF4-FFF2-40B4-BE49-F238E27FC236}">
                <a16:creationId xmlns:a16="http://schemas.microsoft.com/office/drawing/2014/main" id="{CDF53BCC-F0B5-4E69-BB34-9C2D6B17D4BA}"/>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14：再構成誤差による入力の検知</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85fbba2f625480a"/>
          <a:stretch xmlns:a="http://schemas.openxmlformats.org/drawingml/2006/main"/>
        </p:blipFill>
        <p:spPr>
          <a:xfrm xmlns:a="http://schemas.openxmlformats.org/drawingml/2006/main">
            <a:off x="980893" y="1362075"/>
            <a:ext cx="7277464" cy="4095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557DB7C-414F-4A56-8FF8-51A9EFA36646}"/>
              </a:ext>
            </a:extLst>
          </p:cNvPr>
          <p:cNvSpPr>
            <a:spLocks xmlns:a="http://schemas.openxmlformats.org/drawingml/2006/main" noGrp="1"/>
          </p:cNvSpPr>
          <p:nvPr/>
        </p:nvSpPr>
        <p:spPr>
          <a:xfrm xmlns:a="http://schemas.openxmlformats.org/drawingml/2006/main">
            <a:off x="8763000" y="18669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8E99"/>
                </a:solidFill>
                <a:latin typeface="Meiryo"/>
                <a:ea typeface="Meiryo"/>
                <a:cs typeface="Meiryo"/>
              </a:defRPr>
            </a:pPr>
            <a:r>
              <a:rPr sz="1950" b="1">
                <a:solidFill>
                  <a:srgbClr val="008E99"/>
                </a:solidFill>
                <a:latin typeface="Meiryo"/>
                <a:ea typeface="Meiryo"/>
                <a:cs typeface="Meiryo"/>
              </a:rPr>
              <a:t>s(x) = ‖x − x̂‖₂</a:t>
            </a:r>
          </a:p>
        </p:txBody>
      </p:sp>
      <p:sp>
        <p:nvSpPr>
          <p:cNvPr id="6" name="">
            <a:extLst xmlns:a="http://schemas.openxmlformats.org/drawingml/2006/main">
              <a:ext uri="{FF2B5EF4-FFF2-40B4-BE49-F238E27FC236}">
                <a16:creationId xmlns:a16="http://schemas.microsoft.com/office/drawing/2014/main" id="{4EAE6B8D-E00A-4E87-85B5-84005072CCDA}"/>
              </a:ext>
            </a:extLst>
          </p:cNvPr>
          <p:cNvSpPr>
            <a:spLocks xmlns:a="http://schemas.openxmlformats.org/drawingml/2006/main" noGrp="1"/>
          </p:cNvSpPr>
          <p:nvPr/>
        </p:nvSpPr>
        <p:spPr>
          <a:xfrm xmlns:a="http://schemas.openxmlformats.org/drawingml/2006/main">
            <a:off x="8858250" y="2667000"/>
            <a:ext cx="28575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学習：正常な X</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判定：現在の X</a:t>
            </a:r>
          </a:p>
          <a:p xmlns:a="http://schemas.openxmlformats.org/drawingml/2006/main">
            <a:r>
              <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真の Y は不要。</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原論文は時間順序を</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利用しない。</a:t>
            </a:r>
          </a:p>
        </p:txBody>
      </p:sp>
      <p:sp>
        <p:nvSpPr>
          <p:cNvPr id="7" name="">
            <a:extLst xmlns:a="http://schemas.openxmlformats.org/drawingml/2006/main">
              <a:ext uri="{FF2B5EF4-FFF2-40B4-BE49-F238E27FC236}">
                <a16:creationId xmlns:a16="http://schemas.microsoft.com/office/drawing/2014/main" id="{943E5A65-9C36-4D18-9090-52EFAE547ACC}"/>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EF657C4-E506-4931-8CCB-6A8B9A1FA1C9}"/>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1時刻の多変量入力に適用でき、対象回帰モデルから独立に設置できる</a:t>
            </a:r>
          </a:p>
        </p:txBody>
      </p:sp>
      <p:sp>
        <p:nvSpPr>
          <p:cNvPr id="9" name="">
            <a:extLst xmlns:a="http://schemas.openxmlformats.org/drawingml/2006/main">
              <a:ext uri="{FF2B5EF4-FFF2-40B4-BE49-F238E27FC236}">
                <a16:creationId xmlns:a16="http://schemas.microsoft.com/office/drawing/2014/main" id="{DCC66B16-F539-452A-BB9B-B941B0795C71}"/>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14 §3、§6、Eq. (1)｜説明用概念図（生成画像）</a:t>
            </a:r>
          </a:p>
        </p:txBody>
      </p:sp>
      <p:sp>
        <p:nvSpPr>
          <p:cNvPr id="10" name="">
            <a:extLst xmlns:a="http://schemas.openxmlformats.org/drawingml/2006/main">
              <a:ext uri="{FF2B5EF4-FFF2-40B4-BE49-F238E27FC236}">
                <a16:creationId xmlns:a16="http://schemas.microsoft.com/office/drawing/2014/main" id="{DE93B8ED-6807-42BE-BB6E-301056D2F216}"/>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13</a:t>
            </a:r>
          </a:p>
        </p:txBody>
      </p:sp>
    </p:spTree>
    <p:extLst>
      <p:ext uri="{BB962C8B-B14F-4D97-AF65-F5344CB8AC3E}">
        <p14:creationId xmlns:p14="http://schemas.microsoft.com/office/powerpoint/2010/main" val="35898093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BDBC009-58C3-4C19-9B6A-0051F4DEF48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84EF50-DE5A-4C27-90ED-9E0E9A6A5E75}"/>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02  文献とアルゴリズム</a:t>
            </a:r>
          </a:p>
        </p:txBody>
      </p:sp>
      <p:sp>
        <p:nvSpPr>
          <p:cNvPr id="3" name="">
            <a:extLst xmlns:a="http://schemas.openxmlformats.org/drawingml/2006/main">
              <a:ext uri="{FF2B5EF4-FFF2-40B4-BE49-F238E27FC236}">
                <a16:creationId xmlns:a16="http://schemas.microsoft.com/office/drawing/2014/main" id="{21003115-117D-419C-A967-BEAD2DCAFCB9}"/>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14：ノイズ除去学習の効果はデータに依存する</a:t>
            </a:r>
          </a:p>
        </p:txBody>
      </p:sp>
      <p:graphicFrame>
        <p:nvGraphicFramePr>
          <p:cNvPr id="15" name="Chart"/>
          <p:cNvGraphicFramePr/>
          <p:nvPr/>
        </p:nvGraphicFramePr>
        <p:xfrm>
          <a:off xmlns:a="http://schemas.openxmlformats.org/drawingml/2006/main" x="428625" y="1581150"/>
          <a:ext xmlns:a="http://schemas.openxmlformats.org/drawingml/2006/main" cx="7905750" cy="3943350"/>
        </p:xfrm>
        <a:graphic xmlns:a="http://schemas.openxmlformats.org/drawingml/2006/main">
          <a:graphicData uri="http://schemas.openxmlformats.org/drawingml/2006/chart">
            <c:chart xmlns:r="http://schemas.openxmlformats.org/officeDocument/2006/relationships" xmlns:c="http://schemas.openxmlformats.org/drawingml/2006/chart" r:id="Rd25385dccd774341"/>
          </a:graphicData>
        </a:graphic>
      </p:graphicFrame>
      <p:sp>
        <p:nvSpPr>
          <p:cNvPr id="5" name="">
            <a:extLst xmlns:a="http://schemas.openxmlformats.org/drawingml/2006/main">
              <a:ext uri="{FF2B5EF4-FFF2-40B4-BE49-F238E27FC236}">
                <a16:creationId xmlns:a16="http://schemas.microsoft.com/office/drawing/2014/main" id="{61BBF70F-A8CB-4CDB-89F4-3C18BCD183A4}"/>
              </a:ext>
            </a:extLst>
          </p:cNvPr>
          <p:cNvSpPr>
            <a:spLocks xmlns:a="http://schemas.openxmlformats.org/drawingml/2006/main" noGrp="1"/>
          </p:cNvSpPr>
          <p:nvPr/>
        </p:nvSpPr>
        <p:spPr>
          <a:xfrm xmlns:a="http://schemas.openxmlformats.org/drawingml/2006/main">
            <a:off x="552450" y="13335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86E7C"/>
                </a:solidFill>
                <a:latin typeface="Meiryo"/>
                <a:ea typeface="Meiryo"/>
                <a:cs typeface="Meiryo"/>
              </a:defRPr>
            </a:pPr>
            <a:r>
              <a:rPr sz="1350" b="0">
                <a:solidFill>
                  <a:srgbClr val="586E7C"/>
                </a:solidFill>
                <a:latin typeface="Meiryo"/>
                <a:ea typeface="Meiryo"/>
                <a:cs typeface="Meiryo"/>
              </a:rPr>
              <a:t>AUC（原論文 Table 1）</a:t>
            </a:r>
          </a:p>
        </p:txBody>
      </p:sp>
      <p:sp>
        <p:nvSpPr>
          <p:cNvPr id="6" name="">
            <a:extLst xmlns:a="http://schemas.openxmlformats.org/drawingml/2006/main">
              <a:ext uri="{FF2B5EF4-FFF2-40B4-BE49-F238E27FC236}">
                <a16:creationId xmlns:a16="http://schemas.microsoft.com/office/drawing/2014/main" id="{D9148604-8B06-4B7E-9374-DF0D6F8A56BD}"/>
              </a:ext>
            </a:extLst>
          </p:cNvPr>
          <p:cNvSpPr>
            <a:spLocks xmlns:a="http://schemas.openxmlformats.org/drawingml/2006/main" noGrp="1"/>
          </p:cNvSpPr>
          <p:nvPr/>
        </p:nvSpPr>
        <p:spPr>
          <a:xfrm xmlns:a="http://schemas.openxmlformats.org/drawingml/2006/main">
            <a:off x="8572500" y="18669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8E99"/>
                </a:solidFill>
                <a:latin typeface="Meiryo"/>
                <a:ea typeface="Meiryo"/>
                <a:cs typeface="Meiryo"/>
              </a:defRPr>
            </a:pPr>
            <a:r>
              <a:rPr sz="2175" b="1">
                <a:solidFill>
                  <a:srgbClr val="008E99"/>
                </a:solidFill>
                <a:latin typeface="Meiryo"/>
                <a:ea typeface="Meiryo"/>
                <a:cs typeface="Meiryo"/>
              </a:rPr>
              <a:t>改善はデータ依存</a:t>
            </a:r>
          </a:p>
        </p:txBody>
      </p:sp>
      <p:sp>
        <p:nvSpPr>
          <p:cNvPr id="7" name="">
            <a:extLst xmlns:a="http://schemas.openxmlformats.org/drawingml/2006/main">
              <a:ext uri="{FF2B5EF4-FFF2-40B4-BE49-F238E27FC236}">
                <a16:creationId xmlns:a16="http://schemas.microsoft.com/office/drawing/2014/main" id="{EB28C2E4-9114-4F46-BB52-655B403A9365}"/>
              </a:ext>
            </a:extLst>
          </p:cNvPr>
          <p:cNvSpPr>
            <a:spLocks xmlns:a="http://schemas.openxmlformats.org/drawingml/2006/main" noGrp="1"/>
          </p:cNvSpPr>
          <p:nvPr/>
        </p:nvSpPr>
        <p:spPr>
          <a:xfrm xmlns:a="http://schemas.openxmlformats.org/drawingml/2006/main">
            <a:off x="8572500" y="2619375"/>
            <a:ext cx="3143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ノイズ除去AEは</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Satellite-Aで改善。</a:t>
            </a:r>
          </a:p>
          <a:p xmlns:a="http://schemas.openxmlformats.org/drawingml/2006/main">
            <a:r>
              <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Satellite-Bでは</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通常AEを下回る。</a:t>
            </a:r>
          </a:p>
          <a:p xmlns:a="http://schemas.openxmlformats.org/drawingml/2006/main">
            <a:r>
              <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万能な優位性はない。</a:t>
            </a:r>
          </a:p>
        </p:txBody>
      </p:sp>
      <p:sp>
        <p:nvSpPr>
          <p:cNvPr id="8" name="">
            <a:extLst xmlns:a="http://schemas.openxmlformats.org/drawingml/2006/main">
              <a:ext uri="{FF2B5EF4-FFF2-40B4-BE49-F238E27FC236}">
                <a16:creationId xmlns:a16="http://schemas.microsoft.com/office/drawing/2014/main" id="{443B2206-FE84-4616-9CF3-F01F6C275F4F}"/>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C641C0-316C-4C1C-9D65-802809A4082F}"/>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Satellite-Aでは改善したが、Satellite-Bでは低下した</a:t>
            </a:r>
          </a:p>
        </p:txBody>
      </p:sp>
      <p:sp>
        <p:nvSpPr>
          <p:cNvPr id="10" name="">
            <a:extLst xmlns:a="http://schemas.openxmlformats.org/drawingml/2006/main">
              <a:ext uri="{FF2B5EF4-FFF2-40B4-BE49-F238E27FC236}">
                <a16:creationId xmlns:a16="http://schemas.microsoft.com/office/drawing/2014/main" id="{6A887259-F71F-40DE-BE1C-CEEB6180D91F}"/>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14 §4–5、Table 1。対象：25次元合成、17次元・106次元の衛星データ</a:t>
            </a:r>
          </a:p>
        </p:txBody>
      </p:sp>
      <p:sp>
        <p:nvSpPr>
          <p:cNvPr id="11" name="">
            <a:extLst xmlns:a="http://schemas.openxmlformats.org/drawingml/2006/main">
              <a:ext uri="{FF2B5EF4-FFF2-40B4-BE49-F238E27FC236}">
                <a16:creationId xmlns:a16="http://schemas.microsoft.com/office/drawing/2014/main" id="{21E82224-1F41-45BC-8F28-96F7F4F192DC}"/>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14</a:t>
            </a:r>
          </a:p>
        </p:txBody>
      </p:sp>
    </p:spTree>
    <p:extLst>
      <p:ext uri="{BB962C8B-B14F-4D97-AF65-F5344CB8AC3E}">
        <p14:creationId xmlns:p14="http://schemas.microsoft.com/office/powerpoint/2010/main" val="210625261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31B3B3-7DC0-47E5-BBDF-B2C37A88D4D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420FB1-0253-4764-AD6C-B1C699A751A2}"/>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02  文献とアルゴリズム</a:t>
            </a:r>
          </a:p>
        </p:txBody>
      </p:sp>
      <p:sp>
        <p:nvSpPr>
          <p:cNvPr id="3" name="">
            <a:extLst xmlns:a="http://schemas.openxmlformats.org/drawingml/2006/main">
              <a:ext uri="{FF2B5EF4-FFF2-40B4-BE49-F238E27FC236}">
                <a16:creationId xmlns:a16="http://schemas.microsoft.com/office/drawing/2014/main" id="{4066B1F3-F981-4754-BCEB-D8354B158F2B}"/>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13：予測に関係する変数と近傍を使うOutPro</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0b7dd34400d4515"/>
          <a:stretch xmlns:a="http://schemas.openxmlformats.org/drawingml/2006/main"/>
        </p:blipFill>
        <p:spPr>
          <a:xfrm xmlns:a="http://schemas.openxmlformats.org/drawingml/2006/main">
            <a:off x="2668822" y="1428750"/>
            <a:ext cx="6854356" cy="3857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9085EB6-913E-4CA1-AE86-46C0A09A1028}"/>
              </a:ext>
            </a:extLst>
          </p:cNvPr>
          <p:cNvSpPr>
            <a:spLocks xmlns:a="http://schemas.openxmlformats.org/drawingml/2006/main" noGrp="1"/>
          </p:cNvSpPr>
          <p:nvPr/>
        </p:nvSpPr>
        <p:spPr>
          <a:xfrm xmlns:a="http://schemas.openxmlformats.org/drawingml/2006/main">
            <a:off x="619125" y="539115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8E99"/>
                </a:solidFill>
                <a:latin typeface="Meiryo"/>
                <a:ea typeface="Meiryo"/>
                <a:cs typeface="Meiryo"/>
              </a:defRPr>
            </a:pPr>
            <a:r>
              <a:rPr sz="1800" b="1">
                <a:solidFill>
                  <a:srgbClr val="008E99"/>
                </a:solidFill>
                <a:latin typeface="Meiryo"/>
                <a:ea typeface="Meiryo"/>
                <a:cs typeface="Meiryo"/>
              </a:rPr>
              <a:t>学習：IDの X・Y ＋ 教師あり森林</a:t>
            </a:r>
          </a:p>
        </p:txBody>
      </p:sp>
      <p:sp>
        <p:nvSpPr>
          <p:cNvPr id="6" name="">
            <a:extLst xmlns:a="http://schemas.openxmlformats.org/drawingml/2006/main">
              <a:ext uri="{FF2B5EF4-FFF2-40B4-BE49-F238E27FC236}">
                <a16:creationId xmlns:a16="http://schemas.microsoft.com/office/drawing/2014/main" id="{E442570E-E7FB-4A33-A4C5-DAF533DA3831}"/>
              </a:ext>
            </a:extLst>
          </p:cNvPr>
          <p:cNvSpPr>
            <a:spLocks xmlns:a="http://schemas.openxmlformats.org/drawingml/2006/main" noGrp="1"/>
          </p:cNvSpPr>
          <p:nvPr/>
        </p:nvSpPr>
        <p:spPr>
          <a:xfrm xmlns:a="http://schemas.openxmlformats.org/drawingml/2006/main">
            <a:off x="6286500" y="5391150"/>
            <a:ext cx="547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8E99"/>
                </a:solidFill>
                <a:latin typeface="Meiryo"/>
                <a:ea typeface="Meiryo"/>
                <a:cs typeface="Meiryo"/>
              </a:defRPr>
            </a:pPr>
            <a:r>
              <a:rPr sz="1800" b="1">
                <a:solidFill>
                  <a:srgbClr val="008E99"/>
                </a:solidFill>
                <a:latin typeface="Meiryo"/>
                <a:ea typeface="Meiryo"/>
                <a:cs typeface="Meiryo"/>
              </a:rPr>
              <a:t>判定：現在の X ＋ 森林 ＋ 参照点</a:t>
            </a:r>
          </a:p>
        </p:txBody>
      </p:sp>
      <p:sp>
        <p:nvSpPr>
          <p:cNvPr id="7" name="">
            <a:extLst xmlns:a="http://schemas.openxmlformats.org/drawingml/2006/main">
              <a:ext uri="{FF2B5EF4-FFF2-40B4-BE49-F238E27FC236}">
                <a16:creationId xmlns:a16="http://schemas.microsoft.com/office/drawing/2014/main" id="{91F3A157-DC8E-4E6F-9A90-A6FD5F18370B}"/>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66D5717-0EE9-45BD-988E-E90D03BDCBAC}"/>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一般的な距離検知と異なり、教師あり森林が変数選択と近傍形成に関与する</a:t>
            </a:r>
          </a:p>
        </p:txBody>
      </p:sp>
      <p:sp>
        <p:nvSpPr>
          <p:cNvPr id="9" name="">
            <a:extLst xmlns:a="http://schemas.openxmlformats.org/drawingml/2006/main">
              <a:ext uri="{FF2B5EF4-FFF2-40B4-BE49-F238E27FC236}">
                <a16:creationId xmlns:a16="http://schemas.microsoft.com/office/drawing/2014/main" id="{7FB86D80-6F63-478E-A670-C58138235FFE}"/>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13 §3、Algorithm 1。OutPro = OOD using variable priority｜説明用概念図（生成画像）</a:t>
            </a:r>
          </a:p>
        </p:txBody>
      </p:sp>
      <p:sp>
        <p:nvSpPr>
          <p:cNvPr id="10" name="">
            <a:extLst xmlns:a="http://schemas.openxmlformats.org/drawingml/2006/main">
              <a:ext uri="{FF2B5EF4-FFF2-40B4-BE49-F238E27FC236}">
                <a16:creationId xmlns:a16="http://schemas.microsoft.com/office/drawing/2014/main" id="{D03A60CC-A4F5-443F-8C82-E4A6516A7607}"/>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15</a:t>
            </a:r>
          </a:p>
        </p:txBody>
      </p:sp>
    </p:spTree>
    <p:extLst>
      <p:ext uri="{BB962C8B-B14F-4D97-AF65-F5344CB8AC3E}">
        <p14:creationId xmlns:p14="http://schemas.microsoft.com/office/powerpoint/2010/main" val="63183913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CD92E9A-9A79-4003-AB1D-5C4D367FFE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D230B1-B954-4C91-BC1A-216E60E2277C}"/>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02  文献とアルゴリズム</a:t>
            </a:r>
          </a:p>
        </p:txBody>
      </p:sp>
      <p:sp>
        <p:nvSpPr>
          <p:cNvPr id="3" name="">
            <a:extLst xmlns:a="http://schemas.openxmlformats.org/drawingml/2006/main">
              <a:ext uri="{FF2B5EF4-FFF2-40B4-BE49-F238E27FC236}">
                <a16:creationId xmlns:a16="http://schemas.microsoft.com/office/drawing/2014/main" id="{D96C94E9-7DB4-4A52-9F99-2BE63DA0C642}"/>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13：回帰での有効性と適用上の制約</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df76ff61fac4e6c"/>
          <a:stretch xmlns:a="http://schemas.openxmlformats.org/drawingml/2006/main"/>
        </p:blipFill>
        <p:spPr>
          <a:xfrm xmlns:a="http://schemas.openxmlformats.org/drawingml/2006/main">
            <a:off x="381000" y="1550459"/>
            <a:ext cx="6905625" cy="1823506"/>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dbdb82639c740fe"/>
          <a:stretch xmlns:a="http://schemas.openxmlformats.org/drawingml/2006/main"/>
        </p:blipFill>
        <p:spPr>
          <a:xfrm xmlns:a="http://schemas.openxmlformats.org/drawingml/2006/main">
            <a:off x="381000" y="3596791"/>
            <a:ext cx="6905625" cy="173134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D737056-DAE3-49D6-9B06-13E8C3F23C70}"/>
              </a:ext>
            </a:extLst>
          </p:cNvPr>
          <p:cNvSpPr>
            <a:spLocks xmlns:a="http://schemas.openxmlformats.org/drawingml/2006/main" noGrp="1"/>
          </p:cNvSpPr>
          <p:nvPr/>
        </p:nvSpPr>
        <p:spPr>
          <a:xfrm xmlns:a="http://schemas.openxmlformats.org/drawingml/2006/main">
            <a:off x="7715250" y="16192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8E99"/>
                </a:solidFill>
                <a:latin typeface="Meiryo"/>
                <a:ea typeface="Meiryo"/>
                <a:cs typeface="Meiryo"/>
              </a:defRPr>
            </a:pPr>
            <a:r>
              <a:rPr sz="2175" b="1">
                <a:solidFill>
                  <a:srgbClr val="008E99"/>
                </a:solidFill>
                <a:latin typeface="Meiryo"/>
                <a:ea typeface="Meiryo"/>
                <a:cs typeface="Meiryo"/>
              </a:rPr>
              <a:t>61個の回帰データ</a:t>
            </a:r>
          </a:p>
        </p:txBody>
      </p:sp>
      <p:sp>
        <p:nvSpPr>
          <p:cNvPr id="7" name="">
            <a:extLst xmlns:a="http://schemas.openxmlformats.org/drawingml/2006/main">
              <a:ext uri="{FF2B5EF4-FFF2-40B4-BE49-F238E27FC236}">
                <a16:creationId xmlns:a16="http://schemas.microsoft.com/office/drawing/2014/main" id="{928C7E94-1619-478D-A6A9-C5C3DFB52BF6}"/>
              </a:ext>
            </a:extLst>
          </p:cNvPr>
          <p:cNvSpPr>
            <a:spLocks xmlns:a="http://schemas.openxmlformats.org/drawingml/2006/main" noGrp="1"/>
          </p:cNvSpPr>
          <p:nvPr/>
        </p:nvSpPr>
        <p:spPr>
          <a:xfrm xmlns:a="http://schemas.openxmlformats.org/drawingml/2006/main">
            <a:off x="7715250" y="2352675"/>
            <a:ext cx="3905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指標：AUC-PR</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順位は小さいほど上位。</a:t>
            </a:r>
          </a:p>
          <a:p xmlns:a="http://schemas.openxmlformats.org/drawingml/2006/main">
            <a:r>
              <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jointでOutProが上位。</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warpでは従来法も有力。</a:t>
            </a:r>
          </a:p>
          <a:p xmlns:a="http://schemas.openxmlformats.org/drawingml/2006/main">
            <a:r>
              <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時系列・水系での検証は</a:t>
            </a:r>
          </a:p>
          <a:p xmlns:a="http://schemas.openxmlformats.org/drawingml/2006/main">
            <a:pPr>
              <a:defRPr sz="1800" b="0">
                <a:solidFill>
                  <a:srgbClr val="19384B"/>
                </a:solidFill>
                <a:latin typeface="Meiryo"/>
                <a:ea typeface="Meiryo"/>
                <a:cs typeface="Meiryo"/>
              </a:defRPr>
            </a:pPr>
            <a:r>
              <a:rPr sz="1800" b="0">
                <a:solidFill>
                  <a:srgbClr val="19384B"/>
                </a:solidFill>
                <a:latin typeface="Meiryo"/>
                <a:ea typeface="Meiryo"/>
                <a:cs typeface="Meiryo"/>
              </a:rPr>
              <a:t>別途必要。</a:t>
            </a:r>
          </a:p>
        </p:txBody>
      </p:sp>
      <p:sp>
        <p:nvSpPr>
          <p:cNvPr id="8" name="">
            <a:extLst xmlns:a="http://schemas.openxmlformats.org/drawingml/2006/main">
              <a:ext uri="{FF2B5EF4-FFF2-40B4-BE49-F238E27FC236}">
                <a16:creationId xmlns:a16="http://schemas.microsoft.com/office/drawing/2014/main" id="{CD8E4F60-C972-4F2A-B958-D25636571564}"/>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3338E2C-D7E6-408A-9CD2-C3D341919EEE}"/>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回帰への適用根拠はあるが、水処理・配水データでの有効性は未検証</a:t>
            </a:r>
          </a:p>
        </p:txBody>
      </p:sp>
      <p:sp>
        <p:nvSpPr>
          <p:cNvPr id="10" name="">
            <a:extLst xmlns:a="http://schemas.openxmlformats.org/drawingml/2006/main">
              <a:ext uri="{FF2B5EF4-FFF2-40B4-BE49-F238E27FC236}">
                <a16:creationId xmlns:a16="http://schemas.microsoft.com/office/drawing/2014/main" id="{A86C1B78-507E-4B5C-91DB-5CE718C050B6}"/>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13 §5.2–5.3、§7</a:t>
            </a:r>
          </a:p>
        </p:txBody>
      </p:sp>
      <p:sp>
        <p:nvSpPr>
          <p:cNvPr id="11" name="">
            <a:extLst xmlns:a="http://schemas.openxmlformats.org/drawingml/2006/main">
              <a:ext uri="{FF2B5EF4-FFF2-40B4-BE49-F238E27FC236}">
                <a16:creationId xmlns:a16="http://schemas.microsoft.com/office/drawing/2014/main" id="{092DD75A-BEA4-4AE5-9C9A-F2552FE262A6}"/>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16</a:t>
            </a:r>
          </a:p>
        </p:txBody>
      </p:sp>
    </p:spTree>
    <p:extLst>
      <p:ext uri="{BB962C8B-B14F-4D97-AF65-F5344CB8AC3E}">
        <p14:creationId xmlns:p14="http://schemas.microsoft.com/office/powerpoint/2010/main" val="102038283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5D64CE-9DB3-4BFB-BE04-C1B31FDFA4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9AA7D0-74D8-4B03-9DA3-481AE5864933}"/>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03  比較と実習への適用</a:t>
            </a:r>
          </a:p>
        </p:txBody>
      </p:sp>
      <p:sp>
        <p:nvSpPr>
          <p:cNvPr id="3" name="">
            <a:extLst xmlns:a="http://schemas.openxmlformats.org/drawingml/2006/main">
              <a:ext uri="{FF2B5EF4-FFF2-40B4-BE49-F238E27FC236}">
                <a16:creationId xmlns:a16="http://schemas.microsoft.com/office/drawing/2014/main" id="{DDD523F2-FD5F-47D7-B3CA-524A830BCC67}"/>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重点手法の比較</a:t>
            </a:r>
          </a:p>
        </p:txBody>
      </p:sp>
      <p:graphicFrame>
        <p:nvGraphicFramePr>
          <p:cNvPr id="10" name=""/>
          <p:cNvGraphicFramePr/>
          <p:nvPr/>
        </p:nvGraphicFramePr>
        <p:xfrm>
          <a:off xmlns:a="http://schemas.openxmlformats.org/drawingml/2006/main" x="476250" y="1476375"/>
          <a:ext xmlns:a="http://schemas.openxmlformats.org/drawingml/2006/main" cx="11239500" cy="4286250"/>
        </p:xfrm>
        <a:graphic xmlns:a="http://schemas.openxmlformats.org/drawingml/2006/main">
          <a:graphicData uri="http://schemas.openxmlformats.org/drawingml/2006/table">
            <a:tbl>
              <a:tblPr/>
              <a:tblGrid>
                <a:gridCol w="2163251"/>
                <a:gridCol w="2821632"/>
                <a:gridCol w="3056768"/>
                <a:gridCol w="3197849"/>
              </a:tblGrid>
              <a:tr h="612321">
                <a:tc>
                  <a:txBody>
                    <a:bodyPr/>
                    <a:lstStyle/>
                    <a:p>
                      <a:r>
                        <a:rPr sz="1575" b="1">
                          <a:solidFill>
                            <a:srgbClr val="FFFFFF"/>
                          </a:solidFill>
                          <a:latin typeface="Meiryo"/>
                          <a:ea typeface="Meiryo"/>
                          <a:cs typeface="Meiryo"/>
                        </a:rPr>
                        <a:t>比較項目</a:t>
                      </a:r>
                    </a:p>
                  </a:txBody>
                  <a:tcPr marL="114300" marR="95250" marT="85725" marB="66675" anchor="ctr">
                    <a:solidFill>
                      <a:srgbClr val="08273C"/>
                    </a:solidFill>
                  </a:tcPr>
                </a:tc>
                <a:tc>
                  <a:txBody>
                    <a:bodyPr/>
                    <a:lstStyle/>
                    <a:p>
                      <a:r>
                        <a:rPr sz="1575" b="1">
                          <a:solidFill>
                            <a:srgbClr val="FFFFFF"/>
                          </a:solidFill>
                          <a:latin typeface="Meiryo"/>
                          <a:ea typeface="Meiryo"/>
                          <a:cs typeface="Meiryo"/>
                        </a:rPr>
                        <a:t>山原のAD手法</a:t>
                      </a:r>
                    </a:p>
                  </a:txBody>
                  <a:tcPr marL="114300" marR="95250" marT="85725" marB="66675" anchor="ctr">
                    <a:solidFill>
                      <a:srgbClr val="08273C"/>
                    </a:solidFill>
                  </a:tcPr>
                </a:tc>
                <a:tc>
                  <a:txBody>
                    <a:bodyPr/>
                    <a:lstStyle/>
                    <a:p>
                      <a:r>
                        <a:rPr sz="1575" b="1">
                          <a:solidFill>
                            <a:srgbClr val="FFFFFF"/>
                          </a:solidFill>
                          <a:latin typeface="Meiryo"/>
                          <a:ea typeface="Meiryo"/>
                          <a:cs typeface="Meiryo"/>
                        </a:rPr>
                        <a:t>14：AE系</a:t>
                      </a:r>
                    </a:p>
                  </a:txBody>
                  <a:tcPr marL="114300" marR="95250" marT="85725" marB="66675" anchor="ctr">
                    <a:solidFill>
                      <a:srgbClr val="08273C"/>
                    </a:solidFill>
                  </a:tcPr>
                </a:tc>
                <a:tc>
                  <a:txBody>
                    <a:bodyPr/>
                    <a:lstStyle/>
                    <a:p>
                      <a:r>
                        <a:rPr sz="1575" b="1">
                          <a:solidFill>
                            <a:srgbClr val="FFFFFF"/>
                          </a:solidFill>
                          <a:latin typeface="Meiryo"/>
                          <a:ea typeface="Meiryo"/>
                          <a:cs typeface="Meiryo"/>
                        </a:rPr>
                        <a:t>13：OutPro</a:t>
                      </a:r>
                    </a:p>
                  </a:txBody>
                  <a:tcPr marL="114300" marR="95250" marT="85725" marB="66675" anchor="ctr">
                    <a:solidFill>
                      <a:srgbClr val="08273C"/>
                    </a:solidFill>
                  </a:tcPr>
                </a:tc>
              </a:tr>
              <a:tr h="612321">
                <a:tc>
                  <a:txBody>
                    <a:bodyPr/>
                    <a:lstStyle/>
                    <a:p>
                      <a:r>
                        <a:rPr sz="1575" b="0">
                          <a:solidFill>
                            <a:srgbClr val="19384B"/>
                          </a:solidFill>
                          <a:latin typeface="Meiryo"/>
                          <a:ea typeface="Meiryo"/>
                          <a:cs typeface="Meiryo"/>
                        </a:rPr>
                        <a:t>検知の根拠</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範囲・距離・近傍</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再構成誤差</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選択変数上の近傍距離</a:t>
                      </a:r>
                    </a:p>
                  </a:txBody>
                  <a:tcPr marL="114300" marR="95250" marT="85725" marB="66675" anchor="ctr">
                    <a:solidFill>
                      <a:srgbClr val="F0F6F8"/>
                    </a:solidFill>
                  </a:tcPr>
                </a:tc>
              </a:tr>
              <a:tr h="612321">
                <a:tc>
                  <a:txBody>
                    <a:bodyPr/>
                    <a:lstStyle/>
                    <a:p>
                      <a:r>
                        <a:rPr sz="1575" b="0">
                          <a:solidFill>
                            <a:srgbClr val="19384B"/>
                          </a:solidFill>
                          <a:latin typeface="Meiryo"/>
                          <a:ea typeface="Meiryo"/>
                          <a:cs typeface="Meiryo"/>
                        </a:rPr>
                        <a:t>1時刻入力</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対応</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対応（原文で明記）</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対応</a:t>
                      </a:r>
                    </a:p>
                  </a:txBody>
                  <a:tcPr marL="114300" marR="95250" marT="85725" marB="66675" anchor="ctr">
                    <a:solidFill>
                      <a:srgbClr val="FFFFFF"/>
                    </a:solidFill>
                  </a:tcPr>
                </a:tc>
              </a:tr>
              <a:tr h="612321">
                <a:tc>
                  <a:txBody>
                    <a:bodyPr/>
                    <a:lstStyle/>
                    <a:p>
                      <a:r>
                        <a:rPr sz="1575" b="0">
                          <a:solidFill>
                            <a:srgbClr val="19384B"/>
                          </a:solidFill>
                          <a:latin typeface="Meiryo"/>
                          <a:ea typeface="Meiryo"/>
                          <a:cs typeface="Meiryo"/>
                        </a:rPr>
                        <a:t>検知器の訓練情報</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主にX</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正常なX</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IDのXとY</a:t>
                      </a:r>
                    </a:p>
                  </a:txBody>
                  <a:tcPr marL="114300" marR="95250" marT="85725" marB="66675" anchor="ctr">
                    <a:solidFill>
                      <a:srgbClr val="F0F6F8"/>
                    </a:solidFill>
                  </a:tcPr>
                </a:tc>
              </a:tr>
              <a:tr h="612321">
                <a:tc>
                  <a:txBody>
                    <a:bodyPr/>
                    <a:lstStyle/>
                    <a:p>
                      <a:r>
                        <a:rPr sz="1575" b="0">
                          <a:solidFill>
                            <a:srgbClr val="19384B"/>
                          </a:solidFill>
                          <a:latin typeface="Meiryo"/>
                          <a:ea typeface="Meiryo"/>
                          <a:cs typeface="Meiryo"/>
                        </a:rPr>
                        <a:t>運用時のモデル情報</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回帰器の内部は不要</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回帰器の内部は不要</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教師あり森林を利用</a:t>
                      </a:r>
                    </a:p>
                  </a:txBody>
                  <a:tcPr marL="114300" marR="95250" marT="85725" marB="66675" anchor="ctr">
                    <a:solidFill>
                      <a:srgbClr val="FFFFFF"/>
                    </a:solidFill>
                  </a:tcPr>
                </a:tc>
              </a:tr>
              <a:tr h="612321">
                <a:tc>
                  <a:txBody>
                    <a:bodyPr/>
                    <a:lstStyle/>
                    <a:p>
                      <a:r>
                        <a:rPr sz="1575" b="0">
                          <a:solidFill>
                            <a:srgbClr val="19384B"/>
                          </a:solidFill>
                          <a:latin typeface="Meiryo"/>
                          <a:ea typeface="Meiryo"/>
                          <a:cs typeface="Meiryo"/>
                        </a:rPr>
                        <a:t>時間順序の利用</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判定自体は利用しない</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原文では利用しない</a:t>
                      </a:r>
                    </a:p>
                  </a:txBody>
                  <a:tcPr marL="114300" marR="95250" marT="85725" marB="66675" anchor="ctr">
                    <a:solidFill>
                      <a:srgbClr val="F0F6F8"/>
                    </a:solidFill>
                  </a:tcPr>
                </a:tc>
                <a:tc>
                  <a:txBody>
                    <a:bodyPr/>
                    <a:lstStyle/>
                    <a:p>
                      <a:r>
                        <a:rPr sz="1575" b="0">
                          <a:solidFill>
                            <a:srgbClr val="19384B"/>
                          </a:solidFill>
                          <a:latin typeface="Meiryo"/>
                          <a:ea typeface="Meiryo"/>
                          <a:cs typeface="Meiryo"/>
                        </a:rPr>
                        <a:t>原文では利用しない</a:t>
                      </a:r>
                    </a:p>
                  </a:txBody>
                  <a:tcPr marL="114300" marR="95250" marT="85725" marB="66675" anchor="ctr">
                    <a:solidFill>
                      <a:srgbClr val="F0F6F8"/>
                    </a:solidFill>
                  </a:tcPr>
                </a:tc>
              </a:tr>
              <a:tr h="612321">
                <a:tc>
                  <a:txBody>
                    <a:bodyPr/>
                    <a:lstStyle/>
                    <a:p>
                      <a:r>
                        <a:rPr sz="1575" b="0">
                          <a:solidFill>
                            <a:srgbClr val="19384B"/>
                          </a:solidFill>
                          <a:latin typeface="Meiryo"/>
                          <a:ea typeface="Meiryo"/>
                          <a:cs typeface="Meiryo"/>
                        </a:rPr>
                        <a:t>適用の証拠</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配水圧力の事例</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多変量の数値異常検知</a:t>
                      </a:r>
                    </a:p>
                  </a:txBody>
                  <a:tcPr marL="114300" marR="95250" marT="85725" marB="66675" anchor="ctr">
                    <a:solidFill>
                      <a:srgbClr val="FFFFFF"/>
                    </a:solidFill>
                  </a:tcPr>
                </a:tc>
                <a:tc>
                  <a:txBody>
                    <a:bodyPr/>
                    <a:lstStyle/>
                    <a:p>
                      <a:r>
                        <a:rPr sz="1575" b="0">
                          <a:solidFill>
                            <a:srgbClr val="19384B"/>
                          </a:solidFill>
                          <a:latin typeface="Meiryo"/>
                          <a:ea typeface="Meiryo"/>
                          <a:cs typeface="Meiryo"/>
                        </a:rPr>
                        <a:t>回帰のOOD評価</a:t>
                      </a:r>
                    </a:p>
                  </a:txBody>
                  <a:tcPr marL="114300" marR="95250" marT="8572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8932433-0BC3-4651-AAE4-EBBFA9894EBE}"/>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山原 §3–5、14 §3–6、13 §3–5</a:t>
            </a:r>
          </a:p>
        </p:txBody>
      </p:sp>
      <p:sp>
        <p:nvSpPr>
          <p:cNvPr id="6" name="">
            <a:extLst xmlns:a="http://schemas.openxmlformats.org/drawingml/2006/main">
              <a:ext uri="{FF2B5EF4-FFF2-40B4-BE49-F238E27FC236}">
                <a16:creationId xmlns:a16="http://schemas.microsoft.com/office/drawing/2014/main" id="{B601551F-5E75-4786-8EBD-D02F99E20CB7}"/>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17</a:t>
            </a:r>
          </a:p>
        </p:txBody>
      </p:sp>
    </p:spTree>
    <p:extLst>
      <p:ext uri="{BB962C8B-B14F-4D97-AF65-F5344CB8AC3E}">
        <p14:creationId xmlns:p14="http://schemas.microsoft.com/office/powerpoint/2010/main" val="133809730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C19751-B4E5-4AFF-87CA-99141A39553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D29729-90C1-47F7-A364-45E67567BC9C}"/>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03  比較と実習への適用</a:t>
            </a:r>
          </a:p>
        </p:txBody>
      </p:sp>
      <p:sp>
        <p:nvSpPr>
          <p:cNvPr id="3" name="">
            <a:extLst xmlns:a="http://schemas.openxmlformats.org/drawingml/2006/main">
              <a:ext uri="{FF2B5EF4-FFF2-40B4-BE49-F238E27FC236}">
                <a16:creationId xmlns:a16="http://schemas.microsoft.com/office/drawing/2014/main" id="{AFA5A8D3-6289-4A4B-BBC2-0C3B9254899C}"/>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評価データ候補とラベルの意味</a:t>
            </a:r>
          </a:p>
        </p:txBody>
      </p:sp>
      <p:graphicFrame>
        <p:nvGraphicFramePr>
          <p:cNvPr id="12" name=""/>
          <p:cNvGraphicFramePr/>
          <p:nvPr/>
        </p:nvGraphicFramePr>
        <p:xfrm>
          <a:off xmlns:a="http://schemas.openxmlformats.org/drawingml/2006/main" x="476250" y="1476375"/>
          <a:ext xmlns:a="http://schemas.openxmlformats.org/drawingml/2006/main" cx="11239500" cy="3333750"/>
        </p:xfrm>
        <a:graphic xmlns:a="http://schemas.openxmlformats.org/drawingml/2006/main">
          <a:graphicData uri="http://schemas.openxmlformats.org/drawingml/2006/table">
            <a:tbl>
              <a:tblPr/>
              <a:tblGrid>
                <a:gridCol w="3103795"/>
                <a:gridCol w="4138393"/>
                <a:gridCol w="3997312"/>
              </a:tblGrid>
              <a:tr h="666750">
                <a:tc>
                  <a:txBody>
                    <a:bodyPr/>
                    <a:lstStyle/>
                    <a:p>
                      <a:r>
                        <a:rPr sz="1650" b="1">
                          <a:solidFill>
                            <a:srgbClr val="FFFFFF"/>
                          </a:solidFill>
                          <a:latin typeface="Meiryo"/>
                          <a:ea typeface="Meiryo"/>
                          <a:cs typeface="Meiryo"/>
                        </a:rPr>
                        <a:t>データ</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用途</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確認が必要な点</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SWaT / WADI</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水処理・配水に近い多変量時系列</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攻撃ラベルと学習外条件の対応</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SMD / SMAP / MSL</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他分野での検知性能の比較</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系列構成・ラベル品質・入力の定義</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PMLB</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数値回帰に対するOOD評価</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時間構造は前提にできない</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Lorenz合成データ</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変化の仕組みを制御した評価</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実際の運転状態をどこまで再現するか</a:t>
                      </a:r>
                    </a:p>
                  </a:txBody>
                  <a:tcPr marL="114300" marR="95250" marT="8572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42688EA-38CF-439A-8627-04C02CE28C2F}"/>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AB3DA7C-66CC-4E9D-840A-9525AF811A75}"/>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故障・攻撃、人工OOD、予測誤差超過のラベルは分けて扱う</a:t>
            </a:r>
          </a:p>
        </p:txBody>
      </p:sp>
      <p:sp>
        <p:nvSpPr>
          <p:cNvPr id="7" name="">
            <a:extLst xmlns:a="http://schemas.openxmlformats.org/drawingml/2006/main">
              <a:ext uri="{FF2B5EF4-FFF2-40B4-BE49-F238E27FC236}">
                <a16:creationId xmlns:a16="http://schemas.microsoft.com/office/drawing/2014/main" id="{CC43C37A-DD09-4AAC-B579-0E23F18B949F}"/>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S1 Table 1、S6 §5、13 §5、14 §4。公開条件の確認状況は付録参照</a:t>
            </a:r>
          </a:p>
        </p:txBody>
      </p:sp>
      <p:sp>
        <p:nvSpPr>
          <p:cNvPr id="8" name="">
            <a:extLst xmlns:a="http://schemas.openxmlformats.org/drawingml/2006/main">
              <a:ext uri="{FF2B5EF4-FFF2-40B4-BE49-F238E27FC236}">
                <a16:creationId xmlns:a16="http://schemas.microsoft.com/office/drawing/2014/main" id="{0296E6A7-C01D-4DC2-B750-536C919F44DC}"/>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18</a:t>
            </a:r>
          </a:p>
        </p:txBody>
      </p:sp>
    </p:spTree>
    <p:extLst>
      <p:ext uri="{BB962C8B-B14F-4D97-AF65-F5344CB8AC3E}">
        <p14:creationId xmlns:p14="http://schemas.microsoft.com/office/powerpoint/2010/main" val="114797399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D05E14C-C97C-48E2-A4EE-3B62B4555C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AA7B17-A3A1-4076-9DEC-56ADF5C29E01}"/>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03  比較と実習への適用</a:t>
            </a:r>
          </a:p>
        </p:txBody>
      </p:sp>
      <p:sp>
        <p:nvSpPr>
          <p:cNvPr id="3" name="">
            <a:extLst xmlns:a="http://schemas.openxmlformats.org/drawingml/2006/main">
              <a:ext uri="{FF2B5EF4-FFF2-40B4-BE49-F238E27FC236}">
                <a16:creationId xmlns:a16="http://schemas.microsoft.com/office/drawing/2014/main" id="{D96DE6E5-B734-4156-BBE2-5B9EDCB7C47D}"/>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実習モデルでの評価案</a:t>
            </a:r>
          </a:p>
        </p:txBody>
      </p:sp>
      <p:sp>
        <p:nvSpPr>
          <p:cNvPr id="4" name="">
            <a:extLst xmlns:a="http://schemas.openxmlformats.org/drawingml/2006/main">
              <a:ext uri="{FF2B5EF4-FFF2-40B4-BE49-F238E27FC236}">
                <a16:creationId xmlns:a16="http://schemas.microsoft.com/office/drawing/2014/main" id="{D1FE7F1F-3A75-4D8A-A4F2-09F4B8ED2285}"/>
              </a:ext>
            </a:extLst>
          </p:cNvPr>
          <p:cNvSpPr>
            <a:spLocks xmlns:a="http://schemas.openxmlformats.org/drawingml/2006/main" noGrp="1"/>
          </p:cNvSpPr>
          <p:nvPr/>
        </p:nvSpPr>
        <p:spPr>
          <a:xfrm xmlns:a="http://schemas.openxmlformats.org/drawingml/2006/main">
            <a:off x="5238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01</a:t>
            </a:r>
          </a:p>
        </p:txBody>
      </p:sp>
      <p:sp>
        <p:nvSpPr>
          <p:cNvPr id="5" name="">
            <a:extLst xmlns:a="http://schemas.openxmlformats.org/drawingml/2006/main">
              <a:ext uri="{FF2B5EF4-FFF2-40B4-BE49-F238E27FC236}">
                <a16:creationId xmlns:a16="http://schemas.microsoft.com/office/drawing/2014/main" id="{0CA81F9C-0E29-48CC-A073-C1E5CFD303CD}"/>
              </a:ext>
            </a:extLst>
          </p:cNvPr>
          <p:cNvSpPr>
            <a:spLocks xmlns:a="http://schemas.openxmlformats.org/drawingml/2006/main" noGrp="1"/>
          </p:cNvSpPr>
          <p:nvPr/>
        </p:nvSpPr>
        <p:spPr>
          <a:xfrm xmlns:a="http://schemas.openxmlformats.org/drawingml/2006/main">
            <a:off x="5238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9384B"/>
                </a:solidFill>
                <a:latin typeface="Meiryo"/>
                <a:ea typeface="Meiryo"/>
                <a:cs typeface="Meiryo"/>
              </a:defRPr>
            </a:pPr>
            <a:r>
              <a:rPr sz="2100" b="1">
                <a:solidFill>
                  <a:srgbClr val="19384B"/>
                </a:solidFill>
                <a:latin typeface="Meiryo"/>
                <a:ea typeface="Meiryo"/>
                <a:cs typeface="Meiryo"/>
              </a:rPr>
              <a:t>データと閾値</a:t>
            </a:r>
          </a:p>
        </p:txBody>
      </p:sp>
      <p:sp>
        <p:nvSpPr>
          <p:cNvPr id="6" name="">
            <a:extLst xmlns:a="http://schemas.openxmlformats.org/drawingml/2006/main">
              <a:ext uri="{FF2B5EF4-FFF2-40B4-BE49-F238E27FC236}">
                <a16:creationId xmlns:a16="http://schemas.microsoft.com/office/drawing/2014/main" id="{20DE9CAC-A328-42B8-94DA-3150C830E5EA}"/>
              </a:ext>
            </a:extLst>
          </p:cNvPr>
          <p:cNvSpPr>
            <a:spLocks xmlns:a="http://schemas.openxmlformats.org/drawingml/2006/main" noGrp="1"/>
          </p:cNvSpPr>
          <p:nvPr/>
        </p:nvSpPr>
        <p:spPr>
          <a:xfrm xmlns:a="http://schemas.openxmlformats.org/drawingml/2006/main">
            <a:off x="5238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時間順に訓練・校正・テストを分離</a:t>
            </a:r>
          </a:p>
          <a:p xmlns:a="http://schemas.openxmlformats.org/drawingml/2006/main">
            <a:r>
              <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範囲外・低密度・未知の関係を区別</a:t>
            </a:r>
          </a:p>
          <a:p xmlns:a="http://schemas.openxmlformats.org/drawingml/2006/main">
            <a:r>
              <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校正データで閾値を固定し、テストで検知率と誤検知率を評価</a:t>
            </a:r>
          </a:p>
        </p:txBody>
      </p:sp>
      <p:sp>
        <p:nvSpPr>
          <p:cNvPr id="7" name="">
            <a:extLst xmlns:a="http://schemas.openxmlformats.org/drawingml/2006/main">
              <a:ext uri="{FF2B5EF4-FFF2-40B4-BE49-F238E27FC236}">
                <a16:creationId xmlns:a16="http://schemas.microsoft.com/office/drawing/2014/main" id="{D3EE3B90-B8D3-4492-9F52-2B714EDA4405}"/>
              </a:ext>
            </a:extLst>
          </p:cNvPr>
          <p:cNvSpPr>
            <a:spLocks xmlns:a="http://schemas.openxmlformats.org/drawingml/2006/main" noGrp="1"/>
          </p:cNvSpPr>
          <p:nvPr/>
        </p:nvSpPr>
        <p:spPr>
          <a:xfrm xmlns:a="http://schemas.openxmlformats.org/drawingml/2006/main">
            <a:off x="64293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02</a:t>
            </a:r>
          </a:p>
        </p:txBody>
      </p:sp>
      <p:sp>
        <p:nvSpPr>
          <p:cNvPr id="8" name="">
            <a:extLst xmlns:a="http://schemas.openxmlformats.org/drawingml/2006/main">
              <a:ext uri="{FF2B5EF4-FFF2-40B4-BE49-F238E27FC236}">
                <a16:creationId xmlns:a16="http://schemas.microsoft.com/office/drawing/2014/main" id="{A1F15316-C5A3-456F-99C0-A1CE1AF52035}"/>
              </a:ext>
            </a:extLst>
          </p:cNvPr>
          <p:cNvSpPr>
            <a:spLocks xmlns:a="http://schemas.openxmlformats.org/drawingml/2006/main" noGrp="1"/>
          </p:cNvSpPr>
          <p:nvPr/>
        </p:nvSpPr>
        <p:spPr>
          <a:xfrm xmlns:a="http://schemas.openxmlformats.org/drawingml/2006/main">
            <a:off x="64293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9384B"/>
                </a:solidFill>
                <a:latin typeface="Meiryo"/>
                <a:ea typeface="Meiryo"/>
                <a:cs typeface="Meiryo"/>
              </a:defRPr>
            </a:pPr>
            <a:r>
              <a:rPr sz="2100" b="1">
                <a:solidFill>
                  <a:srgbClr val="19384B"/>
                </a:solidFill>
                <a:latin typeface="Meiryo"/>
                <a:ea typeface="Meiryo"/>
                <a:cs typeface="Meiryo"/>
              </a:rPr>
              <a:t>運用上の有用性</a:t>
            </a:r>
          </a:p>
        </p:txBody>
      </p:sp>
      <p:sp>
        <p:nvSpPr>
          <p:cNvPr id="9" name="">
            <a:extLst xmlns:a="http://schemas.openxmlformats.org/drawingml/2006/main">
              <a:ext uri="{FF2B5EF4-FFF2-40B4-BE49-F238E27FC236}">
                <a16:creationId xmlns:a16="http://schemas.microsoft.com/office/drawing/2014/main" id="{B2867BB6-94C9-49B2-A792-C75405A97F1F}"/>
              </a:ext>
            </a:extLst>
          </p:cNvPr>
          <p:cNvSpPr>
            <a:spLocks xmlns:a="http://schemas.openxmlformats.org/drawingml/2006/main" noGrp="1"/>
          </p:cNvSpPr>
          <p:nvPr/>
        </p:nvSpPr>
        <p:spPr>
          <a:xfrm xmlns:a="http://schemas.openxmlformats.org/drawingml/2006/main">
            <a:off x="64293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学習外判定と回帰誤差の関係</a:t>
            </a:r>
          </a:p>
          <a:p xmlns:a="http://schemas.openxmlformats.org/drawingml/2006/main">
            <a:r>
              <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見逃した大誤差と、不要な警報の数</a:t>
            </a:r>
          </a:p>
          <a:p xmlns:a="http://schemas.openxmlformats.org/drawingml/2006/main">
            <a:r>
              <a:t/>
            </a:r>
          </a:p>
          <a:p xmlns:a="http://schemas.openxmlformats.org/drawingml/2006/main">
            <a:pPr>
              <a:defRPr sz="1875" b="0">
                <a:solidFill>
                  <a:srgbClr val="19384B"/>
                </a:solidFill>
                <a:latin typeface="Meiryo"/>
                <a:ea typeface="Meiryo"/>
                <a:cs typeface="Meiryo"/>
              </a:defRPr>
            </a:pPr>
            <a:r>
              <a:rPr sz="1875" b="0">
                <a:solidFill>
                  <a:srgbClr val="19384B"/>
                </a:solidFill>
                <a:latin typeface="Meiryo"/>
                <a:ea typeface="Meiryo"/>
                <a:cs typeface="Meiryo"/>
              </a:rPr>
              <a:t>推論時間・履歴長・検知遅延</a:t>
            </a:r>
          </a:p>
        </p:txBody>
      </p:sp>
      <p:sp>
        <p:nvSpPr>
          <p:cNvPr id="10" name="">
            <a:extLst xmlns:a="http://schemas.openxmlformats.org/drawingml/2006/main">
              <a:ext uri="{FF2B5EF4-FFF2-40B4-BE49-F238E27FC236}">
                <a16:creationId xmlns:a16="http://schemas.microsoft.com/office/drawing/2014/main" id="{437EE9C8-D903-49F7-98F1-D880BA9DD4F6}"/>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E9F5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FC12C71-A807-4C5C-B01F-2E301062AB9D}"/>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273C"/>
                </a:solidFill>
                <a:latin typeface="Meiryo"/>
                <a:ea typeface="Meiryo"/>
                <a:cs typeface="Meiryo"/>
              </a:defRPr>
            </a:pPr>
            <a:r>
              <a:rPr sz="1575" b="1">
                <a:solidFill>
                  <a:srgbClr val="08273C"/>
                </a:solidFill>
                <a:latin typeface="Meiryo"/>
                <a:ea typeface="Meiryo"/>
                <a:cs typeface="Meiryo"/>
              </a:rPr>
              <a:t>正解がない場合は、留出した運転条件・合成変化・専門家確認を併用する</a:t>
            </a:r>
          </a:p>
        </p:txBody>
      </p:sp>
      <p:sp>
        <p:nvSpPr>
          <p:cNvPr id="12" name="">
            <a:extLst xmlns:a="http://schemas.openxmlformats.org/drawingml/2006/main">
              <a:ext uri="{FF2B5EF4-FFF2-40B4-BE49-F238E27FC236}">
                <a16:creationId xmlns:a16="http://schemas.microsoft.com/office/drawing/2014/main" id="{DE9F0BC6-8DA9-46DA-A89E-BF6259A596DF}"/>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実習要求、山原の評価観点を基にした提案。実施結果ではない</a:t>
            </a:r>
          </a:p>
        </p:txBody>
      </p:sp>
      <p:sp>
        <p:nvSpPr>
          <p:cNvPr id="13" name="">
            <a:extLst xmlns:a="http://schemas.openxmlformats.org/drawingml/2006/main">
              <a:ext uri="{FF2B5EF4-FFF2-40B4-BE49-F238E27FC236}">
                <a16:creationId xmlns:a16="http://schemas.microsoft.com/office/drawing/2014/main" id="{48B5ABED-E580-40A7-9E77-4169A858EE79}"/>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19</a:t>
            </a:r>
          </a:p>
        </p:txBody>
      </p:sp>
    </p:spTree>
    <p:extLst>
      <p:ext uri="{BB962C8B-B14F-4D97-AF65-F5344CB8AC3E}">
        <p14:creationId xmlns:p14="http://schemas.microsoft.com/office/powerpoint/2010/main" val="101252260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1F50421-6DAC-4053-9BE5-1471C1FB85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273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49BCCC-98EB-4502-9D86-8D234DECE42E}"/>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03  比較と実習への適用</a:t>
            </a:r>
          </a:p>
        </p:txBody>
      </p:sp>
      <p:sp>
        <p:nvSpPr>
          <p:cNvPr id="3" name="">
            <a:extLst xmlns:a="http://schemas.openxmlformats.org/drawingml/2006/main">
              <a:ext uri="{FF2B5EF4-FFF2-40B4-BE49-F238E27FC236}">
                <a16:creationId xmlns:a16="http://schemas.microsoft.com/office/drawing/2014/main" id="{E357ADE8-50DF-439E-B252-7D4C625DE7F1}"/>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FFFFFF"/>
                </a:solidFill>
                <a:latin typeface="Meiryo"/>
                <a:ea typeface="Meiryo"/>
                <a:cs typeface="Meiryo"/>
              </a:defRPr>
            </a:pPr>
            <a:r>
              <a:rPr sz="2550" b="1">
                <a:solidFill>
                  <a:srgbClr val="FFFFFF"/>
                </a:solidFill>
                <a:latin typeface="Meiryo"/>
                <a:ea typeface="Meiryo"/>
                <a:cs typeface="Meiryo"/>
              </a:rPr>
              <a:t>現時点の整理と次の確認事項</a:t>
            </a:r>
          </a:p>
        </p:txBody>
      </p:sp>
      <p:sp>
        <p:nvSpPr>
          <p:cNvPr id="4" name="">
            <a:extLst xmlns:a="http://schemas.openxmlformats.org/drawingml/2006/main">
              <a:ext uri="{FF2B5EF4-FFF2-40B4-BE49-F238E27FC236}">
                <a16:creationId xmlns:a16="http://schemas.microsoft.com/office/drawing/2014/main" id="{2DA9C43B-B746-43D9-8A36-ECD11797CB6B}"/>
              </a:ext>
            </a:extLst>
          </p:cNvPr>
          <p:cNvSpPr>
            <a:spLocks xmlns:a="http://schemas.openxmlformats.org/drawingml/2006/main" noGrp="1"/>
          </p:cNvSpPr>
          <p:nvPr/>
        </p:nvSpPr>
        <p:spPr>
          <a:xfrm xmlns:a="http://schemas.openxmlformats.org/drawingml/2006/main">
            <a:off x="5238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01</a:t>
            </a:r>
          </a:p>
        </p:txBody>
      </p:sp>
      <p:sp>
        <p:nvSpPr>
          <p:cNvPr id="5" name="">
            <a:extLst xmlns:a="http://schemas.openxmlformats.org/drawingml/2006/main">
              <a:ext uri="{FF2B5EF4-FFF2-40B4-BE49-F238E27FC236}">
                <a16:creationId xmlns:a16="http://schemas.microsoft.com/office/drawing/2014/main" id="{1B27F3D2-2086-4ABC-AFEE-6F40BE2B0C90}"/>
              </a:ext>
            </a:extLst>
          </p:cNvPr>
          <p:cNvSpPr>
            <a:spLocks xmlns:a="http://schemas.openxmlformats.org/drawingml/2006/main" noGrp="1"/>
          </p:cNvSpPr>
          <p:nvPr/>
        </p:nvSpPr>
        <p:spPr>
          <a:xfrm xmlns:a="http://schemas.openxmlformats.org/drawingml/2006/main">
            <a:off x="5238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FFFF"/>
                </a:solidFill>
                <a:latin typeface="Meiryo"/>
                <a:ea typeface="Meiryo"/>
                <a:cs typeface="Meiryo"/>
              </a:defRPr>
            </a:pPr>
            <a:r>
              <a:rPr sz="2100" b="1">
                <a:solidFill>
                  <a:srgbClr val="FFFFFF"/>
                </a:solidFill>
                <a:latin typeface="Meiryo"/>
                <a:ea typeface="Meiryo"/>
                <a:cs typeface="Meiryo"/>
              </a:rPr>
              <a:t>文献から得られたこと</a:t>
            </a:r>
          </a:p>
        </p:txBody>
      </p:sp>
      <p:sp>
        <p:nvSpPr>
          <p:cNvPr id="6" name="">
            <a:extLst xmlns:a="http://schemas.openxmlformats.org/drawingml/2006/main">
              <a:ext uri="{FF2B5EF4-FFF2-40B4-BE49-F238E27FC236}">
                <a16:creationId xmlns:a16="http://schemas.microsoft.com/office/drawing/2014/main" id="{D06177F4-F4EE-4429-9D81-3879ECB9DA5B}"/>
              </a:ext>
            </a:extLst>
          </p:cNvPr>
          <p:cNvSpPr>
            <a:spLocks xmlns:a="http://schemas.openxmlformats.org/drawingml/2006/main" noGrp="1"/>
          </p:cNvSpPr>
          <p:nvPr/>
        </p:nvSpPr>
        <p:spPr>
          <a:xfrm xmlns:a="http://schemas.openxmlformats.org/drawingml/2006/main">
            <a:off x="5238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1時刻の多変量入力でも検知は可能。</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範囲・変数関係・予測タスクとの関係を分けて比較できる。</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異常検知の評価だけでは、回帰の安全性を保証できない。</a:t>
            </a:r>
          </a:p>
        </p:txBody>
      </p:sp>
      <p:sp>
        <p:nvSpPr>
          <p:cNvPr id="7" name="">
            <a:extLst xmlns:a="http://schemas.openxmlformats.org/drawingml/2006/main">
              <a:ext uri="{FF2B5EF4-FFF2-40B4-BE49-F238E27FC236}">
                <a16:creationId xmlns:a16="http://schemas.microsoft.com/office/drawing/2014/main" id="{10067946-288C-48F7-BE9C-545F8772BA7E}"/>
              </a:ext>
            </a:extLst>
          </p:cNvPr>
          <p:cNvSpPr>
            <a:spLocks xmlns:a="http://schemas.openxmlformats.org/drawingml/2006/main" noGrp="1"/>
          </p:cNvSpPr>
          <p:nvPr/>
        </p:nvSpPr>
        <p:spPr>
          <a:xfrm xmlns:a="http://schemas.openxmlformats.org/drawingml/2006/main">
            <a:off x="6429375" y="15811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008E99"/>
                </a:solidFill>
                <a:latin typeface="Meiryo"/>
                <a:ea typeface="Meiryo"/>
                <a:cs typeface="Meiryo"/>
              </a:defRPr>
            </a:pPr>
            <a:r>
              <a:rPr sz="3600" b="1">
                <a:solidFill>
                  <a:srgbClr val="008E99"/>
                </a:solidFill>
                <a:latin typeface="Meiryo"/>
                <a:ea typeface="Meiryo"/>
                <a:cs typeface="Meiryo"/>
              </a:rPr>
              <a:t>02</a:t>
            </a:r>
          </a:p>
        </p:txBody>
      </p:sp>
      <p:sp>
        <p:nvSpPr>
          <p:cNvPr id="8" name="">
            <a:extLst xmlns:a="http://schemas.openxmlformats.org/drawingml/2006/main">
              <a:ext uri="{FF2B5EF4-FFF2-40B4-BE49-F238E27FC236}">
                <a16:creationId xmlns:a16="http://schemas.microsoft.com/office/drawing/2014/main" id="{4E6188C5-4C7C-4897-BB21-5E58DF6655D1}"/>
              </a:ext>
            </a:extLst>
          </p:cNvPr>
          <p:cNvSpPr>
            <a:spLocks xmlns:a="http://schemas.openxmlformats.org/drawingml/2006/main" noGrp="1"/>
          </p:cNvSpPr>
          <p:nvPr/>
        </p:nvSpPr>
        <p:spPr>
          <a:xfrm xmlns:a="http://schemas.openxmlformats.org/drawingml/2006/main">
            <a:off x="6429375" y="2352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FFFF"/>
                </a:solidFill>
                <a:latin typeface="Meiryo"/>
                <a:ea typeface="Meiryo"/>
                <a:cs typeface="Meiryo"/>
              </a:defRPr>
            </a:pPr>
            <a:r>
              <a:rPr sz="2100" b="1">
                <a:solidFill>
                  <a:srgbClr val="FFFFFF"/>
                </a:solidFill>
                <a:latin typeface="Meiryo"/>
                <a:ea typeface="Meiryo"/>
                <a:cs typeface="Meiryo"/>
              </a:rPr>
              <a:t>次に確認すること</a:t>
            </a:r>
          </a:p>
        </p:txBody>
      </p:sp>
      <p:sp>
        <p:nvSpPr>
          <p:cNvPr id="9" name="">
            <a:extLst xmlns:a="http://schemas.openxmlformats.org/drawingml/2006/main">
              <a:ext uri="{FF2B5EF4-FFF2-40B4-BE49-F238E27FC236}">
                <a16:creationId xmlns:a16="http://schemas.microsoft.com/office/drawing/2014/main" id="{9CE6C02D-B355-4539-8572-48D40DBD8CFA}"/>
              </a:ext>
            </a:extLst>
          </p:cNvPr>
          <p:cNvSpPr>
            <a:spLocks xmlns:a="http://schemas.openxmlformats.org/drawingml/2006/main" noGrp="1"/>
          </p:cNvSpPr>
          <p:nvPr/>
        </p:nvSpPr>
        <p:spPr>
          <a:xfrm xmlns:a="http://schemas.openxmlformats.org/drawingml/2006/main">
            <a:off x="6429375" y="3057525"/>
            <a:ext cx="52387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実際の入力変数・回帰器・履歴の仕様</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閾値と評価ラベルの統一</a:t>
            </a:r>
          </a:p>
          <a:p xmlns:a="http://schemas.openxmlformats.org/drawingml/2006/main">
            <a:r>
              <a:t/>
            </a:r>
          </a:p>
          <a:p xmlns:a="http://schemas.openxmlformats.org/drawingml/2006/main">
            <a:pPr>
              <a:defRPr sz="1875" b="0">
                <a:solidFill>
                  <a:srgbClr val="DAE8EE"/>
                </a:solidFill>
                <a:latin typeface="Meiryo"/>
                <a:ea typeface="Meiryo"/>
                <a:cs typeface="Meiryo"/>
              </a:defRPr>
            </a:pPr>
            <a:r>
              <a:rPr sz="1875" b="0">
                <a:solidFill>
                  <a:srgbClr val="DAE8EE"/>
                </a:solidFill>
                <a:latin typeface="Meiryo"/>
                <a:ea typeface="Meiryo"/>
                <a:cs typeface="Meiryo"/>
              </a:rPr>
              <a:t>予測不確かさ・時間的分布変化の原論文を追加調査</a:t>
            </a:r>
          </a:p>
        </p:txBody>
      </p:sp>
      <p:sp>
        <p:nvSpPr>
          <p:cNvPr id="10" name="">
            <a:extLst xmlns:a="http://schemas.openxmlformats.org/drawingml/2006/main">
              <a:ext uri="{FF2B5EF4-FFF2-40B4-BE49-F238E27FC236}">
                <a16:creationId xmlns:a16="http://schemas.microsoft.com/office/drawing/2014/main" id="{061801ED-2FCC-4E74-9A18-7E5A848D39BB}"/>
              </a:ext>
            </a:extLst>
          </p:cNvPr>
          <p:cNvSpPr>
            <a:spLocks xmlns:a="http://schemas.openxmlformats.org/drawingml/2006/main" noGrp="1"/>
          </p:cNvSpPr>
          <p:nvPr/>
        </p:nvSpPr>
        <p:spPr>
          <a:xfrm xmlns:a="http://schemas.openxmlformats.org/drawingml/2006/main">
            <a:off x="381000" y="5848350"/>
            <a:ext cx="11430000" cy="409575"/>
          </a:xfrm>
          <a:prstGeom xmlns:a="http://schemas.openxmlformats.org/drawingml/2006/main" prst="rect">
            <a:avLst/>
          </a:prstGeom>
          <a:solidFill xmlns:a="http://schemas.openxmlformats.org/drawingml/2006/main">
            <a:srgbClr val="16425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B47A737-8955-43CC-858C-DF62E4B91A24}"/>
              </a:ext>
            </a:extLst>
          </p:cNvPr>
          <p:cNvSpPr>
            <a:spLocks xmlns:a="http://schemas.openxmlformats.org/drawingml/2006/main" noGrp="1"/>
          </p:cNvSpPr>
          <p:nvPr/>
        </p:nvSpPr>
        <p:spPr>
          <a:xfrm xmlns:a="http://schemas.openxmlformats.org/drawingml/2006/main">
            <a:off x="514350" y="5924550"/>
            <a:ext cx="1118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FFFFFF"/>
                </a:solidFill>
                <a:latin typeface="Meiryo"/>
                <a:ea typeface="Meiryo"/>
                <a:cs typeface="Meiryo"/>
              </a:defRPr>
            </a:pPr>
            <a:r>
              <a:rPr sz="1575" b="1">
                <a:solidFill>
                  <a:srgbClr val="FFFFFF"/>
                </a:solidFill>
                <a:latin typeface="Meiryo"/>
                <a:ea typeface="Meiryo"/>
                <a:cs typeface="Meiryo"/>
              </a:rPr>
              <a:t>山原の基準手法、AE系、OutProを比較候補として検討する</a:t>
            </a:r>
          </a:p>
        </p:txBody>
      </p:sp>
      <p:sp>
        <p:nvSpPr>
          <p:cNvPr id="12" name="">
            <a:extLst xmlns:a="http://schemas.openxmlformats.org/drawingml/2006/main">
              <a:ext uri="{FF2B5EF4-FFF2-40B4-BE49-F238E27FC236}">
                <a16:creationId xmlns:a16="http://schemas.microsoft.com/office/drawing/2014/main" id="{B6A0A294-F241-4DDB-B33A-8790503D053F}"/>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A9C5D0"/>
                </a:solidFill>
                <a:latin typeface="Meiryo"/>
                <a:ea typeface="Meiryo"/>
                <a:cs typeface="Meiryo"/>
              </a:defRPr>
            </a:pPr>
            <a:r>
              <a:rPr sz="825" b="0">
                <a:solidFill>
                  <a:srgbClr val="A9C5D0"/>
                </a:solidFill>
                <a:latin typeface="Meiryo"/>
                <a:ea typeface="Meiryo"/>
                <a:cs typeface="Meiryo"/>
              </a:rPr>
              <a:t>本調査の整理。最適手法の決定や実データでの検証は今後の課題</a:t>
            </a:r>
          </a:p>
        </p:txBody>
      </p:sp>
      <p:sp>
        <p:nvSpPr>
          <p:cNvPr id="13" name="">
            <a:extLst xmlns:a="http://schemas.openxmlformats.org/drawingml/2006/main">
              <a:ext uri="{FF2B5EF4-FFF2-40B4-BE49-F238E27FC236}">
                <a16:creationId xmlns:a16="http://schemas.microsoft.com/office/drawing/2014/main" id="{294C5DEC-1C45-45FC-8BFA-6E30F62F9470}"/>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20</a:t>
            </a:r>
          </a:p>
        </p:txBody>
      </p:sp>
    </p:spTree>
    <p:extLst>
      <p:ext uri="{BB962C8B-B14F-4D97-AF65-F5344CB8AC3E}">
        <p14:creationId xmlns:p14="http://schemas.microsoft.com/office/powerpoint/2010/main" val="80212011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925D70-94FC-45AA-9911-486E846D867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3B35FD-34C0-4987-8E78-5815802C72AD}"/>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3" name="">
            <a:extLst xmlns:a="http://schemas.openxmlformats.org/drawingml/2006/main">
              <a:ext uri="{FF2B5EF4-FFF2-40B4-BE49-F238E27FC236}">
                <a16:creationId xmlns:a16="http://schemas.microsoft.com/office/drawing/2014/main" id="{66D31EBE-5959-415E-B1B9-7C2A6B553654}"/>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付録A　各論文の分類を並べて読む</a:t>
            </a:r>
          </a:p>
        </p:txBody>
      </p:sp>
      <p:graphicFrame>
        <p:nvGraphicFramePr>
          <p:cNvPr id="10" name=""/>
          <p:cNvGraphicFramePr/>
          <p:nvPr/>
        </p:nvGraphicFramePr>
        <p:xfrm>
          <a:off xmlns:a="http://schemas.openxmlformats.org/drawingml/2006/main" x="476250" y="1476375"/>
          <a:ext xmlns:a="http://schemas.openxmlformats.org/drawingml/2006/main" cx="11239500" cy="4000500"/>
        </p:xfrm>
        <a:graphic xmlns:a="http://schemas.openxmlformats.org/drawingml/2006/main">
          <a:graphicData uri="http://schemas.openxmlformats.org/drawingml/2006/table">
            <a:tbl>
              <a:tblPr/>
              <a:tblGrid>
                <a:gridCol w="1928115"/>
                <a:gridCol w="4232448"/>
                <a:gridCol w="5078937"/>
              </a:tblGrid>
              <a:tr h="666750">
                <a:tc>
                  <a:txBody>
                    <a:bodyPr/>
                    <a:lstStyle/>
                    <a:p>
                      <a:r>
                        <a:rPr sz="1650" b="1">
                          <a:solidFill>
                            <a:srgbClr val="FFFFFF"/>
                          </a:solidFill>
                          <a:latin typeface="Meiryo"/>
                          <a:ea typeface="Meiryo"/>
                          <a:cs typeface="Meiryo"/>
                        </a:rPr>
                        <a:t>出典</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上位の整理</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詳細・注意点</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S1 §3.2</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Point / Contextual / Collective</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文脈には他変数との関係も含まれる</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S3 §2</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入力 / 外れ値の種類 / 手法の性質</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単変量・多変量、点・部分列・系列</a:t>
                      </a:r>
                    </a:p>
                    <a:p>
                      <a:r>
                        <a:rPr sz="1650" b="0">
                          <a:solidFill>
                            <a:srgbClr val="19384B"/>
                          </a:solidFill>
                          <a:latin typeface="Meiryo"/>
                          <a:ea typeface="Meiryo"/>
                          <a:cs typeface="Meiryo"/>
                        </a:rPr>
                        <a:t>時間順序とstreamingも別途確認</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S6 §2.2</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Intra-metric</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Global / Local point</a:t>
                      </a:r>
                    </a:p>
                    <a:p>
                      <a:r>
                        <a:rPr sz="1650" b="0">
                          <a:solidFill>
                            <a:srgbClr val="19384B"/>
                          </a:solidFill>
                          <a:latin typeface="Meiryo"/>
                          <a:ea typeface="Meiryo"/>
                          <a:cs typeface="Meiryo"/>
                        </a:rPr>
                        <a:t>Shapelet / Trend / Cycle</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S6 §2.2</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Inter-metric</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Global / Local / Temporal-local</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S6 §3</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Forecasting / Reconstruction / Contrastive</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ネットワーク構造、学習形態、</a:t>
                      </a:r>
                    </a:p>
                    <a:p>
                      <a:r>
                        <a:rPr sz="1650" b="0">
                          <a:solidFill>
                            <a:srgbClr val="19384B"/>
                          </a:solidFill>
                          <a:latin typeface="Meiryo"/>
                          <a:ea typeface="Meiryo"/>
                          <a:cs typeface="Meiryo"/>
                        </a:rPr>
                        <a:t>時間・周波数領域、Point / Window</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D9853946-9F4E-45DE-89B2-B80CB8B37909}"/>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S1 §3–4、S3 §2–3、S6 §2–3</a:t>
            </a:r>
          </a:p>
        </p:txBody>
      </p:sp>
      <p:sp>
        <p:nvSpPr>
          <p:cNvPr id="6" name="">
            <a:extLst xmlns:a="http://schemas.openxmlformats.org/drawingml/2006/main">
              <a:ext uri="{FF2B5EF4-FFF2-40B4-BE49-F238E27FC236}">
                <a16:creationId xmlns:a16="http://schemas.microsoft.com/office/drawing/2014/main" id="{FA3C82CF-B38F-4D39-BF95-99843C232B99}"/>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21</a:t>
            </a:r>
          </a:p>
        </p:txBody>
      </p:sp>
    </p:spTree>
    <p:extLst>
      <p:ext uri="{BB962C8B-B14F-4D97-AF65-F5344CB8AC3E}">
        <p14:creationId xmlns:p14="http://schemas.microsoft.com/office/powerpoint/2010/main" val="179492376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8B4760-1BAF-4357-9F60-CF8D684E5E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E7675A-0C63-403A-9287-17C5CD4E30D2}"/>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3" name="">
            <a:extLst xmlns:a="http://schemas.openxmlformats.org/drawingml/2006/main">
              <a:ext uri="{FF2B5EF4-FFF2-40B4-BE49-F238E27FC236}">
                <a16:creationId xmlns:a16="http://schemas.microsoft.com/office/drawing/2014/main" id="{43A2B2F9-DEDD-4FF9-A3EC-C514C489DF06}"/>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付録B　OutProの情報要件と未確認事項</a:t>
            </a:r>
          </a:p>
        </p:txBody>
      </p:sp>
      <p:graphicFrame>
        <p:nvGraphicFramePr>
          <p:cNvPr id="10" name=""/>
          <p:cNvGraphicFramePr/>
          <p:nvPr/>
        </p:nvGraphicFramePr>
        <p:xfrm>
          <a:off xmlns:a="http://schemas.openxmlformats.org/drawingml/2006/main" x="476250" y="1476375"/>
          <a:ext xmlns:a="http://schemas.openxmlformats.org/drawingml/2006/main" cx="11239500" cy="4000500"/>
        </p:xfrm>
        <a:graphic xmlns:a="http://schemas.openxmlformats.org/drawingml/2006/main">
          <a:graphicData uri="http://schemas.openxmlformats.org/drawingml/2006/table">
            <a:tbl>
              <a:tblPr/>
              <a:tblGrid>
                <a:gridCol w="2210278"/>
                <a:gridCol w="9029222"/>
              </a:tblGrid>
              <a:tr h="666750">
                <a:tc>
                  <a:txBody>
                    <a:bodyPr/>
                    <a:lstStyle/>
                    <a:p>
                      <a:r>
                        <a:rPr sz="1650" b="1">
                          <a:solidFill>
                            <a:srgbClr val="FFFFFF"/>
                          </a:solidFill>
                          <a:latin typeface="Meiryo"/>
                          <a:ea typeface="Meiryo"/>
                          <a:cs typeface="Meiryo"/>
                        </a:rPr>
                        <a:t>項目</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整理内容</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必要情報</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訓練：IDのX,Y、教師あり森林、VarPro</a:t>
                      </a:r>
                    </a:p>
                    <a:p>
                      <a:r>
                        <a:rPr sz="1650" b="0">
                          <a:solidFill>
                            <a:srgbClr val="19384B"/>
                          </a:solidFill>
                          <a:latin typeface="Meiryo"/>
                          <a:ea typeface="Meiryo"/>
                          <a:cs typeface="Meiryo"/>
                        </a:rPr>
                        <a:t>運用：現在のX、森林ルール、参照訓練点</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スコア</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通常は選択変数S上でK近傍への距離を平均</a:t>
                      </a:r>
                    </a:p>
                    <a:p>
                      <a:r>
                        <a:rPr sz="1650" b="0">
                          <a:solidFill>
                            <a:srgbClr val="19384B"/>
                          </a:solidFill>
                          <a:latin typeface="Meiryo"/>
                          <a:ea typeface="Meiryo"/>
                          <a:cs typeface="Meiryo"/>
                        </a:rPr>
                        <a:t>OPTICS版は到達可能性のスコアを使用</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近傍の選び方</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変数制約を解放した領域内の出現回数と</a:t>
                      </a:r>
                    </a:p>
                    <a:p>
                      <a:r>
                        <a:rPr sz="1650" b="0">
                          <a:solidFill>
                            <a:srgbClr val="19384B"/>
                          </a:solidFill>
                          <a:latin typeface="Meiryo"/>
                          <a:ea typeface="Meiryo"/>
                          <a:cs typeface="Meiryo"/>
                        </a:rPr>
                        <a:t>変数間の頻度分布を用いて順位付け</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閾値</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AUC-PR評価は閾値を固定しない</a:t>
                      </a:r>
                    </a:p>
                    <a:p>
                      <a:r>
                        <a:rPr sz="1650" b="0">
                          <a:solidFill>
                            <a:srgbClr val="19384B"/>
                          </a:solidFill>
                          <a:latin typeface="Meiryo"/>
                          <a:ea typeface="Meiryo"/>
                          <a:cs typeface="Meiryo"/>
                        </a:rPr>
                        <a:t>臨床例の分位値は実習へ直接転用しない</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制約</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森林による変数選択に依存、時間依存を未評価</a:t>
                      </a:r>
                    </a:p>
                    <a:p>
                      <a:r>
                        <a:rPr sz="1650" b="0">
                          <a:solidFill>
                            <a:srgbClr val="19384B"/>
                          </a:solidFill>
                          <a:latin typeface="Meiryo"/>
                          <a:ea typeface="Meiryo"/>
                          <a:cs typeface="Meiryo"/>
                        </a:rPr>
                        <a:t>純粋なconcept shiftは検知対象外</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3AED8C04-3C2D-40F9-93B6-ED2530AEA8EE}"/>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13 §3、§5、§6、§7</a:t>
            </a:r>
          </a:p>
        </p:txBody>
      </p:sp>
      <p:sp>
        <p:nvSpPr>
          <p:cNvPr id="6" name="">
            <a:extLst xmlns:a="http://schemas.openxmlformats.org/drawingml/2006/main">
              <a:ext uri="{FF2B5EF4-FFF2-40B4-BE49-F238E27FC236}">
                <a16:creationId xmlns:a16="http://schemas.microsoft.com/office/drawing/2014/main" id="{F412C06E-E68F-4863-85D4-7F185BA3C034}"/>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22</a:t>
            </a:r>
          </a:p>
        </p:txBody>
      </p:sp>
    </p:spTree>
    <p:extLst>
      <p:ext uri="{BB962C8B-B14F-4D97-AF65-F5344CB8AC3E}">
        <p14:creationId xmlns:p14="http://schemas.microsoft.com/office/powerpoint/2010/main" val="6098010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93DEE4-319E-44D4-B724-5376940E68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DDC1E5-50D1-4F41-9A8C-46E68B4E32C4}"/>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3" name="">
            <a:extLst xmlns:a="http://schemas.openxmlformats.org/drawingml/2006/main">
              <a:ext uri="{FF2B5EF4-FFF2-40B4-BE49-F238E27FC236}">
                <a16:creationId xmlns:a16="http://schemas.microsoft.com/office/drawing/2014/main" id="{78190894-15A8-4C4A-B961-33CDD8C51DBB}"/>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付録C　AE系の情報要件と未確認事項</a:t>
            </a:r>
          </a:p>
        </p:txBody>
      </p:sp>
      <p:graphicFrame>
        <p:nvGraphicFramePr>
          <p:cNvPr id="10" name=""/>
          <p:cNvGraphicFramePr/>
          <p:nvPr/>
        </p:nvGraphicFramePr>
        <p:xfrm>
          <a:off xmlns:a="http://schemas.openxmlformats.org/drawingml/2006/main" x="476250" y="1476375"/>
          <a:ext xmlns:a="http://schemas.openxmlformats.org/drawingml/2006/main" cx="11239500" cy="4000500"/>
        </p:xfrm>
        <a:graphic xmlns:a="http://schemas.openxmlformats.org/drawingml/2006/main">
          <a:graphicData uri="http://schemas.openxmlformats.org/drawingml/2006/table">
            <a:tbl>
              <a:tblPr/>
              <a:tblGrid>
                <a:gridCol w="2210278"/>
                <a:gridCol w="9029222"/>
              </a:tblGrid>
              <a:tr h="666750">
                <a:tc>
                  <a:txBody>
                    <a:bodyPr/>
                    <a:lstStyle/>
                    <a:p>
                      <a:r>
                        <a:rPr sz="1650" b="1">
                          <a:solidFill>
                            <a:srgbClr val="FFFFFF"/>
                          </a:solidFill>
                          <a:latin typeface="Meiryo"/>
                          <a:ea typeface="Meiryo"/>
                          <a:cs typeface="Meiryo"/>
                        </a:rPr>
                        <a:t>項目</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整理内容</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必要情報</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訓練：正常なX</a:t>
                      </a:r>
                    </a:p>
                    <a:p>
                      <a:r>
                        <a:rPr sz="1650" b="0">
                          <a:solidFill>
                            <a:srgbClr val="19384B"/>
                          </a:solidFill>
                          <a:latin typeface="Meiryo"/>
                          <a:ea typeface="Meiryo"/>
                          <a:cs typeface="Meiryo"/>
                        </a:rPr>
                        <a:t>運用：現在のXと学習済みAE</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スコア</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元の観測空間での再構成誤差のL2ノルム</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学習設定</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通常AEと、入力の一部を0にするノイズ除去AEを比較</a:t>
                      </a:r>
                    </a:p>
                    <a:p>
                      <a:r>
                        <a:rPr sz="1650" b="0">
                          <a:solidFill>
                            <a:srgbClr val="19384B"/>
                          </a:solidFill>
                          <a:latin typeface="Meiryo"/>
                          <a:ea typeface="Meiryo"/>
                          <a:cs typeface="Meiryo"/>
                        </a:rPr>
                        <a:t>潜在次元などのパラメータは手動で調整</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評価と閾値</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合成・衛星データで平均AUCを報告</a:t>
                      </a:r>
                    </a:p>
                    <a:p>
                      <a:r>
                        <a:rPr sz="1650" b="0">
                          <a:solidFill>
                            <a:srgbClr val="19384B"/>
                          </a:solidFill>
                          <a:latin typeface="Meiryo"/>
                          <a:ea typeface="Meiryo"/>
                          <a:cs typeface="Meiryo"/>
                        </a:rPr>
                        <a:t>運用向けの汎用的な閾値決定手順は未提示</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制約</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正常時の関係を学習できることが前提</a:t>
                      </a:r>
                    </a:p>
                    <a:p>
                      <a:r>
                        <a:rPr sz="1650" b="0">
                          <a:solidFill>
                            <a:srgbClr val="19384B"/>
                          </a:solidFill>
                          <a:latin typeface="Meiryo"/>
                          <a:ea typeface="Meiryo"/>
                          <a:cs typeface="Meiryo"/>
                        </a:rPr>
                        <a:t>低密度の全領域や大回帰誤差を必ず検知する保証はない</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11179A2B-A47F-42A3-ABF7-276B475AED86}"/>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14 §3–6、Table 1</a:t>
            </a:r>
          </a:p>
        </p:txBody>
      </p:sp>
      <p:sp>
        <p:nvSpPr>
          <p:cNvPr id="6" name="">
            <a:extLst xmlns:a="http://schemas.openxmlformats.org/drawingml/2006/main">
              <a:ext uri="{FF2B5EF4-FFF2-40B4-BE49-F238E27FC236}">
                <a16:creationId xmlns:a16="http://schemas.microsoft.com/office/drawing/2014/main" id="{5AD0D8A9-80AD-4750-9362-FCFC94C3704E}"/>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23</a:t>
            </a:r>
          </a:p>
        </p:txBody>
      </p:sp>
    </p:spTree>
    <p:extLst>
      <p:ext uri="{BB962C8B-B14F-4D97-AF65-F5344CB8AC3E}">
        <p14:creationId xmlns:p14="http://schemas.microsoft.com/office/powerpoint/2010/main" val="181008947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9F481A-41CE-4200-B23E-20C61241C6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3925CF-58AA-43C0-84DA-C328273783E2}"/>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3" name="">
            <a:extLst xmlns:a="http://schemas.openxmlformats.org/drawingml/2006/main">
              <a:ext uri="{FF2B5EF4-FFF2-40B4-BE49-F238E27FC236}">
                <a16:creationId xmlns:a16="http://schemas.microsoft.com/office/drawing/2014/main" id="{CB93E192-CE75-4405-B2E3-5726B81B8703}"/>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付録D　データセット情報の確認状況</a:t>
            </a:r>
          </a:p>
        </p:txBody>
      </p:sp>
      <p:graphicFrame>
        <p:nvGraphicFramePr>
          <p:cNvPr id="10" name=""/>
          <p:cNvGraphicFramePr/>
          <p:nvPr/>
        </p:nvGraphicFramePr>
        <p:xfrm>
          <a:off xmlns:a="http://schemas.openxmlformats.org/drawingml/2006/main" x="476250" y="1476375"/>
          <a:ext xmlns:a="http://schemas.openxmlformats.org/drawingml/2006/main" cx="11239500" cy="4000500"/>
        </p:xfrm>
        <a:graphic xmlns:a="http://schemas.openxmlformats.org/drawingml/2006/main">
          <a:graphicData uri="http://schemas.openxmlformats.org/drawingml/2006/table">
            <a:tbl>
              <a:tblPr/>
              <a:tblGrid>
                <a:gridCol w="3150822"/>
                <a:gridCol w="5220019"/>
                <a:gridCol w="2868659"/>
              </a:tblGrid>
              <a:tr h="666750">
                <a:tc>
                  <a:txBody>
                    <a:bodyPr/>
                    <a:lstStyle/>
                    <a:p>
                      <a:r>
                        <a:rPr sz="1650" b="1">
                          <a:solidFill>
                            <a:srgbClr val="FFFFFF"/>
                          </a:solidFill>
                          <a:latin typeface="Meiryo"/>
                          <a:ea typeface="Meiryo"/>
                          <a:cs typeface="Meiryo"/>
                        </a:rPr>
                        <a:t>データ</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論文に記載された規模・分割</a:t>
                      </a:r>
                    </a:p>
                  </a:txBody>
                  <a:tcPr marL="114300" marR="95250" marT="85725" marB="66675" anchor="ctr">
                    <a:solidFill>
                      <a:srgbClr val="08273C"/>
                    </a:solidFill>
                  </a:tcPr>
                </a:tc>
                <a:tc>
                  <a:txBody>
                    <a:bodyPr/>
                    <a:lstStyle/>
                    <a:p>
                      <a:r>
                        <a:rPr sz="1650" b="1">
                          <a:solidFill>
                            <a:srgbClr val="FFFFFF"/>
                          </a:solidFill>
                          <a:latin typeface="Meiryo"/>
                          <a:ea typeface="Meiryo"/>
                          <a:cs typeface="Meiryo"/>
                        </a:rPr>
                        <a:t>追加確認</a:t>
                      </a:r>
                    </a:p>
                  </a:txBody>
                  <a:tcPr marL="114300" marR="95250" marT="85725" marB="66675" anchor="ctr">
                    <a:solidFill>
                      <a:srgbClr val="08273C"/>
                    </a:solidFill>
                  </a:tcPr>
                </a:tc>
              </a:tr>
              <a:tr h="666750">
                <a:tc>
                  <a:txBody>
                    <a:bodyPr/>
                    <a:lstStyle/>
                    <a:p>
                      <a:r>
                        <a:rPr sz="1650" b="0">
                          <a:solidFill>
                            <a:srgbClr val="19384B"/>
                          </a:solidFill>
                          <a:latin typeface="Meiryo"/>
                          <a:ea typeface="Meiryo"/>
                          <a:cs typeface="Meiryo"/>
                        </a:rPr>
                        <a:t>SWaT</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訓練496,800 / テスト449,919、51変数</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時間粒度・対象Y・版</a:t>
                      </a:r>
                    </a:p>
                    <a:p>
                      <a:r>
                        <a:rPr sz="1650" b="0">
                          <a:solidFill>
                            <a:srgbClr val="19384B"/>
                          </a:solidFill>
                          <a:latin typeface="Meiryo"/>
                          <a:ea typeface="Meiryo"/>
                          <a:cs typeface="Meiryo"/>
                        </a:rPr>
                        <a:t>利用許諾</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WADI</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訓練1,209,601 / テスト172,801、123変数</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時間粒度・対象Y・版</a:t>
                      </a:r>
                    </a:p>
                    <a:p>
                      <a:r>
                        <a:rPr sz="1650" b="0">
                          <a:solidFill>
                            <a:srgbClr val="19384B"/>
                          </a:solidFill>
                          <a:latin typeface="Meiryo"/>
                          <a:ea typeface="Meiryo"/>
                          <a:cs typeface="Meiryo"/>
                        </a:rPr>
                        <a:t>利用許諾</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PMLB（13の選択集合）</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61データ、n=47–1,066、d=10–124</a:t>
                      </a:r>
                    </a:p>
                    <a:p>
                      <a:r>
                        <a:rPr sz="1650" b="0">
                          <a:solidFill>
                            <a:srgbClr val="19384B"/>
                          </a:solidFill>
                          <a:latin typeface="Meiryo"/>
                          <a:ea typeface="Meiryo"/>
                          <a:cs typeface="Meiryo"/>
                        </a:rPr>
                        <a:t>80% / 20%分割</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各データの来歴</a:t>
                      </a:r>
                    </a:p>
                    <a:p>
                      <a:r>
                        <a:rPr sz="1650" b="0">
                          <a:solidFill>
                            <a:srgbClr val="19384B"/>
                          </a:solidFill>
                          <a:latin typeface="Meiryo"/>
                          <a:ea typeface="Meiryo"/>
                          <a:cs typeface="Meiryo"/>
                        </a:rPr>
                        <a:t>ライセンス</a:t>
                      </a:r>
                    </a:p>
                  </a:txBody>
                  <a:tcPr marL="114300" marR="95250" marT="85725" marB="66675" anchor="ctr">
                    <a:solidFill>
                      <a:srgbClr val="F0F6F8"/>
                    </a:solidFill>
                  </a:tcPr>
                </a:tc>
              </a:tr>
              <a:tr h="666750">
                <a:tc>
                  <a:txBody>
                    <a:bodyPr/>
                    <a:lstStyle/>
                    <a:p>
                      <a:r>
                        <a:rPr sz="1650" b="0">
                          <a:solidFill>
                            <a:srgbClr val="19384B"/>
                          </a:solidFill>
                          <a:latin typeface="Meiryo"/>
                          <a:ea typeface="Meiryo"/>
                          <a:cs typeface="Meiryo"/>
                        </a:rPr>
                        <a:t>Lorenz（14）</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1,000点、25次元、0.1秒間隔</a:t>
                      </a:r>
                    </a:p>
                    <a:p>
                      <a:r>
                        <a:rPr sz="1650" b="0">
                          <a:solidFill>
                            <a:srgbClr val="19384B"/>
                          </a:solidFill>
                          <a:latin typeface="Meiryo"/>
                          <a:ea typeface="Meiryo"/>
                          <a:cs typeface="Meiryo"/>
                        </a:rPr>
                        <a:t>訓練700 / テスト300</a:t>
                      </a:r>
                    </a:p>
                  </a:txBody>
                  <a:tcPr marL="114300" marR="95250" marT="85725" marB="66675" anchor="ctr">
                    <a:solidFill>
                      <a:srgbClr val="FFFFFF"/>
                    </a:solidFill>
                  </a:tcPr>
                </a:tc>
                <a:tc>
                  <a:txBody>
                    <a:bodyPr/>
                    <a:lstStyle/>
                    <a:p>
                      <a:r>
                        <a:rPr sz="1650" b="0">
                          <a:solidFill>
                            <a:srgbClr val="19384B"/>
                          </a:solidFill>
                          <a:latin typeface="Meiryo"/>
                          <a:ea typeface="Meiryo"/>
                          <a:cs typeface="Meiryo"/>
                        </a:rPr>
                        <a:t>生成の再現条件・乱数設定</a:t>
                      </a:r>
                    </a:p>
                  </a:txBody>
                  <a:tcPr marL="114300" marR="95250" marT="85725" marB="66675" anchor="ctr">
                    <a:solidFill>
                      <a:srgbClr val="FFFFFF"/>
                    </a:solidFill>
                  </a:tcPr>
                </a:tc>
              </a:tr>
              <a:tr h="666750">
                <a:tc>
                  <a:txBody>
                    <a:bodyPr/>
                    <a:lstStyle/>
                    <a:p>
                      <a:r>
                        <a:rPr sz="1650" b="0">
                          <a:solidFill>
                            <a:srgbClr val="19384B"/>
                          </a:solidFill>
                          <a:latin typeface="Meiryo"/>
                          <a:ea typeface="Meiryo"/>
                          <a:cs typeface="Meiryo"/>
                        </a:rPr>
                        <a:t>Satellite-A / B</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17変数 / 106変数</a:t>
                      </a:r>
                    </a:p>
                  </a:txBody>
                  <a:tcPr marL="114300" marR="95250" marT="85725" marB="66675" anchor="ctr">
                    <a:solidFill>
                      <a:srgbClr val="F0F6F8"/>
                    </a:solidFill>
                  </a:tcPr>
                </a:tc>
                <a:tc>
                  <a:txBody>
                    <a:bodyPr/>
                    <a:lstStyle/>
                    <a:p>
                      <a:r>
                        <a:rPr sz="1650" b="0">
                          <a:solidFill>
                            <a:srgbClr val="19384B"/>
                          </a:solidFill>
                          <a:latin typeface="Meiryo"/>
                          <a:ea typeface="Meiryo"/>
                          <a:cs typeface="Meiryo"/>
                        </a:rPr>
                        <a:t>取得方法・ラベル定義</a:t>
                      </a:r>
                    </a:p>
                    <a:p>
                      <a:r>
                        <a:rPr sz="1650" b="0">
                          <a:solidFill>
                            <a:srgbClr val="19384B"/>
                          </a:solidFill>
                          <a:latin typeface="Meiryo"/>
                          <a:ea typeface="Meiryo"/>
                          <a:cs typeface="Meiryo"/>
                        </a:rPr>
                        <a:t>利用条件</a:t>
                      </a:r>
                    </a:p>
                  </a:txBody>
                  <a:tcPr marL="114300" marR="95250" marT="85725" marB="66675" anchor="ctr">
                    <a:solidFill>
                      <a:srgbClr val="F0F6F8"/>
                    </a:solidFill>
                  </a:tcPr>
                </a:tc>
              </a:tr>
            </a:tbl>
          </a:graphicData>
        </a:graphic>
      </p:graphicFrame>
      <p:sp>
        <p:nvSpPr>
          <p:cNvPr id="5" name="">
            <a:extLst xmlns:a="http://schemas.openxmlformats.org/drawingml/2006/main">
              <a:ext uri="{FF2B5EF4-FFF2-40B4-BE49-F238E27FC236}">
                <a16:creationId xmlns:a16="http://schemas.microsoft.com/office/drawing/2014/main" id="{D42A45BB-B2FB-43AE-8107-8988F00B42F3}"/>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S1 Table 1、13 §5.3、14 §4。数値は各論文の使用版に限る</a:t>
            </a:r>
          </a:p>
        </p:txBody>
      </p:sp>
      <p:sp>
        <p:nvSpPr>
          <p:cNvPr id="6" name="">
            <a:extLst xmlns:a="http://schemas.openxmlformats.org/drawingml/2006/main">
              <a:ext uri="{FF2B5EF4-FFF2-40B4-BE49-F238E27FC236}">
                <a16:creationId xmlns:a16="http://schemas.microsoft.com/office/drawing/2014/main" id="{53C182D3-0174-4E06-84C4-12502168A7AB}"/>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24</a:t>
            </a:r>
          </a:p>
        </p:txBody>
      </p:sp>
    </p:spTree>
    <p:extLst>
      <p:ext uri="{BB962C8B-B14F-4D97-AF65-F5344CB8AC3E}">
        <p14:creationId xmlns:p14="http://schemas.microsoft.com/office/powerpoint/2010/main" val="1587727469"/>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112BAB-878F-49D6-AF2E-4ED268A0F9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57837C-8060-498E-AC43-3BE254EA337D}"/>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3" name="">
            <a:extLst xmlns:a="http://schemas.openxmlformats.org/drawingml/2006/main">
              <a:ext uri="{FF2B5EF4-FFF2-40B4-BE49-F238E27FC236}">
                <a16:creationId xmlns:a16="http://schemas.microsoft.com/office/drawing/2014/main" id="{B02EAE30-5506-4C51-A36C-98F3ECBC0DD7}"/>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参考文献</a:t>
            </a:r>
          </a:p>
        </p:txBody>
      </p:sp>
      <p:sp>
        <p:nvSpPr>
          <p:cNvPr id="4" name="">
            <a:extLst xmlns:a="http://schemas.openxmlformats.org/drawingml/2006/main">
              <a:ext uri="{FF2B5EF4-FFF2-40B4-BE49-F238E27FC236}">
                <a16:creationId xmlns:a16="http://schemas.microsoft.com/office/drawing/2014/main" id="{9F270CFC-C62F-4AF5-95AC-32B03F52DBD5}"/>
              </a:ext>
            </a:extLst>
          </p:cNvPr>
          <p:cNvSpPr>
            <a:spLocks xmlns:a="http://schemas.openxmlformats.org/drawingml/2006/main" noGrp="1"/>
          </p:cNvSpPr>
          <p:nvPr/>
        </p:nvSpPr>
        <p:spPr>
          <a:xfrm xmlns:a="http://schemas.openxmlformats.org/drawingml/2006/main">
            <a:off x="523875" y="1562100"/>
            <a:ext cx="111442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9384B"/>
                </a:solidFill>
                <a:latin typeface="Meiryo"/>
                <a:ea typeface="Meiryo"/>
                <a:cs typeface="Meiryo"/>
              </a:defRPr>
            </a:pPr>
            <a:r>
              <a:rPr sz="1650" b="0">
                <a:solidFill>
                  <a:srgbClr val="19384B"/>
                </a:solidFill>
                <a:latin typeface="Meiryo"/>
                <a:ea typeface="Meiryo"/>
                <a:cs typeface="Meiryo"/>
              </a:rPr>
              <a:t>[S1] Audibert, J., Michiardi, P., Guyard, F., Marti, S., Zuluaga, M. A. (2022). Do Deep Neural Networks Contribute to Multivariate Time Series Anomaly Detection? Pattern Recognition.</a:t>
            </a:r>
          </a:p>
        </p:txBody>
      </p:sp>
      <p:sp>
        <p:nvSpPr>
          <p:cNvPr id="5" name="">
            <a:extLst xmlns:a="http://schemas.openxmlformats.org/drawingml/2006/main">
              <a:ext uri="{FF2B5EF4-FFF2-40B4-BE49-F238E27FC236}">
                <a16:creationId xmlns:a16="http://schemas.microsoft.com/office/drawing/2014/main" id="{7255A59A-E92D-4FC6-A6AA-2011199F0C76}"/>
              </a:ext>
            </a:extLst>
          </p:cNvPr>
          <p:cNvSpPr>
            <a:spLocks xmlns:a="http://schemas.openxmlformats.org/drawingml/2006/main" noGrp="1"/>
          </p:cNvSpPr>
          <p:nvPr/>
        </p:nvSpPr>
        <p:spPr>
          <a:xfrm xmlns:a="http://schemas.openxmlformats.org/drawingml/2006/main">
            <a:off x="523875" y="2914650"/>
            <a:ext cx="111442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9384B"/>
                </a:solidFill>
                <a:latin typeface="Meiryo"/>
                <a:ea typeface="Meiryo"/>
                <a:cs typeface="Meiryo"/>
              </a:defRPr>
            </a:pPr>
            <a:r>
              <a:rPr sz="1650" b="0">
                <a:solidFill>
                  <a:srgbClr val="19384B"/>
                </a:solidFill>
                <a:latin typeface="Meiryo"/>
                <a:ea typeface="Meiryo"/>
                <a:cs typeface="Meiryo"/>
              </a:rPr>
              <a:t>[S3] Blázquez-García, A., Conde, A., Mori, U., Lozano, J. A. (2021). A Review on Outlier/Anomaly Detection in Time Series Data. ACM Computing Surveys, 54(3), Article 56. DOI: 10.1145/3444690.</a:t>
            </a:r>
          </a:p>
        </p:txBody>
      </p:sp>
      <p:sp>
        <p:nvSpPr>
          <p:cNvPr id="6" name="">
            <a:extLst xmlns:a="http://schemas.openxmlformats.org/drawingml/2006/main">
              <a:ext uri="{FF2B5EF4-FFF2-40B4-BE49-F238E27FC236}">
                <a16:creationId xmlns:a16="http://schemas.microsoft.com/office/drawing/2014/main" id="{1E7F073C-AE5C-471A-8B9A-4F31FD56674C}"/>
              </a:ext>
            </a:extLst>
          </p:cNvPr>
          <p:cNvSpPr>
            <a:spLocks xmlns:a="http://schemas.openxmlformats.org/drawingml/2006/main" noGrp="1"/>
          </p:cNvSpPr>
          <p:nvPr/>
        </p:nvSpPr>
        <p:spPr>
          <a:xfrm xmlns:a="http://schemas.openxmlformats.org/drawingml/2006/main">
            <a:off x="523875" y="4267200"/>
            <a:ext cx="111442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9384B"/>
                </a:solidFill>
                <a:latin typeface="Meiryo"/>
                <a:ea typeface="Meiryo"/>
                <a:cs typeface="Meiryo"/>
              </a:defRPr>
            </a:pPr>
            <a:r>
              <a:rPr sz="1650" b="0">
                <a:solidFill>
                  <a:srgbClr val="19384B"/>
                </a:solidFill>
                <a:latin typeface="Meiryo"/>
                <a:ea typeface="Meiryo"/>
                <a:cs typeface="Meiryo"/>
              </a:rPr>
              <a:t>[S6] Wang, F., Jiang, Y., Zhang, R., Wei, A., Xie, J., Pang, X. (2025). A Survey of Deep Anomaly Detection in Multivariate Time Series: Taxonomy, Applications, and Directions. Sensors, 25, 190. DOI: 10.3390/s25010190.</a:t>
            </a:r>
          </a:p>
        </p:txBody>
      </p:sp>
      <p:sp>
        <p:nvSpPr>
          <p:cNvPr id="7" name="">
            <a:extLst xmlns:a="http://schemas.openxmlformats.org/drawingml/2006/main">
              <a:ext uri="{FF2B5EF4-FFF2-40B4-BE49-F238E27FC236}">
                <a16:creationId xmlns:a16="http://schemas.microsoft.com/office/drawing/2014/main" id="{87B26112-5651-46AD-A569-A47B0082852F}"/>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ユーザー提供PDFの書誌情報</a:t>
            </a:r>
          </a:p>
        </p:txBody>
      </p:sp>
      <p:sp>
        <p:nvSpPr>
          <p:cNvPr id="8" name="">
            <a:extLst xmlns:a="http://schemas.openxmlformats.org/drawingml/2006/main">
              <a:ext uri="{FF2B5EF4-FFF2-40B4-BE49-F238E27FC236}">
                <a16:creationId xmlns:a16="http://schemas.microsoft.com/office/drawing/2014/main" id="{ACC32080-5E8C-4651-B04D-B4A93C3D2F10}"/>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25</a:t>
            </a:r>
          </a:p>
        </p:txBody>
      </p:sp>
    </p:spTree>
    <p:extLst>
      <p:ext uri="{BB962C8B-B14F-4D97-AF65-F5344CB8AC3E}">
        <p14:creationId xmlns:p14="http://schemas.microsoft.com/office/powerpoint/2010/main" val="178749817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B3C08B6-DE7F-45CD-BAD2-4E19D922AD0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434DCD-3B8D-4148-8C1E-B1781C9DEE6B}"/>
              </a:ext>
            </a:extLst>
          </p:cNvPr>
          <p:cNvSpPr>
            <a:spLocks xmlns:a="http://schemas.openxmlformats.org/drawingml/2006/main" noGrp="1"/>
          </p:cNvSpPr>
          <p:nvPr/>
        </p:nvSpPr>
        <p:spPr>
          <a:xfrm xmlns:a="http://schemas.openxmlformats.org/drawingml/2006/main">
            <a:off x="476250" y="2286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APPENDIX</a:t>
            </a:r>
          </a:p>
        </p:txBody>
      </p:sp>
      <p:sp>
        <p:nvSpPr>
          <p:cNvPr id="3" name="">
            <a:extLst xmlns:a="http://schemas.openxmlformats.org/drawingml/2006/main">
              <a:ext uri="{FF2B5EF4-FFF2-40B4-BE49-F238E27FC236}">
                <a16:creationId xmlns:a16="http://schemas.microsoft.com/office/drawing/2014/main" id="{9CBE8017-7003-49EF-B991-DE1C0EBD2F4D}"/>
              </a:ext>
            </a:extLst>
          </p:cNvPr>
          <p:cNvSpPr>
            <a:spLocks xmlns:a="http://schemas.openxmlformats.org/drawingml/2006/main" noGrp="1"/>
          </p:cNvSpPr>
          <p:nvPr/>
        </p:nvSpPr>
        <p:spPr>
          <a:xfrm xmlns:a="http://schemas.openxmlformats.org/drawingml/2006/main">
            <a:off x="476250" y="647700"/>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8273C"/>
                </a:solidFill>
                <a:latin typeface="Meiryo"/>
                <a:ea typeface="Meiryo"/>
                <a:cs typeface="Meiryo"/>
              </a:defRPr>
            </a:pPr>
            <a:r>
              <a:rPr sz="2550" b="1">
                <a:solidFill>
                  <a:srgbClr val="08273C"/>
                </a:solidFill>
                <a:latin typeface="Meiryo"/>
                <a:ea typeface="Meiryo"/>
                <a:cs typeface="Meiryo"/>
              </a:rPr>
              <a:t>参考文献と調査要件</a:t>
            </a:r>
          </a:p>
        </p:txBody>
      </p:sp>
      <p:sp>
        <p:nvSpPr>
          <p:cNvPr id="4" name="">
            <a:extLst xmlns:a="http://schemas.openxmlformats.org/drawingml/2006/main">
              <a:ext uri="{FF2B5EF4-FFF2-40B4-BE49-F238E27FC236}">
                <a16:creationId xmlns:a16="http://schemas.microsoft.com/office/drawing/2014/main" id="{5BA80602-9402-4239-BAE7-20788949AAFA}"/>
              </a:ext>
            </a:extLst>
          </p:cNvPr>
          <p:cNvSpPr>
            <a:spLocks xmlns:a="http://schemas.openxmlformats.org/drawingml/2006/main" noGrp="1"/>
          </p:cNvSpPr>
          <p:nvPr/>
        </p:nvSpPr>
        <p:spPr>
          <a:xfrm xmlns:a="http://schemas.openxmlformats.org/drawingml/2006/main">
            <a:off x="523875" y="1562100"/>
            <a:ext cx="11144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9384B"/>
                </a:solidFill>
                <a:latin typeface="Meiryo"/>
                <a:ea typeface="Meiryo"/>
                <a:cs typeface="Meiryo"/>
              </a:defRPr>
            </a:pPr>
            <a:r>
              <a:rPr sz="1650" b="0">
                <a:solidFill>
                  <a:srgbClr val="19384B"/>
                </a:solidFill>
                <a:latin typeface="Meiryo"/>
                <a:ea typeface="Meiryo"/>
                <a:cs typeface="Meiryo"/>
              </a:rPr>
              <a:t>[13] Lu, M., Ishwaran, H. (2026). General OOD detection via model-aware and subspace-aware variable priority. Knowledge and Information Systems, 68:250. DOI: 10.1007/s10115-026-02872-5.</a:t>
            </a:r>
          </a:p>
        </p:txBody>
      </p:sp>
      <p:sp>
        <p:nvSpPr>
          <p:cNvPr id="5" name="">
            <a:extLst xmlns:a="http://schemas.openxmlformats.org/drawingml/2006/main">
              <a:ext uri="{FF2B5EF4-FFF2-40B4-BE49-F238E27FC236}">
                <a16:creationId xmlns:a16="http://schemas.microsoft.com/office/drawing/2014/main" id="{CEEB8175-6AD1-4BC3-AF75-25F8B88EC41D}"/>
              </a:ext>
            </a:extLst>
          </p:cNvPr>
          <p:cNvSpPr>
            <a:spLocks xmlns:a="http://schemas.openxmlformats.org/drawingml/2006/main" noGrp="1"/>
          </p:cNvSpPr>
          <p:nvPr/>
        </p:nvSpPr>
        <p:spPr>
          <a:xfrm xmlns:a="http://schemas.openxmlformats.org/drawingml/2006/main">
            <a:off x="523875" y="2619375"/>
            <a:ext cx="11144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9384B"/>
                </a:solidFill>
                <a:latin typeface="Meiryo"/>
                <a:ea typeface="Meiryo"/>
                <a:cs typeface="Meiryo"/>
              </a:defRPr>
            </a:pPr>
            <a:r>
              <a:rPr sz="1650" b="0">
                <a:solidFill>
                  <a:srgbClr val="19384B"/>
                </a:solidFill>
                <a:latin typeface="Meiryo"/>
                <a:ea typeface="Meiryo"/>
                <a:cs typeface="Meiryo"/>
              </a:rPr>
              <a:t>[14] Sakurada, M., Yairi, T. (2014). Anomaly Detection Using Autoencoders with Nonlinear Dimensionality Reduction. MLSDA ’14.</a:t>
            </a:r>
          </a:p>
        </p:txBody>
      </p:sp>
      <p:sp>
        <p:nvSpPr>
          <p:cNvPr id="6" name="">
            <a:extLst xmlns:a="http://schemas.openxmlformats.org/drawingml/2006/main">
              <a:ext uri="{FF2B5EF4-FFF2-40B4-BE49-F238E27FC236}">
                <a16:creationId xmlns:a16="http://schemas.microsoft.com/office/drawing/2014/main" id="{19FEF695-BDD8-43E4-B6CF-ACE79DD1E608}"/>
              </a:ext>
            </a:extLst>
          </p:cNvPr>
          <p:cNvSpPr>
            <a:spLocks xmlns:a="http://schemas.openxmlformats.org/drawingml/2006/main" noGrp="1"/>
          </p:cNvSpPr>
          <p:nvPr/>
        </p:nvSpPr>
        <p:spPr>
          <a:xfrm xmlns:a="http://schemas.openxmlformats.org/drawingml/2006/main">
            <a:off x="523875" y="3676650"/>
            <a:ext cx="11144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9384B"/>
                </a:solidFill>
                <a:latin typeface="Meiryo"/>
                <a:ea typeface="Meiryo"/>
                <a:cs typeface="Meiryo"/>
              </a:defRPr>
            </a:pPr>
            <a:r>
              <a:rPr sz="1650" b="0">
                <a:solidFill>
                  <a:srgbClr val="19384B"/>
                </a:solidFill>
                <a:latin typeface="Meiryo"/>
                <a:ea typeface="Meiryo"/>
                <a:cs typeface="Meiryo"/>
              </a:rPr>
              <a:t>[山原] 山原裕之・横山雄・金谷道昭. 配水管網における圧力推定のための機械学習モデルの適用領域の検討. 刊行年・発表先は提供資料では未確認。</a:t>
            </a:r>
          </a:p>
        </p:txBody>
      </p:sp>
      <p:sp>
        <p:nvSpPr>
          <p:cNvPr id="7" name="">
            <a:extLst xmlns:a="http://schemas.openxmlformats.org/drawingml/2006/main">
              <a:ext uri="{FF2B5EF4-FFF2-40B4-BE49-F238E27FC236}">
                <a16:creationId xmlns:a16="http://schemas.microsoft.com/office/drawing/2014/main" id="{1C5CBB0F-F7CF-4017-BE23-E1F335586177}"/>
              </a:ext>
            </a:extLst>
          </p:cNvPr>
          <p:cNvSpPr>
            <a:spLocks xmlns:a="http://schemas.openxmlformats.org/drawingml/2006/main" noGrp="1"/>
          </p:cNvSpPr>
          <p:nvPr/>
        </p:nvSpPr>
        <p:spPr>
          <a:xfrm xmlns:a="http://schemas.openxmlformats.org/drawingml/2006/main">
            <a:off x="523875" y="4733925"/>
            <a:ext cx="11144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9384B"/>
                </a:solidFill>
                <a:latin typeface="Meiryo"/>
                <a:ea typeface="Meiryo"/>
                <a:cs typeface="Meiryo"/>
              </a:defRPr>
            </a:pPr>
            <a:r>
              <a:rPr sz="1650" b="0">
                <a:solidFill>
                  <a:srgbClr val="19384B"/>
                </a:solidFill>
                <a:latin typeface="Meiryo"/>
                <a:ea typeface="Meiryo"/>
                <a:cs typeface="Meiryo"/>
              </a:rPr>
              <a:t>[調査要件] 「学習外入力データ検知手法 調査要求」（実习要求.docx）および読解項目の整理（论文要总结内容.docx）。</a:t>
            </a:r>
          </a:p>
        </p:txBody>
      </p:sp>
      <p:sp>
        <p:nvSpPr>
          <p:cNvPr id="8" name="">
            <a:extLst xmlns:a="http://schemas.openxmlformats.org/drawingml/2006/main">
              <a:ext uri="{FF2B5EF4-FFF2-40B4-BE49-F238E27FC236}">
                <a16:creationId xmlns:a16="http://schemas.microsoft.com/office/drawing/2014/main" id="{E8781F58-6F89-4F08-86F7-27072262387C}"/>
              </a:ext>
            </a:extLst>
          </p:cNvPr>
          <p:cNvSpPr>
            <a:spLocks xmlns:a="http://schemas.openxmlformats.org/drawingml/2006/main" noGrp="1"/>
          </p:cNvSpPr>
          <p:nvPr/>
        </p:nvSpPr>
        <p:spPr>
          <a:xfrm xmlns:a="http://schemas.openxmlformats.org/drawingml/2006/main">
            <a:off x="476250" y="64389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0">
                <a:solidFill>
                  <a:srgbClr val="586E7C"/>
                </a:solidFill>
                <a:latin typeface="Meiryo"/>
                <a:ea typeface="Meiryo"/>
                <a:cs typeface="Meiryo"/>
              </a:defRPr>
            </a:pPr>
            <a:r>
              <a:rPr sz="825" b="0">
                <a:solidFill>
                  <a:srgbClr val="586E7C"/>
                </a:solidFill>
                <a:latin typeface="Meiryo"/>
                <a:ea typeface="Meiryo"/>
                <a:cs typeface="Meiryo"/>
              </a:rPr>
              <a:t>ユーザー提供PDF・DOCX</a:t>
            </a:r>
          </a:p>
        </p:txBody>
      </p:sp>
      <p:sp>
        <p:nvSpPr>
          <p:cNvPr id="9" name="">
            <a:extLst xmlns:a="http://schemas.openxmlformats.org/drawingml/2006/main">
              <a:ext uri="{FF2B5EF4-FFF2-40B4-BE49-F238E27FC236}">
                <a16:creationId xmlns:a16="http://schemas.microsoft.com/office/drawing/2014/main" id="{0640B157-8FFA-437F-8D92-48119841B0DB}"/>
              </a:ext>
            </a:extLst>
          </p:cNvPr>
          <p:cNvSpPr>
            <a:spLocks xmlns:a="http://schemas.openxmlformats.org/drawingml/2006/main" noGrp="1"/>
          </p:cNvSpPr>
          <p:nvPr/>
        </p:nvSpPr>
        <p:spPr>
          <a:xfrm xmlns:a="http://schemas.openxmlformats.org/drawingml/2006/main">
            <a:off x="115538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008E99"/>
                </a:solidFill>
                <a:latin typeface="Meiryo"/>
                <a:ea typeface="Meiryo"/>
                <a:cs typeface="Meiryo"/>
              </a:defRPr>
            </a:pPr>
            <a:r>
              <a:rPr sz="1125" b="1">
                <a:solidFill>
                  <a:srgbClr val="008E99"/>
                </a:solidFill>
                <a:latin typeface="Meiryo"/>
                <a:ea typeface="Meiryo"/>
                <a:cs typeface="Meiryo"/>
              </a:rPr>
              <a:t>26</a:t>
            </a:r>
          </a:p>
        </p:txBody>
      </p:sp>
    </p:spTree>
    <p:extLst>
      <p:ext uri="{BB962C8B-B14F-4D97-AF65-F5344CB8AC3E}">
        <p14:creationId xmlns:p14="http://schemas.microsoft.com/office/powerpoint/2010/main" val="18376841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2026-09-13T15:20:12.9000000Z</dcterms:created>
  <dcterms:modified xsi:type="dcterms:W3CDTF">2026-09-13T15:20:12.9000000Z</dcterms:modified>
</coreProperties>
</file>