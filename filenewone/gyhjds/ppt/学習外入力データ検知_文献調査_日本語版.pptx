
<file path=[Content_Types].xml><?xml version="1.0" encoding="utf-8"?>
<Types xmlns="http://schemas.openxmlformats.org/package/2006/content-types">
  <Default Extension="xml" ContentType="application/vnd.openxmlformats-package.core-properties+xml"/>
  <Default Extension="dat" ContentType="application/x-fontdata"/>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537076546bcd4eee" /><Relationship Type="http://schemas.openxmlformats.org/officeDocument/2006/relationships/extended-properties" Target="/docProps/app.xml" Id="R42cf9ca426174c2c" /><Relationship Type="http://schemas.openxmlformats.org/officeDocument/2006/relationships/officeDocument" Target="/ppt/presentation.xml" Id="R8d2d7ae79f984a4a" /></Relationships>
</file>

<file path=ppt/presentation.xml><?xml version="1.0" encoding="utf-8"?>
<p:presentation xmlns:p="http://schemas.openxmlformats.org/presentationml/2006/main" embedTrueTypeFonts="1" saveSubsetFonts="0">
  <p:sldMasterIdLst>
    <p:sldMasterId xmlns:r="http://schemas.openxmlformats.org/officeDocument/2006/relationships" id="2147483648" r:id="Re9c5360e5ff34f71"/>
  </p:sldMasterIdLst>
  <p:notesMasterIdLst>
    <p:notesMasterId xmlns:r="http://schemas.openxmlformats.org/officeDocument/2006/relationships" r:id="R12eaa3c04e30400d"/>
  </p:notesMasterIdLst>
  <p:sldIdLst>
    <p:sldId xmlns:r="http://schemas.openxmlformats.org/officeDocument/2006/relationships" id="256" r:id="R454ddb0e33914ea0"/>
    <p:sldId xmlns:r="http://schemas.openxmlformats.org/officeDocument/2006/relationships" id="257" r:id="R3ba9e5f3cabb4c86"/>
    <p:sldId xmlns:r="http://schemas.openxmlformats.org/officeDocument/2006/relationships" id="258" r:id="Rf2f3a2db90b74b3e"/>
    <p:sldId xmlns:r="http://schemas.openxmlformats.org/officeDocument/2006/relationships" id="259" r:id="Rb1f4cf50f3ce4698"/>
    <p:sldId xmlns:r="http://schemas.openxmlformats.org/officeDocument/2006/relationships" id="260" r:id="R0c7eb21077e944c3"/>
    <p:sldId xmlns:r="http://schemas.openxmlformats.org/officeDocument/2006/relationships" id="261" r:id="R74cf2223c2314b02"/>
    <p:sldId xmlns:r="http://schemas.openxmlformats.org/officeDocument/2006/relationships" id="262" r:id="R7d7b49aaf10d48a2"/>
    <p:sldId xmlns:r="http://schemas.openxmlformats.org/officeDocument/2006/relationships" id="263" r:id="R8545df78924e491c"/>
    <p:sldId xmlns:r="http://schemas.openxmlformats.org/officeDocument/2006/relationships" id="264" r:id="R729b52e4287b479e"/>
    <p:sldId xmlns:r="http://schemas.openxmlformats.org/officeDocument/2006/relationships" id="265" r:id="Rd4f111f4dc5b40d9"/>
    <p:sldId xmlns:r="http://schemas.openxmlformats.org/officeDocument/2006/relationships" id="266" r:id="R7e8f8ad6eaa54042"/>
    <p:sldId xmlns:r="http://schemas.openxmlformats.org/officeDocument/2006/relationships" id="267" r:id="Rbf6a022f36634875"/>
    <p:sldId xmlns:r="http://schemas.openxmlformats.org/officeDocument/2006/relationships" id="268" r:id="Rc1066c11713f434a"/>
    <p:sldId xmlns:r="http://schemas.openxmlformats.org/officeDocument/2006/relationships" id="269" r:id="R9221c7b7c8224813"/>
    <p:sldId xmlns:r="http://schemas.openxmlformats.org/officeDocument/2006/relationships" id="270" r:id="Rbcd7ff818b1c4cf5"/>
    <p:sldId xmlns:r="http://schemas.openxmlformats.org/officeDocument/2006/relationships" id="271" r:id="Rfc8d115d2b154845"/>
    <p:sldId xmlns:r="http://schemas.openxmlformats.org/officeDocument/2006/relationships" id="272" r:id="R20e94e1934764912"/>
    <p:sldId xmlns:r="http://schemas.openxmlformats.org/officeDocument/2006/relationships" id="273" r:id="Rcd3a1bb34f2e4b85"/>
    <p:sldId xmlns:r="http://schemas.openxmlformats.org/officeDocument/2006/relationships" id="274" r:id="R561442081eef44a1"/>
    <p:sldId xmlns:r="http://schemas.openxmlformats.org/officeDocument/2006/relationships" id="275" r:id="R483c4e8af65b417c"/>
    <p:sldId xmlns:r="http://schemas.openxmlformats.org/officeDocument/2006/relationships" id="276" r:id="R44ae627e1a064e8d"/>
    <p:sldId xmlns:r="http://schemas.openxmlformats.org/officeDocument/2006/relationships" id="277" r:id="Rdad3a9c6c83b4f7e"/>
    <p:sldId xmlns:r="http://schemas.openxmlformats.org/officeDocument/2006/relationships" id="278" r:id="R7863d77b4b074d90"/>
    <p:sldId xmlns:r="http://schemas.openxmlformats.org/officeDocument/2006/relationships" id="279" r:id="Rf0086c255d604d07"/>
    <p:sldId xmlns:r="http://schemas.openxmlformats.org/officeDocument/2006/relationships" id="280" r:id="R0e7d382d7d574694"/>
    <p:sldId xmlns:r="http://schemas.openxmlformats.org/officeDocument/2006/relationships" id="281" r:id="Rfeee2a4c1caa4281"/>
  </p:sldIdLst>
  <p:sldSz cx="12192000" cy="6858000"/>
  <p:notesSz cx="6858000" cy="9144000"/>
  <p:embeddedFontLst>
    <p:embeddedFont>
      <p:font typeface="OpenAI Sans"/>
      <p:regular xmlns:r="http://schemas.openxmlformats.org/officeDocument/2006/relationships" r:id="R8842bdced25849a7"/>
      <p:bold xmlns:r="http://schemas.openxmlformats.org/officeDocument/2006/relationships" r:id="R54576670a72e46da"/>
      <p:italic xmlns:r="http://schemas.openxmlformats.org/officeDocument/2006/relationships" r:id="R9f350443e2f048a7"/>
      <p:boldItalic xmlns:r="http://schemas.openxmlformats.org/officeDocument/2006/relationships" r:id="R5c7a4d1bb7b7418d"/>
    </p:embeddedFont>
  </p:embeddedFontLst>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p="http://schemas.openxmlformats.org/presentationml/2006/main">
  <p:slideViewPr>
    <p:cSldViewPr snapToGrid="0">
      <p:cViewPr>
        <p:scale>
          <a:sx xmlns:a="http://schemas.openxmlformats.org/drawingml/2006/main" n="1" d="1"/>
          <a:sy xmlns:a="http://schemas.openxmlformats.org/drawingml/2006/main" n="1" d="1"/>
        </p:scale>
        <p:origin x="0" y="0"/>
      </p:cViewPr>
      <p:guideLst/>
    </p:cSldViewPr>
  </p:slideViewPr>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c3546b1a5d72420a" /><Relationship Type="http://schemas.openxmlformats.org/officeDocument/2006/relationships/slideMaster" Target="/ppt/slideMasters/slideMaster1.xml" Id="Re9c5360e5ff34f71" /><Relationship Type="http://schemas.openxmlformats.org/officeDocument/2006/relationships/notesMaster" Target="/ppt/notesMasters/notesMaster1.xml" Id="R12eaa3c04e30400d" /><Relationship Type="http://schemas.openxmlformats.org/officeDocument/2006/relationships/presProps" Target="/ppt/presProps.xml" Id="R64c9548a8f0f4a8a" /><Relationship Type="http://schemas.openxmlformats.org/officeDocument/2006/relationships/viewProps" Target="/ppt/viewProps.xml" Id="R5f86d7e74c124eaa" /><Relationship Type="http://schemas.openxmlformats.org/officeDocument/2006/relationships/tableStyles" Target="/ppt/tableStyles.xml" Id="R725bc9cf955e4563" /><Relationship Type="http://schemas.openxmlformats.org/officeDocument/2006/relationships/font" Target="/ppt/fonts/font.dat" Id="R8842bdced25849a7" /><Relationship Type="http://schemas.openxmlformats.org/officeDocument/2006/relationships/font" Target="/ppt/fonts/font2.dat" Id="R54576670a72e46da" /><Relationship Type="http://schemas.openxmlformats.org/officeDocument/2006/relationships/font" Target="/ppt/fonts/font3.dat" Id="R9f350443e2f048a7" /><Relationship Type="http://schemas.openxmlformats.org/officeDocument/2006/relationships/font" Target="/ppt/fonts/font4.dat" Id="R5c7a4d1bb7b7418d" /><Relationship Type="http://schemas.openxmlformats.org/officeDocument/2006/relationships/slide" Target="/ppt/slides/slide1.xml" Id="R454ddb0e33914ea0" /><Relationship Type="http://schemas.openxmlformats.org/officeDocument/2006/relationships/slide" Target="/ppt/slides/slide2.xml" Id="R3ba9e5f3cabb4c86" /><Relationship Type="http://schemas.openxmlformats.org/officeDocument/2006/relationships/slide" Target="/ppt/slides/slide3.xml" Id="Rf2f3a2db90b74b3e" /><Relationship Type="http://schemas.openxmlformats.org/officeDocument/2006/relationships/slide" Target="/ppt/slides/slide4.xml" Id="Rb1f4cf50f3ce4698" /><Relationship Type="http://schemas.openxmlformats.org/officeDocument/2006/relationships/slide" Target="/ppt/slides/slide5.xml" Id="R0c7eb21077e944c3" /><Relationship Type="http://schemas.openxmlformats.org/officeDocument/2006/relationships/slide" Target="/ppt/slides/slide6.xml" Id="R74cf2223c2314b02" /><Relationship Type="http://schemas.openxmlformats.org/officeDocument/2006/relationships/slide" Target="/ppt/slides/slide7.xml" Id="R7d7b49aaf10d48a2" /><Relationship Type="http://schemas.openxmlformats.org/officeDocument/2006/relationships/slide" Target="/ppt/slides/slide8.xml" Id="R8545df78924e491c" /><Relationship Type="http://schemas.openxmlformats.org/officeDocument/2006/relationships/slide" Target="/ppt/slides/slide9.xml" Id="R729b52e4287b479e" /><Relationship Type="http://schemas.openxmlformats.org/officeDocument/2006/relationships/slide" Target="/ppt/slides/slide10.xml" Id="Rd4f111f4dc5b40d9" /><Relationship Type="http://schemas.openxmlformats.org/officeDocument/2006/relationships/slide" Target="/ppt/slides/slide11.xml" Id="R7e8f8ad6eaa54042" /><Relationship Type="http://schemas.openxmlformats.org/officeDocument/2006/relationships/slide" Target="/ppt/slides/slide12.xml" Id="Rbf6a022f36634875" /><Relationship Type="http://schemas.openxmlformats.org/officeDocument/2006/relationships/slide" Target="/ppt/slides/slide13.xml" Id="Rc1066c11713f434a" /><Relationship Type="http://schemas.openxmlformats.org/officeDocument/2006/relationships/slide" Target="/ppt/slides/slide14.xml" Id="R9221c7b7c8224813" /><Relationship Type="http://schemas.openxmlformats.org/officeDocument/2006/relationships/slide" Target="/ppt/slides/slide15.xml" Id="Rbcd7ff818b1c4cf5" /><Relationship Type="http://schemas.openxmlformats.org/officeDocument/2006/relationships/slide" Target="/ppt/slides/slide16.xml" Id="Rfc8d115d2b154845" /><Relationship Type="http://schemas.openxmlformats.org/officeDocument/2006/relationships/slide" Target="/ppt/slides/slide17.xml" Id="R20e94e1934764912" /><Relationship Type="http://schemas.openxmlformats.org/officeDocument/2006/relationships/slide" Target="/ppt/slides/slide18.xml" Id="Rcd3a1bb34f2e4b85" /><Relationship Type="http://schemas.openxmlformats.org/officeDocument/2006/relationships/slide" Target="/ppt/slides/slide19.xml" Id="R561442081eef44a1" /><Relationship Type="http://schemas.openxmlformats.org/officeDocument/2006/relationships/slide" Target="/ppt/slides/slide20.xml" Id="R483c4e8af65b417c" /><Relationship Type="http://schemas.openxmlformats.org/officeDocument/2006/relationships/slide" Target="/ppt/slides/slide21.xml" Id="R44ae627e1a064e8d" /><Relationship Type="http://schemas.openxmlformats.org/officeDocument/2006/relationships/slide" Target="/ppt/slides/slide22.xml" Id="Rdad3a9c6c83b4f7e" /><Relationship Type="http://schemas.openxmlformats.org/officeDocument/2006/relationships/slide" Target="/ppt/slides/slide23.xml" Id="R7863d77b4b074d90" /><Relationship Type="http://schemas.openxmlformats.org/officeDocument/2006/relationships/slide" Target="/ppt/slides/slide24.xml" Id="Rf0086c255d604d07" /><Relationship Type="http://schemas.openxmlformats.org/officeDocument/2006/relationships/slide" Target="/ppt/slides/slide25.xml" Id="R0e7d382d7d574694" /><Relationship Type="http://schemas.openxmlformats.org/officeDocument/2006/relationships/slide" Target="/ppt/slides/slide26.xml" Id="Rfeee2a4c1caa4281"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220e992fe70d482f"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Default Codex Theme">
  <a:themeElements>
    <a:clrScheme name="Codex Colors">
      <a:dk1>
        <a:srgbClr val="000000"/>
      </a:dk1>
      <a:lt1>
        <a:srgbClr val="FFFFFF"/>
      </a:lt1>
      <a:dk2>
        <a:srgbClr val="00264F"/>
      </a:dk2>
      <a:lt2>
        <a:srgbClr val="D0EDFA"/>
      </a:lt2>
      <a:accent1>
        <a:srgbClr val="6DCBF4"/>
      </a:accent1>
      <a:accent2>
        <a:srgbClr val="3D8DFF"/>
      </a:accent2>
      <a:accent3>
        <a:srgbClr val="47E2C2"/>
      </a:accent3>
      <a:accent4>
        <a:srgbClr val="85DF7B"/>
      </a:accent4>
      <a:accent5>
        <a:srgbClr val="F7CB59"/>
      </a:accent5>
      <a:accent6>
        <a:srgbClr val="F67576"/>
      </a:accent6>
      <a:hlink>
        <a:srgbClr val="000000"/>
      </a:hlink>
      <a:folHlink>
        <a:srgbClr val="0097A7"/>
      </a:folHlink>
    </a:clrScheme>
    <a:fontScheme name="Helvetica Neue">
      <a:majorFont>
        <a:latin typeface="Helvetica Neue"/>
        <a:ea typeface=""/>
        <a:cs typeface=""/>
      </a:majorFont>
      <a:minorFont>
        <a:latin typeface="Helvetica Neue"/>
        <a:ea typeface=""/>
        <a:cs typeface=""/>
      </a:minorFont>
    </a:fontScheme>
    <a:fmtScheme name="Codex Colors">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fc0c22c51e28469e" /><Relationship Type="http://schemas.openxmlformats.org/officeDocument/2006/relationships/notesMaster" Target="/ppt/notesMasters/notesMaster1.xml" Id="R994176afa8b34ca3" /></Relationships>
</file>

<file path=ppt/notesSlides/_rels/notesSlide2.xml.rels>&#65279;<?xml version="1.0" encoding="utf-8"?><Relationships xmlns="http://schemas.openxmlformats.org/package/2006/relationships"><Relationship Type="http://schemas.openxmlformats.org/officeDocument/2006/relationships/slide" Target="/ppt/slides/slide2.xml" Id="R4198c1fe92734cac" /><Relationship Type="http://schemas.openxmlformats.org/officeDocument/2006/relationships/notesMaster" Target="/ppt/notesMasters/notesMaster1.xml" Id="Rfb84477a290c4b20" /></Relationships>
</file>

<file path=ppt/notesSlides/_rels/notesSlide3.xml.rels>&#65279;<?xml version="1.0" encoding="utf-8"?><Relationships xmlns="http://schemas.openxmlformats.org/package/2006/relationships"><Relationship Type="http://schemas.openxmlformats.org/officeDocument/2006/relationships/slide" Target="/ppt/slides/slide3.xml" Id="Rac16e6d70845443c" /><Relationship Type="http://schemas.openxmlformats.org/officeDocument/2006/relationships/notesMaster" Target="/ppt/notesMasters/notesMaster1.xml" Id="R7f2330b9825a4e33" /></Relationships>
</file>

<file path=ppt/notesSlides/_rels/notesSlide4.xml.rels>&#65279;<?xml version="1.0" encoding="utf-8"?><Relationships xmlns="http://schemas.openxmlformats.org/package/2006/relationships"><Relationship Type="http://schemas.openxmlformats.org/officeDocument/2006/relationships/slide" Target="/ppt/slides/slide4.xml" Id="R457f89b2296641db" /><Relationship Type="http://schemas.openxmlformats.org/officeDocument/2006/relationships/notesMaster" Target="/ppt/notesMasters/notesMaster1.xml" Id="R59a2168773b04cb8" /></Relationships>
</file>

<file path=ppt/notesSlides/_rels/notesSlide5.xml.rels>&#65279;<?xml version="1.0" encoding="utf-8"?><Relationships xmlns="http://schemas.openxmlformats.org/package/2006/relationships"><Relationship Type="http://schemas.openxmlformats.org/officeDocument/2006/relationships/slide" Target="/ppt/slides/slide5.xml" Id="R44ccd27ac4ea4541" /><Relationship Type="http://schemas.openxmlformats.org/officeDocument/2006/relationships/notesMaster" Target="/ppt/notesMasters/notesMaster1.xml" Id="Refc9aa6017ee4b76" /></Relationships>
</file>

<file path=ppt/notesSlides/_rels/notesSlide6.xml.rels>&#65279;<?xml version="1.0" encoding="utf-8"?><Relationships xmlns="http://schemas.openxmlformats.org/package/2006/relationships"><Relationship Type="http://schemas.openxmlformats.org/officeDocument/2006/relationships/slide" Target="/ppt/slides/slide6.xml" Id="Rb3626acbdb454635" /><Relationship Type="http://schemas.openxmlformats.org/officeDocument/2006/relationships/notesMaster" Target="/ppt/notesMasters/notesMaster1.xml" Id="Rf38bcf2a7a9e4a94" /></Relationships>
</file>

<file path=ppt/notesSlides/_rels/notesSlide7.xml.rels>&#65279;<?xml version="1.0" encoding="utf-8"?><Relationships xmlns="http://schemas.openxmlformats.org/package/2006/relationships"><Relationship Type="http://schemas.openxmlformats.org/officeDocument/2006/relationships/slide" Target="/ppt/slides/slide7.xml" Id="Rcf5ac861821542f0" /><Relationship Type="http://schemas.openxmlformats.org/officeDocument/2006/relationships/notesMaster" Target="/ppt/notesMasters/notesMaster1.xml" Id="R3b48bde26e304549" /></Relationships>
</file>

<file path=ppt/notesSlides/_rels/notesSlide8.xml.rels>&#65279;<?xml version="1.0" encoding="utf-8"?><Relationships xmlns="http://schemas.openxmlformats.org/package/2006/relationships"><Relationship Type="http://schemas.openxmlformats.org/officeDocument/2006/relationships/slide" Target="/ppt/slides/slide8.xml" Id="R6958eae684874a46" /><Relationship Type="http://schemas.openxmlformats.org/officeDocument/2006/relationships/notesMaster" Target="/ppt/notesMasters/notesMaster1.xml" Id="R5ee5c339e7854413" /></Relationships>
</file>

<file path=ppt/notesSlides/_rels/notesSlide9.xml.rels>&#65279;<?xml version="1.0" encoding="utf-8"?><Relationships xmlns="http://schemas.openxmlformats.org/package/2006/relationships"><Relationship Type="http://schemas.openxmlformats.org/officeDocument/2006/relationships/slide" Target="/ppt/slides/slide9.xml" Id="Rb902b776f183430b" /><Relationship Type="http://schemas.openxmlformats.org/officeDocument/2006/relationships/notesMaster" Target="/ppt/notesMasters/notesMaster1.xml" Id="R119ce68fc1a6463a"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8f65717d1aff49c8" /><Relationship Type="http://schemas.openxmlformats.org/officeDocument/2006/relationships/notesMaster" Target="/ppt/notesMasters/notesMaster1.xml" Id="R15b0336e81464077"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df6a9e18fa6c47b1" /><Relationship Type="http://schemas.openxmlformats.org/officeDocument/2006/relationships/notesMaster" Target="/ppt/notesMasters/notesMaster1.xml" Id="R5dd805830d174c27"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ef17fd8c1f9b43e5" /><Relationship Type="http://schemas.openxmlformats.org/officeDocument/2006/relationships/notesMaster" Target="/ppt/notesMasters/notesMaster1.xml" Id="Re1361a0f353c47b9"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619720e807a14ce2" /><Relationship Type="http://schemas.openxmlformats.org/officeDocument/2006/relationships/notesMaster" Target="/ppt/notesMasters/notesMaster1.xml" Id="R38ca9f8aacc44498"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176504e4846c4c72" /><Relationship Type="http://schemas.openxmlformats.org/officeDocument/2006/relationships/notesMaster" Target="/ppt/notesMasters/notesMaster1.xml" Id="R846140ceebe94cb7"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f2b087149e6047d8" /><Relationship Type="http://schemas.openxmlformats.org/officeDocument/2006/relationships/notesMaster" Target="/ppt/notesMasters/notesMaster1.xml" Id="Rd2caadc998ee4e16"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e7e9f022272c46e8" /><Relationship Type="http://schemas.openxmlformats.org/officeDocument/2006/relationships/notesMaster" Target="/ppt/notesMasters/notesMaster1.xml" Id="R379dbfc5bfc14613"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bda0c9a655ef437f" /><Relationship Type="http://schemas.openxmlformats.org/officeDocument/2006/relationships/notesMaster" Target="/ppt/notesMasters/notesMaster1.xml" Id="R5b04416f52bf4adc"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0e030d02e0854b67" /><Relationship Type="http://schemas.openxmlformats.org/officeDocument/2006/relationships/notesMaster" Target="/ppt/notesMasters/notesMaster1.xml" Id="R2e370e78bd704799"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7a106447dde14b9d" /><Relationship Type="http://schemas.openxmlformats.org/officeDocument/2006/relationships/notesMaster" Target="/ppt/notesMasters/notesMaster1.xml" Id="Ra1ad4746dba84b5e"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8b6332df67224595" /><Relationship Type="http://schemas.openxmlformats.org/officeDocument/2006/relationships/notesMaster" Target="/ppt/notesMasters/notesMaster1.xml" Id="R1dd6abc6f56e4d84"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df65cf3743754830" /><Relationship Type="http://schemas.openxmlformats.org/officeDocument/2006/relationships/notesMaster" Target="/ppt/notesMasters/notesMaster1.xml" Id="Raf1aefab91044e3d"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6aa0a16261c3460f" /><Relationship Type="http://schemas.openxmlformats.org/officeDocument/2006/relationships/notesMaster" Target="/ppt/notesMasters/notesMaster1.xml" Id="Ra04064cd7fbf4173"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54e91cbf4d47494d" /><Relationship Type="http://schemas.openxmlformats.org/officeDocument/2006/relationships/notesMaster" Target="/ppt/notesMasters/notesMaster1.xml" Id="Refa5480b2b424c56"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e25aa2edb86440de" /><Relationship Type="http://schemas.openxmlformats.org/officeDocument/2006/relationships/notesMaster" Target="/ppt/notesMasters/notesMaster1.xml" Id="R3c10a46cefcc433c"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5b1bbbf7fb7f4266" /><Relationship Type="http://schemas.openxmlformats.org/officeDocument/2006/relationships/notesMaster" Target="/ppt/notesMasters/notesMaster1.xml" Id="Rae72c9a0d389474f"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1b0dc124c643447b" /><Relationship Type="http://schemas.openxmlformats.org/officeDocument/2006/relationships/notesMaster" Target="/ppt/notesMasters/notesMaster1.xml" Id="R25df127dbd264ad0"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本報告では、数値の多変量回帰モデルを運用する際に、モデルが十分に学習していない可能性のある入力を検知する既存技術を整理する。S1・S3・S6を概念整理と比較の手掛かりとし、13・14を具体的な手法として読む。山原らの配水圧力推定の事例を適用先との橋渡しに用いる。出典：実習要求.docx、论文要总结内容.docx。</a:t>
            </a:r>
            <a:endParaRPr/>
          </a:p>
          <a:p xmlns:a="http://schemas.openxmlformats.org/drawingml/2006/main">
            <a:r>
              <a:t/>
            </a:r>
            <a:endParaRPr/>
          </a:p>
          <a:p xmlns:a="http://schemas.openxmlformats.org/drawingml/2006/main">
            <a:r>
              <a:t>出典：実習要求・読解項目</a:t>
            </a:r>
            <a:endParaRPr/>
          </a:p>
          <a:p xmlns:a="http://schemas.openxmlformats.org/drawingml/2006/main">
            <a:r>
              <a:t>ローカル資料：C:/Users/lxcfi/Desktop/（ユーザー提供資料）</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対象は2変数以上の数値入力を持つ回帰モデルである。入力はx_tだけの場合と、過去L時刻を含む場合の両方を想定する。分類モデルを対象外とする条件は、保護したい予測モデルの条件であり、検知器が正常／学習外の二値を出すことを禁止する意味ではない。水処理後濁度のモデルはユーザーの構想であり、山原論文の実証対象ではない。</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出典：実習要求、山原 §2、ユーザー提示のモデル構想</a:t>
            </a:r>
            <a:endParaRPr/>
          </a:p>
          <a:p xmlns:a="http://schemas.openxmlformats.org/drawingml/2006/main">
            <a:pPr marL="0" lvl="0" indent="0" algn="l">
              <a:spcBef>
                <a:spcPts val="0"/>
              </a:spcBef>
              <a:spcAft>
                <a:spcPts val="0"/>
              </a:spcAft>
              <a:buNone/>
            </a:pPr>
            <a:r>
              <a:t>ローカル資料：C:/Users/lxcfi/Desktop/（ユーザー提供資料）</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この3区分を本調査の作業定義として用いる。論文固有の異常分類と混同しない。②は訓練の支持が弱い領域に注目するが、データ数のみからモデルの誤差を確定することはできない。各例は実習場面を説明するための仮例であり、実データの観測結果ではない。</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出典：実習要求「本調査における学習外の考え方」</a:t>
            </a:r>
            <a:endParaRPr/>
          </a:p>
          <a:p xmlns:a="http://schemas.openxmlformats.org/drawingml/2006/main">
            <a:pPr marL="0" lvl="0" indent="0" algn="l">
              <a:spcBef>
                <a:spcPts val="0"/>
              </a:spcBef>
              <a:spcAft>
                <a:spcPts val="0"/>
              </a:spcAft>
              <a:buNone/>
            </a:pPr>
            <a:r>
              <a:t>ローカル資料：C:/Users/lxcfi/Desktop/（ユーザー提供資料）</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S1はレビュー的な整理を含むが、主要な貢献は比較実験である。S3とS6はサーベイとして用いる。山原論文の刊行年と発表先は提示されたスキャンから確定できない。13の年は提示PDFの書誌記載に従う。各ファイル：C:/Users/lxcfi/Desktop/S1.pdf、S3.pdf、S6.pdf、13.pdf、14.pdf、山原.pdf。</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出典：各論文の表題・要旨。正式な書誌情報は付録に記載</a:t>
            </a:r>
            <a:endParaRPr/>
          </a:p>
          <a:p xmlns:a="http://schemas.openxmlformats.org/drawingml/2006/main">
            <a:pPr marL="0" lvl="0" indent="0" algn="l">
              <a:spcBef>
                <a:spcPts val="0"/>
              </a:spcBef>
              <a:spcAft>
                <a:spcPts val="0"/>
              </a:spcAft>
              <a:buNone/>
            </a:pPr>
            <a:r>
              <a:t>ローカル資料：C:/Users/lxcfi/Desktop/（ユーザー提供資料）</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用語の使い方は文献によって異なる。Noveltyについては14のキーワードと正常状態に基づく検知の説明を対応付けたものであり、全分野に共通する厳密な定義と主張しない。Data driftは運用中の分布変化として関連するが、今回の文献群だけから統一的な定義を確定していないため、独立した確定定義としては扱わない。新しい運転状態は学習外になり得るが、必ずしも故障ではない。</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出典：S1 §3、S3 §2、13 §1–2、14 §3、山原 §1</a:t>
            </a:r>
            <a:endParaRPr/>
          </a:p>
          <a:p xmlns:a="http://schemas.openxmlformats.org/drawingml/2006/main">
            <a:pPr marL="0" lvl="0" indent="0" algn="l">
              <a:spcBef>
                <a:spcPts val="0"/>
              </a:spcBef>
              <a:spcAft>
                <a:spcPts val="0"/>
              </a:spcAft>
              <a:buNone/>
            </a:pPr>
            <a:r>
              <a:t>ローカル資料：C:/Users/lxcfi/Desktop/（ユーザー提供資料）</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13はP*(X,Y)≠P(X,Y)を広義のOODとする。一方、運用時に新しい真の出力を観測しない入力検知器には限界がある。同じ圧力・流量でも設備状態の変化で末端圧力が変わるという例は、本調査への対応付けとして提示する。真の出力が後で得られる場合には、入力検知に加えて予測誤差の監視を検討できる。</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出典：13 §1、§2.1、§7</a:t>
            </a:r>
            <a:endParaRPr/>
          </a:p>
          <a:p xmlns:a="http://schemas.openxmlformats.org/drawingml/2006/main">
            <a:pPr marL="0" lvl="0" indent="0" algn="l">
              <a:spcBef>
                <a:spcPts val="0"/>
              </a:spcBef>
              <a:spcAft>
                <a:spcPts val="0"/>
              </a:spcAft>
              <a:buNone/>
            </a:pPr>
            <a:r>
              <a:t>ローカル資料：C:/Users/lxcfi/Desktop/（ユーザー提供資料）</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S1のContextualは特定の文脈で異常になる点を指す。S3のSubsequenceは連続した点の共同挙動に注目する。S3のOutlier time seriesには、多変量時系列の中で他と異なる挙動を示す変数系列の例がある。S6のIntra-metricは点単位のglobal/localと、shapelet/trend/cycleに分かれる。Inter-metricはglobal、local、temporal-localを説明している。</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出典：S1 §3.2、S3 §2.2、S6 §2.2</a:t>
            </a:r>
            <a:endParaRPr/>
          </a:p>
          <a:p xmlns:a="http://schemas.openxmlformats.org/drawingml/2006/main">
            <a:pPr marL="0" lvl="0" indent="0" algn="l">
              <a:spcBef>
                <a:spcPts val="0"/>
              </a:spcBef>
              <a:spcAft>
                <a:spcPts val="0"/>
              </a:spcAft>
              <a:buNone/>
            </a:pPr>
            <a:r>
              <a:t>ローカル資料：C:/Users/lxcfi/Desktop/（ユーザー提供資料）</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例は説明用である。単一時刻で点の珍しさは評価できても、固定状態の長さや周期の変化は観測できない。低密度領域が必ずPoint/Contextual/Collectiveのいずれか一つに対応するわけではない。検知器に履歴を持たせることは、回帰モデルの入力仕様とは別に設計できる。</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出典：実習要求、S1・S3・S6を基に本調査で整理</a:t>
            </a:r>
            <a:endParaRPr/>
          </a:p>
          <a:p xmlns:a="http://schemas.openxmlformats.org/drawingml/2006/main">
            <a:pPr marL="0" lvl="0" indent="0" algn="l">
              <a:spcBef>
                <a:spcPts val="0"/>
              </a:spcBef>
              <a:spcAft>
                <a:spcPts val="0"/>
              </a:spcAft>
              <a:buNone/>
            </a:pPr>
            <a:r>
              <a:t>ローカル資料：C:/Users/lxcfi/Desktop/（ユーザー提供資料）</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S3のNature of the Methodは単変量の検知手法か多変量の検知手法かという軸である。多変量データを変数ごとに独立処理する方式もある。S6の学習形態の呼称は原文に依存するため、比較表では呼称だけでなく、正常Xのみか、異常ラベルを使うか、回帰Yを使うかを具体的に記載する。</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出典：S1 §4.1、S3 §2–3、S6 §3・Table 1</a:t>
            </a:r>
            <a:endParaRPr/>
          </a:p>
          <a:p xmlns:a="http://schemas.openxmlformats.org/drawingml/2006/main">
            <a:pPr marL="0" lvl="0" indent="0" algn="l">
              <a:spcBef>
                <a:spcPts val="0"/>
              </a:spcBef>
              <a:spcAft>
                <a:spcPts val="0"/>
              </a:spcAft>
              <a:buNone/>
            </a:pPr>
            <a:r>
              <a:t>ローカル資料：C:/Users/lxcfi/Desktop/（ユーザー提供資料）</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この表は原論文の一つの分類をそのまま転記したものではなく、実習要求に合わせた整理である。OutProは距離を使うが、変数と近傍の選定に教師あり森林を用いる。学習形態というラベルだけでは必要情報が伝わらないため、訓練時と運用時を分ける。</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出典：文献群を基にした本調査の整理。各行は排他的な分類ではない</a:t>
            </a:r>
            <a:endParaRPr/>
          </a:p>
          <a:p xmlns:a="http://schemas.openxmlformats.org/drawingml/2006/main">
            <a:pPr marL="0" lvl="0" indent="0" algn="l">
              <a:spcBef>
                <a:spcPts val="0"/>
              </a:spcBef>
              <a:spcAft>
                <a:spcPts val="0"/>
              </a:spcAft>
              <a:buNone/>
            </a:pPr>
            <a:r>
              <a:t>ローカル資料：C:/Users/lxcfi/Desktop/（ユーザー提供資料）</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S1は0から1に正規化したスコアに対し1000個の閾値を試し最高F1を報告する。窓を使わない手法にも近傍時刻内の検知を認める評価がある。したがって、部署で固定した閾値による逐点評価と数値を直接比較できない。DNNの利点が見られる条件はあるが、全般的な優越と一般化しない。出典PDFのpp.19–31付近、§5–6。</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出典：S1 §5–6、Table 1–2</a:t>
            </a:r>
            <a:endParaRPr/>
          </a:p>
          <a:p xmlns:a="http://schemas.openxmlformats.org/drawingml/2006/main">
            <a:pPr marL="0" lvl="0" indent="0" algn="l">
              <a:spcBef>
                <a:spcPts val="0"/>
              </a:spcBef>
              <a:spcAft>
                <a:spcPts val="0"/>
              </a:spcAft>
              <a:buNone/>
            </a:pPr>
            <a:r>
              <a:t>ローカル資料：C:/Users/lxcfi/Desktop/（ユーザー提供資料）</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原図の手書き記入も提供資料の一部として残っている。密度に基づく方法はk近傍の平均距離を用い、本文ではk=5。到平均距離の閾値は訓練中の最大距離。近傍方式では訓練各点の近傍平均距離の最大値を使う。絶対誤差が0.022 MPaより大きい点をAD外と仮定した評価も実施している。これは真の分布外ラベルではなく、推定誤差に基づく代理ラベル。総合的にはkNN_Mahを支持するが、当該データ・基準下での結論である。</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出典：山原 §3–5、Fig. 3。図は提供されたスキャンから引用</a:t>
            </a:r>
            <a:endParaRPr/>
          </a:p>
          <a:p xmlns:a="http://schemas.openxmlformats.org/drawingml/2006/main">
            <a:pPr marL="0" lvl="0" indent="0" algn="l">
              <a:spcBef>
                <a:spcPts val="0"/>
              </a:spcBef>
              <a:spcAft>
                <a:spcPts val="0"/>
              </a:spcAft>
              <a:buNone/>
            </a:pPr>
            <a:r>
              <a:t>ローカル資料：C:/Users/lxcfi/Desktop/（ユーザー提供資料）</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オートエンコーダの出力は入力の再構成値であり、圧力や処理後濁度の回帰出力とは異なる。圧力回帰器や濁度回帰器の前段・並列で使用できるという説明は、本調査の適用可能性に関する判断。原論文はこの回帰モデルの予測誤差抑制を直接実証していない。ノイズ除去AEは入力の一部を0にして元のデータを再構成する訓練を行う。原文の将来課題として過去サンプルを含める拡張が述べられる。</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出典：14 §3、§6、Eq. (1)</a:t>
            </a:r>
            <a:endParaRPr/>
          </a:p>
          <a:p xmlns:a="http://schemas.openxmlformats.org/drawingml/2006/main">
            <a:pPr marL="0" lvl="0" indent="0" algn="l">
              <a:spcBef>
                <a:spcPts val="0"/>
              </a:spcBef>
              <a:spcAft>
                <a:spcPts val="0"/>
              </a:spcAft>
              <a:buNone/>
            </a:pPr>
            <a:r>
              <a:t>ローカル資料：C:/Users/lxcfi/Desktop/（ユーザー提供資料）</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数値は原論文Table 1に忠実に記載。本文はAUCと記載しており、ここではAUC-PRと読み替えない。Lorenzは1000点のうち700点を訓練、300点をテストに使用。潜在変数z3の850–1000番を逆順にして合成異常を作る。原論文の評価は標準的な正常／異常の分離を調べており、実習定義の3条件を網羅する保証はない。閾値、潜在次元、正則化等は実習データで検討が必要。</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出典：14 §4–5、Table 1。対象：25次元合成、17次元・106次元の衛星データ</a:t>
            </a:r>
            <a:endParaRPr/>
          </a:p>
          <a:p xmlns:a="http://schemas.openxmlformats.org/drawingml/2006/main">
            <a:pPr marL="0" lvl="0" indent="0" algn="l">
              <a:spcBef>
                <a:spcPts val="0"/>
              </a:spcBef>
              <a:spcAft>
                <a:spcPts val="0"/>
              </a:spcAft>
              <a:buNone/>
            </a:pPr>
            <a:r>
              <a:t>ローカル資料：C:/Users/lxcfi/Desktop/（ユーザー提供資料）</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最終スコアは通常d(x)=Kの逆数×近傍内のD_S(x,z)の和。OPTICS版はreachability scoreを直接用いる例外。VarProは分割頻度ではなく、変数制約の解放による目的変数の挙動の変化を評価する。近傍は通常のユークリッドkNNそのものではない。各訓練点の出現回数nと、変数間の出現分布のGini impurity GからW=nGを作り上位K点を選ぶ。</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出典：13 §3、Algorithm 1。OutPro = OOD using variable priority</a:t>
            </a:r>
            <a:endParaRPr/>
          </a:p>
          <a:p xmlns:a="http://schemas.openxmlformats.org/drawingml/2006/main">
            <a:pPr marL="0" lvl="0" indent="0" algn="l">
              <a:spcBef>
                <a:spcPts val="0"/>
              </a:spcBef>
              <a:spcAft>
                <a:spcPts val="0"/>
              </a:spcAft>
              <a:buNone/>
            </a:pPr>
            <a:r>
              <a:t>ローカル資料：C:/Users/lxcfi/Desktop/（ユーザー提供資料）</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PMLBは連続目的変数かつ10変数以上の61データセットで、n=47–1066、d=10–124。合成OODは予測に関連する上位10%の変数に適用される。warpは周辺分布の尾部、jointは依存構造、supportは観測範囲の外への変化を意図する。jointについて周辺分布そのものが厳密に不変とまでは主張しない。入力2–3変数で変数選択の利点がどれほどあるかも未確認。純粋なconcept shiftの限界は第6頁参照。</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出典：13 §5.2–5.3、§7</a:t>
            </a:r>
            <a:endParaRPr/>
          </a:p>
          <a:p xmlns:a="http://schemas.openxmlformats.org/drawingml/2006/main">
            <a:pPr marL="0" lvl="0" indent="0" algn="l">
              <a:spcBef>
                <a:spcPts val="0"/>
              </a:spcBef>
              <a:spcAft>
                <a:spcPts val="0"/>
              </a:spcAft>
              <a:buNone/>
            </a:pPr>
            <a:r>
              <a:t>ローカル資料：C:/Users/lxcfi/Desktop/（ユーザー提供資料）</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山原のADを構成する段階では主として入力Xを用いるが、誤差による評価には真の出力Yが必要である。AEの運用には学習済み検知器が必要であり、入力だけで計算できるとは「何も学習済みモデルを持たない」という意味ではない。OutProも運用時には新しいYは不要だが、X,Yで学習した森林と参照サンプルを必要とする。</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出典：山原 §3–5、14 §3–6、13 §3–5</a:t>
            </a:r>
            <a:endParaRPr/>
          </a:p>
          <a:p xmlns:a="http://schemas.openxmlformats.org/drawingml/2006/main">
            <a:pPr marL="0" lvl="0" indent="0" algn="l">
              <a:spcBef>
                <a:spcPts val="0"/>
              </a:spcBef>
              <a:spcAft>
                <a:spcPts val="0"/>
              </a:spcAft>
              <a:buNone/>
            </a:pPr>
            <a:r>
              <a:t>ローカル資料：C:/Users/lxcfi/Desktop/（ユーザー提供資料）</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S1ではSWaTとWADIを現実に近い水系ベンチマークとして扱う。ただし対象の連続回帰出力がそのまま含まれるとは限らない。データの公開、利用条件、ライセンス、時刻粒度、バージョン、ダウンロード可否は公式配布元で別途確認が必要。今回は提供論文を基に候補を整理した段階であり、現時点の配布条件まで確認済みとはしない。</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出典：S1 Table 1、S6 §5、13 §5、14 §4。公開条件の確認状況は付録参照</a:t>
            </a:r>
            <a:endParaRPr/>
          </a:p>
          <a:p xmlns:a="http://schemas.openxmlformats.org/drawingml/2006/main">
            <a:pPr marL="0" lvl="0" indent="0" algn="l">
              <a:spcBef>
                <a:spcPts val="0"/>
              </a:spcBef>
              <a:spcAft>
                <a:spcPts val="0"/>
              </a:spcAft>
              <a:buNone/>
            </a:pPr>
            <a:r>
              <a:t>ローカル資料：C:/Users/lxcfi/Desktop/（ユーザー提供資料）</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閾値は独立した正常校正期間の上位分位などを候補とし、運用上許容できる誤検知率に合わせる。時系列には自己相関や季節性があるため、IIDを仮定した保証をそのまま主張しない。窓型入力では訓練とテストの窓重複にも注意する。入力の合成変化に対する評価と、実測Yを用いた誤差リスク評価は区別する。合成入力だけでは正しいYが得られない場合がある。</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出典：実習要求、山原の評価観点を基にした提案。実施結果ではない</a:t>
            </a:r>
            <a:endParaRPr/>
          </a:p>
          <a:p xmlns:a="http://schemas.openxmlformats.org/drawingml/2006/main">
            <a:pPr marL="0" lvl="0" indent="0" algn="l">
              <a:spcBef>
                <a:spcPts val="0"/>
              </a:spcBef>
              <a:spcAft>
                <a:spcPts val="0"/>
              </a:spcAft>
              <a:buNone/>
            </a:pPr>
            <a:r>
              <a:t>ローカル資料：C:/Users/lxcfi/Desktop/（ユーザー提供資料）</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本報告の主張は候補の整理であり、特定の手法が最適と決定したものではない。とくに3つの学習外条件を満たす評価データの構成、誤検知と見逃しの許容度、運用時にYが得られるタイミングを帯同指導者と確認したい。</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出典：本調査の整理。最適手法の決定や実データでの検証は今後の課題</a:t>
            </a:r>
            <a:endParaRPr/>
          </a:p>
          <a:p xmlns:a="http://schemas.openxmlformats.org/drawingml/2006/main">
            <a:pPr marL="0" lvl="0" indent="0" algn="l">
              <a:spcBef>
                <a:spcPts val="0"/>
              </a:spcBef>
              <a:spcAft>
                <a:spcPts val="0"/>
              </a:spcAft>
              <a:buNone/>
            </a:pPr>
            <a:r>
              <a:t>ローカル資料：C:/Users/lxcfi/Desktop/（ユーザー提供資料）</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S3のglobal/localは参照する文脈の範囲にもとづく区別。S6の学習形態では用語の説明に文献依存の差があるため、本報告では必要なデータとラベルを具体的に記載する。分類は本来異なる軸を含み、単一の木に無理に統合しない。</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出典：S1 §3–4、S3 §2–3、S6 §2–3</a:t>
            </a:r>
            <a:endParaRPr/>
          </a:p>
          <a:p xmlns:a="http://schemas.openxmlformats.org/drawingml/2006/main">
            <a:pPr marL="0" lvl="0" indent="0" algn="l">
              <a:spcBef>
                <a:spcPts val="0"/>
              </a:spcBef>
              <a:spcAft>
                <a:spcPts val="0"/>
              </a:spcAft>
              <a:buNone/>
            </a:pPr>
            <a:r>
              <a:t>ローカル資料：C:/Users/lxcfi/Desktop/（ユーザー提供資料）</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臨床例では95、99パーセンタイルを用いた議論があるが、その選択は当該例に依存する。一般的な校正保証は示していない。conformal calibrationは今後の課題として記載される。最低必要サンプル数や実機でのリアルタイム性を確定する根拠は今回の読解から得られていない。</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出典：13 §3、§5、§6、§7</a:t>
            </a:r>
            <a:endParaRPr/>
          </a:p>
          <a:p xmlns:a="http://schemas.openxmlformats.org/drawingml/2006/main">
            <a:pPr marL="0" lvl="0" indent="0" algn="l">
              <a:spcBef>
                <a:spcPts val="0"/>
              </a:spcBef>
              <a:spcAft>
                <a:spcPts val="0"/>
              </a:spcAft>
              <a:buNone/>
            </a:pPr>
            <a:r>
              <a:t>ローカル資料：C:/Users/lxcfi/Desktop/（ユーザー提供資料）</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原文ではKernel PCAに対する計算上の利点を議論し、実験全体の所要時間にも言及する。ただし、その結果を現在の配水モデルの1件当たりレイテンシへ読み替えない。Satelliteデータの公開条件や明示的なアノテーション手順は本論文のみから十分に確定できない。</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出典：14 §3–6、Table 1</a:t>
            </a:r>
            <a:endParaRPr/>
          </a:p>
          <a:p xmlns:a="http://schemas.openxmlformats.org/drawingml/2006/main">
            <a:pPr marL="0" lvl="0" indent="0" algn="l">
              <a:spcBef>
                <a:spcPts val="0"/>
              </a:spcBef>
              <a:spcAft>
                <a:spcPts val="0"/>
              </a:spcAft>
              <a:buNone/>
            </a:pPr>
            <a:r>
              <a:t>ローカル資料：C:/Users/lxcfi/Desktop/（ユーザー提供資料）</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S1 Table 1の異常比率はSWaT 11.98%、WADI 5.99%。S1には配布先としてSUTD iTrustのデータセットページ、SMDにはOmniAnomalyリポジトリ、SMAP/MSLにはTelemanom配布データの参照がある。本報告ではリンクの現時点の有効性・利用条件は未確認。PMLBはhttps://github.com/EpistasisLab/pmlb が文献で示されるプロジェクト名に対応するが、本報告では実際の取得を行っていない。時間窓長はデータ固有の属性ではなく、各検知器の前処理・入力仕様として別途記録する。</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出典：S1 Table 1、13 §5.3、14 §4。数値は各論文の使用版に限る</a:t>
            </a:r>
            <a:endParaRPr/>
          </a:p>
          <a:p xmlns:a="http://schemas.openxmlformats.org/drawingml/2006/main">
            <a:pPr marL="0" lvl="0" indent="0" algn="l">
              <a:spcBef>
                <a:spcPts val="0"/>
              </a:spcBef>
              <a:spcAft>
                <a:spcPts val="0"/>
              </a:spcAft>
              <a:buNone/>
            </a:pPr>
            <a:r>
              <a:t>ローカル資料：C:/Users/lxcfi/Desktop/（ユーザー提供資料）</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S1の提供版は2022年5月31日付の著者原稿で、Pattern Recognitionに提出された原稿として表記され、Version of Recordへのリンクがある。S3は2021年4月刊行の表示。書誌情報は提供された各PDFに基づく。</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出典：ユーザー提供PDFの書誌情報</a:t>
            </a:r>
            <a:endParaRPr/>
          </a:p>
          <a:p xmlns:a="http://schemas.openxmlformats.org/drawingml/2006/main">
            <a:pPr marL="0" lvl="0" indent="0" algn="l">
              <a:spcBef>
                <a:spcPts val="0"/>
              </a:spcBef>
              <a:spcAft>
                <a:spcPts val="0"/>
              </a:spcAft>
              <a:buNone/>
            </a:pPr>
            <a:r>
              <a:t>ローカル資料：C:/Users/lxcfi/Desktop/（ユーザー提供資料）</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13、14、山原のファイル番号はユーザーのファイル名に対応し、本報告内の参照記号である。提示された資料に含まれる記述と、本報告で提案した適用判断・評価案を区別している。</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出典：ユーザー提供PDF・DOCX</a:t>
            </a:r>
            <a:endParaRPr/>
          </a:p>
          <a:p xmlns:a="http://schemas.openxmlformats.org/drawingml/2006/main">
            <a:pPr marL="0" lvl="0" indent="0" algn="l">
              <a:spcBef>
                <a:spcPts val="0"/>
              </a:spcBef>
              <a:spcAft>
                <a:spcPts val="0"/>
              </a:spcAft>
              <a:buNone/>
            </a:pPr>
            <a:r>
              <a:t>ローカル資料：C:/Users/lxcfi/Desktop/（ユーザー提供資料）</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7b87a3e828404ab8"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da82841ef7a345f8"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2979c430a0194d84"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7bdee98caf854fe2"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67642124b5644ef9"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5cde6a783dad46f7"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1.xml" Id="R492871403c2f4c2d" /></Relationships>
</file>

<file path=ppt/slideLayouts/_rels/slideLayout8.xml.rels>&#65279;<?xml version="1.0" encoding="utf-8"?><Relationships xmlns="http://schemas.openxmlformats.org/package/2006/relationships"><Relationship Type="http://schemas.openxmlformats.org/officeDocument/2006/relationships/slideMaster" Target="/ppt/slideMasters/slideMaster1.xml" Id="R1401d7ef87e04c0d" /></Relationships>
</file>

<file path=ppt/slideLayouts/slideLayout1.xml><?xml version="1.0" encoding="utf-8"?>
<p:sldLayout xmlns:p="http://schemas.openxmlformats.org/presentationml/2006/main" preserve="1" userDrawn="1">
  <p:cSld name="Title Slide">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683004A5-B645-655E-5362-4217D55892E1}"/>
              </a:ext>
            </a:extLst>
          </p:cNvPr>
          <p:cNvSpPr>
            <a:spLocks xmlns:a="http://schemas.openxmlformats.org/drawingml/2006/main" noGrp="1"/>
          </p:cNvSpPr>
          <p:nvPr>
            <p:ph type="ctrTitle" idx="0"/>
          </p:nvPr>
        </p:nvSpPr>
        <p:spPr>
          <a:xfrm xmlns:a="http://schemas.openxmlformats.org/drawingml/2006/main">
            <a:off x="393700" y="1041400"/>
            <a:ext cx="7493000" cy="2491490"/>
          </a:xfrm>
        </p:spPr>
        <p:txBody>
          <a:bodyPr xmlns:a="http://schemas.openxmlformats.org/drawingml/2006/main" anchor="b"/>
          <a:lstStyle xmlns:a="http://schemas.openxmlformats.org/drawingml/2006/main">
            <a:lvl1pPr algn="l">
              <a:buNone/>
              <a:defRPr sz="6000"/>
            </a:lvl1pPr>
          </a:lstStyle>
          <a:p xmlns:a="http://schemas.openxmlformats.org/drawingml/2006/main">
            <a:r>
              <a:t>Click to edit Master title style</a:t>
            </a:r>
          </a:p>
        </p:txBody>
      </p:sp>
      <p:sp>
        <p:nvSpPr>
          <p:cNvPr id="3" name="Subtitle 2">
            <a:extLst xmlns:a="http://schemas.openxmlformats.org/drawingml/2006/main">
              <a:ext uri="{FF2B5EF4-FFF2-40B4-BE49-F238E27FC236}">
                <a16:creationId xmlns:a16="http://schemas.microsoft.com/office/drawing/2014/main" id="{C57031B1-59B2-C235-9FDD-8050418A5FD8}"/>
              </a:ext>
            </a:extLst>
          </p:cNvPr>
          <p:cNvSpPr>
            <a:spLocks xmlns:a="http://schemas.openxmlformats.org/drawingml/2006/main" noGrp="1"/>
          </p:cNvSpPr>
          <p:nvPr>
            <p:ph type="subTitle" idx="1"/>
          </p:nvPr>
        </p:nvSpPr>
        <p:spPr>
          <a:xfrm xmlns:a="http://schemas.openxmlformats.org/drawingml/2006/main">
            <a:off x="393700" y="4356100"/>
            <a:ext cx="5537200" cy="1638300"/>
          </a:xfrm>
        </p:spPr>
        <p:txBody>
          <a:bodyPr xmlns:a="http://schemas.openxmlformats.org/drawingml/2006/main"/>
          <a:lstStyle xmlns:a="http://schemas.openxmlformats.org/drawingml/2006/main">
            <a:lvl1pPr marL="0" indent="0" algn="l">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xmlns:a="http://schemas.openxmlformats.org/drawingml/2006/main">
            <a:r>
              <a:t>Click to edit Master subtitle style</a:t>
            </a:r>
          </a:p>
        </p:txBody>
      </p:sp>
    </p:spTree>
  </p:cSld>
</p:sldLayout>
</file>

<file path=ppt/slideLayouts/slideLayout2.xml><?xml version="1.0" encoding="utf-8"?>
<p:sldLayout xmlns:p="http://schemas.openxmlformats.org/presentationml/2006/main" preserve="1" userDrawn="1">
  <p:cSld name="Title and Content">
    <p:spTree>
      <p:nvGrpSpPr>
        <p:cNvPr id="1" name=""/>
        <p:cNvGrpSpPr/>
        <p:nvPr/>
      </p:nvGrpSpPr>
      <p:grpSpPr>
        <a:xfrm xmlns:a="http://schemas.openxmlformats.org/drawingml/2006/main"/>
      </p:grpSpPr>
      <p:sp>
        <p:nvSpPr>
          <p:cNvPr id="8" name="Text Placeholder 2">
            <a:extLst xmlns:a="http://schemas.openxmlformats.org/drawingml/2006/main">
              <a:ext uri="{FF2B5EF4-FFF2-40B4-BE49-F238E27FC236}">
                <a16:creationId xmlns:a16="http://schemas.microsoft.com/office/drawing/2014/main" id="{5E851FDE-9E0B-568C-1CBA-E72B86CC06ED}"/>
              </a:ext>
            </a:extLst>
          </p:cNvPr>
          <p:cNvSpPr>
            <a:spLocks xmlns:a="http://schemas.openxmlformats.org/drawingml/2006/main" noGrp="1"/>
          </p:cNvSpPr>
          <p:nvPr>
            <p:ph idx="1"/>
          </p:nvPr>
        </p:nvSpPr>
        <p:spPr>
          <a:xfrm xmlns:a="http://schemas.openxmlformats.org/drawingml/2006/main">
            <a:off x="393700" y="2032000"/>
            <a:ext cx="11404600" cy="3962400"/>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9" name="Footer Placeholder 4">
            <a:extLst xmlns:a="http://schemas.openxmlformats.org/drawingml/2006/main">
              <a:ext uri="{FF2B5EF4-FFF2-40B4-BE49-F238E27FC236}">
                <a16:creationId xmlns:a16="http://schemas.microsoft.com/office/drawing/2014/main" id="{29CCD18F-3BF6-A3EE-DAAE-66BD406D7E8D}"/>
              </a:ext>
            </a:extLst>
          </p:cNvPr>
          <p:cNvSpPr>
            <a:spLocks xmlns:a="http://schemas.openxmlformats.org/drawingml/2006/main" noGrp="1"/>
          </p:cNvSpPr>
          <p:nvPr>
            <p:ph type="ftr" idx="3"/>
          </p:nvPr>
        </p:nvSpPr>
        <p:spPr>
          <a:xfrm xmlns:a="http://schemas.openxmlformats.org/drawingml/2006/main">
            <a:off x="393700" y="6279952"/>
            <a:ext cx="3568700"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l">
              <a:buNone/>
              <a:defRPr sz="1000">
                <a:solidFill>
                  <a:schemeClr val="tx1"/>
                </a:solidFill>
              </a:defRPr>
            </a:lvl1pPr>
          </a:lstStyle>
          <a:p xmlns:a="http://schemas.openxmlformats.org/drawingml/2006/main">
            <a:endParaRPr sz="1000"/>
          </a:p>
        </p:txBody>
      </p:sp>
      <p:sp>
        <p:nvSpPr>
          <p:cNvPr id="10" name="Slide Number Placeholder 5">
            <a:extLst xmlns:a="http://schemas.openxmlformats.org/drawingml/2006/main">
              <a:ext uri="{FF2B5EF4-FFF2-40B4-BE49-F238E27FC236}">
                <a16:creationId xmlns:a16="http://schemas.microsoft.com/office/drawing/2014/main" id="{5186992D-ADA6-5A23-EBD5-6BEF0A2E61BA}"/>
              </a:ext>
            </a:extLst>
          </p:cNvPr>
          <p:cNvSpPr>
            <a:spLocks xmlns:a="http://schemas.openxmlformats.org/drawingml/2006/main" noGrp="1"/>
          </p:cNvSpPr>
          <p:nvPr>
            <p:ph type="sldNum" idx="4"/>
          </p:nvPr>
        </p:nvSpPr>
        <p:spPr>
          <a:xfrm xmlns:a="http://schemas.openxmlformats.org/drawingml/2006/main">
            <a:off x="11279332" y="6279294"/>
            <a:ext cx="518968"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r">
              <a:buNone/>
              <a:defRPr sz="1000" kern="1200">
                <a:solidFill>
                  <a:schemeClr val="tx1"/>
                </a:solidFill>
                <a:latin typeface="+mn-lt"/>
                <a:ea typeface="+mn-lt"/>
                <a:cs typeface="+mn-lt"/>
              </a:defRPr>
            </a:lvl1pPr>
          </a:lstStyle>
          <a:p xmlns:a="http://schemas.openxmlformats.org/drawingml/2006/main">
            <a:fld id="{8574A810-7A8E-054F-9F6B-09E9C694ECF9}" type="slidenum">
              <a:t>‹#›</a:t>
            </a:fld>
            <a:endParaRPr sz="1000"/>
          </a:p>
        </p:txBody>
      </p:sp>
      <p:sp>
        <p:nvSpPr>
          <p:cNvPr id="2" name="Title Placeholder 1">
            <a:extLst xmlns:a="http://schemas.openxmlformats.org/drawingml/2006/main">
              <a:ext uri="{FF2B5EF4-FFF2-40B4-BE49-F238E27FC236}">
                <a16:creationId xmlns:a16="http://schemas.microsoft.com/office/drawing/2014/main" id="{CDBB333F-FFCF-AA9E-7AC0-64DB02353FBC}"/>
              </a:ext>
            </a:extLst>
          </p:cNvPr>
          <p:cNvSpPr>
            <a:spLocks xmlns:a="http://schemas.openxmlformats.org/drawingml/2006/main" noGrp="1"/>
          </p:cNvSpPr>
          <p:nvPr>
            <p:ph type="title" idx="0"/>
          </p:nvPr>
        </p:nvSpPr>
        <p:spPr>
          <a:xfrm xmlns:a="http://schemas.openxmlformats.org/drawingml/2006/main">
            <a:off x="393700" y="344008"/>
            <a:ext cx="11404600" cy="1047491"/>
          </a:xfrm>
          <a:prstGeom xmlns:a="http://schemas.openxmlformats.org/drawingml/2006/main" prst="rect">
            <a:avLst/>
          </a:prstGeom>
        </p:spPr>
        <p:txBody>
          <a:bodyPr xmlns:a="http://schemas.openxmlformats.org/drawingml/2006/main" vert="horz" lIns="0" tIns="0" rIns="0" bIns="0" anchor="t">
            <a:normAutofit/>
          </a:bodyPr>
          <a:lstStyle xmlns:a="http://schemas.openxmlformats.org/drawingml/2006/main"/>
          <a:p xmlns:a="http://schemas.openxmlformats.org/drawingml/2006/main">
            <a:r>
              <a:t>Click to edit Master title style</a:t>
            </a:r>
          </a:p>
        </p:txBody>
      </p:sp>
    </p:spTree>
  </p:cSld>
</p:sldLayout>
</file>

<file path=ppt/slideLayouts/slideLayout3.xml><?xml version="1.0" encoding="utf-8"?>
<p:sldLayout xmlns:p="http://schemas.openxmlformats.org/presentationml/2006/main" preserve="1" userDrawn="1">
  <p:cSld name="Two Content">
    <p:spTree>
      <p:nvGrpSpPr>
        <p:cNvPr id="1" name=""/>
        <p:cNvGrpSpPr/>
        <p:nvPr/>
      </p:nvGrpSpPr>
      <p:grpSpPr>
        <a:xfrm xmlns:a="http://schemas.openxmlformats.org/drawingml/2006/main"/>
      </p:grpSpPr>
      <p:sp>
        <p:nvSpPr>
          <p:cNvPr id="9" name="Text Placeholder 2">
            <a:extLst xmlns:a="http://schemas.openxmlformats.org/drawingml/2006/main">
              <a:ext uri="{FF2B5EF4-FFF2-40B4-BE49-F238E27FC236}">
                <a16:creationId xmlns:a16="http://schemas.microsoft.com/office/drawing/2014/main" id="{4DCC3060-FADA-4310-30F9-24EC34B5AA87}"/>
              </a:ext>
            </a:extLst>
          </p:cNvPr>
          <p:cNvSpPr>
            <a:spLocks xmlns:a="http://schemas.openxmlformats.org/drawingml/2006/main" noGrp="1"/>
          </p:cNvSpPr>
          <p:nvPr>
            <p:ph idx="1"/>
          </p:nvPr>
        </p:nvSpPr>
        <p:spPr>
          <a:xfrm xmlns:a="http://schemas.openxmlformats.org/drawingml/2006/main">
            <a:off x="393700" y="2032000"/>
            <a:ext cx="5537200" cy="3962400"/>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10" name="Footer Placeholder 4">
            <a:extLst xmlns:a="http://schemas.openxmlformats.org/drawingml/2006/main">
              <a:ext uri="{FF2B5EF4-FFF2-40B4-BE49-F238E27FC236}">
                <a16:creationId xmlns:a16="http://schemas.microsoft.com/office/drawing/2014/main" id="{19E7B047-08E6-29C1-F101-C084D555AACC}"/>
              </a:ext>
            </a:extLst>
          </p:cNvPr>
          <p:cNvSpPr>
            <a:spLocks xmlns:a="http://schemas.openxmlformats.org/drawingml/2006/main" noGrp="1"/>
          </p:cNvSpPr>
          <p:nvPr>
            <p:ph type="ftr" idx="3"/>
          </p:nvPr>
        </p:nvSpPr>
        <p:spPr>
          <a:xfrm xmlns:a="http://schemas.openxmlformats.org/drawingml/2006/main">
            <a:off x="393700" y="6279952"/>
            <a:ext cx="3568700"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l">
              <a:buNone/>
              <a:defRPr sz="1000">
                <a:solidFill>
                  <a:schemeClr val="tx1"/>
                </a:solidFill>
              </a:defRPr>
            </a:lvl1pPr>
          </a:lstStyle>
          <a:p xmlns:a="http://schemas.openxmlformats.org/drawingml/2006/main">
            <a:endParaRPr sz="1000"/>
          </a:p>
        </p:txBody>
      </p:sp>
      <p:sp>
        <p:nvSpPr>
          <p:cNvPr id="11" name="Slide Number Placeholder 5">
            <a:extLst xmlns:a="http://schemas.openxmlformats.org/drawingml/2006/main">
              <a:ext uri="{FF2B5EF4-FFF2-40B4-BE49-F238E27FC236}">
                <a16:creationId xmlns:a16="http://schemas.microsoft.com/office/drawing/2014/main" id="{3DE564C6-8AA0-935D-A919-07AFA15B335B}"/>
              </a:ext>
            </a:extLst>
          </p:cNvPr>
          <p:cNvSpPr>
            <a:spLocks xmlns:a="http://schemas.openxmlformats.org/drawingml/2006/main" noGrp="1"/>
          </p:cNvSpPr>
          <p:nvPr>
            <p:ph type="sldNum" idx="4"/>
          </p:nvPr>
        </p:nvSpPr>
        <p:spPr>
          <a:xfrm xmlns:a="http://schemas.openxmlformats.org/drawingml/2006/main">
            <a:off x="11279332" y="6279294"/>
            <a:ext cx="518968"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r">
              <a:buNone/>
              <a:defRPr sz="1000" kern="1200">
                <a:solidFill>
                  <a:schemeClr val="tx1"/>
                </a:solidFill>
                <a:latin typeface="+mn-lt"/>
                <a:ea typeface="+mn-lt"/>
                <a:cs typeface="+mn-lt"/>
              </a:defRPr>
            </a:lvl1pPr>
          </a:lstStyle>
          <a:p xmlns:a="http://schemas.openxmlformats.org/drawingml/2006/main">
            <a:fld id="{8574A810-7A8E-054F-9F6B-09E9C694ECF9}" type="slidenum">
              <a:t>‹#›</a:t>
            </a:fld>
            <a:endParaRPr sz="1000"/>
          </a:p>
        </p:txBody>
      </p:sp>
      <p:sp>
        <p:nvSpPr>
          <p:cNvPr id="12" name="Text Placeholder 2">
            <a:extLst xmlns:a="http://schemas.openxmlformats.org/drawingml/2006/main">
              <a:ext uri="{FF2B5EF4-FFF2-40B4-BE49-F238E27FC236}">
                <a16:creationId xmlns:a16="http://schemas.microsoft.com/office/drawing/2014/main" id="{4ABE46D3-8F05-1C7F-3EC7-20BFCC76C251}"/>
              </a:ext>
            </a:extLst>
          </p:cNvPr>
          <p:cNvSpPr>
            <a:spLocks xmlns:a="http://schemas.openxmlformats.org/drawingml/2006/main" noGrp="1"/>
          </p:cNvSpPr>
          <p:nvPr>
            <p:ph idx="10"/>
          </p:nvPr>
        </p:nvSpPr>
        <p:spPr>
          <a:xfrm xmlns:a="http://schemas.openxmlformats.org/drawingml/2006/main">
            <a:off x="6256618" y="2032000"/>
            <a:ext cx="5537200" cy="3962400"/>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2" name="Title Placeholder 1">
            <a:extLst xmlns:a="http://schemas.openxmlformats.org/drawingml/2006/main">
              <a:ext uri="{FF2B5EF4-FFF2-40B4-BE49-F238E27FC236}">
                <a16:creationId xmlns:a16="http://schemas.microsoft.com/office/drawing/2014/main" id="{739D2C21-36BF-25E7-8E97-1D17F313F7AF}"/>
              </a:ext>
            </a:extLst>
          </p:cNvPr>
          <p:cNvSpPr>
            <a:spLocks xmlns:a="http://schemas.openxmlformats.org/drawingml/2006/main" noGrp="1"/>
          </p:cNvSpPr>
          <p:nvPr>
            <p:ph type="title" idx="0"/>
          </p:nvPr>
        </p:nvSpPr>
        <p:spPr>
          <a:xfrm xmlns:a="http://schemas.openxmlformats.org/drawingml/2006/main">
            <a:off x="393700" y="344008"/>
            <a:ext cx="11404600" cy="1047491"/>
          </a:xfrm>
          <a:prstGeom xmlns:a="http://schemas.openxmlformats.org/drawingml/2006/main" prst="rect">
            <a:avLst/>
          </a:prstGeom>
        </p:spPr>
        <p:txBody>
          <a:bodyPr xmlns:a="http://schemas.openxmlformats.org/drawingml/2006/main" vert="horz" lIns="0" tIns="0" rIns="0" bIns="0" anchor="t">
            <a:normAutofit/>
          </a:bodyPr>
          <a:lstStyle xmlns:a="http://schemas.openxmlformats.org/drawingml/2006/main"/>
          <a:p xmlns:a="http://schemas.openxmlformats.org/drawingml/2006/main">
            <a:r>
              <a:t>Click to edit Master title style</a:t>
            </a:r>
          </a:p>
        </p:txBody>
      </p:sp>
    </p:spTree>
  </p:cSld>
</p:sldLayout>
</file>

<file path=ppt/slideLayouts/slideLayout4.xml><?xml version="1.0" encoding="utf-8"?>
<p:sldLayout xmlns:p="http://schemas.openxmlformats.org/presentationml/2006/main" preserve="1" userDrawn="1">
  <p:cSld name="Three Content">
    <p:spTree>
      <p:nvGrpSpPr>
        <p:cNvPr id="1" name=""/>
        <p:cNvGrpSpPr/>
        <p:nvPr/>
      </p:nvGrpSpPr>
      <p:grpSpPr>
        <a:xfrm xmlns:a="http://schemas.openxmlformats.org/drawingml/2006/main"/>
      </p:grpSpPr>
      <p:sp>
        <p:nvSpPr>
          <p:cNvPr id="11" name="Text Placeholder 2">
            <a:extLst xmlns:a="http://schemas.openxmlformats.org/drawingml/2006/main">
              <a:ext uri="{FF2B5EF4-FFF2-40B4-BE49-F238E27FC236}">
                <a16:creationId xmlns:a16="http://schemas.microsoft.com/office/drawing/2014/main" id="{6F7D12C6-B3BC-2F80-A661-00CC228193B5}"/>
              </a:ext>
            </a:extLst>
          </p:cNvPr>
          <p:cNvSpPr>
            <a:spLocks xmlns:a="http://schemas.openxmlformats.org/drawingml/2006/main" noGrp="1"/>
          </p:cNvSpPr>
          <p:nvPr>
            <p:ph idx="1"/>
          </p:nvPr>
        </p:nvSpPr>
        <p:spPr>
          <a:xfrm xmlns:a="http://schemas.openxmlformats.org/drawingml/2006/main">
            <a:off x="393700" y="2032000"/>
            <a:ext cx="3568700" cy="3962400"/>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12" name="Footer Placeholder 4">
            <a:extLst xmlns:a="http://schemas.openxmlformats.org/drawingml/2006/main">
              <a:ext uri="{FF2B5EF4-FFF2-40B4-BE49-F238E27FC236}">
                <a16:creationId xmlns:a16="http://schemas.microsoft.com/office/drawing/2014/main" id="{0682803B-B799-370F-B1B9-EB49CCB10A11}"/>
              </a:ext>
            </a:extLst>
          </p:cNvPr>
          <p:cNvSpPr>
            <a:spLocks xmlns:a="http://schemas.openxmlformats.org/drawingml/2006/main" noGrp="1"/>
          </p:cNvSpPr>
          <p:nvPr>
            <p:ph type="ftr" idx="3"/>
          </p:nvPr>
        </p:nvSpPr>
        <p:spPr>
          <a:xfrm xmlns:a="http://schemas.openxmlformats.org/drawingml/2006/main">
            <a:off x="393700" y="6279952"/>
            <a:ext cx="3568700"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l">
              <a:buNone/>
              <a:defRPr sz="1000">
                <a:solidFill>
                  <a:schemeClr val="tx1"/>
                </a:solidFill>
              </a:defRPr>
            </a:lvl1pPr>
          </a:lstStyle>
          <a:p xmlns:a="http://schemas.openxmlformats.org/drawingml/2006/main">
            <a:endParaRPr sz="1000"/>
          </a:p>
        </p:txBody>
      </p:sp>
      <p:sp>
        <p:nvSpPr>
          <p:cNvPr id="13" name="Slide Number Placeholder 5">
            <a:extLst xmlns:a="http://schemas.openxmlformats.org/drawingml/2006/main">
              <a:ext uri="{FF2B5EF4-FFF2-40B4-BE49-F238E27FC236}">
                <a16:creationId xmlns:a16="http://schemas.microsoft.com/office/drawing/2014/main" id="{AFE26095-B1FD-5C7C-C8D6-78ABF739DCBA}"/>
              </a:ext>
            </a:extLst>
          </p:cNvPr>
          <p:cNvSpPr>
            <a:spLocks xmlns:a="http://schemas.openxmlformats.org/drawingml/2006/main" noGrp="1"/>
          </p:cNvSpPr>
          <p:nvPr>
            <p:ph type="sldNum" idx="4"/>
          </p:nvPr>
        </p:nvSpPr>
        <p:spPr>
          <a:xfrm xmlns:a="http://schemas.openxmlformats.org/drawingml/2006/main">
            <a:off x="11279332" y="6279294"/>
            <a:ext cx="518968"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r">
              <a:buNone/>
              <a:defRPr sz="1000" kern="1200">
                <a:solidFill>
                  <a:schemeClr val="tx1"/>
                </a:solidFill>
                <a:latin typeface="+mn-lt"/>
                <a:ea typeface="+mn-lt"/>
                <a:cs typeface="+mn-lt"/>
              </a:defRPr>
            </a:lvl1pPr>
          </a:lstStyle>
          <a:p xmlns:a="http://schemas.openxmlformats.org/drawingml/2006/main">
            <a:fld id="{8574A810-7A8E-054F-9F6B-09E9C694ECF9}" type="slidenum">
              <a:t>‹#›</a:t>
            </a:fld>
            <a:endParaRPr sz="1000"/>
          </a:p>
        </p:txBody>
      </p:sp>
      <p:sp>
        <p:nvSpPr>
          <p:cNvPr id="14" name="Text Placeholder 2">
            <a:extLst xmlns:a="http://schemas.openxmlformats.org/drawingml/2006/main">
              <a:ext uri="{FF2B5EF4-FFF2-40B4-BE49-F238E27FC236}">
                <a16:creationId xmlns:a16="http://schemas.microsoft.com/office/drawing/2014/main" id="{80E090C5-E6C8-92F2-E8C2-A840B8F1807D}"/>
              </a:ext>
            </a:extLst>
          </p:cNvPr>
          <p:cNvSpPr>
            <a:spLocks xmlns:a="http://schemas.openxmlformats.org/drawingml/2006/main" noGrp="1"/>
          </p:cNvSpPr>
          <p:nvPr>
            <p:ph idx="10"/>
          </p:nvPr>
        </p:nvSpPr>
        <p:spPr>
          <a:xfrm xmlns:a="http://schemas.openxmlformats.org/drawingml/2006/main">
            <a:off x="4318000" y="2032000"/>
            <a:ext cx="3568700" cy="3962400"/>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15" name="Text Placeholder 2">
            <a:extLst xmlns:a="http://schemas.openxmlformats.org/drawingml/2006/main">
              <a:ext uri="{FF2B5EF4-FFF2-40B4-BE49-F238E27FC236}">
                <a16:creationId xmlns:a16="http://schemas.microsoft.com/office/drawing/2014/main" id="{0C6D2D15-AEC2-9F99-316F-C37AF863965D}"/>
              </a:ext>
            </a:extLst>
          </p:cNvPr>
          <p:cNvSpPr>
            <a:spLocks xmlns:a="http://schemas.openxmlformats.org/drawingml/2006/main" noGrp="1"/>
          </p:cNvSpPr>
          <p:nvPr>
            <p:ph idx="11"/>
          </p:nvPr>
        </p:nvSpPr>
        <p:spPr>
          <a:xfrm xmlns:a="http://schemas.openxmlformats.org/drawingml/2006/main">
            <a:off x="8232273" y="2032000"/>
            <a:ext cx="3568700" cy="3962400"/>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2" name="Title Placeholder 1">
            <a:extLst xmlns:a="http://schemas.openxmlformats.org/drawingml/2006/main">
              <a:ext uri="{FF2B5EF4-FFF2-40B4-BE49-F238E27FC236}">
                <a16:creationId xmlns:a16="http://schemas.microsoft.com/office/drawing/2014/main" id="{EC59174D-4FF5-0FD8-FE78-F71A39E187AE}"/>
              </a:ext>
            </a:extLst>
          </p:cNvPr>
          <p:cNvSpPr>
            <a:spLocks xmlns:a="http://schemas.openxmlformats.org/drawingml/2006/main" noGrp="1"/>
          </p:cNvSpPr>
          <p:nvPr>
            <p:ph type="title" idx="0"/>
          </p:nvPr>
        </p:nvSpPr>
        <p:spPr>
          <a:xfrm xmlns:a="http://schemas.openxmlformats.org/drawingml/2006/main">
            <a:off x="393700" y="344008"/>
            <a:ext cx="11404600" cy="1047491"/>
          </a:xfrm>
          <a:prstGeom xmlns:a="http://schemas.openxmlformats.org/drawingml/2006/main" prst="rect">
            <a:avLst/>
          </a:prstGeom>
        </p:spPr>
        <p:txBody>
          <a:bodyPr xmlns:a="http://schemas.openxmlformats.org/drawingml/2006/main" vert="horz" lIns="0" tIns="0" rIns="0" bIns="0" anchor="t">
            <a:normAutofit/>
          </a:bodyPr>
          <a:lstStyle xmlns:a="http://schemas.openxmlformats.org/drawingml/2006/main"/>
          <a:p xmlns:a="http://schemas.openxmlformats.org/drawingml/2006/main">
            <a:r>
              <a:t>Click to edit Master title style</a:t>
            </a:r>
          </a:p>
        </p:txBody>
      </p:sp>
    </p:spTree>
  </p:cSld>
</p:sldLayout>
</file>

<file path=ppt/slideLayouts/slideLayout5.xml><?xml version="1.0" encoding="utf-8"?>
<p:sldLayout xmlns:p="http://schemas.openxmlformats.org/presentationml/2006/main" preserve="1" userDrawn="1">
  <p:cSld name="Four Content">
    <p:spTree>
      <p:nvGrpSpPr>
        <p:cNvPr id="1" name=""/>
        <p:cNvGrpSpPr/>
        <p:nvPr/>
      </p:nvGrpSpPr>
      <p:grpSpPr>
        <a:xfrm xmlns:a="http://schemas.openxmlformats.org/drawingml/2006/main"/>
      </p:grpSpPr>
      <p:sp>
        <p:nvSpPr>
          <p:cNvPr id="11" name="Text Placeholder 2">
            <a:extLst xmlns:a="http://schemas.openxmlformats.org/drawingml/2006/main">
              <a:ext uri="{FF2B5EF4-FFF2-40B4-BE49-F238E27FC236}">
                <a16:creationId xmlns:a16="http://schemas.microsoft.com/office/drawing/2014/main" id="{6F7D12C6-B3BC-2F80-A661-00CC228193B5}"/>
              </a:ext>
            </a:extLst>
          </p:cNvPr>
          <p:cNvSpPr>
            <a:spLocks xmlns:a="http://schemas.openxmlformats.org/drawingml/2006/main" noGrp="1"/>
          </p:cNvSpPr>
          <p:nvPr>
            <p:ph idx="1"/>
          </p:nvPr>
        </p:nvSpPr>
        <p:spPr>
          <a:xfrm xmlns:a="http://schemas.openxmlformats.org/drawingml/2006/main">
            <a:off x="393700" y="2213811"/>
            <a:ext cx="2595934" cy="3780589"/>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lvl1pPr>
              <a:buNone/>
              <a:defRPr sz="1600"/>
            </a:lvl1pPr>
            <a:lvl2pPr>
              <a:buNone/>
              <a:defRPr sz="1600"/>
            </a:lvl2pPr>
            <a:lvl3pPr>
              <a:buNone/>
              <a:defRPr sz="1600"/>
            </a:lvl3pPr>
            <a:lvl4pPr>
              <a:buNone/>
              <a:defRPr sz="1600"/>
            </a:lvl4pPr>
            <a:lvl5pPr>
              <a:buNone/>
              <a:defRPr sz="1600"/>
            </a:lvl5pPr>
          </a:lstStyle>
          <a:p xmlns:a="http://schemas.openxmlformats.org/drawingml/2006/main">
            <a:pPr lvl="0">
              <a:buNone/>
            </a:pPr>
            <a:r>
              <a:t>Click to edit Master</a:t>
            </a:r>
          </a:p>
        </p:txBody>
      </p:sp>
      <p:sp>
        <p:nvSpPr>
          <p:cNvPr id="12" name="Footer Placeholder 4">
            <a:extLst xmlns:a="http://schemas.openxmlformats.org/drawingml/2006/main">
              <a:ext uri="{FF2B5EF4-FFF2-40B4-BE49-F238E27FC236}">
                <a16:creationId xmlns:a16="http://schemas.microsoft.com/office/drawing/2014/main" id="{0682803B-B799-370F-B1B9-EB49CCB10A11}"/>
              </a:ext>
            </a:extLst>
          </p:cNvPr>
          <p:cNvSpPr>
            <a:spLocks xmlns:a="http://schemas.openxmlformats.org/drawingml/2006/main" noGrp="1"/>
          </p:cNvSpPr>
          <p:nvPr>
            <p:ph type="ftr" idx="3"/>
          </p:nvPr>
        </p:nvSpPr>
        <p:spPr>
          <a:xfrm xmlns:a="http://schemas.openxmlformats.org/drawingml/2006/main">
            <a:off x="393700" y="6279952"/>
            <a:ext cx="3568700"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l">
              <a:buNone/>
              <a:defRPr sz="1000">
                <a:solidFill>
                  <a:schemeClr val="tx1"/>
                </a:solidFill>
              </a:defRPr>
            </a:lvl1pPr>
          </a:lstStyle>
          <a:p xmlns:a="http://schemas.openxmlformats.org/drawingml/2006/main">
            <a:endParaRPr sz="1000"/>
          </a:p>
        </p:txBody>
      </p:sp>
      <p:sp>
        <p:nvSpPr>
          <p:cNvPr id="13" name="Slide Number Placeholder 5">
            <a:extLst xmlns:a="http://schemas.openxmlformats.org/drawingml/2006/main">
              <a:ext uri="{FF2B5EF4-FFF2-40B4-BE49-F238E27FC236}">
                <a16:creationId xmlns:a16="http://schemas.microsoft.com/office/drawing/2014/main" id="{AFE26095-B1FD-5C7C-C8D6-78ABF739DCBA}"/>
              </a:ext>
            </a:extLst>
          </p:cNvPr>
          <p:cNvSpPr>
            <a:spLocks xmlns:a="http://schemas.openxmlformats.org/drawingml/2006/main" noGrp="1"/>
          </p:cNvSpPr>
          <p:nvPr>
            <p:ph type="sldNum" idx="4"/>
          </p:nvPr>
        </p:nvSpPr>
        <p:spPr>
          <a:xfrm xmlns:a="http://schemas.openxmlformats.org/drawingml/2006/main">
            <a:off x="11279332" y="6279294"/>
            <a:ext cx="518968"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r">
              <a:buNone/>
              <a:defRPr sz="1000" kern="1200">
                <a:solidFill>
                  <a:schemeClr val="tx1"/>
                </a:solidFill>
                <a:latin typeface="+mn-lt"/>
                <a:ea typeface="+mn-lt"/>
                <a:cs typeface="+mn-lt"/>
              </a:defRPr>
            </a:lvl1pPr>
          </a:lstStyle>
          <a:p xmlns:a="http://schemas.openxmlformats.org/drawingml/2006/main">
            <a:fld id="{8574A810-7A8E-054F-9F6B-09E9C694ECF9}" type="slidenum">
              <a:t>‹#›</a:t>
            </a:fld>
            <a:endParaRPr sz="1000"/>
          </a:p>
        </p:txBody>
      </p:sp>
      <p:sp>
        <p:nvSpPr>
          <p:cNvPr id="2" name="Title Placeholder 1">
            <a:extLst xmlns:a="http://schemas.openxmlformats.org/drawingml/2006/main">
              <a:ext uri="{FF2B5EF4-FFF2-40B4-BE49-F238E27FC236}">
                <a16:creationId xmlns:a16="http://schemas.microsoft.com/office/drawing/2014/main" id="{EC59174D-4FF5-0FD8-FE78-F71A39E187AE}"/>
              </a:ext>
            </a:extLst>
          </p:cNvPr>
          <p:cNvSpPr>
            <a:spLocks xmlns:a="http://schemas.openxmlformats.org/drawingml/2006/main" noGrp="1"/>
          </p:cNvSpPr>
          <p:nvPr>
            <p:ph type="title" idx="0"/>
          </p:nvPr>
        </p:nvSpPr>
        <p:spPr>
          <a:xfrm xmlns:a="http://schemas.openxmlformats.org/drawingml/2006/main">
            <a:off x="393700" y="344008"/>
            <a:ext cx="11404600" cy="1047491"/>
          </a:xfrm>
          <a:prstGeom xmlns:a="http://schemas.openxmlformats.org/drawingml/2006/main" prst="rect">
            <a:avLst/>
          </a:prstGeom>
        </p:spPr>
        <p:txBody>
          <a:bodyPr xmlns:a="http://schemas.openxmlformats.org/drawingml/2006/main" vert="horz" lIns="0" tIns="0" rIns="0" bIns="0" anchor="t">
            <a:normAutofit/>
          </a:bodyPr>
          <a:lstStyle xmlns:a="http://schemas.openxmlformats.org/drawingml/2006/main"/>
          <a:p xmlns:a="http://schemas.openxmlformats.org/drawingml/2006/main">
            <a:r>
              <a:t>Click to edit Master title style</a:t>
            </a:r>
          </a:p>
        </p:txBody>
      </p:sp>
      <p:sp>
        <p:nvSpPr>
          <p:cNvPr id="8" name="Text Placeholder 7">
            <a:extLst xmlns:a="http://schemas.openxmlformats.org/drawingml/2006/main">
              <a:ext uri="{FF2B5EF4-FFF2-40B4-BE49-F238E27FC236}">
                <a16:creationId xmlns:a16="http://schemas.microsoft.com/office/drawing/2014/main" id="{4F70A9DA-D783-0627-3166-E13B68C2ADAC}"/>
              </a:ext>
            </a:extLst>
          </p:cNvPr>
          <p:cNvSpPr>
            <a:spLocks xmlns:a="http://schemas.openxmlformats.org/drawingml/2006/main" noGrp="1"/>
          </p:cNvSpPr>
          <p:nvPr>
            <p:ph type="body" idx="12"/>
          </p:nvPr>
        </p:nvSpPr>
        <p:spPr>
          <a:xfrm xmlns:a="http://schemas.openxmlformats.org/drawingml/2006/main">
            <a:off x="3334966" y="2213811"/>
            <a:ext cx="2595934" cy="3780589"/>
          </a:xfrm>
        </p:spPr>
        <p:txBody>
          <a:bodyPr xmlns:a="http://schemas.openxmlformats.org/drawingml/2006/main"/>
          <a:lstStyle xmlns:a="http://schemas.openxmlformats.org/drawingml/2006/main">
            <a:lvl1pPr>
              <a:buNone/>
              <a:defRPr sz="1800"/>
            </a:lvl1pPr>
            <a:lvl2pPr>
              <a:buNone/>
              <a:defRPr sz="1800"/>
            </a:lvl2pPr>
            <a:lvl3pPr>
              <a:buNone/>
              <a:defRPr sz="1800"/>
            </a:lvl3pPr>
            <a:lvl4pPr>
              <a:buNone/>
              <a:defRPr sz="1800"/>
            </a:lvl4pPr>
            <a:lvl5pPr>
              <a:buNone/>
              <a:defRPr sz="1800"/>
            </a:lvl5pPr>
          </a:lstStyle>
          <a:p xmlns:a="http://schemas.openxmlformats.org/drawingml/2006/main">
            <a:pPr lvl="0">
              <a:buNone/>
            </a:pPr>
            <a:r>
              <a:t>Click to edit Master</a:t>
            </a:r>
          </a:p>
        </p:txBody>
      </p:sp>
      <p:sp>
        <p:nvSpPr>
          <p:cNvPr id="9" name="Text Placeholder 2">
            <a:extLst xmlns:a="http://schemas.openxmlformats.org/drawingml/2006/main">
              <a:ext uri="{FF2B5EF4-FFF2-40B4-BE49-F238E27FC236}">
                <a16:creationId xmlns:a16="http://schemas.microsoft.com/office/drawing/2014/main" id="{75BF2647-8E8C-CAEE-896D-0E1567AF7E99}"/>
              </a:ext>
            </a:extLst>
          </p:cNvPr>
          <p:cNvSpPr>
            <a:spLocks xmlns:a="http://schemas.openxmlformats.org/drawingml/2006/main" noGrp="1"/>
          </p:cNvSpPr>
          <p:nvPr>
            <p:ph idx="13"/>
          </p:nvPr>
        </p:nvSpPr>
        <p:spPr>
          <a:xfrm xmlns:a="http://schemas.openxmlformats.org/drawingml/2006/main">
            <a:off x="6264413" y="2213811"/>
            <a:ext cx="2595934" cy="3780589"/>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lvl1pPr>
              <a:buNone/>
              <a:defRPr sz="1600"/>
            </a:lvl1pPr>
            <a:lvl2pPr>
              <a:buNone/>
              <a:defRPr sz="1600"/>
            </a:lvl2pPr>
            <a:lvl3pPr>
              <a:buNone/>
              <a:defRPr sz="1600"/>
            </a:lvl3pPr>
            <a:lvl4pPr>
              <a:buNone/>
              <a:defRPr sz="1600"/>
            </a:lvl4pPr>
            <a:lvl5pPr>
              <a:buNone/>
              <a:defRPr sz="1600"/>
            </a:lvl5pPr>
          </a:lstStyle>
          <a:p xmlns:a="http://schemas.openxmlformats.org/drawingml/2006/main">
            <a:pPr lvl="0">
              <a:buNone/>
            </a:pPr>
            <a:r>
              <a:t>Click to edit Master</a:t>
            </a:r>
          </a:p>
        </p:txBody>
      </p:sp>
      <p:sp>
        <p:nvSpPr>
          <p:cNvPr id="10" name="Text Placeholder 7">
            <a:extLst xmlns:a="http://schemas.openxmlformats.org/drawingml/2006/main">
              <a:ext uri="{FF2B5EF4-FFF2-40B4-BE49-F238E27FC236}">
                <a16:creationId xmlns:a16="http://schemas.microsoft.com/office/drawing/2014/main" id="{37C6F143-221A-9959-8FBA-B9B1DB6602D0}"/>
              </a:ext>
            </a:extLst>
          </p:cNvPr>
          <p:cNvSpPr>
            <a:spLocks xmlns:a="http://schemas.openxmlformats.org/drawingml/2006/main" noGrp="1"/>
          </p:cNvSpPr>
          <p:nvPr>
            <p:ph type="body" idx="14"/>
          </p:nvPr>
        </p:nvSpPr>
        <p:spPr>
          <a:xfrm xmlns:a="http://schemas.openxmlformats.org/drawingml/2006/main">
            <a:off x="9205679" y="2213811"/>
            <a:ext cx="2595934" cy="3780589"/>
          </a:xfrm>
        </p:spPr>
        <p:txBody>
          <a:bodyPr xmlns:a="http://schemas.openxmlformats.org/drawingml/2006/main"/>
          <a:lstStyle xmlns:a="http://schemas.openxmlformats.org/drawingml/2006/main">
            <a:lvl1pPr>
              <a:buNone/>
              <a:defRPr sz="1800"/>
            </a:lvl1pPr>
            <a:lvl2pPr>
              <a:buNone/>
              <a:defRPr sz="1800"/>
            </a:lvl2pPr>
            <a:lvl3pPr>
              <a:buNone/>
              <a:defRPr sz="1800"/>
            </a:lvl3pPr>
            <a:lvl4pPr>
              <a:buNone/>
              <a:defRPr sz="1800"/>
            </a:lvl4pPr>
            <a:lvl5pPr>
              <a:buNone/>
              <a:defRPr sz="1800"/>
            </a:lvl5pPr>
          </a:lstStyle>
          <a:p xmlns:a="http://schemas.openxmlformats.org/drawingml/2006/main">
            <a:pPr lvl="0">
              <a:buNone/>
            </a:pPr>
            <a:r>
              <a:t>Click to edit Master</a:t>
            </a:r>
          </a:p>
        </p:txBody>
      </p:sp>
    </p:spTree>
  </p:cSld>
</p:sldLayout>
</file>

<file path=ppt/slideLayouts/slideLayout6.xml><?xml version="1.0" encoding="utf-8"?>
<p:sldLayout xmlns:p="http://schemas.openxmlformats.org/presentationml/2006/main" preserve="1" userDrawn="1">
  <p:cSld name="Title Only">
    <p:spTree>
      <p:nvGrpSpPr>
        <p:cNvPr id="1" name=""/>
        <p:cNvGrpSpPr/>
        <p:nvPr/>
      </p:nvGrpSpPr>
      <p:grpSpPr>
        <a:xfrm xmlns:a="http://schemas.openxmlformats.org/drawingml/2006/main"/>
      </p:grpSpPr>
      <p:sp>
        <p:nvSpPr>
          <p:cNvPr id="8" name="Footer Placeholder 4">
            <a:extLst xmlns:a="http://schemas.openxmlformats.org/drawingml/2006/main">
              <a:ext uri="{FF2B5EF4-FFF2-40B4-BE49-F238E27FC236}">
                <a16:creationId xmlns:a16="http://schemas.microsoft.com/office/drawing/2014/main" id="{DB1182C5-F22B-2641-06DE-4EDACA3C1DDD}"/>
              </a:ext>
            </a:extLst>
          </p:cNvPr>
          <p:cNvSpPr>
            <a:spLocks xmlns:a="http://schemas.openxmlformats.org/drawingml/2006/main" noGrp="1"/>
          </p:cNvSpPr>
          <p:nvPr>
            <p:ph type="ftr" idx="3"/>
          </p:nvPr>
        </p:nvSpPr>
        <p:spPr>
          <a:xfrm xmlns:a="http://schemas.openxmlformats.org/drawingml/2006/main">
            <a:off x="393700" y="6279952"/>
            <a:ext cx="3568700"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l">
              <a:buNone/>
              <a:defRPr sz="1000">
                <a:solidFill>
                  <a:schemeClr val="tx1"/>
                </a:solidFill>
              </a:defRPr>
            </a:lvl1pPr>
          </a:lstStyle>
          <a:p xmlns:a="http://schemas.openxmlformats.org/drawingml/2006/main">
            <a:endParaRPr sz="1000"/>
          </a:p>
        </p:txBody>
      </p:sp>
      <p:sp>
        <p:nvSpPr>
          <p:cNvPr id="9" name="Slide Number Placeholder 5">
            <a:extLst xmlns:a="http://schemas.openxmlformats.org/drawingml/2006/main">
              <a:ext uri="{FF2B5EF4-FFF2-40B4-BE49-F238E27FC236}">
                <a16:creationId xmlns:a16="http://schemas.microsoft.com/office/drawing/2014/main" id="{F97A4AD5-204B-38FD-4F33-270C2F9F5CC6}"/>
              </a:ext>
            </a:extLst>
          </p:cNvPr>
          <p:cNvSpPr>
            <a:spLocks xmlns:a="http://schemas.openxmlformats.org/drawingml/2006/main" noGrp="1"/>
          </p:cNvSpPr>
          <p:nvPr>
            <p:ph type="sldNum" idx="4"/>
          </p:nvPr>
        </p:nvSpPr>
        <p:spPr>
          <a:xfrm xmlns:a="http://schemas.openxmlformats.org/drawingml/2006/main">
            <a:off x="11279332" y="6279294"/>
            <a:ext cx="518968"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r">
              <a:buNone/>
              <a:defRPr sz="1000" kern="1200">
                <a:solidFill>
                  <a:schemeClr val="tx1"/>
                </a:solidFill>
                <a:latin typeface="+mn-lt"/>
                <a:ea typeface="+mn-lt"/>
                <a:cs typeface="+mn-lt"/>
              </a:defRPr>
            </a:lvl1pPr>
          </a:lstStyle>
          <a:p xmlns:a="http://schemas.openxmlformats.org/drawingml/2006/main">
            <a:fld id="{8574A810-7A8E-054F-9F6B-09E9C694ECF9}" type="slidenum">
              <a:t>‹#›</a:t>
            </a:fld>
            <a:endParaRPr sz="1000"/>
          </a:p>
        </p:txBody>
      </p:sp>
      <p:sp>
        <p:nvSpPr>
          <p:cNvPr id="2" name="Title Placeholder 1">
            <a:extLst xmlns:a="http://schemas.openxmlformats.org/drawingml/2006/main">
              <a:ext uri="{FF2B5EF4-FFF2-40B4-BE49-F238E27FC236}">
                <a16:creationId xmlns:a16="http://schemas.microsoft.com/office/drawing/2014/main" id="{75CF9983-3FD7-FAE4-9F0B-B2CE806D891D}"/>
              </a:ext>
            </a:extLst>
          </p:cNvPr>
          <p:cNvSpPr>
            <a:spLocks xmlns:a="http://schemas.openxmlformats.org/drawingml/2006/main" noGrp="1"/>
          </p:cNvSpPr>
          <p:nvPr>
            <p:ph type="title" idx="0"/>
          </p:nvPr>
        </p:nvSpPr>
        <p:spPr>
          <a:xfrm xmlns:a="http://schemas.openxmlformats.org/drawingml/2006/main">
            <a:off x="393700" y="344008"/>
            <a:ext cx="11404600" cy="1047491"/>
          </a:xfrm>
          <a:prstGeom xmlns:a="http://schemas.openxmlformats.org/drawingml/2006/main" prst="rect">
            <a:avLst/>
          </a:prstGeom>
        </p:spPr>
        <p:txBody>
          <a:bodyPr xmlns:a="http://schemas.openxmlformats.org/drawingml/2006/main" vert="horz" lIns="0" tIns="0" rIns="0" bIns="0" anchor="t">
            <a:normAutofit/>
          </a:bodyPr>
          <a:lstStyle xmlns:a="http://schemas.openxmlformats.org/drawingml/2006/main"/>
          <a:p xmlns:a="http://schemas.openxmlformats.org/drawingml/2006/main">
            <a:r>
              <a:t>Click to edit Master title style</a:t>
            </a:r>
          </a:p>
        </p:txBody>
      </p:sp>
    </p:spTree>
  </p:cSld>
</p:sldLayout>
</file>

<file path=ppt/slideLayouts/slideLayout7.xml><?xml version="1.0" encoding="utf-8"?>
<p:sldLayout xmlns:p="http://schemas.openxmlformats.org/presentationml/2006/main" preserve="1" userDrawn="1">
  <p:cSld name="Footer Only">
    <p:spTree>
      <p:nvGrpSpPr>
        <p:cNvPr id="1" name=""/>
        <p:cNvGrpSpPr/>
        <p:nvPr/>
      </p:nvGrpSpPr>
      <p:grpSpPr>
        <a:xfrm xmlns:a="http://schemas.openxmlformats.org/drawingml/2006/main"/>
      </p:grpSpPr>
      <p:sp>
        <p:nvSpPr>
          <p:cNvPr id="7" name="Footer Placeholder 4">
            <a:extLst xmlns:a="http://schemas.openxmlformats.org/drawingml/2006/main">
              <a:ext uri="{FF2B5EF4-FFF2-40B4-BE49-F238E27FC236}">
                <a16:creationId xmlns:a16="http://schemas.microsoft.com/office/drawing/2014/main" id="{1012CBCC-C555-8C11-443D-86D6F7A45CF8}"/>
              </a:ext>
            </a:extLst>
          </p:cNvPr>
          <p:cNvSpPr>
            <a:spLocks xmlns:a="http://schemas.openxmlformats.org/drawingml/2006/main" noGrp="1"/>
          </p:cNvSpPr>
          <p:nvPr>
            <p:ph type="ftr" idx="3"/>
          </p:nvPr>
        </p:nvSpPr>
        <p:spPr>
          <a:xfrm xmlns:a="http://schemas.openxmlformats.org/drawingml/2006/main">
            <a:off x="393700" y="6279952"/>
            <a:ext cx="3568700"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l">
              <a:buNone/>
              <a:defRPr sz="1000">
                <a:solidFill>
                  <a:schemeClr val="tx1"/>
                </a:solidFill>
              </a:defRPr>
            </a:lvl1pPr>
          </a:lstStyle>
          <a:p xmlns:a="http://schemas.openxmlformats.org/drawingml/2006/main">
            <a:endParaRPr sz="1000"/>
          </a:p>
        </p:txBody>
      </p:sp>
      <p:sp>
        <p:nvSpPr>
          <p:cNvPr id="8" name="Slide Number Placeholder 5">
            <a:extLst xmlns:a="http://schemas.openxmlformats.org/drawingml/2006/main">
              <a:ext uri="{FF2B5EF4-FFF2-40B4-BE49-F238E27FC236}">
                <a16:creationId xmlns:a16="http://schemas.microsoft.com/office/drawing/2014/main" id="{B69B260B-B882-BF7F-1BB1-28B9578A25A2}"/>
              </a:ext>
            </a:extLst>
          </p:cNvPr>
          <p:cNvSpPr>
            <a:spLocks xmlns:a="http://schemas.openxmlformats.org/drawingml/2006/main" noGrp="1"/>
          </p:cNvSpPr>
          <p:nvPr>
            <p:ph type="sldNum" idx="4"/>
          </p:nvPr>
        </p:nvSpPr>
        <p:spPr>
          <a:xfrm xmlns:a="http://schemas.openxmlformats.org/drawingml/2006/main">
            <a:off x="11279332" y="6279294"/>
            <a:ext cx="518968"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r">
              <a:buNone/>
              <a:defRPr sz="1000" kern="1200">
                <a:solidFill>
                  <a:schemeClr val="tx1"/>
                </a:solidFill>
                <a:latin typeface="+mn-lt"/>
                <a:ea typeface="+mn-lt"/>
                <a:cs typeface="+mn-lt"/>
              </a:defRPr>
            </a:lvl1pPr>
          </a:lstStyle>
          <a:p xmlns:a="http://schemas.openxmlformats.org/drawingml/2006/main">
            <a:fld id="{8574A810-7A8E-054F-9F6B-09E9C694ECF9}" type="slidenum">
              <a:t>‹#›</a:t>
            </a:fld>
            <a:endParaRPr sz="1000"/>
          </a:p>
        </p:txBody>
      </p:sp>
    </p:spTree>
  </p:cSld>
</p:sldLayout>
</file>

<file path=ppt/slideLayouts/slideLayout8.xml><?xml version="1.0" encoding="utf-8"?>
<p:sldLayout xmlns:p="http://schemas.openxmlformats.org/presentationml/2006/main" preserve="1" userDrawn="1">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95416a3f46b64340" /><Relationship Type="http://schemas.openxmlformats.org/officeDocument/2006/relationships/slideLayout" Target="/ppt/slideLayouts/slideLayout1.xml" Id="Rcc0be84781ea4809" /><Relationship Type="http://schemas.openxmlformats.org/officeDocument/2006/relationships/slideLayout" Target="/ppt/slideLayouts/slideLayout2.xml" Id="R1f0e304f9db742ac" /><Relationship Type="http://schemas.openxmlformats.org/officeDocument/2006/relationships/slideLayout" Target="/ppt/slideLayouts/slideLayout3.xml" Id="R0a82ce74c8b9491b" /><Relationship Type="http://schemas.openxmlformats.org/officeDocument/2006/relationships/slideLayout" Target="/ppt/slideLayouts/slideLayout4.xml" Id="R97ee714e4fc84f1c" /><Relationship Type="http://schemas.openxmlformats.org/officeDocument/2006/relationships/slideLayout" Target="/ppt/slideLayouts/slideLayout5.xml" Id="R1b020438763b429a" /><Relationship Type="http://schemas.openxmlformats.org/officeDocument/2006/relationships/slideLayout" Target="/ppt/slideLayouts/slideLayout6.xml" Id="Re9a2dadb53c14eba" /><Relationship Type="http://schemas.openxmlformats.org/officeDocument/2006/relationships/slideLayout" Target="/ppt/slideLayouts/slideLayout7.xml" Id="R05e8b19d21f54db6" /><Relationship Type="http://schemas.openxmlformats.org/officeDocument/2006/relationships/slideLayout" Target="/ppt/slideLayouts/slideLayout8.xml" Id="R82d836d25993436a" /></Relationships>
</file>

<file path=ppt/slideMasters/slideMaster1.xml><?xml version="1.0" encoding="utf-8"?>
<p:sld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Title Placeholder 1">
            <a:extLst xmlns:a="http://schemas.openxmlformats.org/drawingml/2006/main">
              <a:ext uri="{FF2B5EF4-FFF2-40B4-BE49-F238E27FC236}">
                <a16:creationId xmlns:a16="http://schemas.microsoft.com/office/drawing/2014/main" id="{BB87ED2E-D8FF-5C8C-ED50-59BA3091C3E1}"/>
              </a:ext>
            </a:extLst>
          </p:cNvPr>
          <p:cNvSpPr>
            <a:spLocks xmlns:a="http://schemas.openxmlformats.org/drawingml/2006/main" noGrp="1"/>
          </p:cNvSpPr>
          <p:nvPr>
            <p:ph type="title" idx="0"/>
          </p:nvPr>
        </p:nvSpPr>
        <p:spPr>
          <a:xfrm xmlns:a="http://schemas.openxmlformats.org/drawingml/2006/main">
            <a:off x="393700" y="344008"/>
            <a:ext cx="11404600" cy="1047491"/>
          </a:xfrm>
          <a:prstGeom xmlns:a="http://schemas.openxmlformats.org/drawingml/2006/main" prst="rect">
            <a:avLst/>
          </a:prstGeom>
        </p:spPr>
        <p:txBody>
          <a:bodyPr xmlns:a="http://schemas.openxmlformats.org/drawingml/2006/main" vert="horz" lIns="0" tIns="0" rIns="0" bIns="0" anchor="t">
            <a:normAutofit/>
          </a:bodyPr>
          <a:lstStyle xmlns:a="http://schemas.openxmlformats.org/drawingml/2006/main"/>
          <a:p xmlns:a="http://schemas.openxmlformats.org/drawingml/2006/main">
            <a:r>
              <a:t>Click to edit Master title style</a:t>
            </a:r>
          </a:p>
        </p:txBody>
      </p:sp>
      <p:sp>
        <p:nvSpPr>
          <p:cNvPr id="3" name="Text Placeholder 2">
            <a:extLst xmlns:a="http://schemas.openxmlformats.org/drawingml/2006/main">
              <a:ext uri="{FF2B5EF4-FFF2-40B4-BE49-F238E27FC236}">
                <a16:creationId xmlns:a16="http://schemas.microsoft.com/office/drawing/2014/main" id="{05B0E1CB-6DCA-2E9F-2B74-4309B4084C09}"/>
              </a:ext>
            </a:extLst>
          </p:cNvPr>
          <p:cNvSpPr>
            <a:spLocks xmlns:a="http://schemas.openxmlformats.org/drawingml/2006/main" noGrp="1"/>
          </p:cNvSpPr>
          <p:nvPr>
            <p:ph type="body" idx="1"/>
          </p:nvPr>
        </p:nvSpPr>
        <p:spPr>
          <a:xfrm xmlns:a="http://schemas.openxmlformats.org/drawingml/2006/main">
            <a:off x="393700" y="2032000"/>
            <a:ext cx="11404600" cy="3962400"/>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5" name="Footer Placeholder 4">
            <a:extLst xmlns:a="http://schemas.openxmlformats.org/drawingml/2006/main">
              <a:ext uri="{FF2B5EF4-FFF2-40B4-BE49-F238E27FC236}">
                <a16:creationId xmlns:a16="http://schemas.microsoft.com/office/drawing/2014/main" id="{3C75650C-2983-5B02-8421-FF1818435433}"/>
              </a:ext>
            </a:extLst>
          </p:cNvPr>
          <p:cNvSpPr>
            <a:spLocks xmlns:a="http://schemas.openxmlformats.org/drawingml/2006/main" noGrp="1"/>
          </p:cNvSpPr>
          <p:nvPr>
            <p:ph type="ftr" idx="3"/>
          </p:nvPr>
        </p:nvSpPr>
        <p:spPr>
          <a:xfrm xmlns:a="http://schemas.openxmlformats.org/drawingml/2006/main">
            <a:off x="393700" y="6279952"/>
            <a:ext cx="3568700"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l">
              <a:buNone/>
              <a:defRPr sz="1000">
                <a:solidFill>
                  <a:schemeClr val="tx1"/>
                </a:solidFill>
              </a:defRPr>
            </a:lvl1pPr>
          </a:lstStyle>
          <a:p xmlns:a="http://schemas.openxmlformats.org/drawingml/2006/main">
            <a:endParaRPr sz="1000"/>
          </a:p>
        </p:txBody>
      </p:sp>
      <p:sp>
        <p:nvSpPr>
          <p:cNvPr id="6" name="Slide Number Placeholder 5">
            <a:extLst xmlns:a="http://schemas.openxmlformats.org/drawingml/2006/main">
              <a:ext uri="{FF2B5EF4-FFF2-40B4-BE49-F238E27FC236}">
                <a16:creationId xmlns:a16="http://schemas.microsoft.com/office/drawing/2014/main" id="{D872C88C-1AB3-96BA-C9E5-3435A4BD59BB}"/>
              </a:ext>
            </a:extLst>
          </p:cNvPr>
          <p:cNvSpPr>
            <a:spLocks xmlns:a="http://schemas.openxmlformats.org/drawingml/2006/main" noGrp="1"/>
          </p:cNvSpPr>
          <p:nvPr>
            <p:ph type="sldNum" idx="4"/>
          </p:nvPr>
        </p:nvSpPr>
        <p:spPr>
          <a:xfrm xmlns:a="http://schemas.openxmlformats.org/drawingml/2006/main">
            <a:off x="11279332" y="6279294"/>
            <a:ext cx="518968"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r">
              <a:buNone/>
              <a:defRPr sz="1000" kern="1200">
                <a:solidFill>
                  <a:schemeClr val="tx1"/>
                </a:solidFill>
                <a:latin typeface="+mn-lt"/>
                <a:ea typeface="+mn-lt"/>
                <a:cs typeface="+mn-lt"/>
              </a:defRPr>
            </a:lvl1pPr>
          </a:lstStyle>
          <a:p xmlns:a="http://schemas.openxmlformats.org/drawingml/2006/main">
            <a:fld id="{8574A810-7A8E-054F-9F6B-09E9C694ECF9}" type="slidenum">
              <a:t>‹#›</a:t>
            </a:fld>
            <a:endParaRPr sz="1000"/>
          </a:p>
        </p:txBody>
      </p:sp>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cc0be84781ea4809"/>
    <p:sldLayoutId xmlns:r="http://schemas.openxmlformats.org/officeDocument/2006/relationships" id="2147483650" r:id="R1f0e304f9db742ac"/>
    <p:sldLayoutId xmlns:r="http://schemas.openxmlformats.org/officeDocument/2006/relationships" id="2147483651" r:id="R0a82ce74c8b9491b"/>
    <p:sldLayoutId xmlns:r="http://schemas.openxmlformats.org/officeDocument/2006/relationships" id="2147483652" r:id="R97ee714e4fc84f1c"/>
    <p:sldLayoutId xmlns:r="http://schemas.openxmlformats.org/officeDocument/2006/relationships" id="2147483653" r:id="R1b020438763b429a"/>
    <p:sldLayoutId xmlns:r="http://schemas.openxmlformats.org/officeDocument/2006/relationships" id="2147483654" r:id="Re9a2dadb53c14eba"/>
    <p:sldLayoutId xmlns:r="http://schemas.openxmlformats.org/officeDocument/2006/relationships" id="2147483655" r:id="R05e8b19d21f54db6"/>
    <p:sldLayoutId xmlns:r="http://schemas.openxmlformats.org/officeDocument/2006/relationships" id="2147483656" r:id="R82d836d25993436a"/>
  </p:sldLayoutIdLst>
  <p:hf hdr="0" dt="0"/>
  <p:txStyles>
    <p:titleStyle>
      <a:lvl1pPr xmlns:a="http://schemas.openxmlformats.org/drawingml/2006/main" algn="l" defTabSz="914400">
        <a:lnSpc>
          <a:spcPct val="90000"/>
        </a:lnSpc>
        <a:spcBef>
          <a:spcPct val="0"/>
        </a:spcBef>
        <a:buNone/>
        <a:defRPr sz="2900" kern="1200">
          <a:solidFill>
            <a:schemeClr val="tx1"/>
          </a:solidFill>
          <a:latin typeface="+mj-lt"/>
          <a:ea typeface="+mj-lt"/>
          <a:cs typeface="+mj-lt"/>
        </a:defRPr>
      </a:lvl1pPr>
    </p:titleStyle>
    <p:bodyStyle>
      <a:lvl1pPr xmlns:a="http://schemas.openxmlformats.org/drawingml/2006/main"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xmlns:a="http://schemas.openxmlformats.org/drawingml/2006/main"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xmlns:a="http://schemas.openxmlformats.org/drawingml/2006/main"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xmlns:a="http://schemas.openxmlformats.org/drawingml/2006/main"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xmlns:a="http://schemas.openxmlformats.org/drawingml/2006/main"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xmlns:a="http://schemas.openxmlformats.org/drawingml/2006/main"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xmlns:a="http://schemas.openxmlformats.org/drawingml/2006/main"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xmlns:a="http://schemas.openxmlformats.org/drawingml/2006/main"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xmlns:a="http://schemas.openxmlformats.org/drawingml/2006/main" marL="3886200" indent="-228600" algn="l" defTabSz="914400">
        <a:lnSpc>
          <a:spcPct val="90000"/>
        </a:lnSpc>
        <a:spcBef>
          <a:spcPts val="500"/>
        </a:spcBef>
        <a:buFont typeface="Arial"/>
        <a:buChar char="•"/>
        <a:defRPr sz="1800" kern="1200">
          <a:solidFill>
            <a:schemeClr val="tx1"/>
          </a:solidFill>
          <a:latin typeface="+mn-lt"/>
          <a:ea typeface="+mn-lt"/>
          <a:cs typeface="+mn-lt"/>
        </a:defRPr>
      </a:lvl9pPr>
    </p:bodyStyle>
    <p:otherStyle>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otherStyle>
  </p:txStyles>
  <p:extLst>
    <p:ext uri="{27BBF7A9-308A-43DC-89C8-2F10F3537804}">
      <p15:sldGuideLst xmlns:p15="http://schemas.microsoft.com/office/powerpoint/2012/main">
        <p15:guide id="1" userDrawn="1">
          <p15:clr>
            <a:srgbClr xmlns:a="http://schemas.openxmlformats.org/drawingml/2006/main" val="F26B43"/>
          </p15:clr>
        </p15:guide>
        <p15:guide id="2" pos="7680" userDrawn="1">
          <p15:clr>
            <a:srgbClr xmlns:a="http://schemas.openxmlformats.org/drawingml/2006/main" val="F26B43"/>
          </p15:clr>
        </p15:guide>
        <p15:guide id="3" pos="248" userDrawn="1">
          <p15:clr>
            <a:srgbClr xmlns:a="http://schemas.openxmlformats.org/drawingml/2006/main" val="F26B43"/>
          </p15:clr>
        </p15:guide>
        <p15:guide id="4" pos="1264" userDrawn="1">
          <p15:clr>
            <a:srgbClr xmlns:a="http://schemas.openxmlformats.org/drawingml/2006/main" val="F26B43"/>
          </p15:clr>
        </p15:guide>
        <p15:guide id="5" pos="1480" userDrawn="1">
          <p15:clr>
            <a:srgbClr xmlns:a="http://schemas.openxmlformats.org/drawingml/2006/main" val="F26B43"/>
          </p15:clr>
        </p15:guide>
        <p15:guide id="6" pos="2496" userDrawn="1">
          <p15:clr>
            <a:srgbClr xmlns:a="http://schemas.openxmlformats.org/drawingml/2006/main" val="F26B43"/>
          </p15:clr>
        </p15:guide>
        <p15:guide id="7" pos="2712" userDrawn="1">
          <p15:clr>
            <a:srgbClr xmlns:a="http://schemas.openxmlformats.org/drawingml/2006/main" val="F26B43"/>
          </p15:clr>
        </p15:guide>
        <p15:guide id="8" pos="3736" userDrawn="1">
          <p15:clr>
            <a:srgbClr xmlns:a="http://schemas.openxmlformats.org/drawingml/2006/main" val="F26B43"/>
          </p15:clr>
        </p15:guide>
        <p15:guide id="9" pos="3944" userDrawn="1">
          <p15:clr>
            <a:srgbClr xmlns:a="http://schemas.openxmlformats.org/drawingml/2006/main" val="F26B43"/>
          </p15:clr>
        </p15:guide>
        <p15:guide id="10" pos="4968" userDrawn="1">
          <p15:clr>
            <a:srgbClr xmlns:a="http://schemas.openxmlformats.org/drawingml/2006/main" val="F26B43"/>
          </p15:clr>
        </p15:guide>
        <p15:guide id="11" pos="5184" userDrawn="1">
          <p15:clr>
            <a:srgbClr xmlns:a="http://schemas.openxmlformats.org/drawingml/2006/main" val="F26B43"/>
          </p15:clr>
        </p15:guide>
        <p15:guide id="12" pos="6200" userDrawn="1">
          <p15:clr>
            <a:srgbClr xmlns:a="http://schemas.openxmlformats.org/drawingml/2006/main" val="F26B43"/>
          </p15:clr>
        </p15:guide>
        <p15:guide id="13" pos="6416" userDrawn="1">
          <p15:clr>
            <a:srgbClr xmlns:a="http://schemas.openxmlformats.org/drawingml/2006/main" val="F26B43"/>
          </p15:clr>
        </p15:guide>
        <p15:guide id="14" pos="7432" userDrawn="1">
          <p15:clr>
            <a:srgbClr xmlns:a="http://schemas.openxmlformats.org/drawingml/2006/main" val="F26B43"/>
          </p15:clr>
        </p15:guide>
        <p15:guide id="15" orient="horz" userDrawn="1">
          <p15:clr>
            <a:srgbClr xmlns:a="http://schemas.openxmlformats.org/drawingml/2006/main" val="F26B43"/>
          </p15:clr>
        </p15:guide>
        <p15:guide id="17" orient="horz" pos="248" userDrawn="1">
          <p15:clr>
            <a:srgbClr xmlns:a="http://schemas.openxmlformats.org/drawingml/2006/main" val="F26B43"/>
          </p15:clr>
        </p15:guide>
        <p15:guide id="18" orient="horz" pos="656" userDrawn="1">
          <p15:clr>
            <a:srgbClr xmlns:a="http://schemas.openxmlformats.org/drawingml/2006/main" val="F26B43"/>
          </p15:clr>
        </p15:guide>
        <p15:guide id="19" orient="horz" pos="872" userDrawn="1">
          <p15:clr>
            <a:srgbClr xmlns:a="http://schemas.openxmlformats.org/drawingml/2006/main" val="F26B43"/>
          </p15:clr>
        </p15:guide>
        <p15:guide id="20" orient="horz" pos="1280" userDrawn="1">
          <p15:clr>
            <a:srgbClr xmlns:a="http://schemas.openxmlformats.org/drawingml/2006/main" val="F26B43"/>
          </p15:clr>
        </p15:guide>
        <p15:guide id="21" orient="horz" pos="1496" userDrawn="1">
          <p15:clr>
            <a:srgbClr xmlns:a="http://schemas.openxmlformats.org/drawingml/2006/main" val="F26B43"/>
          </p15:clr>
        </p15:guide>
        <p15:guide id="22" orient="horz" pos="1904" userDrawn="1">
          <p15:clr>
            <a:srgbClr xmlns:a="http://schemas.openxmlformats.org/drawingml/2006/main" val="F26B43"/>
          </p15:clr>
        </p15:guide>
        <p15:guide id="23" orient="horz" pos="2120" userDrawn="1">
          <p15:clr>
            <a:srgbClr xmlns:a="http://schemas.openxmlformats.org/drawingml/2006/main" val="F26B43"/>
          </p15:clr>
        </p15:guide>
        <p15:guide id="24" orient="horz" pos="2528" userDrawn="1">
          <p15:clr>
            <a:srgbClr xmlns:a="http://schemas.openxmlformats.org/drawingml/2006/main" val="F26B43"/>
          </p15:clr>
        </p15:guide>
        <p15:guide id="25" orient="horz" pos="2744" userDrawn="1">
          <p15:clr>
            <a:srgbClr xmlns:a="http://schemas.openxmlformats.org/drawingml/2006/main" val="F26B43"/>
          </p15:clr>
        </p15:guide>
        <p15:guide id="26" orient="horz" pos="3152" userDrawn="1">
          <p15:clr>
            <a:srgbClr xmlns:a="http://schemas.openxmlformats.org/drawingml/2006/main" val="F26B43"/>
          </p15:clr>
        </p15:guide>
        <p15:guide id="27" orient="horz" pos="3368" userDrawn="1">
          <p15:clr>
            <a:srgbClr xmlns:a="http://schemas.openxmlformats.org/drawingml/2006/main" val="F26B43"/>
          </p15:clr>
        </p15:guide>
        <p15:guide id="28" orient="horz" pos="3776" userDrawn="1">
          <p15:clr>
            <a:srgbClr xmlns:a="http://schemas.openxmlformats.org/drawingml/2006/main" val="F26B43"/>
          </p15:clr>
        </p15:guide>
        <p15:guide id="29" orient="horz" pos="4088" userDrawn="1">
          <p15:clr>
            <a:srgbClr xmlns:a="http://schemas.openxmlformats.org/drawingml/2006/main" val="F26B43"/>
          </p15:clr>
        </p15:guide>
      </p15:sldGuideLst>
    </p:ext>
  </p:extLst>
</p:sldMaster>
</file>

<file path=ppt/slideMasters/theme/theme2.xml><?xml version="1.0" encoding="utf-8"?>
<a:theme xmlns:a="http://schemas.openxmlformats.org/drawingml/2006/main" name="Default Codex Theme">
  <a:themeElements>
    <a:clrScheme name="Codex Colors">
      <a:dk1>
        <a:srgbClr val="000000"/>
      </a:dk1>
      <a:lt1>
        <a:srgbClr val="FFFFFF"/>
      </a:lt1>
      <a:dk2>
        <a:srgbClr val="00264F"/>
      </a:dk2>
      <a:lt2>
        <a:srgbClr val="D0EDFA"/>
      </a:lt2>
      <a:accent1>
        <a:srgbClr val="6DCBF4"/>
      </a:accent1>
      <a:accent2>
        <a:srgbClr val="3D8DFF"/>
      </a:accent2>
      <a:accent3>
        <a:srgbClr val="47E2C2"/>
      </a:accent3>
      <a:accent4>
        <a:srgbClr val="85DF7B"/>
      </a:accent4>
      <a:accent5>
        <a:srgbClr val="F7CB59"/>
      </a:accent5>
      <a:accent6>
        <a:srgbClr val="F67576"/>
      </a:accent6>
      <a:hlink>
        <a:srgbClr val="000000"/>
      </a:hlink>
      <a:folHlink>
        <a:srgbClr val="0097A7"/>
      </a:folHlink>
    </a:clrScheme>
    <a:fontScheme name="Helvetica Neue">
      <a:majorFont>
        <a:latin typeface="Helvetica Neue"/>
        <a:ea typeface=""/>
        <a:cs typeface=""/>
      </a:majorFont>
      <a:minorFont>
        <a:latin typeface="Helvetica Neue"/>
        <a:ea typeface=""/>
        <a:cs typeface=""/>
      </a:minorFont>
    </a:fontScheme>
    <a:fmtScheme name="Codex Colors">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8abd75bf56fc450e" /><Relationship Type="http://schemas.openxmlformats.org/officeDocument/2006/relationships/notesSlide" Target="/ppt/notesSlides/notesSlide1.xml" Id="Rb84bb8230dc14b12"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3dbc0834c027401b" /><Relationship Type="http://schemas.openxmlformats.org/officeDocument/2006/relationships/notesSlide" Target="/ppt/notesSlides/notesSlide2.xml" Id="R72de29db507944ac"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4f4d4bcd5e8e45d9" /><Relationship Type="http://schemas.openxmlformats.org/officeDocument/2006/relationships/notesSlide" Target="/ppt/notesSlides/notesSlide3.xml" Id="R63e5e58af3e84bad"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ff8f5f0fda25421f" /><Relationship Type="http://schemas.openxmlformats.org/officeDocument/2006/relationships/notesSlide" Target="/ppt/notesSlides/notesSlide4.xml" Id="R488bfa77b1fe475b"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6d6457b8129f49ab" /><Relationship Type="http://schemas.openxmlformats.org/officeDocument/2006/relationships/notesSlide" Target="/ppt/notesSlides/notesSlide5.xml" Id="R6f9e95c456fb4fc6"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97ea08f7d85d484e" /><Relationship Type="http://schemas.openxmlformats.org/officeDocument/2006/relationships/notesSlide" Target="/ppt/notesSlides/notesSlide6.xml" Id="Rb636a62ba2a64f5a"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390ab01576274e58" /><Relationship Type="http://schemas.openxmlformats.org/officeDocument/2006/relationships/notesSlide" Target="/ppt/notesSlides/notesSlide7.xml" Id="R9888f325478b4586"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cd36998d01ec4dba" /><Relationship Type="http://schemas.openxmlformats.org/officeDocument/2006/relationships/notesSlide" Target="/ppt/notesSlides/notesSlide8.xml" Id="R23fe12bafbee4ba3"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86c7f2429b4c449a" /><Relationship Type="http://schemas.openxmlformats.org/officeDocument/2006/relationships/notesSlide" Target="/ppt/notesSlides/notesSlide9.xml" Id="R7691eebb2e284a5e"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83a32b34d2684681" /><Relationship Type="http://schemas.openxmlformats.org/officeDocument/2006/relationships/notesSlide" Target="/ppt/notesSlides/notesSlide10.xml" Id="R01024553d0894017"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0476f90f51464c45" /><Relationship Type="http://schemas.openxmlformats.org/officeDocument/2006/relationships/notesSlide" Target="/ppt/notesSlides/notesSlide11.xml" Id="Rbb150e658376476e"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5457f6c349f9424c" /><Relationship Type="http://schemas.openxmlformats.org/officeDocument/2006/relationships/image" Target="/ppt/media/image.png" Id="Re5e77e1081364c3f" /><Relationship Type="http://schemas.openxmlformats.org/officeDocument/2006/relationships/notesSlide" Target="/ppt/notesSlides/notesSlide12.xml" Id="Ra23e3adcb5714476"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bd89857f4fff452f" /><Relationship Type="http://schemas.openxmlformats.org/officeDocument/2006/relationships/notesSlide" Target="/ppt/notesSlides/notesSlide13.xml" Id="Rb7bf73b0c2b8409b"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fc8d5013b810457a" /><Relationship Type="http://schemas.openxmlformats.org/officeDocument/2006/relationships/notesSlide" Target="/ppt/notesSlides/notesSlide14.xml" Id="Ra2a569db91fe4286"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0be9f9e33a464a84" /><Relationship Type="http://schemas.openxmlformats.org/officeDocument/2006/relationships/notesSlide" Target="/ppt/notesSlides/notesSlide15.xml" Id="R731d656244c14577"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d2cf3e7650d541f1" /><Relationship Type="http://schemas.openxmlformats.org/officeDocument/2006/relationships/notesSlide" Target="/ppt/notesSlides/notesSlide16.xml" Id="R0716890d7f324dda"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3a6fc7b6bf4c4d89" /><Relationship Type="http://schemas.openxmlformats.org/officeDocument/2006/relationships/notesSlide" Target="/ppt/notesSlides/notesSlide17.xml" Id="R94286eb8da114132"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9649092e11f0482e" /><Relationship Type="http://schemas.openxmlformats.org/officeDocument/2006/relationships/notesSlide" Target="/ppt/notesSlides/notesSlide18.xml" Id="R26cfadf6e3e0443e"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a1bf7bd688e3455a" /><Relationship Type="http://schemas.openxmlformats.org/officeDocument/2006/relationships/notesSlide" Target="/ppt/notesSlides/notesSlide19.xml" Id="Rf39ca8675d554613" /></Relationships>
</file>

<file path=ppt/slides/_rels/slide20.xml.rels>&#65279;<?xml version="1.0" encoding="utf-8"?><Relationships xmlns="http://schemas.openxmlformats.org/package/2006/relationships"><Relationship Type="http://schemas.openxmlformats.org/officeDocument/2006/relationships/slideLayout" Target="/ppt/slideLayouts/slideLayout6.xml" Id="R3f4c0d54c4d24582" /><Relationship Type="http://schemas.openxmlformats.org/officeDocument/2006/relationships/notesSlide" Target="/ppt/notesSlides/notesSlide20.xml" Id="R7ba5049dbbb04cfe" /></Relationships>
</file>

<file path=ppt/slides/_rels/slide21.xml.rels>&#65279;<?xml version="1.0" encoding="utf-8"?><Relationships xmlns="http://schemas.openxmlformats.org/package/2006/relationships"><Relationship Type="http://schemas.openxmlformats.org/officeDocument/2006/relationships/slideLayout" Target="/ppt/slideLayouts/slideLayout6.xml" Id="R42f40777e310458a" /><Relationship Type="http://schemas.openxmlformats.org/officeDocument/2006/relationships/notesSlide" Target="/ppt/notesSlides/notesSlide21.xml" Id="R8cd0e1bd1ee84de8" /></Relationships>
</file>

<file path=ppt/slides/_rels/slide22.xml.rels>&#65279;<?xml version="1.0" encoding="utf-8"?><Relationships xmlns="http://schemas.openxmlformats.org/package/2006/relationships"><Relationship Type="http://schemas.openxmlformats.org/officeDocument/2006/relationships/slideLayout" Target="/ppt/slideLayouts/slideLayout6.xml" Id="Rc92962ff8ff74a56" /><Relationship Type="http://schemas.openxmlformats.org/officeDocument/2006/relationships/notesSlide" Target="/ppt/notesSlides/notesSlide22.xml" Id="Re19cb0211b2a46b7" /></Relationships>
</file>

<file path=ppt/slides/_rels/slide23.xml.rels>&#65279;<?xml version="1.0" encoding="utf-8"?><Relationships xmlns="http://schemas.openxmlformats.org/package/2006/relationships"><Relationship Type="http://schemas.openxmlformats.org/officeDocument/2006/relationships/slideLayout" Target="/ppt/slideLayouts/slideLayout6.xml" Id="Rc11fcc524c83482b" /><Relationship Type="http://schemas.openxmlformats.org/officeDocument/2006/relationships/notesSlide" Target="/ppt/notesSlides/notesSlide23.xml" Id="R1ae1bf3e65bf410a" /></Relationships>
</file>

<file path=ppt/slides/_rels/slide24.xml.rels>&#65279;<?xml version="1.0" encoding="utf-8"?><Relationships xmlns="http://schemas.openxmlformats.org/package/2006/relationships"><Relationship Type="http://schemas.openxmlformats.org/officeDocument/2006/relationships/slideLayout" Target="/ppt/slideLayouts/slideLayout6.xml" Id="Rf59869071de84896" /><Relationship Type="http://schemas.openxmlformats.org/officeDocument/2006/relationships/notesSlide" Target="/ppt/notesSlides/notesSlide24.xml" Id="R010d36f750a4410d" /></Relationships>
</file>

<file path=ppt/slides/_rels/slide25.xml.rels>&#65279;<?xml version="1.0" encoding="utf-8"?><Relationships xmlns="http://schemas.openxmlformats.org/package/2006/relationships"><Relationship Type="http://schemas.openxmlformats.org/officeDocument/2006/relationships/slideLayout" Target="/ppt/slideLayouts/slideLayout6.xml" Id="R343d4e3b42504e85" /><Relationship Type="http://schemas.openxmlformats.org/officeDocument/2006/relationships/notesSlide" Target="/ppt/notesSlides/notesSlide25.xml" Id="Rbbca7a6e654c4b90" /></Relationships>
</file>

<file path=ppt/slides/_rels/slide26.xml.rels>&#65279;<?xml version="1.0" encoding="utf-8"?><Relationships xmlns="http://schemas.openxmlformats.org/package/2006/relationships"><Relationship Type="http://schemas.openxmlformats.org/officeDocument/2006/relationships/slideLayout" Target="/ppt/slideLayouts/slideLayout6.xml" Id="R5a50daafe92d436d" /><Relationship Type="http://schemas.openxmlformats.org/officeDocument/2006/relationships/notesSlide" Target="/ppt/notesSlides/notesSlide26.xml" Id="R9f654a3eeccd435c" /></Relationships>
</file>

<file path=ppt/slides/slide1.xml><?xml version="1.0" encoding="utf-8"?>
<p:sld xmlns:p="http://schemas.openxmlformats.org/presentationml/2006/main">
  <p:cSld>
    <p:spTree>
      <p:nvGrpSpPr>
        <p:cNvPr id="1" name=""/>
        <p:cNvGrpSpPr/>
        <p:nvPr/>
      </p:nvGrpSpPr>
      <p:grpSpPr>
        <a:xfrm xmlns:a="http://schemas.openxmlformats.org/drawingml/2006/main"/>
      </p:grpSpPr>
      <p:sp>
        <p:nvSpPr>
          <p:cNvPr id="4" name="Title 3">
            <a:extLst xmlns:a="http://schemas.openxmlformats.org/drawingml/2006/main">
              <a:ext uri="{FF2B5EF4-FFF2-40B4-BE49-F238E27FC236}">
                <a16:creationId xmlns:a16="http://schemas.microsoft.com/office/drawing/2014/main" id="{C47CD47D-0812-5F5E-8AA0-B4316F994F47}"/>
              </a:ext>
            </a:extLst>
          </p:cNvPr>
          <p:cNvSpPr>
            <a:spLocks xmlns:a="http://schemas.openxmlformats.org/drawingml/2006/main" noGrp="1"/>
          </p:cNvSpPr>
          <p:nvPr>
            <p:ph type="ctrTitle" idx="0"/>
          </p:nvPr>
        </p:nvSpPr>
        <p:spPr>
          <a:xfrm xmlns:a="http://schemas.openxmlformats.org/drawingml/2006/main">
            <a:off x="393668" y="1905000"/>
            <a:ext cx="11404568" cy="2000250"/>
          </a:xfrm>
        </p:spPr>
        <p:txBody>
          <a:bodyPr xmlns:a="http://schemas.openxmlformats.org/drawingml/2006/main" anchor="t">
            <a:noAutofit/>
          </a:bodyPr>
          <a:lstStyle xmlns:a="http://schemas.openxmlformats.org/drawingml/2006/main"/>
          <a:p xmlns:a="http://schemas.openxmlformats.org/drawingml/2006/main">
            <a:pPr>
              <a:defRPr sz="4500" b="0">
                <a:solidFill>
                  <a:srgbClr val="171717"/>
                </a:solidFill>
                <a:latin typeface="Meiryo"/>
                <a:ea typeface="Meiryo"/>
                <a:cs typeface="Meiryo"/>
              </a:defRPr>
            </a:pPr>
            <a:r>
              <a:rPr sz="4500" b="0">
                <a:solidFill>
                  <a:srgbClr val="171717"/>
                </a:solidFill>
                <a:latin typeface="Meiryo"/>
                <a:ea typeface="Meiryo"/>
                <a:cs typeface="Meiryo"/>
              </a:rPr>
              <a:t>多変量回帰モデルの</a:t>
            </a:r>
          </a:p>
          <a:p xmlns:a="http://schemas.openxmlformats.org/drawingml/2006/main">
            <a:pPr>
              <a:defRPr sz="4500" b="0">
                <a:solidFill>
                  <a:srgbClr val="171717"/>
                </a:solidFill>
                <a:latin typeface="Meiryo"/>
                <a:ea typeface="Meiryo"/>
                <a:cs typeface="Meiryo"/>
              </a:defRPr>
            </a:pPr>
            <a:r>
              <a:rPr sz="4500" b="0">
                <a:solidFill>
                  <a:srgbClr val="171717"/>
                </a:solidFill>
                <a:latin typeface="Meiryo"/>
                <a:ea typeface="Meiryo"/>
                <a:cs typeface="Meiryo"/>
              </a:rPr>
              <a:t>学習外入力データ検知</a:t>
            </a:r>
          </a:p>
        </p:txBody>
      </p:sp>
      <p:sp>
        <p:nvSpPr>
          <p:cNvPr id="5" name="Subtitle 4">
            <a:extLst xmlns:a="http://schemas.openxmlformats.org/drawingml/2006/main">
              <a:ext uri="{FF2B5EF4-FFF2-40B4-BE49-F238E27FC236}">
                <a16:creationId xmlns:a16="http://schemas.microsoft.com/office/drawing/2014/main" id="{283B85AD-626B-46B7-0C36-31F5BABDE10D}"/>
              </a:ext>
            </a:extLst>
          </p:cNvPr>
          <p:cNvSpPr>
            <a:spLocks xmlns:a="http://schemas.openxmlformats.org/drawingml/2006/main" noGrp="1"/>
          </p:cNvSpPr>
          <p:nvPr>
            <p:ph type="subTitle" idx="1"/>
          </p:nvPr>
        </p:nvSpPr>
        <p:spPr>
          <a:xfrm xmlns:a="http://schemas.openxmlformats.org/drawingml/2006/main">
            <a:off x="393668" y="4742212"/>
            <a:ext cx="10477500" cy="952500"/>
          </a:xfrm>
        </p:spPr>
        <p:txBody>
          <a:bodyPr xmlns:a="http://schemas.openxmlformats.org/drawingml/2006/main" anchor="t">
            <a:noAutofit/>
          </a:bodyPr>
          <a:lstStyle xmlns:a="http://schemas.openxmlformats.org/drawingml/2006/main"/>
          <a:p xmlns:a="http://schemas.openxmlformats.org/drawingml/2006/main">
            <a:pPr>
              <a:lnSpc>
                <a:spcPct val="100000"/>
              </a:lnSpc>
              <a:buNone/>
              <a:defRPr sz="2250" b="0">
                <a:solidFill>
                  <a:srgbClr val="171717"/>
                </a:solidFill>
                <a:latin typeface="Meiryo"/>
                <a:ea typeface="Meiryo"/>
                <a:cs typeface="Meiryo"/>
              </a:defRPr>
            </a:pPr>
            <a:r>
              <a:rPr sz="2250" b="0">
                <a:solidFill>
                  <a:srgbClr val="171717"/>
                </a:solidFill>
                <a:latin typeface="Meiryo"/>
                <a:ea typeface="Meiryo"/>
                <a:cs typeface="Meiryo"/>
              </a:rPr>
              <a:t>定義・分類と既存手法の比較</a:t>
            </a:r>
          </a:p>
        </p:txBody>
      </p:sp>
      <p:sp>
        <p:nvSpPr>
          <p:cNvPr id="6" name="Subtitle 4">
            <a:extLst xmlns:a="http://schemas.openxmlformats.org/drawingml/2006/main">
              <a:ext uri="{FF2B5EF4-FFF2-40B4-BE49-F238E27FC236}">
                <a16:creationId xmlns:a16="http://schemas.microsoft.com/office/drawing/2014/main" id="{543BAB87-2ABE-9D84-8400-3B5ABA08B3C2}"/>
              </a:ext>
            </a:extLst>
          </p:cNvPr>
          <p:cNvSpPr>
            <a:spLocks xmlns:a="http://schemas.openxmlformats.org/drawingml/2006/main" noGrp="1"/>
          </p:cNvSpPr>
          <p:nvPr/>
        </p:nvSpPr>
        <p:spPr>
          <a:xfrm xmlns:a="http://schemas.openxmlformats.org/drawingml/2006/main">
            <a:off x="393700" y="392241"/>
            <a:ext cx="5702300" cy="649159"/>
          </a:xfrm>
          <a:prstGeom xmlns:a="http://schemas.openxmlformats.org/drawingml/2006/main" prst="rect">
            <a:avLst/>
          </a:prstGeom>
        </p:spPr>
        <p:txBody>
          <a:bodyPr xmlns:a="http://schemas.openxmlformats.org/drawingml/2006/main" vert="horz" lIns="0" tIns="0" rIns="0" bIns="0" anchor="t">
            <a:noAutofit/>
          </a:bodyPr>
          <a:lstStyle xmlns:a="http://schemas.openxmlformats.org/drawingml/2006/main">
            <a:lvl1pPr marL="0" indent="0" algn="l" defTabSz="914400">
              <a:lnSpc>
                <a:spcPct val="90000"/>
              </a:lnSpc>
              <a:spcBef>
                <a:spcPts val="1000"/>
              </a:spcBef>
              <a:buFont typeface="Arial"/>
              <a:buNone/>
              <a:defRPr sz="2400" kern="1200">
                <a:solidFill>
                  <a:schemeClr val="tx1"/>
                </a:solidFill>
                <a:latin typeface="+mn-lt"/>
                <a:ea typeface="+mn-lt"/>
                <a:cs typeface="+mn-lt"/>
              </a:defRPr>
            </a:lvl1pPr>
            <a:lvl2pPr marL="457200" indent="0" algn="ctr" defTabSz="914400">
              <a:lnSpc>
                <a:spcPct val="90000"/>
              </a:lnSpc>
              <a:spcBef>
                <a:spcPts val="500"/>
              </a:spcBef>
              <a:buFont typeface="Arial"/>
              <a:buNone/>
              <a:defRPr sz="2000" kern="1200">
                <a:solidFill>
                  <a:schemeClr val="tx1"/>
                </a:solidFill>
                <a:latin typeface="+mn-lt"/>
                <a:ea typeface="+mn-lt"/>
                <a:cs typeface="+mn-lt"/>
              </a:defRPr>
            </a:lvl2pPr>
            <a:lvl3pPr marL="914400" indent="0" algn="ctr" defTabSz="914400">
              <a:lnSpc>
                <a:spcPct val="90000"/>
              </a:lnSpc>
              <a:spcBef>
                <a:spcPts val="500"/>
              </a:spcBef>
              <a:buFont typeface="Arial"/>
              <a:buNone/>
              <a:defRPr sz="1800" kern="1200">
                <a:solidFill>
                  <a:schemeClr val="tx1"/>
                </a:solidFill>
                <a:latin typeface="+mn-lt"/>
                <a:ea typeface="+mn-lt"/>
                <a:cs typeface="+mn-lt"/>
              </a:defRPr>
            </a:lvl3pPr>
            <a:lvl4pPr marL="1371600" indent="0" algn="ctr" defTabSz="914400">
              <a:lnSpc>
                <a:spcPct val="90000"/>
              </a:lnSpc>
              <a:spcBef>
                <a:spcPts val="500"/>
              </a:spcBef>
              <a:buFont typeface="Arial"/>
              <a:buNone/>
              <a:defRPr sz="1600" kern="1200">
                <a:solidFill>
                  <a:schemeClr val="tx1"/>
                </a:solidFill>
                <a:latin typeface="+mn-lt"/>
                <a:ea typeface="+mn-lt"/>
                <a:cs typeface="+mn-lt"/>
              </a:defRPr>
            </a:lvl4pPr>
            <a:lvl5pPr marL="1828800" indent="0" algn="ctr" defTabSz="914400">
              <a:lnSpc>
                <a:spcPct val="90000"/>
              </a:lnSpc>
              <a:spcBef>
                <a:spcPts val="500"/>
              </a:spcBef>
              <a:buFont typeface="Arial"/>
              <a:buNone/>
              <a:defRPr sz="1600" kern="1200">
                <a:solidFill>
                  <a:schemeClr val="tx1"/>
                </a:solidFill>
                <a:latin typeface="+mn-lt"/>
                <a:ea typeface="+mn-lt"/>
                <a:cs typeface="+mn-lt"/>
              </a:defRPr>
            </a:lvl5pPr>
            <a:lvl6pPr marL="2286000" indent="0" algn="ctr" defTabSz="914400">
              <a:lnSpc>
                <a:spcPct val="90000"/>
              </a:lnSpc>
              <a:spcBef>
                <a:spcPts val="500"/>
              </a:spcBef>
              <a:buFont typeface="Arial"/>
              <a:buNone/>
              <a:defRPr sz="1600" kern="1200">
                <a:solidFill>
                  <a:schemeClr val="tx1"/>
                </a:solidFill>
                <a:latin typeface="+mn-lt"/>
                <a:ea typeface="+mn-lt"/>
                <a:cs typeface="+mn-lt"/>
              </a:defRPr>
            </a:lvl6pPr>
            <a:lvl7pPr marL="2743200" indent="0" algn="ctr" defTabSz="914400">
              <a:lnSpc>
                <a:spcPct val="90000"/>
              </a:lnSpc>
              <a:spcBef>
                <a:spcPts val="500"/>
              </a:spcBef>
              <a:buFont typeface="Arial"/>
              <a:buNone/>
              <a:defRPr sz="1600" kern="1200">
                <a:solidFill>
                  <a:schemeClr val="tx1"/>
                </a:solidFill>
                <a:latin typeface="+mn-lt"/>
                <a:ea typeface="+mn-lt"/>
                <a:cs typeface="+mn-lt"/>
              </a:defRPr>
            </a:lvl7pPr>
            <a:lvl8pPr marL="3200400" indent="0" algn="ctr" defTabSz="914400">
              <a:lnSpc>
                <a:spcPct val="90000"/>
              </a:lnSpc>
              <a:spcBef>
                <a:spcPts val="500"/>
              </a:spcBef>
              <a:buFont typeface="Arial"/>
              <a:buNone/>
              <a:defRPr sz="1600" kern="1200">
                <a:solidFill>
                  <a:schemeClr val="tx1"/>
                </a:solidFill>
                <a:latin typeface="+mn-lt"/>
                <a:ea typeface="+mn-lt"/>
                <a:cs typeface="+mn-lt"/>
              </a:defRPr>
            </a:lvl8pPr>
            <a:lvl9pPr marL="3657600" indent="0" algn="ctr" defTabSz="914400">
              <a:lnSpc>
                <a:spcPct val="90000"/>
              </a:lnSpc>
              <a:spcBef>
                <a:spcPts val="500"/>
              </a:spcBef>
              <a:buFont typeface="Arial"/>
              <a:buNone/>
              <a:defRPr sz="1600" kern="1200">
                <a:solidFill>
                  <a:schemeClr val="tx1"/>
                </a:solidFill>
                <a:latin typeface="+mn-lt"/>
                <a:ea typeface="+mn-lt"/>
                <a:cs typeface="+mn-lt"/>
              </a:defRPr>
            </a:lvl9pPr>
          </a:lstStyle>
          <a:p xmlns:a="http://schemas.openxmlformats.org/drawingml/2006/main">
            <a:pPr>
              <a:defRPr sz="1650" b="0">
                <a:solidFill>
                  <a:srgbClr val="171717"/>
                </a:solidFill>
                <a:latin typeface="Meiryo"/>
                <a:ea typeface="Meiryo"/>
                <a:cs typeface="Meiryo"/>
              </a:defRPr>
            </a:pPr>
            <a:r>
              <a:rPr sz="1650" b="0">
                <a:solidFill>
                  <a:srgbClr val="171717"/>
                </a:solidFill>
                <a:latin typeface="Meiryo"/>
                <a:ea typeface="Meiryo"/>
                <a:cs typeface="Meiryo"/>
              </a:rPr>
              <a:t>実習 文献調査報告</a:t>
            </a:r>
          </a:p>
        </p:txBody>
      </p:sp>
    </p:spTree>
    <p:extLst>
      <p:ext uri="{BB962C8B-B14F-4D97-AF65-F5344CB8AC3E}">
        <p14:creationId xmlns:p14="http://schemas.microsoft.com/office/powerpoint/2010/main" val="3258783314"/>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sp>
        <p:nvSpPr>
          <p:cNvPr id="532" name="Google Shape;532;p58">
            <a:extLst xmlns:a="http://schemas.openxmlformats.org/drawingml/2006/main">
              <a:ext uri="{FF2B5EF4-FFF2-40B4-BE49-F238E27FC236}">
                <a16:creationId xmlns:a16="http://schemas.microsoft.com/office/drawing/2014/main" id="{1BCBE750-7048-686D-1472-52C53362D6CD}"/>
              </a:ext>
            </a:extLst>
          </p:cNvPr>
          <p:cNvSpPr>
            <a:spLocks xmlns:a="http://schemas.openxmlformats.org/drawingml/2006/main" noGrp="1"/>
          </p:cNvSpPr>
          <p:nvPr>
            <p:ph type="sldNum" idx="4"/>
          </p:nvPr>
        </p:nvSpPr>
        <p:spPr>
          <a:xfrm xmlns:a="http://schemas.openxmlformats.org/drawingml/2006/main">
            <a:off x="11279332" y="6279294"/>
            <a:ext cx="518968" cy="241240"/>
          </a:xfr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pPr>
              <a:defRPr sz="975" b="0">
                <a:solidFill>
                  <a:srgbClr val="171717"/>
                </a:solidFill>
                <a:latin typeface="Meiryo"/>
                <a:ea typeface="Meiryo"/>
                <a:cs typeface="Meiryo"/>
              </a:defRPr>
            </a:pPr>
            <a:fld id="{E2598689-54C9-18A7-3A19-ED76AA08988F}" type="slidenum">
              <a:rPr sz="975" b="0">
                <a:solidFill>
                  <a:srgbClr val="171717"/>
                </a:solidFill>
                <a:latin typeface="Meiryo"/>
                <a:ea typeface="Meiryo"/>
                <a:cs typeface="Meiryo"/>
              </a:rPr>
              <a:t>2</a:t>
            </a:fld>
            <a:endParaRPr/>
          </a:p>
        </p:txBody>
      </p:sp>
      <p:sp>
        <p:nvSpPr>
          <p:cNvPr id="533" name="Google Shape;533;p58">
            <a:extLst xmlns:a="http://schemas.openxmlformats.org/drawingml/2006/main">
              <a:ext uri="{FF2B5EF4-FFF2-40B4-BE49-F238E27FC236}">
                <a16:creationId xmlns:a16="http://schemas.microsoft.com/office/drawing/2014/main" id="{1B5D55CD-1C17-7CD8-F26A-2DD65B067687}"/>
              </a:ext>
            </a:extLst>
          </p:cNvPr>
          <p:cNvSpPr>
            <a:spLocks xmlns:a="http://schemas.openxmlformats.org/drawingml/2006/main" noGrp="1"/>
          </p:cNvSpPr>
          <p:nvPr>
            <p:ph type="title" idx="0"/>
          </p:nvPr>
        </p:nvSpPr>
        <p:spPr>
          <a:xfrm xmlns:a="http://schemas.openxmlformats.org/drawingml/2006/main">
            <a:off x="393668" y="344043"/>
            <a:ext cx="11404568" cy="952500"/>
          </a:xfr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pPr>
              <a:defRPr sz="2700" b="0">
                <a:solidFill>
                  <a:srgbClr val="171717"/>
                </a:solidFill>
                <a:latin typeface="Meiryo"/>
                <a:ea typeface="Meiryo"/>
                <a:cs typeface="Meiryo"/>
              </a:defRPr>
            </a:pPr>
            <a:r>
              <a:rPr sz="2700" b="0">
                <a:solidFill>
                  <a:srgbClr val="171717"/>
                </a:solidFill>
                <a:latin typeface="Meiryo"/>
                <a:ea typeface="Meiryo"/>
                <a:cs typeface="Meiryo"/>
              </a:rPr>
              <a:t>対象モデルと調査範囲</a:t>
            </a:r>
          </a:p>
        </p:txBody>
      </p:sp>
      <p:sp>
        <p:nvSpPr>
          <p:cNvPr id="534" name="">
            <a:extLst xmlns:a="http://schemas.openxmlformats.org/drawingml/2006/main">
              <a:ext uri="{FF2B5EF4-FFF2-40B4-BE49-F238E27FC236}">
                <a16:creationId xmlns:a16="http://schemas.microsoft.com/office/drawing/2014/main" id="{84DF4E93-1D01-430A-99AF-7D6C171AEA10}"/>
              </a:ext>
            </a:extLst>
          </p:cNvPr>
          <p:cNvSpPr>
            <a:spLocks xmlns:a="http://schemas.openxmlformats.org/drawingml/2006/main" noGrp="1"/>
          </p:cNvSpPr>
          <p:nvPr/>
        </p:nvSpPr>
        <p:spPr>
          <a:xfrm xmlns:a="http://schemas.openxmlformats.org/drawingml/2006/main">
            <a:off x="393668" y="1838325"/>
            <a:ext cx="5540359"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00" b="1">
                <a:solidFill>
                  <a:srgbClr val="171717"/>
                </a:solidFill>
                <a:latin typeface="Meiryo"/>
                <a:ea typeface="Meiryo"/>
                <a:cs typeface="Meiryo"/>
              </a:defRPr>
            </a:pPr>
            <a:r>
              <a:rPr sz="2100" b="1">
                <a:solidFill>
                  <a:srgbClr val="171717"/>
                </a:solidFill>
                <a:latin typeface="Meiryo"/>
                <a:ea typeface="Meiryo"/>
                <a:cs typeface="Meiryo"/>
              </a:rPr>
              <a:t>末端圧力の推定</a:t>
            </a:r>
          </a:p>
        </p:txBody>
      </p:sp>
      <p:sp>
        <p:nvSpPr>
          <p:cNvPr id="535" name="">
            <a:extLst xmlns:a="http://schemas.openxmlformats.org/drawingml/2006/main">
              <a:ext uri="{FF2B5EF4-FFF2-40B4-BE49-F238E27FC236}">
                <a16:creationId xmlns:a16="http://schemas.microsoft.com/office/drawing/2014/main" id="{CA9E8C2F-F8F9-4ED9-8409-E1D721822B6D}"/>
              </a:ext>
            </a:extLst>
          </p:cNvPr>
          <p:cNvSpPr>
            <a:spLocks xmlns:a="http://schemas.openxmlformats.org/drawingml/2006/main" noGrp="1"/>
          </p:cNvSpPr>
          <p:nvPr/>
        </p:nvSpPr>
        <p:spPr>
          <a:xfrm xmlns:a="http://schemas.openxmlformats.org/drawingml/2006/main">
            <a:off x="393668" y="2505075"/>
            <a:ext cx="5540359" cy="285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950" b="0">
                <a:solidFill>
                  <a:srgbClr val="171717"/>
                </a:solidFill>
                <a:latin typeface="Meiryo"/>
                <a:ea typeface="Meiryo"/>
                <a:cs typeface="Meiryo"/>
              </a:defRPr>
            </a:pPr>
            <a:r>
              <a:rPr sz="1950" b="0">
                <a:solidFill>
                  <a:srgbClr val="171717"/>
                </a:solidFill>
                <a:latin typeface="Meiryo"/>
                <a:ea typeface="Meiryo"/>
                <a:cs typeface="Meiryo"/>
              </a:rPr>
              <a:t>入力：時刻tの配水圧力・流量など</a:t>
            </a:r>
          </a:p>
          <a:p xmlns:a="http://schemas.openxmlformats.org/drawingml/2006/main">
            <a:pPr>
              <a:defRPr sz="1950" b="0">
                <a:solidFill>
                  <a:srgbClr val="171717"/>
                </a:solidFill>
                <a:latin typeface="Meiryo"/>
                <a:ea typeface="Meiryo"/>
                <a:cs typeface="Meiryo"/>
              </a:defRPr>
            </a:pPr>
            <a:r>
              <a:rPr sz="1950" b="0">
                <a:solidFill>
                  <a:srgbClr val="171717"/>
                </a:solidFill>
                <a:latin typeface="Meiryo"/>
                <a:ea typeface="Meiryo"/>
                <a:cs typeface="Meiryo"/>
              </a:rPr>
              <a:t>出力：配水管網の特定地点の圧力</a:t>
            </a:r>
          </a:p>
          <a:p xmlns:a="http://schemas.openxmlformats.org/drawingml/2006/main">
            <a:r>
              <a:t/>
            </a:r>
          </a:p>
          <a:p xmlns:a="http://schemas.openxmlformats.org/drawingml/2006/main">
            <a:pPr>
              <a:defRPr sz="1950" b="0">
                <a:solidFill>
                  <a:srgbClr val="171717"/>
                </a:solidFill>
                <a:latin typeface="Meiryo"/>
                <a:ea typeface="Meiryo"/>
                <a:cs typeface="Meiryo"/>
              </a:defRPr>
            </a:pPr>
            <a:r>
              <a:rPr sz="1950" b="0">
                <a:solidFill>
                  <a:srgbClr val="171717"/>
                </a:solidFill>
                <a:latin typeface="Meiryo"/>
                <a:ea typeface="Meiryo"/>
                <a:cs typeface="Meiryo"/>
              </a:rPr>
              <a:t>山原論文では、弁の開度なども使用。</a:t>
            </a:r>
          </a:p>
        </p:txBody>
      </p:sp>
      <p:sp>
        <p:nvSpPr>
          <p:cNvPr id="536" name="">
            <a:extLst xmlns:a="http://schemas.openxmlformats.org/drawingml/2006/main">
              <a:ext uri="{FF2B5EF4-FFF2-40B4-BE49-F238E27FC236}">
                <a16:creationId xmlns:a16="http://schemas.microsoft.com/office/drawing/2014/main" id="{52891D57-C277-4606-8CBD-2381426540AD}"/>
              </a:ext>
            </a:extLst>
          </p:cNvPr>
          <p:cNvSpPr>
            <a:spLocks xmlns:a="http://schemas.openxmlformats.org/drawingml/2006/main" noGrp="1"/>
          </p:cNvSpPr>
          <p:nvPr/>
        </p:nvSpPr>
        <p:spPr>
          <a:xfrm xmlns:a="http://schemas.openxmlformats.org/drawingml/2006/main">
            <a:off x="6257877" y="1838325"/>
            <a:ext cx="5540359"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00" b="1">
                <a:solidFill>
                  <a:srgbClr val="171717"/>
                </a:solidFill>
                <a:latin typeface="Meiryo"/>
                <a:ea typeface="Meiryo"/>
                <a:cs typeface="Meiryo"/>
              </a:defRPr>
            </a:pPr>
            <a:r>
              <a:rPr sz="2100" b="1">
                <a:solidFill>
                  <a:srgbClr val="171717"/>
                </a:solidFill>
                <a:latin typeface="Meiryo"/>
                <a:ea typeface="Meiryo"/>
                <a:cs typeface="Meiryo"/>
              </a:rPr>
              <a:t>処理後の濁度の予測</a:t>
            </a:r>
          </a:p>
        </p:txBody>
      </p:sp>
      <p:sp>
        <p:nvSpPr>
          <p:cNvPr id="537" name="">
            <a:extLst xmlns:a="http://schemas.openxmlformats.org/drawingml/2006/main">
              <a:ext uri="{FF2B5EF4-FFF2-40B4-BE49-F238E27FC236}">
                <a16:creationId xmlns:a16="http://schemas.microsoft.com/office/drawing/2014/main" id="{CF021C64-6312-45A3-BC68-17289AC17844}"/>
              </a:ext>
            </a:extLst>
          </p:cNvPr>
          <p:cNvSpPr>
            <a:spLocks xmlns:a="http://schemas.openxmlformats.org/drawingml/2006/main" noGrp="1"/>
          </p:cNvSpPr>
          <p:nvPr/>
        </p:nvSpPr>
        <p:spPr>
          <a:xfrm xmlns:a="http://schemas.openxmlformats.org/drawingml/2006/main">
            <a:off x="6257877" y="2505075"/>
            <a:ext cx="5540359" cy="285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950" b="0">
                <a:solidFill>
                  <a:srgbClr val="171717"/>
                </a:solidFill>
                <a:latin typeface="Meiryo"/>
                <a:ea typeface="Meiryo"/>
                <a:cs typeface="Meiryo"/>
              </a:defRPr>
            </a:pPr>
            <a:r>
              <a:rPr sz="1950" b="0">
                <a:solidFill>
                  <a:srgbClr val="171717"/>
                </a:solidFill>
                <a:latin typeface="Meiryo"/>
                <a:ea typeface="Meiryo"/>
                <a:cs typeface="Meiryo"/>
              </a:rPr>
              <a:t>入力：原水濁度・薬品注入率など</a:t>
            </a:r>
          </a:p>
          <a:p xmlns:a="http://schemas.openxmlformats.org/drawingml/2006/main">
            <a:pPr>
              <a:defRPr sz="1950" b="0">
                <a:solidFill>
                  <a:srgbClr val="171717"/>
                </a:solidFill>
                <a:latin typeface="Meiryo"/>
                <a:ea typeface="Meiryo"/>
                <a:cs typeface="Meiryo"/>
              </a:defRPr>
            </a:pPr>
            <a:r>
              <a:rPr sz="1950" b="0">
                <a:solidFill>
                  <a:srgbClr val="171717"/>
                </a:solidFill>
                <a:latin typeface="Meiryo"/>
                <a:ea typeface="Meiryo"/>
                <a:cs typeface="Meiryo"/>
              </a:rPr>
              <a:t>出力：時刻t＋Δの処理後濁度</a:t>
            </a:r>
          </a:p>
          <a:p xmlns:a="http://schemas.openxmlformats.org/drawingml/2006/main">
            <a:r>
              <a:t/>
            </a:r>
          </a:p>
          <a:p xmlns:a="http://schemas.openxmlformats.org/drawingml/2006/main">
            <a:pPr>
              <a:defRPr sz="1950" b="0">
                <a:solidFill>
                  <a:srgbClr val="171717"/>
                </a:solidFill>
                <a:latin typeface="Meiryo"/>
                <a:ea typeface="Meiryo"/>
                <a:cs typeface="Meiryo"/>
              </a:defRPr>
            </a:pPr>
            <a:r>
              <a:rPr sz="1950" b="0">
                <a:solidFill>
                  <a:srgbClr val="171717"/>
                </a:solidFill>
                <a:latin typeface="Meiryo"/>
                <a:ea typeface="Meiryo"/>
                <a:cs typeface="Meiryo"/>
              </a:rPr>
              <a:t>具体的な変数・遅れ時間・入力窓長は未確定。</a:t>
            </a:r>
          </a:p>
        </p:txBody>
      </p:sp>
      <p:sp>
        <p:nvSpPr>
          <p:cNvPr id="538" name="">
            <a:extLst xmlns:a="http://schemas.openxmlformats.org/drawingml/2006/main">
              <a:ext uri="{FF2B5EF4-FFF2-40B4-BE49-F238E27FC236}">
                <a16:creationId xmlns:a16="http://schemas.microsoft.com/office/drawing/2014/main" id="{A16BB145-BE83-4A35-90F5-2C1EC2F11AB4}"/>
              </a:ext>
            </a:extLst>
          </p:cNvPr>
          <p:cNvSpPr>
            <a:spLocks xmlns:a="http://schemas.openxmlformats.org/drawingml/2006/main" noGrp="1"/>
          </p:cNvSpPr>
          <p:nvPr/>
        </p:nvSpPr>
        <p:spPr>
          <a:xfrm xmlns:a="http://schemas.openxmlformats.org/drawingml/2006/main">
            <a:off x="393668" y="5810250"/>
            <a:ext cx="1119187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725" b="1">
                <a:solidFill>
                  <a:srgbClr val="171717"/>
                </a:solidFill>
                <a:latin typeface="Meiryo"/>
                <a:ea typeface="Meiryo"/>
                <a:cs typeface="Meiryo"/>
              </a:defRPr>
            </a:pPr>
            <a:r>
              <a:rPr sz="1725" b="1">
                <a:solidFill>
                  <a:srgbClr val="171717"/>
                </a:solidFill>
                <a:latin typeface="Meiryo"/>
                <a:ea typeface="Meiryo"/>
                <a:cs typeface="Meiryo"/>
              </a:rPr>
              <a:t>時系列データでも、モデル入力は「1時刻のベクトル」の場合がある</a:t>
            </a:r>
          </a:p>
        </p:txBody>
      </p:sp>
      <p:sp>
        <p:nvSpPr>
          <p:cNvPr id="539" name="">
            <a:extLst xmlns:a="http://schemas.openxmlformats.org/drawingml/2006/main">
              <a:ext uri="{FF2B5EF4-FFF2-40B4-BE49-F238E27FC236}">
                <a16:creationId xmlns:a16="http://schemas.microsoft.com/office/drawing/2014/main" id="{2DCCE51C-7E61-4FDD-BF40-D9917C5CAB7E}"/>
              </a:ext>
            </a:extLst>
          </p:cNvPr>
          <p:cNvSpPr>
            <a:spLocks xmlns:a="http://schemas.openxmlformats.org/drawingml/2006/main" noGrp="1"/>
          </p:cNvSpPr>
          <p:nvPr/>
        </p:nvSpPr>
        <p:spPr>
          <a:xfrm xmlns:a="http://schemas.openxmlformats.org/drawingml/2006/main">
            <a:off x="393668" y="6334125"/>
            <a:ext cx="10668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975" b="0">
                <a:solidFill>
                  <a:srgbClr val="656565"/>
                </a:solidFill>
                <a:latin typeface="Meiryo"/>
                <a:ea typeface="Meiryo"/>
                <a:cs typeface="Meiryo"/>
              </a:defRPr>
            </a:pPr>
            <a:r>
              <a:rPr sz="975" b="0">
                <a:solidFill>
                  <a:srgbClr val="656565"/>
                </a:solidFill>
                <a:latin typeface="Meiryo"/>
                <a:ea typeface="Meiryo"/>
                <a:cs typeface="Meiryo"/>
              </a:rPr>
              <a:t>実習要求、山原 §2、ユーザー提示のモデル構想</a:t>
            </a:r>
          </a:p>
        </p:txBody>
      </p:sp>
    </p:spTree>
    <p:extLst>
      <p:ext uri="{BB962C8B-B14F-4D97-AF65-F5344CB8AC3E}">
        <p14:creationId xmlns:p14="http://schemas.microsoft.com/office/powerpoint/2010/main" val="3667182145"/>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sp>
        <p:nvSpPr>
          <p:cNvPr id="532" name="Google Shape;532;p58">
            <a:extLst xmlns:a="http://schemas.openxmlformats.org/drawingml/2006/main">
              <a:ext uri="{FF2B5EF4-FFF2-40B4-BE49-F238E27FC236}">
                <a16:creationId xmlns:a16="http://schemas.microsoft.com/office/drawing/2014/main" id="{855F9338-C523-361B-6D81-B9AAD76BBB65}"/>
              </a:ext>
            </a:extLst>
          </p:cNvPr>
          <p:cNvSpPr>
            <a:spLocks xmlns:a="http://schemas.openxmlformats.org/drawingml/2006/main" noGrp="1"/>
          </p:cNvSpPr>
          <p:nvPr>
            <p:ph type="sldNum" idx="4"/>
          </p:nvPr>
        </p:nvSpPr>
        <p:spPr>
          <a:xfrm xmlns:a="http://schemas.openxmlformats.org/drawingml/2006/main">
            <a:off x="11279332" y="6279294"/>
            <a:ext cx="518968" cy="241240"/>
          </a:xfr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pPr>
              <a:defRPr sz="975" b="0">
                <a:solidFill>
                  <a:srgbClr val="171717"/>
                </a:solidFill>
                <a:latin typeface="Meiryo"/>
                <a:ea typeface="Meiryo"/>
                <a:cs typeface="Meiryo"/>
              </a:defRPr>
            </a:pPr>
            <a:fld id="{202359C0-8A7A-196E-DD58-8E6569619F09}" type="slidenum">
              <a:rPr sz="975" b="0">
                <a:solidFill>
                  <a:srgbClr val="171717"/>
                </a:solidFill>
                <a:latin typeface="Meiryo"/>
                <a:ea typeface="Meiryo"/>
                <a:cs typeface="Meiryo"/>
              </a:rPr>
              <a:t>3</a:t>
            </a:fld>
            <a:endParaRPr/>
          </a:p>
        </p:txBody>
      </p:sp>
      <p:sp>
        <p:nvSpPr>
          <p:cNvPr id="533" name="Google Shape;533;p58">
            <a:extLst xmlns:a="http://schemas.openxmlformats.org/drawingml/2006/main">
              <a:ext uri="{FF2B5EF4-FFF2-40B4-BE49-F238E27FC236}">
                <a16:creationId xmlns:a16="http://schemas.microsoft.com/office/drawing/2014/main" id="{509200BE-15E5-FE37-6AFE-A51B10E1A9BC}"/>
              </a:ext>
            </a:extLst>
          </p:cNvPr>
          <p:cNvSpPr>
            <a:spLocks xmlns:a="http://schemas.openxmlformats.org/drawingml/2006/main" noGrp="1"/>
          </p:cNvSpPr>
          <p:nvPr>
            <p:ph type="title" idx="0"/>
          </p:nvPr>
        </p:nvSpPr>
        <p:spPr>
          <a:xfrm xmlns:a="http://schemas.openxmlformats.org/drawingml/2006/main">
            <a:off x="393668" y="344043"/>
            <a:ext cx="11404568" cy="952500"/>
          </a:xfr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pPr>
              <a:defRPr sz="2700" b="0">
                <a:solidFill>
                  <a:srgbClr val="171717"/>
                </a:solidFill>
                <a:latin typeface="Meiryo"/>
                <a:ea typeface="Meiryo"/>
                <a:cs typeface="Meiryo"/>
              </a:defRPr>
            </a:pPr>
            <a:r>
              <a:rPr sz="2700" b="0">
                <a:solidFill>
                  <a:srgbClr val="171717"/>
                </a:solidFill>
                <a:latin typeface="Meiryo"/>
                <a:ea typeface="Meiryo"/>
                <a:cs typeface="Meiryo"/>
              </a:rPr>
              <a:t>本調査における「学習外」の定義</a:t>
            </a:r>
          </a:p>
        </p:txBody>
      </p:sp>
      <p:sp>
        <p:nvSpPr>
          <p:cNvPr id="534" name="">
            <a:extLst xmlns:a="http://schemas.openxmlformats.org/drawingml/2006/main">
              <a:ext uri="{FF2B5EF4-FFF2-40B4-BE49-F238E27FC236}">
                <a16:creationId xmlns:a16="http://schemas.microsoft.com/office/drawing/2014/main" id="{7B5AB729-65A5-4778-8A61-B54369D2C9DA}"/>
              </a:ext>
            </a:extLst>
          </p:cNvPr>
          <p:cNvSpPr>
            <a:spLocks xmlns:a="http://schemas.openxmlformats.org/drawingml/2006/main" noGrp="1"/>
          </p:cNvSpPr>
          <p:nvPr/>
        </p:nvSpPr>
        <p:spPr>
          <a:xfrm xmlns:a="http://schemas.openxmlformats.org/drawingml/2006/main">
            <a:off x="393668" y="1838325"/>
            <a:ext cx="3585623"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00" b="1">
                <a:solidFill>
                  <a:srgbClr val="171717"/>
                </a:solidFill>
                <a:latin typeface="Meiryo"/>
                <a:ea typeface="Meiryo"/>
                <a:cs typeface="Meiryo"/>
              </a:defRPr>
            </a:pPr>
            <a:r>
              <a:rPr sz="2100" b="1">
                <a:solidFill>
                  <a:srgbClr val="171717"/>
                </a:solidFill>
                <a:latin typeface="Meiryo"/>
                <a:ea typeface="Meiryo"/>
                <a:cs typeface="Meiryo"/>
              </a:rPr>
              <a:t>① 分布・範囲の外</a:t>
            </a:r>
          </a:p>
        </p:txBody>
      </p:sp>
      <p:sp>
        <p:nvSpPr>
          <p:cNvPr id="535" name="">
            <a:extLst xmlns:a="http://schemas.openxmlformats.org/drawingml/2006/main">
              <a:ext uri="{FF2B5EF4-FFF2-40B4-BE49-F238E27FC236}">
                <a16:creationId xmlns:a16="http://schemas.microsoft.com/office/drawing/2014/main" id="{5124F158-DD00-48A9-A712-3AAB8DBAC03A}"/>
              </a:ext>
            </a:extLst>
          </p:cNvPr>
          <p:cNvSpPr>
            <a:spLocks xmlns:a="http://schemas.openxmlformats.org/drawingml/2006/main" noGrp="1"/>
          </p:cNvSpPr>
          <p:nvPr/>
        </p:nvSpPr>
        <p:spPr>
          <a:xfrm xmlns:a="http://schemas.openxmlformats.org/drawingml/2006/main">
            <a:off x="393668" y="2505075"/>
            <a:ext cx="3585623" cy="285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0">
                <a:solidFill>
                  <a:srgbClr val="171717"/>
                </a:solidFill>
                <a:latin typeface="Meiryo"/>
                <a:ea typeface="Meiryo"/>
                <a:cs typeface="Meiryo"/>
              </a:defRPr>
            </a:pPr>
            <a:r>
              <a:rPr sz="1875" b="0">
                <a:solidFill>
                  <a:srgbClr val="171717"/>
                </a:solidFill>
                <a:latin typeface="Meiryo"/>
                <a:ea typeface="Meiryo"/>
                <a:cs typeface="Meiryo"/>
              </a:rPr>
              <a:t>訓練時に観測した入力分布や範囲から外れる。</a:t>
            </a:r>
          </a:p>
          <a:p xmlns:a="http://schemas.openxmlformats.org/drawingml/2006/main">
            <a:r>
              <a:t/>
            </a:r>
          </a:p>
          <a:p xmlns:a="http://schemas.openxmlformats.org/drawingml/2006/main">
            <a:pPr>
              <a:defRPr sz="1875" b="0">
                <a:solidFill>
                  <a:srgbClr val="171717"/>
                </a:solidFill>
                <a:latin typeface="Meiryo"/>
                <a:ea typeface="Meiryo"/>
                <a:cs typeface="Meiryo"/>
              </a:defRPr>
            </a:pPr>
            <a:r>
              <a:rPr sz="1875" b="0">
                <a:solidFill>
                  <a:srgbClr val="171717"/>
                </a:solidFill>
                <a:latin typeface="Meiryo"/>
                <a:ea typeface="Meiryo"/>
                <a:cs typeface="Meiryo"/>
              </a:rPr>
              <a:t>例：未経験の高圧力・大流量。</a:t>
            </a:r>
          </a:p>
        </p:txBody>
      </p:sp>
      <p:sp>
        <p:nvSpPr>
          <p:cNvPr id="536" name="">
            <a:extLst xmlns:a="http://schemas.openxmlformats.org/drawingml/2006/main">
              <a:ext uri="{FF2B5EF4-FFF2-40B4-BE49-F238E27FC236}">
                <a16:creationId xmlns:a16="http://schemas.microsoft.com/office/drawing/2014/main" id="{9518B7B5-AA18-4D0A-B5C9-E291C510CDFE}"/>
              </a:ext>
            </a:extLst>
          </p:cNvPr>
          <p:cNvSpPr>
            <a:spLocks xmlns:a="http://schemas.openxmlformats.org/drawingml/2006/main" noGrp="1"/>
          </p:cNvSpPr>
          <p:nvPr/>
        </p:nvSpPr>
        <p:spPr>
          <a:xfrm xmlns:a="http://schemas.openxmlformats.org/drawingml/2006/main">
            <a:off x="4303141" y="1838325"/>
            <a:ext cx="3585623"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00" b="1">
                <a:solidFill>
                  <a:srgbClr val="171717"/>
                </a:solidFill>
                <a:latin typeface="Meiryo"/>
                <a:ea typeface="Meiryo"/>
                <a:cs typeface="Meiryo"/>
              </a:defRPr>
            </a:pPr>
            <a:r>
              <a:rPr sz="2100" b="1">
                <a:solidFill>
                  <a:srgbClr val="171717"/>
                </a:solidFill>
                <a:latin typeface="Meiryo"/>
                <a:ea typeface="Meiryo"/>
                <a:cs typeface="Meiryo"/>
              </a:rPr>
              <a:t>② 学習データが疎</a:t>
            </a:r>
          </a:p>
        </p:txBody>
      </p:sp>
      <p:sp>
        <p:nvSpPr>
          <p:cNvPr id="537" name="">
            <a:extLst xmlns:a="http://schemas.openxmlformats.org/drawingml/2006/main">
              <a:ext uri="{FF2B5EF4-FFF2-40B4-BE49-F238E27FC236}">
                <a16:creationId xmlns:a16="http://schemas.microsoft.com/office/drawing/2014/main" id="{95CAD491-2860-40F9-8428-608D89789729}"/>
              </a:ext>
            </a:extLst>
          </p:cNvPr>
          <p:cNvSpPr>
            <a:spLocks xmlns:a="http://schemas.openxmlformats.org/drawingml/2006/main" noGrp="1"/>
          </p:cNvSpPr>
          <p:nvPr/>
        </p:nvSpPr>
        <p:spPr>
          <a:xfrm xmlns:a="http://schemas.openxmlformats.org/drawingml/2006/main">
            <a:off x="4303141" y="2505075"/>
            <a:ext cx="3585623" cy="285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0">
                <a:solidFill>
                  <a:srgbClr val="171717"/>
                </a:solidFill>
                <a:latin typeface="Meiryo"/>
                <a:ea typeface="Meiryo"/>
                <a:cs typeface="Meiryo"/>
              </a:defRPr>
            </a:pPr>
            <a:r>
              <a:rPr sz="1875" b="0">
                <a:solidFill>
                  <a:srgbClr val="171717"/>
                </a:solidFill>
                <a:latin typeface="Meiryo"/>
                <a:ea typeface="Meiryo"/>
                <a:cs typeface="Meiryo"/>
              </a:rPr>
              <a:t>訓練データが少なく、十分に学習できていない可能性がある。</a:t>
            </a:r>
          </a:p>
          <a:p xmlns:a="http://schemas.openxmlformats.org/drawingml/2006/main">
            <a:r>
              <a:t/>
            </a:r>
          </a:p>
          <a:p xmlns:a="http://schemas.openxmlformats.org/drawingml/2006/main">
            <a:pPr>
              <a:defRPr sz="1875" b="0">
                <a:solidFill>
                  <a:srgbClr val="171717"/>
                </a:solidFill>
                <a:latin typeface="Meiryo"/>
                <a:ea typeface="Meiryo"/>
                <a:cs typeface="Meiryo"/>
              </a:defRPr>
            </a:pPr>
            <a:r>
              <a:rPr sz="1875" b="0">
                <a:solidFill>
                  <a:srgbClr val="171717"/>
                </a:solidFill>
                <a:latin typeface="Meiryo"/>
                <a:ea typeface="Meiryo"/>
                <a:cs typeface="Meiryo"/>
              </a:rPr>
              <a:t>例：まれな運転条件。</a:t>
            </a:r>
          </a:p>
        </p:txBody>
      </p:sp>
      <p:sp>
        <p:nvSpPr>
          <p:cNvPr id="538" name="">
            <a:extLst xmlns:a="http://schemas.openxmlformats.org/drawingml/2006/main">
              <a:ext uri="{FF2B5EF4-FFF2-40B4-BE49-F238E27FC236}">
                <a16:creationId xmlns:a16="http://schemas.microsoft.com/office/drawing/2014/main" id="{B0BA3949-DE56-4F50-B3C0-392434F71400}"/>
              </a:ext>
            </a:extLst>
          </p:cNvPr>
          <p:cNvSpPr>
            <a:spLocks xmlns:a="http://schemas.openxmlformats.org/drawingml/2006/main" noGrp="1"/>
          </p:cNvSpPr>
          <p:nvPr/>
        </p:nvSpPr>
        <p:spPr>
          <a:xfrm xmlns:a="http://schemas.openxmlformats.org/drawingml/2006/main">
            <a:off x="8212614" y="1838325"/>
            <a:ext cx="3585623"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00" b="1">
                <a:solidFill>
                  <a:srgbClr val="171717"/>
                </a:solidFill>
                <a:latin typeface="Meiryo"/>
                <a:ea typeface="Meiryo"/>
                <a:cs typeface="Meiryo"/>
              </a:defRPr>
            </a:pPr>
            <a:r>
              <a:rPr sz="2100" b="1">
                <a:solidFill>
                  <a:srgbClr val="171717"/>
                </a:solidFill>
                <a:latin typeface="Meiryo"/>
                <a:ea typeface="Meiryo"/>
                <a:cs typeface="Meiryo"/>
              </a:rPr>
              <a:t>③ 未知の変数関係</a:t>
            </a:r>
          </a:p>
        </p:txBody>
      </p:sp>
      <p:sp>
        <p:nvSpPr>
          <p:cNvPr id="539" name="">
            <a:extLst xmlns:a="http://schemas.openxmlformats.org/drawingml/2006/main">
              <a:ext uri="{FF2B5EF4-FFF2-40B4-BE49-F238E27FC236}">
                <a16:creationId xmlns:a16="http://schemas.microsoft.com/office/drawing/2014/main" id="{2DFEFB33-4E28-4636-962F-EF894E777966}"/>
              </a:ext>
            </a:extLst>
          </p:cNvPr>
          <p:cNvSpPr>
            <a:spLocks xmlns:a="http://schemas.openxmlformats.org/drawingml/2006/main" noGrp="1"/>
          </p:cNvSpPr>
          <p:nvPr/>
        </p:nvSpPr>
        <p:spPr>
          <a:xfrm xmlns:a="http://schemas.openxmlformats.org/drawingml/2006/main">
            <a:off x="8212614" y="2505075"/>
            <a:ext cx="3585623" cy="285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0">
                <a:solidFill>
                  <a:srgbClr val="171717"/>
                </a:solidFill>
                <a:latin typeface="Meiryo"/>
                <a:ea typeface="Meiryo"/>
                <a:cs typeface="Meiryo"/>
              </a:defRPr>
            </a:pPr>
            <a:r>
              <a:rPr sz="1875" b="0">
                <a:solidFill>
                  <a:srgbClr val="171717"/>
                </a:solidFill>
                <a:latin typeface="Meiryo"/>
                <a:ea typeface="Meiryo"/>
                <a:cs typeface="Meiryo"/>
              </a:rPr>
              <a:t>各変数は範囲内でも、組合せや相関関係が訓練時と異なる。</a:t>
            </a:r>
          </a:p>
          <a:p xmlns:a="http://schemas.openxmlformats.org/drawingml/2006/main">
            <a:r>
              <a:t/>
            </a:r>
          </a:p>
          <a:p xmlns:a="http://schemas.openxmlformats.org/drawingml/2006/main">
            <a:pPr>
              <a:defRPr sz="1875" b="0">
                <a:solidFill>
                  <a:srgbClr val="171717"/>
                </a:solidFill>
                <a:latin typeface="Meiryo"/>
                <a:ea typeface="Meiryo"/>
                <a:cs typeface="Meiryo"/>
              </a:defRPr>
            </a:pPr>
            <a:r>
              <a:rPr sz="1875" b="0">
                <a:solidFill>
                  <a:srgbClr val="171717"/>
                </a:solidFill>
                <a:latin typeface="Meiryo"/>
                <a:ea typeface="Meiryo"/>
                <a:cs typeface="Meiryo"/>
              </a:rPr>
              <a:t>例：圧力と流量の関係が変化。</a:t>
            </a:r>
          </a:p>
        </p:txBody>
      </p:sp>
      <p:sp>
        <p:nvSpPr>
          <p:cNvPr id="540" name="">
            <a:extLst xmlns:a="http://schemas.openxmlformats.org/drawingml/2006/main">
              <a:ext uri="{FF2B5EF4-FFF2-40B4-BE49-F238E27FC236}">
                <a16:creationId xmlns:a16="http://schemas.microsoft.com/office/drawing/2014/main" id="{141F414C-02EE-4E14-AD9C-9BD1C992E2EC}"/>
              </a:ext>
            </a:extLst>
          </p:cNvPr>
          <p:cNvSpPr>
            <a:spLocks xmlns:a="http://schemas.openxmlformats.org/drawingml/2006/main" noGrp="1"/>
          </p:cNvSpPr>
          <p:nvPr/>
        </p:nvSpPr>
        <p:spPr>
          <a:xfrm xmlns:a="http://schemas.openxmlformats.org/drawingml/2006/main">
            <a:off x="393668" y="5810250"/>
            <a:ext cx="1119187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725" b="1">
                <a:solidFill>
                  <a:srgbClr val="171717"/>
                </a:solidFill>
                <a:latin typeface="Meiryo"/>
                <a:ea typeface="Meiryo"/>
                <a:cs typeface="Meiryo"/>
              </a:defRPr>
            </a:pPr>
            <a:r>
              <a:rPr sz="1725" b="1">
                <a:solidFill>
                  <a:srgbClr val="171717"/>
                </a:solidFill>
                <a:latin typeface="Meiryo"/>
                <a:ea typeface="Meiryo"/>
                <a:cs typeface="Meiryo"/>
              </a:rPr>
              <a:t>3つの条件は重なり得る。低密度だけで予測誤差の大きさは断定できない</a:t>
            </a:r>
          </a:p>
        </p:txBody>
      </p:sp>
      <p:sp>
        <p:nvSpPr>
          <p:cNvPr id="541" name="">
            <a:extLst xmlns:a="http://schemas.openxmlformats.org/drawingml/2006/main">
              <a:ext uri="{FF2B5EF4-FFF2-40B4-BE49-F238E27FC236}">
                <a16:creationId xmlns:a16="http://schemas.microsoft.com/office/drawing/2014/main" id="{F515779B-576A-4BDC-BDE2-6E85C0D1AC4A}"/>
              </a:ext>
            </a:extLst>
          </p:cNvPr>
          <p:cNvSpPr>
            <a:spLocks xmlns:a="http://schemas.openxmlformats.org/drawingml/2006/main" noGrp="1"/>
          </p:cNvSpPr>
          <p:nvPr/>
        </p:nvSpPr>
        <p:spPr>
          <a:xfrm xmlns:a="http://schemas.openxmlformats.org/drawingml/2006/main">
            <a:off x="393668" y="6334125"/>
            <a:ext cx="10668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975" b="0">
                <a:solidFill>
                  <a:srgbClr val="656565"/>
                </a:solidFill>
                <a:latin typeface="Meiryo"/>
                <a:ea typeface="Meiryo"/>
                <a:cs typeface="Meiryo"/>
              </a:defRPr>
            </a:pPr>
            <a:r>
              <a:rPr sz="975" b="0">
                <a:solidFill>
                  <a:srgbClr val="656565"/>
                </a:solidFill>
                <a:latin typeface="Meiryo"/>
                <a:ea typeface="Meiryo"/>
                <a:cs typeface="Meiryo"/>
              </a:rPr>
              <a:t>実習要求「本調査における学習外の考え方」</a:t>
            </a:r>
          </a:p>
        </p:txBody>
      </p:sp>
    </p:spTree>
    <p:extLst>
      <p:ext uri="{BB962C8B-B14F-4D97-AF65-F5344CB8AC3E}">
        <p14:creationId xmlns:p14="http://schemas.microsoft.com/office/powerpoint/2010/main" val="1393456992"/>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sp>
        <p:nvSpPr>
          <p:cNvPr id="532" name="Google Shape;532;p58">
            <a:extLst xmlns:a="http://schemas.openxmlformats.org/drawingml/2006/main">
              <a:ext uri="{FF2B5EF4-FFF2-40B4-BE49-F238E27FC236}">
                <a16:creationId xmlns:a16="http://schemas.microsoft.com/office/drawing/2014/main" id="{27489CDA-073D-5D98-B832-86AD74222B71}"/>
              </a:ext>
            </a:extLst>
          </p:cNvPr>
          <p:cNvSpPr>
            <a:spLocks xmlns:a="http://schemas.openxmlformats.org/drawingml/2006/main" noGrp="1"/>
          </p:cNvSpPr>
          <p:nvPr>
            <p:ph type="sldNum" idx="4"/>
          </p:nvPr>
        </p:nvSpPr>
        <p:spPr>
          <a:xfrm xmlns:a="http://schemas.openxmlformats.org/drawingml/2006/main">
            <a:off x="11279332" y="6279294"/>
            <a:ext cx="518968" cy="241240"/>
          </a:xfr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pPr>
              <a:defRPr sz="975" b="0">
                <a:solidFill>
                  <a:srgbClr val="171717"/>
                </a:solidFill>
                <a:latin typeface="Meiryo"/>
                <a:ea typeface="Meiryo"/>
                <a:cs typeface="Meiryo"/>
              </a:defRPr>
            </a:pPr>
            <a:fld id="{EFD6AB9A-5F9E-5F59-51AB-3C8734130965}" type="slidenum">
              <a:rPr sz="975" b="0">
                <a:solidFill>
                  <a:srgbClr val="171717"/>
                </a:solidFill>
                <a:latin typeface="Meiryo"/>
                <a:ea typeface="Meiryo"/>
                <a:cs typeface="Meiryo"/>
              </a:rPr>
              <a:t>4</a:t>
            </a:fld>
            <a:endParaRPr/>
          </a:p>
        </p:txBody>
      </p:sp>
      <p:sp>
        <p:nvSpPr>
          <p:cNvPr id="533" name="Google Shape;533;p58">
            <a:extLst xmlns:a="http://schemas.openxmlformats.org/drawingml/2006/main">
              <a:ext uri="{FF2B5EF4-FFF2-40B4-BE49-F238E27FC236}">
                <a16:creationId xmlns:a16="http://schemas.microsoft.com/office/drawing/2014/main" id="{08EBC4B8-BBC1-7C2A-F77D-BEC6394B0F93}"/>
              </a:ext>
            </a:extLst>
          </p:cNvPr>
          <p:cNvSpPr>
            <a:spLocks xmlns:a="http://schemas.openxmlformats.org/drawingml/2006/main" noGrp="1"/>
          </p:cNvSpPr>
          <p:nvPr>
            <p:ph type="title" idx="0"/>
          </p:nvPr>
        </p:nvSpPr>
        <p:spPr>
          <a:xfrm xmlns:a="http://schemas.openxmlformats.org/drawingml/2006/main">
            <a:off x="393668" y="344043"/>
            <a:ext cx="11404568" cy="952500"/>
          </a:xfr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pPr>
              <a:defRPr sz="2700" b="0">
                <a:solidFill>
                  <a:srgbClr val="171717"/>
                </a:solidFill>
                <a:latin typeface="Meiryo"/>
                <a:ea typeface="Meiryo"/>
                <a:cs typeface="Meiryo"/>
              </a:defRPr>
            </a:pPr>
            <a:r>
              <a:rPr sz="2700" b="0">
                <a:solidFill>
                  <a:srgbClr val="171717"/>
                </a:solidFill>
                <a:latin typeface="Meiryo"/>
                <a:ea typeface="Meiryo"/>
                <a:cs typeface="Meiryo"/>
              </a:rPr>
              <a:t>読んだ文献と本報告での役割</a:t>
            </a:r>
          </a:p>
        </p:txBody>
      </p:sp>
      <p:graphicFrame>
        <p:nvGraphicFramePr>
          <p:cNvPr id="538" name=""/>
          <p:cNvGraphicFramePr/>
          <p:nvPr/>
        </p:nvGraphicFramePr>
        <p:xfrm>
          <a:off xmlns:a="http://schemas.openxmlformats.org/drawingml/2006/main" x="393668" y="1638300"/>
          <a:ext xmlns:a="http://schemas.openxmlformats.org/drawingml/2006/main" cx="11382375" cy="4095750"/>
        </p:xfrm>
        <a:graphic xmlns:a="http://schemas.openxmlformats.org/drawingml/2006/main">
          <a:graphicData uri="http://schemas.openxmlformats.org/drawingml/2006/table">
            <a:tbl>
              <a:tblPr/>
              <a:tblGrid>
                <a:gridCol w="1762125"/>
                <a:gridCol w="5000625"/>
                <a:gridCol w="4619625"/>
              </a:tblGrid>
              <a:tr h="585107">
                <a:tc>
                  <a:txBody>
                    <a:bodyPr>
                      <a:noAutofit/>
                    </a:bodyPr>
                    <a:lstStyle/>
                    <a:p>
                      <a:r>
                        <a:rPr sz="1725" b="1">
                          <a:solidFill>
                            <a:srgbClr val="171717"/>
                          </a:solidFill>
                          <a:latin typeface="Meiryo"/>
                          <a:ea typeface="Meiryo"/>
                          <a:cs typeface="Meiryo"/>
                        </a:rPr>
                        <a:t>文献</a:t>
                      </a:r>
                    </a:p>
                  </a:txBody>
                  <a:tcPr marL="95250" marR="95250" marT="85725" marB="66675" anchor="ctr">
                    <a:solidFill>
                      <a:srgbClr val="F1F1F1"/>
                    </a:solidFill>
                  </a:tcPr>
                </a:tc>
                <a:tc>
                  <a:txBody>
                    <a:bodyPr>
                      <a:noAutofit/>
                    </a:bodyPr>
                    <a:lstStyle/>
                    <a:p>
                      <a:r>
                        <a:rPr sz="1725" b="1">
                          <a:solidFill>
                            <a:srgbClr val="171717"/>
                          </a:solidFill>
                          <a:latin typeface="Meiryo"/>
                          <a:ea typeface="Meiryo"/>
                          <a:cs typeface="Meiryo"/>
                        </a:rPr>
                        <a:t>対象と内容</a:t>
                      </a:r>
                    </a:p>
                  </a:txBody>
                  <a:tcPr marL="95250" marR="95250" marT="85725" marB="66675" anchor="ctr">
                    <a:solidFill>
                      <a:srgbClr val="F1F1F1"/>
                    </a:solidFill>
                  </a:tcPr>
                </a:tc>
                <a:tc>
                  <a:txBody>
                    <a:bodyPr>
                      <a:noAutofit/>
                    </a:bodyPr>
                    <a:lstStyle/>
                    <a:p>
                      <a:r>
                        <a:rPr sz="1725" b="1">
                          <a:solidFill>
                            <a:srgbClr val="171717"/>
                          </a:solidFill>
                          <a:latin typeface="Meiryo"/>
                          <a:ea typeface="Meiryo"/>
                          <a:cs typeface="Meiryo"/>
                        </a:rPr>
                        <a:t>本報告での役割</a:t>
                      </a:r>
                    </a:p>
                  </a:txBody>
                  <a:tcPr marL="95250" marR="95250" marT="85725" marB="66675" anchor="ctr">
                    <a:solidFill>
                      <a:srgbClr val="F1F1F1"/>
                    </a:solidFill>
                  </a:tcPr>
                </a:tc>
              </a:tr>
              <a:tr h="585107">
                <a:tc>
                  <a:txBody>
                    <a:bodyPr>
                      <a:noAutofit/>
                    </a:bodyPr>
                    <a:lstStyle/>
                    <a:p>
                      <a:r>
                        <a:rPr sz="1725" b="0">
                          <a:solidFill>
                            <a:srgbClr val="171717"/>
                          </a:solidFill>
                          <a:latin typeface="Meiryo"/>
                          <a:ea typeface="Meiryo"/>
                          <a:cs typeface="Meiryo"/>
                        </a:rPr>
                        <a:t>S1 / 2022</a:t>
                      </a:r>
                    </a:p>
                  </a:txBody>
                  <a:tcPr marL="95250" marR="95250" marT="85725" marB="66675" anchor="ctr">
                    <a:solidFill>
                      <a:srgbClr val="FFFFFF"/>
                    </a:solidFill>
                  </a:tcPr>
                </a:tc>
                <a:tc>
                  <a:txBody>
                    <a:bodyPr>
                      <a:noAutofit/>
                    </a:bodyPr>
                    <a:lstStyle/>
                    <a:p>
                      <a:r>
                        <a:rPr sz="1725" b="0">
                          <a:solidFill>
                            <a:srgbClr val="171717"/>
                          </a:solidFill>
                          <a:latin typeface="Meiryo"/>
                          <a:ea typeface="Meiryo"/>
                          <a:cs typeface="Meiryo"/>
                        </a:rPr>
                        <a:t>16手法・5データセットの比較評価</a:t>
                      </a:r>
                    </a:p>
                  </a:txBody>
                  <a:tcPr marL="95250" marR="95250" marT="85725" marB="66675" anchor="ctr">
                    <a:solidFill>
                      <a:srgbClr val="FFFFFF"/>
                    </a:solidFill>
                  </a:tcPr>
                </a:tc>
                <a:tc>
                  <a:txBody>
                    <a:bodyPr>
                      <a:noAutofit/>
                    </a:bodyPr>
                    <a:lstStyle/>
                    <a:p>
                      <a:r>
                        <a:rPr sz="1725" b="0">
                          <a:solidFill>
                            <a:srgbClr val="171717"/>
                          </a:solidFill>
                          <a:latin typeface="Meiryo"/>
                          <a:ea typeface="Meiryo"/>
                          <a:cs typeface="Meiryo"/>
                        </a:rPr>
                        <a:t>複雑な手法の必要性を検討</a:t>
                      </a:r>
                    </a:p>
                  </a:txBody>
                  <a:tcPr marL="95250" marR="95250" marT="85725" marB="66675" anchor="ctr">
                    <a:solidFill>
                      <a:srgbClr val="FFFFFF"/>
                    </a:solidFill>
                  </a:tcPr>
                </a:tc>
              </a:tr>
              <a:tr h="585107">
                <a:tc>
                  <a:txBody>
                    <a:bodyPr>
                      <a:noAutofit/>
                    </a:bodyPr>
                    <a:lstStyle/>
                    <a:p>
                      <a:r>
                        <a:rPr sz="1725" b="0">
                          <a:solidFill>
                            <a:srgbClr val="171717"/>
                          </a:solidFill>
                          <a:latin typeface="Meiryo"/>
                          <a:ea typeface="Meiryo"/>
                          <a:cs typeface="Meiryo"/>
                        </a:rPr>
                        <a:t>S3 / 2021</a:t>
                      </a:r>
                    </a:p>
                  </a:txBody>
                  <a:tcPr marL="95250" marR="95250" marT="85725" marB="66675" anchor="ctr">
                    <a:solidFill>
                      <a:srgbClr val="FFFFFF"/>
                    </a:solidFill>
                  </a:tcPr>
                </a:tc>
                <a:tc>
                  <a:txBody>
                    <a:bodyPr>
                      <a:noAutofit/>
                    </a:bodyPr>
                    <a:lstStyle/>
                    <a:p>
                      <a:r>
                        <a:rPr sz="1725" b="0">
                          <a:solidFill>
                            <a:srgbClr val="171717"/>
                          </a:solidFill>
                          <a:latin typeface="Meiryo"/>
                          <a:ea typeface="Meiryo"/>
                          <a:cs typeface="Meiryo"/>
                        </a:rPr>
                        <a:t>時系列の外れ値検知レビュー</a:t>
                      </a:r>
                    </a:p>
                  </a:txBody>
                  <a:tcPr marL="95250" marR="95250" marT="85725" marB="66675" anchor="ctr">
                    <a:solidFill>
                      <a:srgbClr val="FFFFFF"/>
                    </a:solidFill>
                  </a:tcPr>
                </a:tc>
                <a:tc>
                  <a:txBody>
                    <a:bodyPr>
                      <a:noAutofit/>
                    </a:bodyPr>
                    <a:lstStyle/>
                    <a:p>
                      <a:r>
                        <a:rPr sz="1725" b="0">
                          <a:solidFill>
                            <a:srgbClr val="171717"/>
                          </a:solidFill>
                          <a:latin typeface="Meiryo"/>
                          <a:ea typeface="Meiryo"/>
                          <a:cs typeface="Meiryo"/>
                        </a:rPr>
                        <a:t>異常の粒度・時間情報を整理</a:t>
                      </a:r>
                    </a:p>
                  </a:txBody>
                  <a:tcPr marL="95250" marR="95250" marT="85725" marB="66675" anchor="ctr">
                    <a:solidFill>
                      <a:srgbClr val="FFFFFF"/>
                    </a:solidFill>
                  </a:tcPr>
                </a:tc>
              </a:tr>
              <a:tr h="585107">
                <a:tc>
                  <a:txBody>
                    <a:bodyPr>
                      <a:noAutofit/>
                    </a:bodyPr>
                    <a:lstStyle/>
                    <a:p>
                      <a:r>
                        <a:rPr sz="1725" b="0">
                          <a:solidFill>
                            <a:srgbClr val="171717"/>
                          </a:solidFill>
                          <a:latin typeface="Meiryo"/>
                          <a:ea typeface="Meiryo"/>
                          <a:cs typeface="Meiryo"/>
                        </a:rPr>
                        <a:t>S6 / 2025</a:t>
                      </a:r>
                    </a:p>
                  </a:txBody>
                  <a:tcPr marL="95250" marR="95250" marT="85725" marB="66675" anchor="ctr">
                    <a:solidFill>
                      <a:srgbClr val="FFFFFF"/>
                    </a:solidFill>
                  </a:tcPr>
                </a:tc>
                <a:tc>
                  <a:txBody>
                    <a:bodyPr>
                      <a:noAutofit/>
                    </a:bodyPr>
                    <a:lstStyle/>
                    <a:p>
                      <a:r>
                        <a:rPr sz="1725" b="0">
                          <a:solidFill>
                            <a:srgbClr val="171717"/>
                          </a:solidFill>
                          <a:latin typeface="Meiryo"/>
                          <a:ea typeface="Meiryo"/>
                          <a:cs typeface="Meiryo"/>
                        </a:rPr>
                        <a:t>深層多変量時系列異常検知のサーベイ</a:t>
                      </a:r>
                    </a:p>
                  </a:txBody>
                  <a:tcPr marL="95250" marR="95250" marT="85725" marB="66675" anchor="ctr">
                    <a:solidFill>
                      <a:srgbClr val="FFFFFF"/>
                    </a:solidFill>
                  </a:tcPr>
                </a:tc>
                <a:tc>
                  <a:txBody>
                    <a:bodyPr>
                      <a:noAutofit/>
                    </a:bodyPr>
                    <a:lstStyle/>
                    <a:p>
                      <a:r>
                        <a:rPr sz="1725" b="0">
                          <a:solidFill>
                            <a:srgbClr val="171717"/>
                          </a:solidFill>
                          <a:latin typeface="Meiryo"/>
                          <a:ea typeface="Meiryo"/>
                          <a:cs typeface="Meiryo"/>
                        </a:rPr>
                        <a:t>深層手法と変数間関係を整理</a:t>
                      </a:r>
                    </a:p>
                  </a:txBody>
                  <a:tcPr marL="95250" marR="95250" marT="85725" marB="66675" anchor="ctr">
                    <a:solidFill>
                      <a:srgbClr val="FFFFFF"/>
                    </a:solidFill>
                  </a:tcPr>
                </a:tc>
              </a:tr>
              <a:tr h="585107">
                <a:tc>
                  <a:txBody>
                    <a:bodyPr>
                      <a:noAutofit/>
                    </a:bodyPr>
                    <a:lstStyle/>
                    <a:p>
                      <a:r>
                        <a:rPr sz="1725" b="0">
                          <a:solidFill>
                            <a:srgbClr val="171717"/>
                          </a:solidFill>
                          <a:latin typeface="Meiryo"/>
                          <a:ea typeface="Meiryo"/>
                          <a:cs typeface="Meiryo"/>
                        </a:rPr>
                        <a:t>13 / 2026</a:t>
                      </a:r>
                    </a:p>
                  </a:txBody>
                  <a:tcPr marL="95250" marR="95250" marT="85725" marB="66675" anchor="ctr">
                    <a:solidFill>
                      <a:srgbClr val="FFFFFF"/>
                    </a:solidFill>
                  </a:tcPr>
                </a:tc>
                <a:tc>
                  <a:txBody>
                    <a:bodyPr>
                      <a:noAutofit/>
                    </a:bodyPr>
                    <a:lstStyle/>
                    <a:p>
                      <a:r>
                        <a:rPr sz="1725" b="0">
                          <a:solidFill>
                            <a:srgbClr val="171717"/>
                          </a:solidFill>
                          <a:latin typeface="Meiryo"/>
                          <a:ea typeface="Meiryo"/>
                          <a:cs typeface="Meiryo"/>
                        </a:rPr>
                        <a:t>回帰などに対するOutPro</a:t>
                      </a:r>
                    </a:p>
                  </a:txBody>
                  <a:tcPr marL="95250" marR="95250" marT="85725" marB="66675" anchor="ctr">
                    <a:solidFill>
                      <a:srgbClr val="FFFFFF"/>
                    </a:solidFill>
                  </a:tcPr>
                </a:tc>
                <a:tc>
                  <a:txBody>
                    <a:bodyPr>
                      <a:noAutofit/>
                    </a:bodyPr>
                    <a:lstStyle/>
                    <a:p>
                      <a:r>
                        <a:rPr sz="1725" b="0">
                          <a:solidFill>
                            <a:srgbClr val="171717"/>
                          </a:solidFill>
                          <a:latin typeface="Meiryo"/>
                          <a:ea typeface="Meiryo"/>
                          <a:cs typeface="Meiryo"/>
                        </a:rPr>
                        <a:t>予測タスクを考慮したOOD検知</a:t>
                      </a:r>
                    </a:p>
                  </a:txBody>
                  <a:tcPr marL="95250" marR="95250" marT="85725" marB="66675" anchor="ctr">
                    <a:solidFill>
                      <a:srgbClr val="FFFFFF"/>
                    </a:solidFill>
                  </a:tcPr>
                </a:tc>
              </a:tr>
              <a:tr h="585107">
                <a:tc>
                  <a:txBody>
                    <a:bodyPr>
                      <a:noAutofit/>
                    </a:bodyPr>
                    <a:lstStyle/>
                    <a:p>
                      <a:r>
                        <a:rPr sz="1725" b="0">
                          <a:solidFill>
                            <a:srgbClr val="171717"/>
                          </a:solidFill>
                          <a:latin typeface="Meiryo"/>
                          <a:ea typeface="Meiryo"/>
                          <a:cs typeface="Meiryo"/>
                        </a:rPr>
                        <a:t>14 / 2014</a:t>
                      </a:r>
                    </a:p>
                  </a:txBody>
                  <a:tcPr marL="95250" marR="95250" marT="85725" marB="66675" anchor="ctr">
                    <a:solidFill>
                      <a:srgbClr val="FFFFFF"/>
                    </a:solidFill>
                  </a:tcPr>
                </a:tc>
                <a:tc>
                  <a:txBody>
                    <a:bodyPr>
                      <a:noAutofit/>
                    </a:bodyPr>
                    <a:lstStyle/>
                    <a:p>
                      <a:r>
                        <a:rPr sz="1725" b="0">
                          <a:solidFill>
                            <a:srgbClr val="171717"/>
                          </a:solidFill>
                          <a:latin typeface="Meiryo"/>
                          <a:ea typeface="Meiryo"/>
                          <a:cs typeface="Meiryo"/>
                        </a:rPr>
                        <a:t>AE・ノイズ除去AEによる異常検知</a:t>
                      </a:r>
                    </a:p>
                  </a:txBody>
                  <a:tcPr marL="95250" marR="95250" marT="85725" marB="66675" anchor="ctr">
                    <a:solidFill>
                      <a:srgbClr val="FFFFFF"/>
                    </a:solidFill>
                  </a:tcPr>
                </a:tc>
                <a:tc>
                  <a:txBody>
                    <a:bodyPr>
                      <a:noAutofit/>
                    </a:bodyPr>
                    <a:lstStyle/>
                    <a:p>
                      <a:r>
                        <a:rPr sz="1725" b="0">
                          <a:solidFill>
                            <a:srgbClr val="171717"/>
                          </a:solidFill>
                          <a:latin typeface="Meiryo"/>
                          <a:ea typeface="Meiryo"/>
                          <a:cs typeface="Meiryo"/>
                        </a:rPr>
                        <a:t>1時刻入力に使える再構成型</a:t>
                      </a:r>
                    </a:p>
                  </a:txBody>
                  <a:tcPr marL="95250" marR="95250" marT="85725" marB="66675" anchor="ctr">
                    <a:solidFill>
                      <a:srgbClr val="FFFFFF"/>
                    </a:solidFill>
                  </a:tcPr>
                </a:tc>
              </a:tr>
              <a:tr h="585107">
                <a:tc>
                  <a:txBody>
                    <a:bodyPr>
                      <a:noAutofit/>
                    </a:bodyPr>
                    <a:lstStyle/>
                    <a:p>
                      <a:r>
                        <a:rPr sz="1725" b="0">
                          <a:solidFill>
                            <a:srgbClr val="171717"/>
                          </a:solidFill>
                          <a:latin typeface="Meiryo"/>
                          <a:ea typeface="Meiryo"/>
                          <a:cs typeface="Meiryo"/>
                        </a:rPr>
                        <a:t>山原</a:t>
                      </a:r>
                    </a:p>
                  </a:txBody>
                  <a:tcPr marL="95250" marR="95250" marT="85725" marB="66675" anchor="ctr">
                    <a:solidFill>
                      <a:srgbClr val="FFFFFF"/>
                    </a:solidFill>
                  </a:tcPr>
                </a:tc>
                <a:tc>
                  <a:txBody>
                    <a:bodyPr>
                      <a:noAutofit/>
                    </a:bodyPr>
                    <a:lstStyle/>
                    <a:p>
                      <a:r>
                        <a:rPr sz="1725" b="0">
                          <a:solidFill>
                            <a:srgbClr val="171717"/>
                          </a:solidFill>
                          <a:latin typeface="Meiryo"/>
                          <a:ea typeface="Meiryo"/>
                          <a:cs typeface="Meiryo"/>
                        </a:rPr>
                        <a:t>配水管網の圧力推定と適用領域</a:t>
                      </a:r>
                    </a:p>
                  </a:txBody>
                  <a:tcPr marL="95250" marR="95250" marT="85725" marB="66675" anchor="ctr">
                    <a:solidFill>
                      <a:srgbClr val="FFFFFF"/>
                    </a:solidFill>
                  </a:tcPr>
                </a:tc>
                <a:tc>
                  <a:txBody>
                    <a:bodyPr>
                      <a:noAutofit/>
                    </a:bodyPr>
                    <a:lstStyle/>
                    <a:p>
                      <a:r>
                        <a:rPr sz="1725" b="0">
                          <a:solidFill>
                            <a:srgbClr val="171717"/>
                          </a:solidFill>
                          <a:latin typeface="Meiryo"/>
                          <a:ea typeface="Meiryo"/>
                          <a:cs typeface="Meiryo"/>
                        </a:rPr>
                        <a:t>社会インフラへの適用事例</a:t>
                      </a:r>
                    </a:p>
                  </a:txBody>
                  <a:tcPr marL="95250" marR="95250" marT="85725" marB="66675" anchor="ctr">
                    <a:solidFill>
                      <a:srgbClr val="FFFFFF"/>
                    </a:solidFill>
                  </a:tcPr>
                </a:tc>
              </a:tr>
            </a:tbl>
          </a:graphicData>
        </a:graphic>
      </p:graphicFrame>
      <p:sp>
        <p:nvSpPr>
          <p:cNvPr id="535" name="">
            <a:extLst xmlns:a="http://schemas.openxmlformats.org/drawingml/2006/main">
              <a:ext uri="{FF2B5EF4-FFF2-40B4-BE49-F238E27FC236}">
                <a16:creationId xmlns:a16="http://schemas.microsoft.com/office/drawing/2014/main" id="{409829EB-295D-4BE9-BC24-09F2E8D64831}"/>
              </a:ext>
            </a:extLst>
          </p:cNvPr>
          <p:cNvSpPr>
            <a:spLocks xmlns:a="http://schemas.openxmlformats.org/drawingml/2006/main" noGrp="1"/>
          </p:cNvSpPr>
          <p:nvPr/>
        </p:nvSpPr>
        <p:spPr>
          <a:xfrm xmlns:a="http://schemas.openxmlformats.org/drawingml/2006/main">
            <a:off x="393668" y="6334125"/>
            <a:ext cx="10668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975" b="0">
                <a:solidFill>
                  <a:srgbClr val="656565"/>
                </a:solidFill>
                <a:latin typeface="Meiryo"/>
                <a:ea typeface="Meiryo"/>
                <a:cs typeface="Meiryo"/>
              </a:defRPr>
            </a:pPr>
            <a:r>
              <a:rPr sz="975" b="0">
                <a:solidFill>
                  <a:srgbClr val="656565"/>
                </a:solidFill>
                <a:latin typeface="Meiryo"/>
                <a:ea typeface="Meiryo"/>
                <a:cs typeface="Meiryo"/>
              </a:rPr>
              <a:t>各論文の表題・要旨。正式な書誌情報は付録に記載</a:t>
            </a:r>
          </a:p>
        </p:txBody>
      </p:sp>
    </p:spTree>
    <p:extLst>
      <p:ext uri="{BB962C8B-B14F-4D97-AF65-F5344CB8AC3E}">
        <p14:creationId xmlns:p14="http://schemas.microsoft.com/office/powerpoint/2010/main" val="329854879"/>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sp>
        <p:nvSpPr>
          <p:cNvPr id="532" name="Google Shape;532;p58">
            <a:extLst xmlns:a="http://schemas.openxmlformats.org/drawingml/2006/main">
              <a:ext uri="{FF2B5EF4-FFF2-40B4-BE49-F238E27FC236}">
                <a16:creationId xmlns:a16="http://schemas.microsoft.com/office/drawing/2014/main" id="{27489CDA-073D-5D98-B832-86AD74222B71}"/>
              </a:ext>
            </a:extLst>
          </p:cNvPr>
          <p:cNvSpPr>
            <a:spLocks xmlns:a="http://schemas.openxmlformats.org/drawingml/2006/main" noGrp="1"/>
          </p:cNvSpPr>
          <p:nvPr>
            <p:ph type="sldNum" idx="4"/>
          </p:nvPr>
        </p:nvSpPr>
        <p:spPr>
          <a:xfrm xmlns:a="http://schemas.openxmlformats.org/drawingml/2006/main">
            <a:off x="11279332" y="6279294"/>
            <a:ext cx="518968" cy="241240"/>
          </a:xfr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pPr>
              <a:defRPr sz="975" b="0">
                <a:solidFill>
                  <a:srgbClr val="171717"/>
                </a:solidFill>
                <a:latin typeface="Meiryo"/>
                <a:ea typeface="Meiryo"/>
                <a:cs typeface="Meiryo"/>
              </a:defRPr>
            </a:pPr>
            <a:fld id="{EE5B3003-2C54-13C6-9832-7637201064DE}" type="slidenum">
              <a:rPr sz="975" b="0">
                <a:solidFill>
                  <a:srgbClr val="171717"/>
                </a:solidFill>
                <a:latin typeface="Meiryo"/>
                <a:ea typeface="Meiryo"/>
                <a:cs typeface="Meiryo"/>
              </a:rPr>
              <a:t>5</a:t>
            </a:fld>
            <a:endParaRPr/>
          </a:p>
        </p:txBody>
      </p:sp>
      <p:sp>
        <p:nvSpPr>
          <p:cNvPr id="533" name="Google Shape;533;p58">
            <a:extLst xmlns:a="http://schemas.openxmlformats.org/drawingml/2006/main">
              <a:ext uri="{FF2B5EF4-FFF2-40B4-BE49-F238E27FC236}">
                <a16:creationId xmlns:a16="http://schemas.microsoft.com/office/drawing/2014/main" id="{08EBC4B8-BBC1-7C2A-F77D-BEC6394B0F93}"/>
              </a:ext>
            </a:extLst>
          </p:cNvPr>
          <p:cNvSpPr>
            <a:spLocks xmlns:a="http://schemas.openxmlformats.org/drawingml/2006/main" noGrp="1"/>
          </p:cNvSpPr>
          <p:nvPr>
            <p:ph type="title" idx="0"/>
          </p:nvPr>
        </p:nvSpPr>
        <p:spPr>
          <a:xfrm xmlns:a="http://schemas.openxmlformats.org/drawingml/2006/main">
            <a:off x="393668" y="344043"/>
            <a:ext cx="11404568" cy="952500"/>
          </a:xfr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pPr>
              <a:defRPr sz="2700" b="0">
                <a:solidFill>
                  <a:srgbClr val="171717"/>
                </a:solidFill>
                <a:latin typeface="Meiryo"/>
                <a:ea typeface="Meiryo"/>
                <a:cs typeface="Meiryo"/>
              </a:defRPr>
            </a:pPr>
            <a:r>
              <a:rPr sz="2700" b="0">
                <a:solidFill>
                  <a:srgbClr val="171717"/>
                </a:solidFill>
                <a:latin typeface="Meiryo"/>
                <a:ea typeface="Meiryo"/>
                <a:cs typeface="Meiryo"/>
              </a:rPr>
              <a:t>関連概念の定義と基準</a:t>
            </a:r>
          </a:p>
        </p:txBody>
      </p:sp>
      <p:graphicFrame>
        <p:nvGraphicFramePr>
          <p:cNvPr id="539" name=""/>
          <p:cNvGraphicFramePr/>
          <p:nvPr/>
        </p:nvGraphicFramePr>
        <p:xfrm>
          <a:off xmlns:a="http://schemas.openxmlformats.org/drawingml/2006/main" x="393668" y="1638300"/>
          <a:ext xmlns:a="http://schemas.openxmlformats.org/drawingml/2006/main" cx="11382375" cy="3714750"/>
        </p:xfrm>
        <a:graphic xmlns:a="http://schemas.openxmlformats.org/drawingml/2006/main">
          <a:graphicData uri="http://schemas.openxmlformats.org/drawingml/2006/table">
            <a:tbl>
              <a:tblPr/>
              <a:tblGrid>
                <a:gridCol w="2809875"/>
                <a:gridCol w="6381750"/>
                <a:gridCol w="2190750"/>
              </a:tblGrid>
              <a:tr h="619125">
                <a:tc>
                  <a:txBody>
                    <a:bodyPr>
                      <a:noAutofit/>
                    </a:bodyPr>
                    <a:lstStyle/>
                    <a:p>
                      <a:r>
                        <a:rPr sz="1725" b="1">
                          <a:solidFill>
                            <a:srgbClr val="171717"/>
                          </a:solidFill>
                          <a:latin typeface="Meiryo"/>
                          <a:ea typeface="Meiryo"/>
                          <a:cs typeface="Meiryo"/>
                        </a:rPr>
                        <a:t>概念</a:t>
                      </a:r>
                    </a:p>
                  </a:txBody>
                  <a:tcPr marL="95250" marR="95250" marT="85725" marB="66675" anchor="ctr">
                    <a:solidFill>
                      <a:srgbClr val="F1F1F1"/>
                    </a:solidFill>
                  </a:tcPr>
                </a:tc>
                <a:tc>
                  <a:txBody>
                    <a:bodyPr>
                      <a:noAutofit/>
                    </a:bodyPr>
                    <a:lstStyle/>
                    <a:p>
                      <a:r>
                        <a:rPr sz="1725" b="1">
                          <a:solidFill>
                            <a:srgbClr val="171717"/>
                          </a:solidFill>
                          <a:latin typeface="Meiryo"/>
                          <a:ea typeface="Meiryo"/>
                          <a:cs typeface="Meiryo"/>
                        </a:rPr>
                        <a:t>何を基準にするか</a:t>
                      </a:r>
                    </a:p>
                  </a:txBody>
                  <a:tcPr marL="95250" marR="95250" marT="85725" marB="66675" anchor="ctr">
                    <a:solidFill>
                      <a:srgbClr val="F1F1F1"/>
                    </a:solidFill>
                  </a:tcPr>
                </a:tc>
                <a:tc>
                  <a:txBody>
                    <a:bodyPr>
                      <a:noAutofit/>
                    </a:bodyPr>
                    <a:lstStyle/>
                    <a:p>
                      <a:r>
                        <a:rPr sz="1725" b="1">
                          <a:solidFill>
                            <a:srgbClr val="171717"/>
                          </a:solidFill>
                          <a:latin typeface="Meiryo"/>
                          <a:ea typeface="Meiryo"/>
                          <a:cs typeface="Meiryo"/>
                        </a:rPr>
                        <a:t>主な出典</a:t>
                      </a:r>
                    </a:p>
                  </a:txBody>
                  <a:tcPr marL="95250" marR="95250" marT="85725" marB="66675" anchor="ctr">
                    <a:solidFill>
                      <a:srgbClr val="F1F1F1"/>
                    </a:solidFill>
                  </a:tcPr>
                </a:tc>
              </a:tr>
              <a:tr h="619125">
                <a:tc>
                  <a:txBody>
                    <a:bodyPr>
                      <a:noAutofit/>
                    </a:bodyPr>
                    <a:lstStyle/>
                    <a:p>
                      <a:r>
                        <a:rPr sz="1725" b="0">
                          <a:solidFill>
                            <a:srgbClr val="171717"/>
                          </a:solidFill>
                          <a:latin typeface="Meiryo"/>
                          <a:ea typeface="Meiryo"/>
                          <a:cs typeface="Meiryo"/>
                        </a:rPr>
                        <a:t>Anomaly / Outlier</a:t>
                      </a:r>
                    </a:p>
                  </a:txBody>
                  <a:tcPr marL="95250" marR="95250" marT="85725" marB="66675" anchor="ctr">
                    <a:solidFill>
                      <a:srgbClr val="FFFFFF"/>
                    </a:solidFill>
                  </a:tcPr>
                </a:tc>
                <a:tc>
                  <a:txBody>
                    <a:bodyPr>
                      <a:noAutofit/>
                    </a:bodyPr>
                    <a:lstStyle/>
                    <a:p>
                      <a:r>
                        <a:rPr sz="1725" b="0">
                          <a:solidFill>
                            <a:srgbClr val="171717"/>
                          </a:solidFill>
                          <a:latin typeface="Meiryo"/>
                          <a:ea typeface="Meiryo"/>
                          <a:cs typeface="Meiryo"/>
                        </a:rPr>
                        <a:t>正常な挙動や参照する文脈からの逸脱</a:t>
                      </a:r>
                    </a:p>
                  </a:txBody>
                  <a:tcPr marL="95250" marR="95250" marT="85725" marB="66675" anchor="ctr">
                    <a:solidFill>
                      <a:srgbClr val="FFFFFF"/>
                    </a:solidFill>
                  </a:tcPr>
                </a:tc>
                <a:tc>
                  <a:txBody>
                    <a:bodyPr>
                      <a:noAutofit/>
                    </a:bodyPr>
                    <a:lstStyle/>
                    <a:p>
                      <a:r>
                        <a:rPr sz="1725" b="0">
                          <a:solidFill>
                            <a:srgbClr val="171717"/>
                          </a:solidFill>
                          <a:latin typeface="Meiryo"/>
                          <a:ea typeface="Meiryo"/>
                          <a:cs typeface="Meiryo"/>
                        </a:rPr>
                        <a:t>S1・S3・S6</a:t>
                      </a:r>
                    </a:p>
                  </a:txBody>
                  <a:tcPr marL="95250" marR="95250" marT="85725" marB="66675" anchor="ctr">
                    <a:solidFill>
                      <a:srgbClr val="FFFFFF"/>
                    </a:solidFill>
                  </a:tcPr>
                </a:tc>
              </a:tr>
              <a:tr h="619125">
                <a:tc>
                  <a:txBody>
                    <a:bodyPr>
                      <a:noAutofit/>
                    </a:bodyPr>
                    <a:lstStyle/>
                    <a:p>
                      <a:r>
                        <a:rPr sz="1725" b="0">
                          <a:solidFill>
                            <a:srgbClr val="171717"/>
                          </a:solidFill>
                          <a:latin typeface="Meiryo"/>
                          <a:ea typeface="Meiryo"/>
                          <a:cs typeface="Meiryo"/>
                        </a:rPr>
                        <a:t>Novelty detection</a:t>
                      </a:r>
                    </a:p>
                  </a:txBody>
                  <a:tcPr marL="95250" marR="95250" marT="85725" marB="66675" anchor="ctr">
                    <a:solidFill>
                      <a:srgbClr val="FFFFFF"/>
                    </a:solidFill>
                  </a:tcPr>
                </a:tc>
                <a:tc>
                  <a:txBody>
                    <a:bodyPr>
                      <a:noAutofit/>
                    </a:bodyPr>
                    <a:lstStyle/>
                    <a:p>
                      <a:r>
                        <a:rPr sz="1725" b="0">
                          <a:solidFill>
                            <a:srgbClr val="171717"/>
                          </a:solidFill>
                          <a:latin typeface="Meiryo"/>
                          <a:ea typeface="Meiryo"/>
                          <a:cs typeface="Meiryo"/>
                        </a:rPr>
                        <a:t>学習した正常状態との不整合</a:t>
                      </a:r>
                    </a:p>
                    <a:p>
                      <a:r>
                        <a:rPr sz="1725" b="0">
                          <a:solidFill>
                            <a:srgbClr val="171717"/>
                          </a:solidFill>
                          <a:latin typeface="Meiryo"/>
                          <a:ea typeface="Meiryo"/>
                          <a:cs typeface="Meiryo"/>
                        </a:rPr>
                        <a:t>14で使われる関連語</a:t>
                      </a:r>
                    </a:p>
                  </a:txBody>
                  <a:tcPr marL="95250" marR="95250" marT="85725" marB="66675" anchor="ctr">
                    <a:solidFill>
                      <a:srgbClr val="FFFFFF"/>
                    </a:solidFill>
                  </a:tcPr>
                </a:tc>
                <a:tc>
                  <a:txBody>
                    <a:bodyPr>
                      <a:noAutofit/>
                    </a:bodyPr>
                    <a:lstStyle/>
                    <a:p>
                      <a:r>
                        <a:rPr sz="1725" b="0">
                          <a:solidFill>
                            <a:srgbClr val="171717"/>
                          </a:solidFill>
                          <a:latin typeface="Meiryo"/>
                          <a:ea typeface="Meiryo"/>
                          <a:cs typeface="Meiryo"/>
                        </a:rPr>
                        <a:t>14</a:t>
                      </a:r>
                    </a:p>
                  </a:txBody>
                  <a:tcPr marL="95250" marR="95250" marT="85725" marB="66675" anchor="ctr">
                    <a:solidFill>
                      <a:srgbClr val="FFFFFF"/>
                    </a:solidFill>
                  </a:tcPr>
                </a:tc>
              </a:tr>
              <a:tr h="619125">
                <a:tc>
                  <a:txBody>
                    <a:bodyPr>
                      <a:noAutofit/>
                    </a:bodyPr>
                    <a:lstStyle/>
                    <a:p>
                      <a:r>
                        <a:rPr sz="1725" b="0">
                          <a:solidFill>
                            <a:srgbClr val="171717"/>
                          </a:solidFill>
                          <a:latin typeface="Meiryo"/>
                          <a:ea typeface="Meiryo"/>
                          <a:cs typeface="Meiryo"/>
                        </a:rPr>
                        <a:t>OOD detection</a:t>
                      </a:r>
                    </a:p>
                  </a:txBody>
                  <a:tcPr marL="95250" marR="95250" marT="85725" marB="66675" anchor="ctr">
                    <a:solidFill>
                      <a:srgbClr val="FFFFFF"/>
                    </a:solidFill>
                  </a:tcPr>
                </a:tc>
                <a:tc>
                  <a:txBody>
                    <a:bodyPr>
                      <a:noAutofit/>
                    </a:bodyPr>
                    <a:lstStyle/>
                    <a:p>
                      <a:r>
                        <a:rPr sz="1725" b="0">
                          <a:solidFill>
                            <a:srgbClr val="171717"/>
                          </a:solidFill>
                          <a:latin typeface="Meiryo"/>
                          <a:ea typeface="Meiryo"/>
                          <a:cs typeface="Meiryo"/>
                        </a:rPr>
                        <a:t>訓練分布に対するテスト入力の支持</a:t>
                      </a:r>
                    </a:p>
                  </a:txBody>
                  <a:tcPr marL="95250" marR="95250" marT="85725" marB="66675" anchor="ctr">
                    <a:solidFill>
                      <a:srgbClr val="FFFFFF"/>
                    </a:solidFill>
                  </a:tcPr>
                </a:tc>
                <a:tc>
                  <a:txBody>
                    <a:bodyPr>
                      <a:noAutofit/>
                    </a:bodyPr>
                    <a:lstStyle/>
                    <a:p>
                      <a:r>
                        <a:rPr sz="1725" b="0">
                          <a:solidFill>
                            <a:srgbClr val="171717"/>
                          </a:solidFill>
                          <a:latin typeface="Meiryo"/>
                          <a:ea typeface="Meiryo"/>
                          <a:cs typeface="Meiryo"/>
                        </a:rPr>
                        <a:t>13</a:t>
                      </a:r>
                    </a:p>
                  </a:txBody>
                  <a:tcPr marL="95250" marR="95250" marT="85725" marB="66675" anchor="ctr">
                    <a:solidFill>
                      <a:srgbClr val="FFFFFF"/>
                    </a:solidFill>
                  </a:tcPr>
                </a:tc>
              </a:tr>
              <a:tr h="619125">
                <a:tc>
                  <a:txBody>
                    <a:bodyPr>
                      <a:noAutofit/>
                    </a:bodyPr>
                    <a:lstStyle/>
                    <a:p>
                      <a:r>
                        <a:rPr sz="1725" b="0">
                          <a:solidFill>
                            <a:srgbClr val="171717"/>
                          </a:solidFill>
                          <a:latin typeface="Meiryo"/>
                          <a:ea typeface="Meiryo"/>
                          <a:cs typeface="Meiryo"/>
                        </a:rPr>
                        <a:t>Applicability Domain</a:t>
                      </a:r>
                    </a:p>
                  </a:txBody>
                  <a:tcPr marL="95250" marR="95250" marT="85725" marB="66675" anchor="ctr">
                    <a:solidFill>
                      <a:srgbClr val="FFFFFF"/>
                    </a:solidFill>
                  </a:tcPr>
                </a:tc>
                <a:tc>
                  <a:txBody>
                    <a:bodyPr>
                      <a:noAutofit/>
                    </a:bodyPr>
                    <a:lstStyle/>
                    <a:p>
                      <a:r>
                        <a:rPr sz="1725" b="0">
                          <a:solidFill>
                            <a:srgbClr val="171717"/>
                          </a:solidFill>
                          <a:latin typeface="Meiryo"/>
                          <a:ea typeface="Meiryo"/>
                          <a:cs typeface="Meiryo"/>
                        </a:rPr>
                        <a:t>期待するモデル性能を発揮する入力領域</a:t>
                      </a:r>
                    </a:p>
                  </a:txBody>
                  <a:tcPr marL="95250" marR="95250" marT="85725" marB="66675" anchor="ctr">
                    <a:solidFill>
                      <a:srgbClr val="FFFFFF"/>
                    </a:solidFill>
                  </a:tcPr>
                </a:tc>
                <a:tc>
                  <a:txBody>
                    <a:bodyPr>
                      <a:noAutofit/>
                    </a:bodyPr>
                    <a:lstStyle/>
                    <a:p>
                      <a:r>
                        <a:rPr sz="1725" b="0">
                          <a:solidFill>
                            <a:srgbClr val="171717"/>
                          </a:solidFill>
                          <a:latin typeface="Meiryo"/>
                          <a:ea typeface="Meiryo"/>
                          <a:cs typeface="Meiryo"/>
                        </a:rPr>
                        <a:t>山原</a:t>
                      </a:r>
                    </a:p>
                  </a:txBody>
                  <a:tcPr marL="95250" marR="95250" marT="85725" marB="66675" anchor="ctr">
                    <a:solidFill>
                      <a:srgbClr val="FFFFFF"/>
                    </a:solidFill>
                  </a:tcPr>
                </a:tc>
              </a:tr>
              <a:tr h="619125">
                <a:tc>
                  <a:txBody>
                    <a:bodyPr>
                      <a:noAutofit/>
                    </a:bodyPr>
                    <a:lstStyle/>
                    <a:p>
                      <a:r>
                        <a:rPr sz="1725" b="0">
                          <a:solidFill>
                            <a:srgbClr val="171717"/>
                          </a:solidFill>
                          <a:latin typeface="Meiryo"/>
                          <a:ea typeface="Meiryo"/>
                          <a:cs typeface="Meiryo"/>
                        </a:rPr>
                        <a:t>Distribution shift</a:t>
                      </a:r>
                    </a:p>
                  </a:txBody>
                  <a:tcPr marL="95250" marR="95250" marT="85725" marB="66675" anchor="ctr">
                    <a:solidFill>
                      <a:srgbClr val="FFFFFF"/>
                    </a:solidFill>
                  </a:tcPr>
                </a:tc>
                <a:tc>
                  <a:txBody>
                    <a:bodyPr>
                      <a:noAutofit/>
                    </a:bodyPr>
                    <a:lstStyle/>
                    <a:p>
                      <a:r>
                        <a:rPr sz="1725" b="0">
                          <a:solidFill>
                            <a:srgbClr val="171717"/>
                          </a:solidFill>
                          <a:latin typeface="Meiryo"/>
                          <a:ea typeface="Meiryo"/>
                          <a:cs typeface="Meiryo"/>
                        </a:rPr>
                        <a:t>訓練時とテスト時の分布の違い</a:t>
                      </a:r>
                    </a:p>
                  </a:txBody>
                  <a:tcPr marL="95250" marR="95250" marT="85725" marB="66675" anchor="ctr">
                    <a:solidFill>
                      <a:srgbClr val="FFFFFF"/>
                    </a:solidFill>
                  </a:tcPr>
                </a:tc>
                <a:tc>
                  <a:txBody>
                    <a:bodyPr>
                      <a:noAutofit/>
                    </a:bodyPr>
                    <a:lstStyle/>
                    <a:p>
                      <a:r>
                        <a:rPr sz="1725" b="0">
                          <a:solidFill>
                            <a:srgbClr val="171717"/>
                          </a:solidFill>
                          <a:latin typeface="Meiryo"/>
                          <a:ea typeface="Meiryo"/>
                          <a:cs typeface="Meiryo"/>
                        </a:rPr>
                        <a:t>13</a:t>
                      </a:r>
                    </a:p>
                  </a:txBody>
                  <a:tcPr marL="95250" marR="95250" marT="85725" marB="66675" anchor="ctr">
                    <a:solidFill>
                      <a:srgbClr val="FFFFFF"/>
                    </a:solidFill>
                  </a:tcPr>
                </a:tc>
              </a:tr>
            </a:tbl>
          </a:graphicData>
        </a:graphic>
      </p:graphicFrame>
      <p:sp>
        <p:nvSpPr>
          <p:cNvPr id="535" name="">
            <a:extLst xmlns:a="http://schemas.openxmlformats.org/drawingml/2006/main">
              <a:ext uri="{FF2B5EF4-FFF2-40B4-BE49-F238E27FC236}">
                <a16:creationId xmlns:a16="http://schemas.microsoft.com/office/drawing/2014/main" id="{45109389-2911-4B2E-ADF4-5E3F4D56AD21}"/>
              </a:ext>
            </a:extLst>
          </p:cNvPr>
          <p:cNvSpPr>
            <a:spLocks xmlns:a="http://schemas.openxmlformats.org/drawingml/2006/main" noGrp="1"/>
          </p:cNvSpPr>
          <p:nvPr/>
        </p:nvSpPr>
        <p:spPr>
          <a:xfrm xmlns:a="http://schemas.openxmlformats.org/drawingml/2006/main">
            <a:off x="393668" y="5810250"/>
            <a:ext cx="1119187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725" b="1">
                <a:solidFill>
                  <a:srgbClr val="171717"/>
                </a:solidFill>
                <a:latin typeface="Meiryo"/>
                <a:ea typeface="Meiryo"/>
                <a:cs typeface="Meiryo"/>
              </a:defRPr>
            </a:pPr>
            <a:r>
              <a:rPr sz="1725" b="1">
                <a:solidFill>
                  <a:srgbClr val="171717"/>
                </a:solidFill>
                <a:latin typeface="Meiryo"/>
                <a:ea typeface="Meiryo"/>
                <a:cs typeface="Meiryo"/>
              </a:rPr>
              <a:t>異常、OOD、適用領域外、予測誤差の増大は同義ではない</a:t>
            </a:r>
          </a:p>
        </p:txBody>
      </p:sp>
      <p:sp>
        <p:nvSpPr>
          <p:cNvPr id="536" name="">
            <a:extLst xmlns:a="http://schemas.openxmlformats.org/drawingml/2006/main">
              <a:ext uri="{FF2B5EF4-FFF2-40B4-BE49-F238E27FC236}">
                <a16:creationId xmlns:a16="http://schemas.microsoft.com/office/drawing/2014/main" id="{5FE31EA0-3EC2-4ECF-9770-2E52635E0787}"/>
              </a:ext>
            </a:extLst>
          </p:cNvPr>
          <p:cNvSpPr>
            <a:spLocks xmlns:a="http://schemas.openxmlformats.org/drawingml/2006/main" noGrp="1"/>
          </p:cNvSpPr>
          <p:nvPr/>
        </p:nvSpPr>
        <p:spPr>
          <a:xfrm xmlns:a="http://schemas.openxmlformats.org/drawingml/2006/main">
            <a:off x="393668" y="6334125"/>
            <a:ext cx="10668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975" b="0">
                <a:solidFill>
                  <a:srgbClr val="656565"/>
                </a:solidFill>
                <a:latin typeface="Meiryo"/>
                <a:ea typeface="Meiryo"/>
                <a:cs typeface="Meiryo"/>
              </a:defRPr>
            </a:pPr>
            <a:r>
              <a:rPr sz="975" b="0">
                <a:solidFill>
                  <a:srgbClr val="656565"/>
                </a:solidFill>
                <a:latin typeface="Meiryo"/>
                <a:ea typeface="Meiryo"/>
                <a:cs typeface="Meiryo"/>
              </a:rPr>
              <a:t>S1 §3、S3 §2、13 §1–2、14 §3、山原 §1</a:t>
            </a:r>
          </a:p>
        </p:txBody>
      </p:sp>
    </p:spTree>
    <p:extLst>
      <p:ext uri="{BB962C8B-B14F-4D97-AF65-F5344CB8AC3E}">
        <p14:creationId xmlns:p14="http://schemas.microsoft.com/office/powerpoint/2010/main" val="329854879"/>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sp>
        <p:nvSpPr>
          <p:cNvPr id="532" name="Google Shape;532;p58">
            <a:extLst xmlns:a="http://schemas.openxmlformats.org/drawingml/2006/main">
              <a:ext uri="{FF2B5EF4-FFF2-40B4-BE49-F238E27FC236}">
                <a16:creationId xmlns:a16="http://schemas.microsoft.com/office/drawing/2014/main" id="{1BCBE750-7048-686D-1472-52C53362D6CD}"/>
              </a:ext>
            </a:extLst>
          </p:cNvPr>
          <p:cNvSpPr>
            <a:spLocks xmlns:a="http://schemas.openxmlformats.org/drawingml/2006/main" noGrp="1"/>
          </p:cNvSpPr>
          <p:nvPr>
            <p:ph type="sldNum" idx="4"/>
          </p:nvPr>
        </p:nvSpPr>
        <p:spPr>
          <a:xfrm xmlns:a="http://schemas.openxmlformats.org/drawingml/2006/main">
            <a:off x="11279332" y="6279294"/>
            <a:ext cx="518968" cy="241240"/>
          </a:xfr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pPr>
              <a:defRPr sz="975" b="0">
                <a:solidFill>
                  <a:srgbClr val="171717"/>
                </a:solidFill>
                <a:latin typeface="Meiryo"/>
                <a:ea typeface="Meiryo"/>
                <a:cs typeface="Meiryo"/>
              </a:defRPr>
            </a:pPr>
            <a:fld id="{8C630A04-5A25-9E0C-9436-126091DB86B3}" type="slidenum">
              <a:rPr sz="975" b="0">
                <a:solidFill>
                  <a:srgbClr val="171717"/>
                </a:solidFill>
                <a:latin typeface="Meiryo"/>
                <a:ea typeface="Meiryo"/>
                <a:cs typeface="Meiryo"/>
              </a:rPr>
              <a:t>6</a:t>
            </a:fld>
            <a:endParaRPr/>
          </a:p>
        </p:txBody>
      </p:sp>
      <p:sp>
        <p:nvSpPr>
          <p:cNvPr id="533" name="Google Shape;533;p58">
            <a:extLst xmlns:a="http://schemas.openxmlformats.org/drawingml/2006/main">
              <a:ext uri="{FF2B5EF4-FFF2-40B4-BE49-F238E27FC236}">
                <a16:creationId xmlns:a16="http://schemas.microsoft.com/office/drawing/2014/main" id="{1B5D55CD-1C17-7CD8-F26A-2DD65B067687}"/>
              </a:ext>
            </a:extLst>
          </p:cNvPr>
          <p:cNvSpPr>
            <a:spLocks xmlns:a="http://schemas.openxmlformats.org/drawingml/2006/main" noGrp="1"/>
          </p:cNvSpPr>
          <p:nvPr>
            <p:ph type="title" idx="0"/>
          </p:nvPr>
        </p:nvSpPr>
        <p:spPr>
          <a:xfrm xmlns:a="http://schemas.openxmlformats.org/drawingml/2006/main">
            <a:off x="393668" y="344043"/>
            <a:ext cx="11404568" cy="952500"/>
          </a:xfr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pPr>
              <a:defRPr sz="2700" b="0">
                <a:solidFill>
                  <a:srgbClr val="171717"/>
                </a:solidFill>
                <a:latin typeface="Meiryo"/>
                <a:ea typeface="Meiryo"/>
                <a:cs typeface="Meiryo"/>
              </a:defRPr>
            </a:pPr>
            <a:r>
              <a:rPr sz="2700" b="0">
                <a:solidFill>
                  <a:srgbClr val="171717"/>
                </a:solidFill>
                <a:latin typeface="Meiryo"/>
                <a:ea typeface="Meiryo"/>
                <a:cs typeface="Meiryo"/>
              </a:rPr>
              <a:t>入力分布の変化と入出力関係の変化</a:t>
            </a:r>
          </a:p>
        </p:txBody>
      </p:sp>
      <p:sp>
        <p:nvSpPr>
          <p:cNvPr id="534" name="">
            <a:extLst xmlns:a="http://schemas.openxmlformats.org/drawingml/2006/main">
              <a:ext uri="{FF2B5EF4-FFF2-40B4-BE49-F238E27FC236}">
                <a16:creationId xmlns:a16="http://schemas.microsoft.com/office/drawing/2014/main" id="{76CC1586-6D22-4C50-94D1-B9C6CA489CE0}"/>
              </a:ext>
            </a:extLst>
          </p:cNvPr>
          <p:cNvSpPr>
            <a:spLocks xmlns:a="http://schemas.openxmlformats.org/drawingml/2006/main" noGrp="1"/>
          </p:cNvSpPr>
          <p:nvPr/>
        </p:nvSpPr>
        <p:spPr>
          <a:xfrm xmlns:a="http://schemas.openxmlformats.org/drawingml/2006/main">
            <a:off x="393668" y="1838325"/>
            <a:ext cx="5540359"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00" b="1">
                <a:solidFill>
                  <a:srgbClr val="171717"/>
                </a:solidFill>
                <a:latin typeface="Meiryo"/>
                <a:ea typeface="Meiryo"/>
                <a:cs typeface="Meiryo"/>
              </a:defRPr>
            </a:pPr>
            <a:r>
              <a:rPr sz="2100" b="1">
                <a:solidFill>
                  <a:srgbClr val="171717"/>
                </a:solidFill>
                <a:latin typeface="Meiryo"/>
                <a:ea typeface="Meiryo"/>
                <a:cs typeface="Meiryo"/>
              </a:rPr>
              <a:t>Covariate shift</a:t>
            </a:r>
          </a:p>
        </p:txBody>
      </p:sp>
      <p:sp>
        <p:nvSpPr>
          <p:cNvPr id="535" name="">
            <a:extLst xmlns:a="http://schemas.openxmlformats.org/drawingml/2006/main">
              <a:ext uri="{FF2B5EF4-FFF2-40B4-BE49-F238E27FC236}">
                <a16:creationId xmlns:a16="http://schemas.microsoft.com/office/drawing/2014/main" id="{E519AA61-BD8B-461B-A50E-D77516FEF160}"/>
              </a:ext>
            </a:extLst>
          </p:cNvPr>
          <p:cNvSpPr>
            <a:spLocks xmlns:a="http://schemas.openxmlformats.org/drawingml/2006/main" noGrp="1"/>
          </p:cNvSpPr>
          <p:nvPr/>
        </p:nvSpPr>
        <p:spPr>
          <a:xfrm xmlns:a="http://schemas.openxmlformats.org/drawingml/2006/main">
            <a:off x="393668" y="2505075"/>
            <a:ext cx="5540359" cy="285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950" b="0">
                <a:solidFill>
                  <a:srgbClr val="171717"/>
                </a:solidFill>
                <a:latin typeface="Meiryo"/>
                <a:ea typeface="Meiryo"/>
                <a:cs typeface="Meiryo"/>
              </a:defRPr>
            </a:pPr>
            <a:r>
              <a:rPr sz="1950" b="0">
                <a:solidFill>
                  <a:srgbClr val="171717"/>
                </a:solidFill>
                <a:latin typeface="Meiryo"/>
                <a:ea typeface="Meiryo"/>
                <a:cs typeface="Meiryo"/>
              </a:rPr>
              <a:t>P(X) が変化</a:t>
            </a:r>
          </a:p>
          <a:p xmlns:a="http://schemas.openxmlformats.org/drawingml/2006/main">
            <a:pPr>
              <a:defRPr sz="1950" b="0">
                <a:solidFill>
                  <a:srgbClr val="171717"/>
                </a:solidFill>
                <a:latin typeface="Meiryo"/>
                <a:ea typeface="Meiryo"/>
                <a:cs typeface="Meiryo"/>
              </a:defRPr>
            </a:pPr>
            <a:r>
              <a:rPr sz="1950" b="0">
                <a:solidFill>
                  <a:srgbClr val="171717"/>
                </a:solidFill>
                <a:latin typeface="Meiryo"/>
                <a:ea typeface="Meiryo"/>
                <a:cs typeface="Meiryo"/>
              </a:rPr>
              <a:t>P(Y｜X) は不変</a:t>
            </a:r>
          </a:p>
          <a:p xmlns:a="http://schemas.openxmlformats.org/drawingml/2006/main">
            <a:r>
              <a:t/>
            </a:r>
          </a:p>
          <a:p xmlns:a="http://schemas.openxmlformats.org/drawingml/2006/main">
            <a:pPr>
              <a:defRPr sz="1950" b="0">
                <a:solidFill>
                  <a:srgbClr val="171717"/>
                </a:solidFill>
                <a:latin typeface="Meiryo"/>
                <a:ea typeface="Meiryo"/>
                <a:cs typeface="Meiryo"/>
              </a:defRPr>
            </a:pPr>
            <a:r>
              <a:rPr sz="1950" b="0">
                <a:solidFill>
                  <a:srgbClr val="171717"/>
                </a:solidFill>
                <a:latin typeface="Meiryo"/>
                <a:ea typeface="Meiryo"/>
                <a:cs typeface="Meiryo"/>
              </a:rPr>
              <a:t>入力の分布から、変化の手掛かりを得られる。</a:t>
            </a:r>
          </a:p>
        </p:txBody>
      </p:sp>
      <p:sp>
        <p:nvSpPr>
          <p:cNvPr id="536" name="">
            <a:extLst xmlns:a="http://schemas.openxmlformats.org/drawingml/2006/main">
              <a:ext uri="{FF2B5EF4-FFF2-40B4-BE49-F238E27FC236}">
                <a16:creationId xmlns:a16="http://schemas.microsoft.com/office/drawing/2014/main" id="{8AB25EE9-AE20-409C-9E78-3F19118DEA5D}"/>
              </a:ext>
            </a:extLst>
          </p:cNvPr>
          <p:cNvSpPr>
            <a:spLocks xmlns:a="http://schemas.openxmlformats.org/drawingml/2006/main" noGrp="1"/>
          </p:cNvSpPr>
          <p:nvPr/>
        </p:nvSpPr>
        <p:spPr>
          <a:xfrm xmlns:a="http://schemas.openxmlformats.org/drawingml/2006/main">
            <a:off x="6257877" y="1838325"/>
            <a:ext cx="5540359"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00" b="1">
                <a:solidFill>
                  <a:srgbClr val="171717"/>
                </a:solidFill>
                <a:latin typeface="Meiryo"/>
                <a:ea typeface="Meiryo"/>
                <a:cs typeface="Meiryo"/>
              </a:defRPr>
            </a:pPr>
            <a:r>
              <a:rPr sz="2100" b="1">
                <a:solidFill>
                  <a:srgbClr val="171717"/>
                </a:solidFill>
                <a:latin typeface="Meiryo"/>
                <a:ea typeface="Meiryo"/>
                <a:cs typeface="Meiryo"/>
              </a:rPr>
              <a:t>Concept / conditional shift</a:t>
            </a:r>
          </a:p>
        </p:txBody>
      </p:sp>
      <p:sp>
        <p:nvSpPr>
          <p:cNvPr id="537" name="">
            <a:extLst xmlns:a="http://schemas.openxmlformats.org/drawingml/2006/main">
              <a:ext uri="{FF2B5EF4-FFF2-40B4-BE49-F238E27FC236}">
                <a16:creationId xmlns:a16="http://schemas.microsoft.com/office/drawing/2014/main" id="{E6E0106D-1A93-4D5C-9C66-312FD980A16F}"/>
              </a:ext>
            </a:extLst>
          </p:cNvPr>
          <p:cNvSpPr>
            <a:spLocks xmlns:a="http://schemas.openxmlformats.org/drawingml/2006/main" noGrp="1"/>
          </p:cNvSpPr>
          <p:nvPr/>
        </p:nvSpPr>
        <p:spPr>
          <a:xfrm xmlns:a="http://schemas.openxmlformats.org/drawingml/2006/main">
            <a:off x="6257877" y="2505075"/>
            <a:ext cx="5540359" cy="285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950" b="0">
                <a:solidFill>
                  <a:srgbClr val="171717"/>
                </a:solidFill>
                <a:latin typeface="Meiryo"/>
                <a:ea typeface="Meiryo"/>
                <a:cs typeface="Meiryo"/>
              </a:defRPr>
            </a:pPr>
            <a:r>
              <a:rPr sz="1950" b="0">
                <a:solidFill>
                  <a:srgbClr val="171717"/>
                </a:solidFill>
                <a:latin typeface="Meiryo"/>
                <a:ea typeface="Meiryo"/>
                <a:cs typeface="Meiryo"/>
              </a:rPr>
              <a:t>P(Y｜X) が変化</a:t>
            </a:r>
          </a:p>
          <a:p xmlns:a="http://schemas.openxmlformats.org/drawingml/2006/main">
            <a:r>
              <a:t/>
            </a:r>
          </a:p>
          <a:p xmlns:a="http://schemas.openxmlformats.org/drawingml/2006/main">
            <a:pPr>
              <a:defRPr sz="1950" b="0">
                <a:solidFill>
                  <a:srgbClr val="171717"/>
                </a:solidFill>
                <a:latin typeface="Meiryo"/>
                <a:ea typeface="Meiryo"/>
                <a:cs typeface="Meiryo"/>
              </a:defRPr>
            </a:pPr>
            <a:r>
              <a:rPr sz="1950" b="0">
                <a:solidFill>
                  <a:srgbClr val="171717"/>
                </a:solidFill>
                <a:latin typeface="Meiryo"/>
                <a:ea typeface="Meiryo"/>
                <a:cs typeface="Meiryo"/>
              </a:rPr>
              <a:t>入力分布が不変の場合、</a:t>
            </a:r>
          </a:p>
          <a:p xmlns:a="http://schemas.openxmlformats.org/drawingml/2006/main">
            <a:pPr>
              <a:defRPr sz="1950" b="0">
                <a:solidFill>
                  <a:srgbClr val="171717"/>
                </a:solidFill>
                <a:latin typeface="Meiryo"/>
                <a:ea typeface="Meiryo"/>
                <a:cs typeface="Meiryo"/>
              </a:defRPr>
            </a:pPr>
            <a:r>
              <a:rPr sz="1950" b="0">
                <a:solidFill>
                  <a:srgbClr val="171717"/>
                </a:solidFill>
                <a:latin typeface="Meiryo"/>
                <a:ea typeface="Meiryo"/>
                <a:cs typeface="Meiryo"/>
              </a:rPr>
              <a:t>入力だけに検知信号が現れない。</a:t>
            </a:r>
          </a:p>
        </p:txBody>
      </p:sp>
      <p:sp>
        <p:nvSpPr>
          <p:cNvPr id="538" name="">
            <a:extLst xmlns:a="http://schemas.openxmlformats.org/drawingml/2006/main">
              <a:ext uri="{FF2B5EF4-FFF2-40B4-BE49-F238E27FC236}">
                <a16:creationId xmlns:a16="http://schemas.microsoft.com/office/drawing/2014/main" id="{04A83BE4-3A07-46DF-BBC9-ECBFF2A445AF}"/>
              </a:ext>
            </a:extLst>
          </p:cNvPr>
          <p:cNvSpPr>
            <a:spLocks xmlns:a="http://schemas.openxmlformats.org/drawingml/2006/main" noGrp="1"/>
          </p:cNvSpPr>
          <p:nvPr/>
        </p:nvSpPr>
        <p:spPr>
          <a:xfrm xmlns:a="http://schemas.openxmlformats.org/drawingml/2006/main">
            <a:off x="393668" y="5810250"/>
            <a:ext cx="1119187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725" b="1">
                <a:solidFill>
                  <a:srgbClr val="171717"/>
                </a:solidFill>
                <a:latin typeface="Meiryo"/>
                <a:ea typeface="Meiryo"/>
                <a:cs typeface="Meiryo"/>
              </a:defRPr>
            </a:pPr>
            <a:r>
              <a:rPr sz="1725" b="1">
                <a:solidFill>
                  <a:srgbClr val="171717"/>
                </a:solidFill>
                <a:latin typeface="Meiryo"/>
                <a:ea typeface="Meiryo"/>
                <a:cs typeface="Meiryo"/>
              </a:rPr>
              <a:t>13の定義は広いが、OutProは純粋なconcept shiftを検知できない</a:t>
            </a:r>
          </a:p>
        </p:txBody>
      </p:sp>
      <p:sp>
        <p:nvSpPr>
          <p:cNvPr id="539" name="">
            <a:extLst xmlns:a="http://schemas.openxmlformats.org/drawingml/2006/main">
              <a:ext uri="{FF2B5EF4-FFF2-40B4-BE49-F238E27FC236}">
                <a16:creationId xmlns:a16="http://schemas.microsoft.com/office/drawing/2014/main" id="{ACED113F-20B7-46AA-9EFD-003F4D575AA7}"/>
              </a:ext>
            </a:extLst>
          </p:cNvPr>
          <p:cNvSpPr>
            <a:spLocks xmlns:a="http://schemas.openxmlformats.org/drawingml/2006/main" noGrp="1"/>
          </p:cNvSpPr>
          <p:nvPr/>
        </p:nvSpPr>
        <p:spPr>
          <a:xfrm xmlns:a="http://schemas.openxmlformats.org/drawingml/2006/main">
            <a:off x="393668" y="6334125"/>
            <a:ext cx="10668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975" b="0">
                <a:solidFill>
                  <a:srgbClr val="656565"/>
                </a:solidFill>
                <a:latin typeface="Meiryo"/>
                <a:ea typeface="Meiryo"/>
                <a:cs typeface="Meiryo"/>
              </a:defRPr>
            </a:pPr>
            <a:r>
              <a:rPr sz="975" b="0">
                <a:solidFill>
                  <a:srgbClr val="656565"/>
                </a:solidFill>
                <a:latin typeface="Meiryo"/>
                <a:ea typeface="Meiryo"/>
                <a:cs typeface="Meiryo"/>
              </a:rPr>
              <a:t>13 §1、§2.1、§7</a:t>
            </a:r>
          </a:p>
        </p:txBody>
      </p:sp>
    </p:spTree>
    <p:extLst>
      <p:ext uri="{BB962C8B-B14F-4D97-AF65-F5344CB8AC3E}">
        <p14:creationId xmlns:p14="http://schemas.microsoft.com/office/powerpoint/2010/main" val="3667182145"/>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sp>
        <p:nvSpPr>
          <p:cNvPr id="532" name="Google Shape;532;p58">
            <a:extLst xmlns:a="http://schemas.openxmlformats.org/drawingml/2006/main">
              <a:ext uri="{FF2B5EF4-FFF2-40B4-BE49-F238E27FC236}">
                <a16:creationId xmlns:a16="http://schemas.microsoft.com/office/drawing/2014/main" id="{27489CDA-073D-5D98-B832-86AD74222B71}"/>
              </a:ext>
            </a:extLst>
          </p:cNvPr>
          <p:cNvSpPr>
            <a:spLocks xmlns:a="http://schemas.openxmlformats.org/drawingml/2006/main" noGrp="1"/>
          </p:cNvSpPr>
          <p:nvPr>
            <p:ph type="sldNum" idx="4"/>
          </p:nvPr>
        </p:nvSpPr>
        <p:spPr>
          <a:xfrm xmlns:a="http://schemas.openxmlformats.org/drawingml/2006/main">
            <a:off x="11279332" y="6279294"/>
            <a:ext cx="518968" cy="241240"/>
          </a:xfr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pPr>
              <a:defRPr sz="975" b="0">
                <a:solidFill>
                  <a:srgbClr val="171717"/>
                </a:solidFill>
                <a:latin typeface="Meiryo"/>
                <a:ea typeface="Meiryo"/>
                <a:cs typeface="Meiryo"/>
              </a:defRPr>
            </a:pPr>
            <a:fld id="{D3D7D1C8-AE23-AA48-DF65-C742588DBE47}" type="slidenum">
              <a:rPr sz="975" b="0">
                <a:solidFill>
                  <a:srgbClr val="171717"/>
                </a:solidFill>
                <a:latin typeface="Meiryo"/>
                <a:ea typeface="Meiryo"/>
                <a:cs typeface="Meiryo"/>
              </a:rPr>
              <a:t>7</a:t>
            </a:fld>
            <a:endParaRPr/>
          </a:p>
        </p:txBody>
      </p:sp>
      <p:sp>
        <p:nvSpPr>
          <p:cNvPr id="533" name="Google Shape;533;p58">
            <a:extLst xmlns:a="http://schemas.openxmlformats.org/drawingml/2006/main">
              <a:ext uri="{FF2B5EF4-FFF2-40B4-BE49-F238E27FC236}">
                <a16:creationId xmlns:a16="http://schemas.microsoft.com/office/drawing/2014/main" id="{08EBC4B8-BBC1-7C2A-F77D-BEC6394B0F93}"/>
              </a:ext>
            </a:extLst>
          </p:cNvPr>
          <p:cNvSpPr>
            <a:spLocks xmlns:a="http://schemas.openxmlformats.org/drawingml/2006/main" noGrp="1"/>
          </p:cNvSpPr>
          <p:nvPr>
            <p:ph type="title" idx="0"/>
          </p:nvPr>
        </p:nvSpPr>
        <p:spPr>
          <a:xfrm xmlns:a="http://schemas.openxmlformats.org/drawingml/2006/main">
            <a:off x="393668" y="344043"/>
            <a:ext cx="11404568" cy="952500"/>
          </a:xfr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pPr>
              <a:defRPr sz="2700" b="0">
                <a:solidFill>
                  <a:srgbClr val="171717"/>
                </a:solidFill>
                <a:latin typeface="Meiryo"/>
                <a:ea typeface="Meiryo"/>
                <a:cs typeface="Meiryo"/>
              </a:defRPr>
            </a:pPr>
            <a:r>
              <a:rPr sz="2700" b="0">
                <a:solidFill>
                  <a:srgbClr val="171717"/>
                </a:solidFill>
                <a:latin typeface="Meiryo"/>
                <a:ea typeface="Meiryo"/>
                <a:cs typeface="Meiryo"/>
              </a:rPr>
              <a:t>異常の種類は、論文ごとに分類軸が異なる</a:t>
            </a:r>
          </a:p>
        </p:txBody>
      </p:sp>
      <p:graphicFrame>
        <p:nvGraphicFramePr>
          <p:cNvPr id="539" name=""/>
          <p:cNvGraphicFramePr/>
          <p:nvPr/>
        </p:nvGraphicFramePr>
        <p:xfrm>
          <a:off xmlns:a="http://schemas.openxmlformats.org/drawingml/2006/main" x="393668" y="1638300"/>
          <a:ext xmlns:a="http://schemas.openxmlformats.org/drawingml/2006/main" cx="11382375" cy="2476500"/>
        </p:xfrm>
        <a:graphic xmlns:a="http://schemas.openxmlformats.org/drawingml/2006/main">
          <a:graphicData uri="http://schemas.openxmlformats.org/drawingml/2006/table">
            <a:tbl>
              <a:tblPr/>
              <a:tblGrid>
                <a:gridCol w="1285875"/>
                <a:gridCol w="4667250"/>
                <a:gridCol w="5429250"/>
              </a:tblGrid>
              <a:tr h="619125">
                <a:tc>
                  <a:txBody>
                    <a:bodyPr>
                      <a:noAutofit/>
                    </a:bodyPr>
                    <a:lstStyle/>
                    <a:p>
                      <a:r>
                        <a:rPr sz="1725" b="1">
                          <a:solidFill>
                            <a:srgbClr val="171717"/>
                          </a:solidFill>
                          <a:latin typeface="Meiryo"/>
                          <a:ea typeface="Meiryo"/>
                          <a:cs typeface="Meiryo"/>
                        </a:rPr>
                        <a:t>文献</a:t>
                      </a:r>
                    </a:p>
                  </a:txBody>
                  <a:tcPr marL="95250" marR="95250" marT="85725" marB="66675" anchor="ctr">
                    <a:solidFill>
                      <a:srgbClr val="F1F1F1"/>
                    </a:solidFill>
                  </a:tcPr>
                </a:tc>
                <a:tc>
                  <a:txBody>
                    <a:bodyPr>
                      <a:noAutofit/>
                    </a:bodyPr>
                    <a:lstStyle/>
                    <a:p>
                      <a:r>
                        <a:rPr sz="1725" b="1">
                          <a:solidFill>
                            <a:srgbClr val="171717"/>
                          </a:solidFill>
                          <a:latin typeface="Meiryo"/>
                          <a:ea typeface="Meiryo"/>
                          <a:cs typeface="Meiryo"/>
                        </a:rPr>
                        <a:t>主な分類</a:t>
                      </a:r>
                    </a:p>
                  </a:txBody>
                  <a:tcPr marL="95250" marR="95250" marT="85725" marB="66675" anchor="ctr">
                    <a:solidFill>
                      <a:srgbClr val="F1F1F1"/>
                    </a:solidFill>
                  </a:tcPr>
                </a:tc>
                <a:tc>
                  <a:txBody>
                    <a:bodyPr>
                      <a:noAutofit/>
                    </a:bodyPr>
                    <a:lstStyle/>
                    <a:p>
                      <a:r>
                        <a:rPr sz="1725" b="1">
                          <a:solidFill>
                            <a:srgbClr val="171717"/>
                          </a:solidFill>
                          <a:latin typeface="Meiryo"/>
                          <a:ea typeface="Meiryo"/>
                          <a:cs typeface="Meiryo"/>
                        </a:rPr>
                        <a:t>分類の観点</a:t>
                      </a:r>
                    </a:p>
                  </a:txBody>
                  <a:tcPr marL="95250" marR="95250" marT="85725" marB="66675" anchor="ctr">
                    <a:solidFill>
                      <a:srgbClr val="F1F1F1"/>
                    </a:solidFill>
                  </a:tcPr>
                </a:tc>
              </a:tr>
              <a:tr h="619125">
                <a:tc>
                  <a:txBody>
                    <a:bodyPr>
                      <a:noAutofit/>
                    </a:bodyPr>
                    <a:lstStyle/>
                    <a:p>
                      <a:r>
                        <a:rPr sz="1725" b="0">
                          <a:solidFill>
                            <a:srgbClr val="171717"/>
                          </a:solidFill>
                          <a:latin typeface="Meiryo"/>
                          <a:ea typeface="Meiryo"/>
                          <a:cs typeface="Meiryo"/>
                        </a:rPr>
                        <a:t>S1</a:t>
                      </a:r>
                    </a:p>
                  </a:txBody>
                  <a:tcPr marL="95250" marR="95250" marT="85725" marB="66675" anchor="ctr">
                    <a:solidFill>
                      <a:srgbClr val="FFFFFF"/>
                    </a:solidFill>
                  </a:tcPr>
                </a:tc>
                <a:tc>
                  <a:txBody>
                    <a:bodyPr>
                      <a:noAutofit/>
                    </a:bodyPr>
                    <a:lstStyle/>
                    <a:p>
                      <a:r>
                        <a:rPr sz="1725" b="0">
                          <a:solidFill>
                            <a:srgbClr val="171717"/>
                          </a:solidFill>
                          <a:latin typeface="Meiryo"/>
                          <a:ea typeface="Meiryo"/>
                          <a:cs typeface="Meiryo"/>
                        </a:rPr>
                        <a:t>Point / Contextual / Collective</a:t>
                      </a:r>
                    </a:p>
                  </a:txBody>
                  <a:tcPr marL="95250" marR="95250" marT="85725" marB="66675" anchor="ctr">
                    <a:solidFill>
                      <a:srgbClr val="FFFFFF"/>
                    </a:solidFill>
                  </a:tcPr>
                </a:tc>
                <a:tc>
                  <a:txBody>
                    <a:bodyPr>
                      <a:noAutofit/>
                    </a:bodyPr>
                    <a:lstStyle/>
                    <a:p>
                      <a:r>
                        <a:rPr sz="1725" b="0">
                          <a:solidFill>
                            <a:srgbClr val="171717"/>
                          </a:solidFill>
                          <a:latin typeface="Meiryo"/>
                          <a:ea typeface="Meiryo"/>
                          <a:cs typeface="Meiryo"/>
                        </a:rPr>
                        <a:t>点の逸脱・文脈への依存・集合的な挙動</a:t>
                      </a:r>
                    </a:p>
                  </a:txBody>
                  <a:tcPr marL="95250" marR="95250" marT="85725" marB="66675" anchor="ctr">
                    <a:solidFill>
                      <a:srgbClr val="FFFFFF"/>
                    </a:solidFill>
                  </a:tcPr>
                </a:tc>
              </a:tr>
              <a:tr h="619125">
                <a:tc>
                  <a:txBody>
                    <a:bodyPr>
                      <a:noAutofit/>
                    </a:bodyPr>
                    <a:lstStyle/>
                    <a:p>
                      <a:r>
                        <a:rPr sz="1725" b="0">
                          <a:solidFill>
                            <a:srgbClr val="171717"/>
                          </a:solidFill>
                          <a:latin typeface="Meiryo"/>
                          <a:ea typeface="Meiryo"/>
                          <a:cs typeface="Meiryo"/>
                        </a:rPr>
                        <a:t>S3</a:t>
                      </a:r>
                    </a:p>
                  </a:txBody>
                  <a:tcPr marL="95250" marR="95250" marT="85725" marB="66675" anchor="ctr">
                    <a:solidFill>
                      <a:srgbClr val="FFFFFF"/>
                    </a:solidFill>
                  </a:tcPr>
                </a:tc>
                <a:tc>
                  <a:txBody>
                    <a:bodyPr>
                      <a:noAutofit/>
                    </a:bodyPr>
                    <a:lstStyle/>
                    <a:p>
                      <a:r>
                        <a:rPr sz="1725" b="0">
                          <a:solidFill>
                            <a:srgbClr val="171717"/>
                          </a:solidFill>
                          <a:latin typeface="Meiryo"/>
                          <a:ea typeface="Meiryo"/>
                          <a:cs typeface="Meiryo"/>
                        </a:rPr>
                        <a:t>Point / Subsequence / Outlier time series</a:t>
                      </a:r>
                    </a:p>
                  </a:txBody>
                  <a:tcPr marL="95250" marR="95250" marT="85725" marB="66675" anchor="ctr">
                    <a:solidFill>
                      <a:srgbClr val="FFFFFF"/>
                    </a:solidFill>
                  </a:tcPr>
                </a:tc>
                <a:tc>
                  <a:txBody>
                    <a:bodyPr>
                      <a:noAutofit/>
                    </a:bodyPr>
                    <a:lstStyle/>
                    <a:p>
                      <a:r>
                        <a:rPr sz="1725" b="0">
                          <a:solidFill>
                            <a:srgbClr val="171717"/>
                          </a:solidFill>
                          <a:latin typeface="Meiryo"/>
                          <a:ea typeface="Meiryo"/>
                          <a:cs typeface="Meiryo"/>
                        </a:rPr>
                        <a:t>異常として扱う対象の粒度</a:t>
                      </a:r>
                    </a:p>
                    <a:p>
                      <a:r>
                        <a:rPr sz="1725" b="0">
                          <a:solidFill>
                            <a:srgbClr val="171717"/>
                          </a:solidFill>
                          <a:latin typeface="Meiryo"/>
                          <a:ea typeface="Meiryo"/>
                          <a:cs typeface="Meiryo"/>
                        </a:rPr>
                        <a:t>global / localも区別</a:t>
                      </a:r>
                    </a:p>
                  </a:txBody>
                  <a:tcPr marL="95250" marR="95250" marT="85725" marB="66675" anchor="ctr">
                    <a:solidFill>
                      <a:srgbClr val="FFFFFF"/>
                    </a:solidFill>
                  </a:tcPr>
                </a:tc>
              </a:tr>
              <a:tr h="619125">
                <a:tc>
                  <a:txBody>
                    <a:bodyPr>
                      <a:noAutofit/>
                    </a:bodyPr>
                    <a:lstStyle/>
                    <a:p>
                      <a:r>
                        <a:rPr sz="1725" b="0">
                          <a:solidFill>
                            <a:srgbClr val="171717"/>
                          </a:solidFill>
                          <a:latin typeface="Meiryo"/>
                          <a:ea typeface="Meiryo"/>
                          <a:cs typeface="Meiryo"/>
                        </a:rPr>
                        <a:t>S6</a:t>
                      </a:r>
                    </a:p>
                  </a:txBody>
                  <a:tcPr marL="95250" marR="95250" marT="85725" marB="66675" anchor="ctr">
                    <a:solidFill>
                      <a:srgbClr val="FFFFFF"/>
                    </a:solidFill>
                  </a:tcPr>
                </a:tc>
                <a:tc>
                  <a:txBody>
                    <a:bodyPr>
                      <a:noAutofit/>
                    </a:bodyPr>
                    <a:lstStyle/>
                    <a:p>
                      <a:r>
                        <a:rPr sz="1725" b="0">
                          <a:solidFill>
                            <a:srgbClr val="171717"/>
                          </a:solidFill>
                          <a:latin typeface="Meiryo"/>
                          <a:ea typeface="Meiryo"/>
                          <a:cs typeface="Meiryo"/>
                        </a:rPr>
                        <a:t>Intra-metric / Inter-metric</a:t>
                      </a:r>
                    </a:p>
                  </a:txBody>
                  <a:tcPr marL="95250" marR="95250" marT="85725" marB="66675" anchor="ctr">
                    <a:solidFill>
                      <a:srgbClr val="FFFFFF"/>
                    </a:solidFill>
                  </a:tcPr>
                </a:tc>
                <a:tc>
                  <a:txBody>
                    <a:bodyPr>
                      <a:noAutofit/>
                    </a:bodyPr>
                    <a:lstStyle/>
                    <a:p>
                      <a:r>
                        <a:rPr sz="1725" b="0">
                          <a:solidFill>
                            <a:srgbClr val="171717"/>
                          </a:solidFill>
                          <a:latin typeface="Meiryo"/>
                          <a:ea typeface="Meiryo"/>
                          <a:cs typeface="Meiryo"/>
                        </a:rPr>
                        <a:t>変数内の時間的挙動と変数間の依存関係</a:t>
                      </a:r>
                    </a:p>
                  </a:txBody>
                  <a:tcPr marL="95250" marR="95250" marT="85725" marB="66675" anchor="ctr">
                    <a:solidFill>
                      <a:srgbClr val="FFFFFF"/>
                    </a:solidFill>
                  </a:tcPr>
                </a:tc>
              </a:tr>
            </a:tbl>
          </a:graphicData>
        </a:graphic>
      </p:graphicFrame>
      <p:sp>
        <p:nvSpPr>
          <p:cNvPr id="535" name="">
            <a:extLst xmlns:a="http://schemas.openxmlformats.org/drawingml/2006/main">
              <a:ext uri="{FF2B5EF4-FFF2-40B4-BE49-F238E27FC236}">
                <a16:creationId xmlns:a16="http://schemas.microsoft.com/office/drawing/2014/main" id="{74822FDB-98E1-4C79-8AC5-4048151EB60E}"/>
              </a:ext>
            </a:extLst>
          </p:cNvPr>
          <p:cNvSpPr>
            <a:spLocks xmlns:a="http://schemas.openxmlformats.org/drawingml/2006/main" noGrp="1"/>
          </p:cNvSpPr>
          <p:nvPr/>
        </p:nvSpPr>
        <p:spPr>
          <a:xfrm xmlns:a="http://schemas.openxmlformats.org/drawingml/2006/main">
            <a:off x="393668" y="5810250"/>
            <a:ext cx="1119187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725" b="1">
                <a:solidFill>
                  <a:srgbClr val="171717"/>
                </a:solidFill>
                <a:latin typeface="Meiryo"/>
                <a:ea typeface="Meiryo"/>
                <a:cs typeface="Meiryo"/>
              </a:defRPr>
            </a:pPr>
            <a:r>
              <a:rPr sz="1725" b="1">
                <a:solidFill>
                  <a:srgbClr val="171717"/>
                </a:solidFill>
                <a:latin typeface="Meiryo"/>
                <a:ea typeface="Meiryo"/>
                <a:cs typeface="Meiryo"/>
              </a:rPr>
              <a:t>分類名を置き換えるだけでは、各論文の違いを表現できない</a:t>
            </a:r>
          </a:p>
        </p:txBody>
      </p:sp>
      <p:sp>
        <p:nvSpPr>
          <p:cNvPr id="536" name="">
            <a:extLst xmlns:a="http://schemas.openxmlformats.org/drawingml/2006/main">
              <a:ext uri="{FF2B5EF4-FFF2-40B4-BE49-F238E27FC236}">
                <a16:creationId xmlns:a16="http://schemas.microsoft.com/office/drawing/2014/main" id="{A8301199-5EB9-49A5-B1A7-2E1F370984E4}"/>
              </a:ext>
            </a:extLst>
          </p:cNvPr>
          <p:cNvSpPr>
            <a:spLocks xmlns:a="http://schemas.openxmlformats.org/drawingml/2006/main" noGrp="1"/>
          </p:cNvSpPr>
          <p:nvPr/>
        </p:nvSpPr>
        <p:spPr>
          <a:xfrm xmlns:a="http://schemas.openxmlformats.org/drawingml/2006/main">
            <a:off x="393668" y="6334125"/>
            <a:ext cx="10668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975" b="0">
                <a:solidFill>
                  <a:srgbClr val="656565"/>
                </a:solidFill>
                <a:latin typeface="Meiryo"/>
                <a:ea typeface="Meiryo"/>
                <a:cs typeface="Meiryo"/>
              </a:defRPr>
            </a:pPr>
            <a:r>
              <a:rPr sz="975" b="0">
                <a:solidFill>
                  <a:srgbClr val="656565"/>
                </a:solidFill>
                <a:latin typeface="Meiryo"/>
                <a:ea typeface="Meiryo"/>
                <a:cs typeface="Meiryo"/>
              </a:rPr>
              <a:t>S1 §3.2、S3 §2.2、S6 §2.2</a:t>
            </a:r>
          </a:p>
        </p:txBody>
      </p:sp>
    </p:spTree>
    <p:extLst>
      <p:ext uri="{BB962C8B-B14F-4D97-AF65-F5344CB8AC3E}">
        <p14:creationId xmlns:p14="http://schemas.microsoft.com/office/powerpoint/2010/main" val="329854879"/>
      </p:ext>
    </p:extLst>
  </p:cSld>
</p:sld>
</file>

<file path=ppt/slides/slide8.xml><?xml version="1.0" encoding="utf-8"?>
<p:sld xmlns:p="http://schemas.openxmlformats.org/presentationml/2006/main">
  <p:cSld>
    <p:spTree>
      <p:nvGrpSpPr>
        <p:cNvPr id="1" name=""/>
        <p:cNvGrpSpPr/>
        <p:nvPr/>
      </p:nvGrpSpPr>
      <p:grpSpPr>
        <a:xfrm xmlns:a="http://schemas.openxmlformats.org/drawingml/2006/main"/>
      </p:grpSpPr>
      <p:sp>
        <p:nvSpPr>
          <p:cNvPr id="532" name="Google Shape;532;p58">
            <a:extLst xmlns:a="http://schemas.openxmlformats.org/drawingml/2006/main">
              <a:ext uri="{FF2B5EF4-FFF2-40B4-BE49-F238E27FC236}">
                <a16:creationId xmlns:a16="http://schemas.microsoft.com/office/drawing/2014/main" id="{1BCBE750-7048-686D-1472-52C53362D6CD}"/>
              </a:ext>
            </a:extLst>
          </p:cNvPr>
          <p:cNvSpPr>
            <a:spLocks xmlns:a="http://schemas.openxmlformats.org/drawingml/2006/main" noGrp="1"/>
          </p:cNvSpPr>
          <p:nvPr>
            <p:ph type="sldNum" idx="4"/>
          </p:nvPr>
        </p:nvSpPr>
        <p:spPr>
          <a:xfrm xmlns:a="http://schemas.openxmlformats.org/drawingml/2006/main">
            <a:off x="11279332" y="6279294"/>
            <a:ext cx="518968" cy="241240"/>
          </a:xfr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pPr>
              <a:defRPr sz="975" b="0">
                <a:solidFill>
                  <a:srgbClr val="171717"/>
                </a:solidFill>
                <a:latin typeface="Meiryo"/>
                <a:ea typeface="Meiryo"/>
                <a:cs typeface="Meiryo"/>
              </a:defRPr>
            </a:pPr>
            <a:fld id="{BA58DA2A-B818-18A9-29C1-B697728D5BCE}" type="slidenum">
              <a:rPr sz="975" b="0">
                <a:solidFill>
                  <a:srgbClr val="171717"/>
                </a:solidFill>
                <a:latin typeface="Meiryo"/>
                <a:ea typeface="Meiryo"/>
                <a:cs typeface="Meiryo"/>
              </a:rPr>
              <a:t>8</a:t>
            </a:fld>
            <a:endParaRPr/>
          </a:p>
        </p:txBody>
      </p:sp>
      <p:sp>
        <p:nvSpPr>
          <p:cNvPr id="533" name="Google Shape;533;p58">
            <a:extLst xmlns:a="http://schemas.openxmlformats.org/drawingml/2006/main">
              <a:ext uri="{FF2B5EF4-FFF2-40B4-BE49-F238E27FC236}">
                <a16:creationId xmlns:a16="http://schemas.microsoft.com/office/drawing/2014/main" id="{1B5D55CD-1C17-7CD8-F26A-2DD65B067687}"/>
              </a:ext>
            </a:extLst>
          </p:cNvPr>
          <p:cNvSpPr>
            <a:spLocks xmlns:a="http://schemas.openxmlformats.org/drawingml/2006/main" noGrp="1"/>
          </p:cNvSpPr>
          <p:nvPr>
            <p:ph type="title" idx="0"/>
          </p:nvPr>
        </p:nvSpPr>
        <p:spPr>
          <a:xfrm xmlns:a="http://schemas.openxmlformats.org/drawingml/2006/main">
            <a:off x="393668" y="344043"/>
            <a:ext cx="11404568" cy="952500"/>
          </a:xfr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pPr>
              <a:defRPr sz="2700" b="0">
                <a:solidFill>
                  <a:srgbClr val="171717"/>
                </a:solidFill>
                <a:latin typeface="Meiryo"/>
                <a:ea typeface="Meiryo"/>
                <a:cs typeface="Meiryo"/>
              </a:defRPr>
            </a:pPr>
            <a:r>
              <a:rPr sz="2700" b="0">
                <a:solidFill>
                  <a:srgbClr val="171717"/>
                </a:solidFill>
                <a:latin typeface="Meiryo"/>
                <a:ea typeface="Meiryo"/>
                <a:cs typeface="Meiryo"/>
              </a:rPr>
              <a:t>実習の定義と時系列の異常形態の対応</a:t>
            </a:r>
          </a:p>
        </p:txBody>
      </p:sp>
      <p:sp>
        <p:nvSpPr>
          <p:cNvPr id="534" name="">
            <a:extLst xmlns:a="http://schemas.openxmlformats.org/drawingml/2006/main">
              <a:ext uri="{FF2B5EF4-FFF2-40B4-BE49-F238E27FC236}">
                <a16:creationId xmlns:a16="http://schemas.microsoft.com/office/drawing/2014/main" id="{99D34E42-EEF9-4ECF-91EA-FE868D1D64C4}"/>
              </a:ext>
            </a:extLst>
          </p:cNvPr>
          <p:cNvSpPr>
            <a:spLocks xmlns:a="http://schemas.openxmlformats.org/drawingml/2006/main" noGrp="1"/>
          </p:cNvSpPr>
          <p:nvPr/>
        </p:nvSpPr>
        <p:spPr>
          <a:xfrm xmlns:a="http://schemas.openxmlformats.org/drawingml/2006/main">
            <a:off x="393668" y="1838325"/>
            <a:ext cx="5540359"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00" b="1">
                <a:solidFill>
                  <a:srgbClr val="171717"/>
                </a:solidFill>
                <a:latin typeface="Meiryo"/>
                <a:ea typeface="Meiryo"/>
                <a:cs typeface="Meiryo"/>
              </a:defRPr>
            </a:pPr>
            <a:r>
              <a:rPr sz="2100" b="1">
                <a:solidFill>
                  <a:srgbClr val="171717"/>
                </a:solidFill>
                <a:latin typeface="Meiryo"/>
                <a:ea typeface="Meiryo"/>
                <a:cs typeface="Meiryo"/>
              </a:rPr>
              <a:t>1時刻でも評価できる例</a:t>
            </a:r>
          </a:p>
        </p:txBody>
      </p:sp>
      <p:sp>
        <p:nvSpPr>
          <p:cNvPr id="535" name="">
            <a:extLst xmlns:a="http://schemas.openxmlformats.org/drawingml/2006/main">
              <a:ext uri="{FF2B5EF4-FFF2-40B4-BE49-F238E27FC236}">
                <a16:creationId xmlns:a16="http://schemas.microsoft.com/office/drawing/2014/main" id="{1389A515-C410-4B71-A899-CE85DF5C836A}"/>
              </a:ext>
            </a:extLst>
          </p:cNvPr>
          <p:cNvSpPr>
            <a:spLocks xmlns:a="http://schemas.openxmlformats.org/drawingml/2006/main" noGrp="1"/>
          </p:cNvSpPr>
          <p:nvPr/>
        </p:nvSpPr>
        <p:spPr>
          <a:xfrm xmlns:a="http://schemas.openxmlformats.org/drawingml/2006/main">
            <a:off x="393668" y="2505075"/>
            <a:ext cx="5540359" cy="285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950" b="0">
                <a:solidFill>
                  <a:srgbClr val="171717"/>
                </a:solidFill>
                <a:latin typeface="Meiryo"/>
                <a:ea typeface="Meiryo"/>
                <a:cs typeface="Meiryo"/>
              </a:defRPr>
            </a:pPr>
            <a:r>
              <a:rPr sz="1950" b="0">
                <a:solidFill>
                  <a:srgbClr val="171717"/>
                </a:solidFill>
                <a:latin typeface="Meiryo"/>
                <a:ea typeface="Meiryo"/>
                <a:cs typeface="Meiryo"/>
              </a:rPr>
              <a:t>範囲を超える値</a:t>
            </a:r>
          </a:p>
          <a:p xmlns:a="http://schemas.openxmlformats.org/drawingml/2006/main">
            <a:r>
              <a:t/>
            </a:r>
          </a:p>
          <a:p xmlns:a="http://schemas.openxmlformats.org/drawingml/2006/main">
            <a:pPr>
              <a:defRPr sz="1950" b="0">
                <a:solidFill>
                  <a:srgbClr val="171717"/>
                </a:solidFill>
                <a:latin typeface="Meiryo"/>
                <a:ea typeface="Meiryo"/>
                <a:cs typeface="Meiryo"/>
              </a:defRPr>
            </a:pPr>
            <a:r>
              <a:rPr sz="1950" b="0">
                <a:solidFill>
                  <a:srgbClr val="171717"/>
                </a:solidFill>
                <a:latin typeface="Meiryo"/>
                <a:ea typeface="Meiryo"/>
                <a:cs typeface="Meiryo"/>
              </a:rPr>
              <a:t>複数変数の珍しい組合せ</a:t>
            </a:r>
          </a:p>
          <a:p xmlns:a="http://schemas.openxmlformats.org/drawingml/2006/main">
            <a:r>
              <a:t/>
            </a:r>
          </a:p>
          <a:p xmlns:a="http://schemas.openxmlformats.org/drawingml/2006/main">
            <a:pPr>
              <a:defRPr sz="1950" b="0">
                <a:solidFill>
                  <a:srgbClr val="171717"/>
                </a:solidFill>
                <a:latin typeface="Meiryo"/>
                <a:ea typeface="Meiryo"/>
                <a:cs typeface="Meiryo"/>
              </a:defRPr>
            </a:pPr>
            <a:r>
              <a:rPr sz="1950" b="0">
                <a:solidFill>
                  <a:srgbClr val="171717"/>
                </a:solidFill>
                <a:latin typeface="Meiryo"/>
                <a:ea typeface="Meiryo"/>
                <a:cs typeface="Meiryo"/>
              </a:rPr>
              <a:t>訓練サンプルから離れた入力</a:t>
            </a:r>
          </a:p>
        </p:txBody>
      </p:sp>
      <p:sp>
        <p:nvSpPr>
          <p:cNvPr id="536" name="">
            <a:extLst xmlns:a="http://schemas.openxmlformats.org/drawingml/2006/main">
              <a:ext uri="{FF2B5EF4-FFF2-40B4-BE49-F238E27FC236}">
                <a16:creationId xmlns:a16="http://schemas.microsoft.com/office/drawing/2014/main" id="{0C2846C1-667D-43AC-B3E6-2BD5A966265F}"/>
              </a:ext>
            </a:extLst>
          </p:cNvPr>
          <p:cNvSpPr>
            <a:spLocks xmlns:a="http://schemas.openxmlformats.org/drawingml/2006/main" noGrp="1"/>
          </p:cNvSpPr>
          <p:nvPr/>
        </p:nvSpPr>
        <p:spPr>
          <a:xfrm xmlns:a="http://schemas.openxmlformats.org/drawingml/2006/main">
            <a:off x="6257877" y="1838325"/>
            <a:ext cx="5540359"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00" b="1">
                <a:solidFill>
                  <a:srgbClr val="171717"/>
                </a:solidFill>
                <a:latin typeface="Meiryo"/>
                <a:ea typeface="Meiryo"/>
                <a:cs typeface="Meiryo"/>
              </a:defRPr>
            </a:pPr>
            <a:r>
              <a:rPr sz="2100" b="1">
                <a:solidFill>
                  <a:srgbClr val="171717"/>
                </a:solidFill>
                <a:latin typeface="Meiryo"/>
                <a:ea typeface="Meiryo"/>
                <a:cs typeface="Meiryo"/>
              </a:rPr>
              <a:t>履歴が必要になる例</a:t>
            </a:r>
          </a:p>
        </p:txBody>
      </p:sp>
      <p:sp>
        <p:nvSpPr>
          <p:cNvPr id="537" name="">
            <a:extLst xmlns:a="http://schemas.openxmlformats.org/drawingml/2006/main">
              <a:ext uri="{FF2B5EF4-FFF2-40B4-BE49-F238E27FC236}">
                <a16:creationId xmlns:a16="http://schemas.microsoft.com/office/drawing/2014/main" id="{13F78DCA-4258-4450-B76D-BDE41306EB1D}"/>
              </a:ext>
            </a:extLst>
          </p:cNvPr>
          <p:cNvSpPr>
            <a:spLocks xmlns:a="http://schemas.openxmlformats.org/drawingml/2006/main" noGrp="1"/>
          </p:cNvSpPr>
          <p:nvPr/>
        </p:nvSpPr>
        <p:spPr>
          <a:xfrm xmlns:a="http://schemas.openxmlformats.org/drawingml/2006/main">
            <a:off x="6257877" y="2505075"/>
            <a:ext cx="5540359" cy="285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950" b="0">
                <a:solidFill>
                  <a:srgbClr val="171717"/>
                </a:solidFill>
                <a:latin typeface="Meiryo"/>
                <a:ea typeface="Meiryo"/>
                <a:cs typeface="Meiryo"/>
              </a:defRPr>
            </a:pPr>
            <a:r>
              <a:rPr sz="1950" b="0">
                <a:solidFill>
                  <a:srgbClr val="171717"/>
                </a:solidFill>
                <a:latin typeface="Meiryo"/>
                <a:ea typeface="Meiryo"/>
                <a:cs typeface="Meiryo"/>
              </a:rPr>
              <a:t>センサーの長時間の固定</a:t>
            </a:r>
          </a:p>
          <a:p xmlns:a="http://schemas.openxmlformats.org/drawingml/2006/main">
            <a:r>
              <a:t/>
            </a:r>
          </a:p>
          <a:p xmlns:a="http://schemas.openxmlformats.org/drawingml/2006/main">
            <a:pPr>
              <a:defRPr sz="1950" b="0">
                <a:solidFill>
                  <a:srgbClr val="171717"/>
                </a:solidFill>
                <a:latin typeface="Meiryo"/>
                <a:ea typeface="Meiryo"/>
                <a:cs typeface="Meiryo"/>
              </a:defRPr>
            </a:pPr>
            <a:r>
              <a:rPr sz="1950" b="0">
                <a:solidFill>
                  <a:srgbClr val="171717"/>
                </a:solidFill>
                <a:latin typeface="Meiryo"/>
                <a:ea typeface="Meiryo"/>
                <a:cs typeface="Meiryo"/>
              </a:rPr>
              <a:t>周期・傾向の変化</a:t>
            </a:r>
          </a:p>
          <a:p xmlns:a="http://schemas.openxmlformats.org/drawingml/2006/main">
            <a:r>
              <a:t/>
            </a:r>
          </a:p>
          <a:p xmlns:a="http://schemas.openxmlformats.org/drawingml/2006/main">
            <a:pPr>
              <a:defRPr sz="1950" b="0">
                <a:solidFill>
                  <a:srgbClr val="171717"/>
                </a:solidFill>
                <a:latin typeface="Meiryo"/>
                <a:ea typeface="Meiryo"/>
                <a:cs typeface="Meiryo"/>
              </a:defRPr>
            </a:pPr>
            <a:r>
              <a:rPr sz="1950" b="0">
                <a:solidFill>
                  <a:srgbClr val="171717"/>
                </a:solidFill>
                <a:latin typeface="Meiryo"/>
                <a:ea typeface="Meiryo"/>
                <a:cs typeface="Meiryo"/>
              </a:rPr>
              <a:t>複数時刻にわたる関係の崩れ</a:t>
            </a:r>
          </a:p>
        </p:txBody>
      </p:sp>
      <p:sp>
        <p:nvSpPr>
          <p:cNvPr id="538" name="">
            <a:extLst xmlns:a="http://schemas.openxmlformats.org/drawingml/2006/main">
              <a:ext uri="{FF2B5EF4-FFF2-40B4-BE49-F238E27FC236}">
                <a16:creationId xmlns:a16="http://schemas.microsoft.com/office/drawing/2014/main" id="{5B5B6F19-F03B-45D0-B27C-3B67DE08802B}"/>
              </a:ext>
            </a:extLst>
          </p:cNvPr>
          <p:cNvSpPr>
            <a:spLocks xmlns:a="http://schemas.openxmlformats.org/drawingml/2006/main" noGrp="1"/>
          </p:cNvSpPr>
          <p:nvPr/>
        </p:nvSpPr>
        <p:spPr>
          <a:xfrm xmlns:a="http://schemas.openxmlformats.org/drawingml/2006/main">
            <a:off x="393668" y="5810250"/>
            <a:ext cx="1119187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725" b="1">
                <a:solidFill>
                  <a:srgbClr val="171717"/>
                </a:solidFill>
                <a:latin typeface="Meiryo"/>
                <a:ea typeface="Meiryo"/>
                <a:cs typeface="Meiryo"/>
              </a:defRPr>
            </a:pPr>
            <a:r>
              <a:rPr sz="1725" b="1">
                <a:solidFill>
                  <a:srgbClr val="171717"/>
                </a:solidFill>
                <a:latin typeface="Meiryo"/>
                <a:ea typeface="Meiryo"/>
                <a:cs typeface="Meiryo"/>
              </a:rPr>
              <a:t>「学習外の条件」と「異常の形態」は別の軸として整理する</a:t>
            </a:r>
          </a:p>
        </p:txBody>
      </p:sp>
      <p:sp>
        <p:nvSpPr>
          <p:cNvPr id="539" name="">
            <a:extLst xmlns:a="http://schemas.openxmlformats.org/drawingml/2006/main">
              <a:ext uri="{FF2B5EF4-FFF2-40B4-BE49-F238E27FC236}">
                <a16:creationId xmlns:a16="http://schemas.microsoft.com/office/drawing/2014/main" id="{F4715B8D-A0DA-4434-8F76-730A2D9596D7}"/>
              </a:ext>
            </a:extLst>
          </p:cNvPr>
          <p:cNvSpPr>
            <a:spLocks xmlns:a="http://schemas.openxmlformats.org/drawingml/2006/main" noGrp="1"/>
          </p:cNvSpPr>
          <p:nvPr/>
        </p:nvSpPr>
        <p:spPr>
          <a:xfrm xmlns:a="http://schemas.openxmlformats.org/drawingml/2006/main">
            <a:off x="393668" y="6334125"/>
            <a:ext cx="10668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975" b="0">
                <a:solidFill>
                  <a:srgbClr val="656565"/>
                </a:solidFill>
                <a:latin typeface="Meiryo"/>
                <a:ea typeface="Meiryo"/>
                <a:cs typeface="Meiryo"/>
              </a:defRPr>
            </a:pPr>
            <a:r>
              <a:rPr sz="975" b="0">
                <a:solidFill>
                  <a:srgbClr val="656565"/>
                </a:solidFill>
                <a:latin typeface="Meiryo"/>
                <a:ea typeface="Meiryo"/>
                <a:cs typeface="Meiryo"/>
              </a:rPr>
              <a:t>実習要求、S1・S3・S6を基に本調査で整理</a:t>
            </a:r>
          </a:p>
        </p:txBody>
      </p:sp>
    </p:spTree>
    <p:extLst>
      <p:ext uri="{BB962C8B-B14F-4D97-AF65-F5344CB8AC3E}">
        <p14:creationId xmlns:p14="http://schemas.microsoft.com/office/powerpoint/2010/main" val="3667182145"/>
      </p:ext>
    </p:extLst>
  </p:cSld>
</p:sld>
</file>

<file path=ppt/slides/slide9.xml><?xml version="1.0" encoding="utf-8"?>
<p:sld xmlns:p="http://schemas.openxmlformats.org/presentationml/2006/main">
  <p:cSld>
    <p:spTree>
      <p:nvGrpSpPr>
        <p:cNvPr id="1" name=""/>
        <p:cNvGrpSpPr/>
        <p:nvPr/>
      </p:nvGrpSpPr>
      <p:grpSpPr>
        <a:xfrm xmlns:a="http://schemas.openxmlformats.org/drawingml/2006/main"/>
      </p:grpSpPr>
      <p:sp>
        <p:nvSpPr>
          <p:cNvPr id="532" name="Google Shape;532;p58">
            <a:extLst xmlns:a="http://schemas.openxmlformats.org/drawingml/2006/main">
              <a:ext uri="{FF2B5EF4-FFF2-40B4-BE49-F238E27FC236}">
                <a16:creationId xmlns:a16="http://schemas.microsoft.com/office/drawing/2014/main" id="{27489CDA-073D-5D98-B832-86AD74222B71}"/>
              </a:ext>
            </a:extLst>
          </p:cNvPr>
          <p:cNvSpPr>
            <a:spLocks xmlns:a="http://schemas.openxmlformats.org/drawingml/2006/main" noGrp="1"/>
          </p:cNvSpPr>
          <p:nvPr>
            <p:ph type="sldNum" idx="4"/>
          </p:nvPr>
        </p:nvSpPr>
        <p:spPr>
          <a:xfrm xmlns:a="http://schemas.openxmlformats.org/drawingml/2006/main">
            <a:off x="11279332" y="6279294"/>
            <a:ext cx="518968" cy="241240"/>
          </a:xfr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pPr>
              <a:defRPr sz="975" b="0">
                <a:solidFill>
                  <a:srgbClr val="171717"/>
                </a:solidFill>
                <a:latin typeface="Meiryo"/>
                <a:ea typeface="Meiryo"/>
                <a:cs typeface="Meiryo"/>
              </a:defRPr>
            </a:pPr>
            <a:fld id="{388657AE-30A1-5A7A-6A7F-315D84436430}" type="slidenum">
              <a:rPr sz="975" b="0">
                <a:solidFill>
                  <a:srgbClr val="171717"/>
                </a:solidFill>
                <a:latin typeface="Meiryo"/>
                <a:ea typeface="Meiryo"/>
                <a:cs typeface="Meiryo"/>
              </a:rPr>
              <a:t>9</a:t>
            </a:fld>
            <a:endParaRPr/>
          </a:p>
        </p:txBody>
      </p:sp>
      <p:sp>
        <p:nvSpPr>
          <p:cNvPr id="533" name="Google Shape;533;p58">
            <a:extLst xmlns:a="http://schemas.openxmlformats.org/drawingml/2006/main">
              <a:ext uri="{FF2B5EF4-FFF2-40B4-BE49-F238E27FC236}">
                <a16:creationId xmlns:a16="http://schemas.microsoft.com/office/drawing/2014/main" id="{08EBC4B8-BBC1-7C2A-F77D-BEC6394B0F93}"/>
              </a:ext>
            </a:extLst>
          </p:cNvPr>
          <p:cNvSpPr>
            <a:spLocks xmlns:a="http://schemas.openxmlformats.org/drawingml/2006/main" noGrp="1"/>
          </p:cNvSpPr>
          <p:nvPr>
            <p:ph type="title" idx="0"/>
          </p:nvPr>
        </p:nvSpPr>
        <p:spPr>
          <a:xfrm xmlns:a="http://schemas.openxmlformats.org/drawingml/2006/main">
            <a:off x="393668" y="344043"/>
            <a:ext cx="11404568" cy="952500"/>
          </a:xfr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pPr>
              <a:defRPr sz="2700" b="0">
                <a:solidFill>
                  <a:srgbClr val="171717"/>
                </a:solidFill>
                <a:latin typeface="Meiryo"/>
                <a:ea typeface="Meiryo"/>
                <a:cs typeface="Meiryo"/>
              </a:defRPr>
            </a:pPr>
            <a:r>
              <a:rPr sz="2700" b="0">
                <a:solidFill>
                  <a:srgbClr val="171717"/>
                </a:solidFill>
                <a:latin typeface="Meiryo"/>
                <a:ea typeface="Meiryo"/>
                <a:cs typeface="Meiryo"/>
              </a:rPr>
              <a:t>検知手法の分類も、目的に応じて異なる</a:t>
            </a:r>
          </a:p>
        </p:txBody>
      </p:sp>
      <p:graphicFrame>
        <p:nvGraphicFramePr>
          <p:cNvPr id="539" name=""/>
          <p:cNvGraphicFramePr/>
          <p:nvPr/>
        </p:nvGraphicFramePr>
        <p:xfrm>
          <a:off xmlns:a="http://schemas.openxmlformats.org/drawingml/2006/main" x="393668" y="1638300"/>
          <a:ext xmlns:a="http://schemas.openxmlformats.org/drawingml/2006/main" cx="11382375" cy="2476500"/>
        </p:xfrm>
        <a:graphic xmlns:a="http://schemas.openxmlformats.org/drawingml/2006/main">
          <a:graphicData uri="http://schemas.openxmlformats.org/drawingml/2006/table">
            <a:tbl>
              <a:tblPr/>
              <a:tblGrid>
                <a:gridCol w="1285875"/>
                <a:gridCol w="5048250"/>
                <a:gridCol w="5048250"/>
              </a:tblGrid>
              <a:tr h="619125">
                <a:tc>
                  <a:txBody>
                    <a:bodyPr>
                      <a:noAutofit/>
                    </a:bodyPr>
                    <a:lstStyle/>
                    <a:p>
                      <a:r>
                        <a:rPr sz="1725" b="1">
                          <a:solidFill>
                            <a:srgbClr val="171717"/>
                          </a:solidFill>
                          <a:latin typeface="Meiryo"/>
                          <a:ea typeface="Meiryo"/>
                          <a:cs typeface="Meiryo"/>
                        </a:rPr>
                        <a:t>文献</a:t>
                      </a:r>
                    </a:p>
                  </a:txBody>
                  <a:tcPr marL="95250" marR="95250" marT="85725" marB="66675" anchor="ctr">
                    <a:solidFill>
                      <a:srgbClr val="F1F1F1"/>
                    </a:solidFill>
                  </a:tcPr>
                </a:tc>
                <a:tc>
                  <a:txBody>
                    <a:bodyPr>
                      <a:noAutofit/>
                    </a:bodyPr>
                    <a:lstStyle/>
                    <a:p>
                      <a:r>
                        <a:rPr sz="1725" b="1">
                          <a:solidFill>
                            <a:srgbClr val="171717"/>
                          </a:solidFill>
                          <a:latin typeface="Meiryo"/>
                          <a:ea typeface="Meiryo"/>
                          <a:cs typeface="Meiryo"/>
                        </a:rPr>
                        <a:t>分類の中心</a:t>
                      </a:r>
                    </a:p>
                  </a:txBody>
                  <a:tcPr marL="95250" marR="95250" marT="85725" marB="66675" anchor="ctr">
                    <a:solidFill>
                      <a:srgbClr val="F1F1F1"/>
                    </a:solidFill>
                  </a:tcPr>
                </a:tc>
                <a:tc>
                  <a:txBody>
                    <a:bodyPr>
                      <a:noAutofit/>
                    </a:bodyPr>
                    <a:lstStyle/>
                    <a:p>
                      <a:r>
                        <a:rPr sz="1725" b="1">
                          <a:solidFill>
                            <a:srgbClr val="171717"/>
                          </a:solidFill>
                          <a:latin typeface="Meiryo"/>
                          <a:ea typeface="Meiryo"/>
                          <a:cs typeface="Meiryo"/>
                        </a:rPr>
                        <a:t>実習で確認したい点</a:t>
                      </a:r>
                    </a:p>
                  </a:txBody>
                  <a:tcPr marL="95250" marR="95250" marT="85725" marB="66675" anchor="ctr">
                    <a:solidFill>
                      <a:srgbClr val="F1F1F1"/>
                    </a:solidFill>
                  </a:tcPr>
                </a:tc>
              </a:tr>
              <a:tr h="619125">
                <a:tc>
                  <a:txBody>
                    <a:bodyPr>
                      <a:noAutofit/>
                    </a:bodyPr>
                    <a:lstStyle/>
                    <a:p>
                      <a:r>
                        <a:rPr sz="1725" b="0">
                          <a:solidFill>
                            <a:srgbClr val="171717"/>
                          </a:solidFill>
                          <a:latin typeface="Meiryo"/>
                          <a:ea typeface="Meiryo"/>
                          <a:cs typeface="Meiryo"/>
                        </a:rPr>
                        <a:t>S1</a:t>
                      </a:r>
                    </a:p>
                  </a:txBody>
                  <a:tcPr marL="95250" marR="95250" marT="85725" marB="66675" anchor="ctr">
                    <a:solidFill>
                      <a:srgbClr val="FFFFFF"/>
                    </a:solidFill>
                  </a:tcPr>
                </a:tc>
                <a:tc>
                  <a:txBody>
                    <a:bodyPr>
                      <a:noAutofit/>
                    </a:bodyPr>
                    <a:lstStyle/>
                    <a:p>
                      <a:r>
                        <a:rPr sz="1725" b="0">
                          <a:solidFill>
                            <a:srgbClr val="171717"/>
                          </a:solidFill>
                          <a:latin typeface="Meiryo"/>
                          <a:ea typeface="Meiryo"/>
                          <a:cs typeface="Meiryo"/>
                        </a:rPr>
                        <a:t>従来型 / 機械学習 / DNN</a:t>
                      </a:r>
                    </a:p>
                  </a:txBody>
                  <a:tcPr marL="95250" marR="95250" marT="85725" marB="66675" anchor="ctr">
                    <a:solidFill>
                      <a:srgbClr val="FFFFFF"/>
                    </a:solidFill>
                  </a:tcPr>
                </a:tc>
                <a:tc>
                  <a:txBody>
                    <a:bodyPr>
                      <a:noAutofit/>
                    </a:bodyPr>
                    <a:lstStyle/>
                    <a:p>
                      <a:r>
                        <a:rPr sz="1725" b="0">
                          <a:solidFill>
                            <a:srgbClr val="171717"/>
                          </a:solidFill>
                          <a:latin typeface="Meiryo"/>
                          <a:ea typeface="Meiryo"/>
                          <a:cs typeface="Meiryo"/>
                        </a:rPr>
                        <a:t>複雑さに見合う効果があるか</a:t>
                      </a:r>
                    </a:p>
                  </a:txBody>
                  <a:tcPr marL="95250" marR="95250" marT="85725" marB="66675" anchor="ctr">
                    <a:solidFill>
                      <a:srgbClr val="FFFFFF"/>
                    </a:solidFill>
                  </a:tcPr>
                </a:tc>
              </a:tr>
              <a:tr h="619125">
                <a:tc>
                  <a:txBody>
                    <a:bodyPr>
                      <a:noAutofit/>
                    </a:bodyPr>
                    <a:lstStyle/>
                    <a:p>
                      <a:r>
                        <a:rPr sz="1725" b="0">
                          <a:solidFill>
                            <a:srgbClr val="171717"/>
                          </a:solidFill>
                          <a:latin typeface="Meiryo"/>
                          <a:ea typeface="Meiryo"/>
                          <a:cs typeface="Meiryo"/>
                        </a:rPr>
                        <a:t>S3</a:t>
                      </a:r>
                    </a:p>
                  </a:txBody>
                  <a:tcPr marL="95250" marR="95250" marT="85725" marB="66675" anchor="ctr">
                    <a:solidFill>
                      <a:srgbClr val="FFFFFF"/>
                    </a:solidFill>
                  </a:tcPr>
                </a:tc>
                <a:tc>
                  <a:txBody>
                    <a:bodyPr>
                      <a:noAutofit/>
                    </a:bodyPr>
                    <a:lstStyle/>
                    <a:p>
                      <a:r>
                        <a:rPr sz="1725" b="0">
                          <a:solidFill>
                            <a:srgbClr val="171717"/>
                          </a:solidFill>
                          <a:latin typeface="Meiryo"/>
                          <a:ea typeface="Meiryo"/>
                          <a:cs typeface="Meiryo"/>
                        </a:rPr>
                        <a:t>入力の種類 × 異常の粒度</a:t>
                      </a:r>
                    </a:p>
                    <a:p>
                      <a:r>
                        <a:rPr sz="1725" b="0">
                          <a:solidFill>
                            <a:srgbClr val="171717"/>
                          </a:solidFill>
                          <a:latin typeface="Meiryo"/>
                          <a:ea typeface="Meiryo"/>
                          <a:cs typeface="Meiryo"/>
                        </a:rPr>
                        <a:t>× 単変量・多変量手法</a:t>
                      </a:r>
                    </a:p>
                  </a:txBody>
                  <a:tcPr marL="95250" marR="95250" marT="85725" marB="66675" anchor="ctr">
                    <a:solidFill>
                      <a:srgbClr val="FFFFFF"/>
                    </a:solidFill>
                  </a:tcPr>
                </a:tc>
                <a:tc>
                  <a:txBody>
                    <a:bodyPr>
                      <a:noAutofit/>
                    </a:bodyPr>
                    <a:lstStyle/>
                    <a:p>
                      <a:r>
                        <a:rPr sz="1725" b="0">
                          <a:solidFill>
                            <a:srgbClr val="171717"/>
                          </a:solidFill>
                          <a:latin typeface="Meiryo"/>
                          <a:ea typeface="Meiryo"/>
                          <a:cs typeface="Meiryo"/>
                        </a:rPr>
                        <a:t>変数を共同で扱うか</a:t>
                      </a:r>
                    </a:p>
                    <a:p>
                      <a:r>
                        <a:rPr sz="1725" b="0">
                          <a:solidFill>
                            <a:srgbClr val="171717"/>
                          </a:solidFill>
                          <a:latin typeface="Meiryo"/>
                          <a:ea typeface="Meiryo"/>
                          <a:cs typeface="Meiryo"/>
                        </a:rPr>
                        <a:t>時間情報・オンライン処理を使うか</a:t>
                      </a:r>
                    </a:p>
                  </a:txBody>
                  <a:tcPr marL="95250" marR="95250" marT="85725" marB="66675" anchor="ctr">
                    <a:solidFill>
                      <a:srgbClr val="FFFFFF"/>
                    </a:solidFill>
                  </a:tcPr>
                </a:tc>
              </a:tr>
              <a:tr h="619125">
                <a:tc>
                  <a:txBody>
                    <a:bodyPr>
                      <a:noAutofit/>
                    </a:bodyPr>
                    <a:lstStyle/>
                    <a:p>
                      <a:r>
                        <a:rPr sz="1725" b="0">
                          <a:solidFill>
                            <a:srgbClr val="171717"/>
                          </a:solidFill>
                          <a:latin typeface="Meiryo"/>
                          <a:ea typeface="Meiryo"/>
                          <a:cs typeface="Meiryo"/>
                        </a:rPr>
                        <a:t>S6</a:t>
                      </a:r>
                    </a:p>
                  </a:txBody>
                  <a:tcPr marL="95250" marR="95250" marT="85725" marB="66675" anchor="ctr">
                    <a:solidFill>
                      <a:srgbClr val="FFFFFF"/>
                    </a:solidFill>
                  </a:tcPr>
                </a:tc>
                <a:tc>
                  <a:txBody>
                    <a:bodyPr>
                      <a:noAutofit/>
                    </a:bodyPr>
                    <a:lstStyle/>
                    <a:p>
                      <a:r>
                        <a:rPr sz="1725" b="0">
                          <a:solidFill>
                            <a:srgbClr val="171717"/>
                          </a:solidFill>
                          <a:latin typeface="Meiryo"/>
                          <a:ea typeface="Meiryo"/>
                          <a:cs typeface="Meiryo"/>
                        </a:rPr>
                        <a:t>予測 / 再構成 / 対照学習</a:t>
                      </a:r>
                    </a:p>
                    <a:p>
                      <a:r>
                        <a:rPr sz="1725" b="0">
                          <a:solidFill>
                            <a:srgbClr val="171717"/>
                          </a:solidFill>
                          <a:latin typeface="Meiryo"/>
                          <a:ea typeface="Meiryo"/>
                          <a:cs typeface="Meiryo"/>
                        </a:rPr>
                        <a:t>学習形態・構造・Point/Windowも整理</a:t>
                      </a:r>
                    </a:p>
                  </a:txBody>
                  <a:tcPr marL="95250" marR="95250" marT="85725" marB="66675" anchor="ctr">
                    <a:solidFill>
                      <a:srgbClr val="FFFFFF"/>
                    </a:solidFill>
                  </a:tcPr>
                </a:tc>
                <a:tc>
                  <a:txBody>
                    <a:bodyPr>
                      <a:noAutofit/>
                    </a:bodyPr>
                    <a:lstStyle/>
                    <a:p>
                      <a:r>
                        <a:rPr sz="1725" b="0">
                          <a:solidFill>
                            <a:srgbClr val="171717"/>
                          </a:solidFill>
                          <a:latin typeface="Meiryo"/>
                          <a:ea typeface="Meiryo"/>
                          <a:cs typeface="Meiryo"/>
                        </a:rPr>
                        <a:t>異常スコアをどう作るか</a:t>
                      </a:r>
                    </a:p>
                    <a:p>
                      <a:r>
                        <a:rPr sz="1725" b="0">
                          <a:solidFill>
                            <a:srgbClr val="171717"/>
                          </a:solidFill>
                          <a:latin typeface="Meiryo"/>
                          <a:ea typeface="Meiryo"/>
                          <a:cs typeface="Meiryo"/>
                        </a:rPr>
                        <a:t>過去の入力をどれだけ必要とするか</a:t>
                      </a:r>
                    </a:p>
                  </a:txBody>
                  <a:tcPr marL="95250" marR="95250" marT="85725" marB="66675" anchor="ctr">
                    <a:solidFill>
                      <a:srgbClr val="FFFFFF"/>
                    </a:solidFill>
                  </a:tcPr>
                </a:tc>
              </a:tr>
            </a:tbl>
          </a:graphicData>
        </a:graphic>
      </p:graphicFrame>
      <p:sp>
        <p:nvSpPr>
          <p:cNvPr id="535" name="">
            <a:extLst xmlns:a="http://schemas.openxmlformats.org/drawingml/2006/main">
              <a:ext uri="{FF2B5EF4-FFF2-40B4-BE49-F238E27FC236}">
                <a16:creationId xmlns:a16="http://schemas.microsoft.com/office/drawing/2014/main" id="{F6CFE1A9-1A5C-4E56-A4E3-01C17481853D}"/>
              </a:ext>
            </a:extLst>
          </p:cNvPr>
          <p:cNvSpPr>
            <a:spLocks xmlns:a="http://schemas.openxmlformats.org/drawingml/2006/main" noGrp="1"/>
          </p:cNvSpPr>
          <p:nvPr/>
        </p:nvSpPr>
        <p:spPr>
          <a:xfrm xmlns:a="http://schemas.openxmlformats.org/drawingml/2006/main">
            <a:off x="393668" y="5810250"/>
            <a:ext cx="1119187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725" b="1">
                <a:solidFill>
                  <a:srgbClr val="171717"/>
                </a:solidFill>
                <a:latin typeface="Meiryo"/>
                <a:ea typeface="Meiryo"/>
                <a:cs typeface="Meiryo"/>
              </a:defRPr>
            </a:pPr>
            <a:r>
              <a:rPr sz="1725" b="1">
                <a:solidFill>
                  <a:srgbClr val="171717"/>
                </a:solidFill>
                <a:latin typeface="Meiryo"/>
                <a:ea typeface="Meiryo"/>
                <a:cs typeface="Meiryo"/>
              </a:rPr>
              <a:t>S1のDNNは機械学習の一部でもあり、分類境界は完全には明確でない</a:t>
            </a:r>
          </a:p>
        </p:txBody>
      </p:sp>
      <p:sp>
        <p:nvSpPr>
          <p:cNvPr id="536" name="">
            <a:extLst xmlns:a="http://schemas.openxmlformats.org/drawingml/2006/main">
              <a:ext uri="{FF2B5EF4-FFF2-40B4-BE49-F238E27FC236}">
                <a16:creationId xmlns:a16="http://schemas.microsoft.com/office/drawing/2014/main" id="{D8D29F82-A58C-4962-ACB6-5B1AE5F88CE3}"/>
              </a:ext>
            </a:extLst>
          </p:cNvPr>
          <p:cNvSpPr>
            <a:spLocks xmlns:a="http://schemas.openxmlformats.org/drawingml/2006/main" noGrp="1"/>
          </p:cNvSpPr>
          <p:nvPr/>
        </p:nvSpPr>
        <p:spPr>
          <a:xfrm xmlns:a="http://schemas.openxmlformats.org/drawingml/2006/main">
            <a:off x="393668" y="6334125"/>
            <a:ext cx="10668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975" b="0">
                <a:solidFill>
                  <a:srgbClr val="656565"/>
                </a:solidFill>
                <a:latin typeface="Meiryo"/>
                <a:ea typeface="Meiryo"/>
                <a:cs typeface="Meiryo"/>
              </a:defRPr>
            </a:pPr>
            <a:r>
              <a:rPr sz="975" b="0">
                <a:solidFill>
                  <a:srgbClr val="656565"/>
                </a:solidFill>
                <a:latin typeface="Meiryo"/>
                <a:ea typeface="Meiryo"/>
                <a:cs typeface="Meiryo"/>
              </a:rPr>
              <a:t>S1 §4.1、S3 §2–3、S6 §3・Table 1</a:t>
            </a:r>
          </a:p>
        </p:txBody>
      </p:sp>
    </p:spTree>
    <p:extLst>
      <p:ext uri="{BB962C8B-B14F-4D97-AF65-F5344CB8AC3E}">
        <p14:creationId xmlns:p14="http://schemas.microsoft.com/office/powerpoint/2010/main" val="329854879"/>
      </p:ext>
    </p:extLst>
  </p:cSld>
</p:sld>
</file>

<file path=ppt/slides/slide10.xml><?xml version="1.0" encoding="utf-8"?>
<p:sld xmlns:p="http://schemas.openxmlformats.org/presentationml/2006/main">
  <p:cSld>
    <p:spTree>
      <p:nvGrpSpPr>
        <p:cNvPr id="1" name=""/>
        <p:cNvGrpSpPr/>
        <p:nvPr/>
      </p:nvGrpSpPr>
      <p:grpSpPr>
        <a:xfrm xmlns:a="http://schemas.openxmlformats.org/drawingml/2006/main"/>
      </p:grpSpPr>
      <p:sp>
        <p:nvSpPr>
          <p:cNvPr id="532" name="Google Shape;532;p58">
            <a:extLst xmlns:a="http://schemas.openxmlformats.org/drawingml/2006/main">
              <a:ext uri="{FF2B5EF4-FFF2-40B4-BE49-F238E27FC236}">
                <a16:creationId xmlns:a16="http://schemas.microsoft.com/office/drawing/2014/main" id="{27489CDA-073D-5D98-B832-86AD74222B71}"/>
              </a:ext>
            </a:extLst>
          </p:cNvPr>
          <p:cNvSpPr>
            <a:spLocks xmlns:a="http://schemas.openxmlformats.org/drawingml/2006/main" noGrp="1"/>
          </p:cNvSpPr>
          <p:nvPr>
            <p:ph type="sldNum" idx="4"/>
          </p:nvPr>
        </p:nvSpPr>
        <p:spPr>
          <a:xfrm xmlns:a="http://schemas.openxmlformats.org/drawingml/2006/main">
            <a:off x="11279332" y="6279294"/>
            <a:ext cx="518968" cy="241240"/>
          </a:xfr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pPr>
              <a:defRPr sz="975" b="0">
                <a:solidFill>
                  <a:srgbClr val="171717"/>
                </a:solidFill>
                <a:latin typeface="Meiryo"/>
                <a:ea typeface="Meiryo"/>
                <a:cs typeface="Meiryo"/>
              </a:defRPr>
            </a:pPr>
            <a:fld id="{DB7BEEEC-A170-5376-2B6E-CB54687B0CB1}" type="slidenum">
              <a:rPr sz="975" b="0">
                <a:solidFill>
                  <a:srgbClr val="171717"/>
                </a:solidFill>
                <a:latin typeface="Meiryo"/>
                <a:ea typeface="Meiryo"/>
                <a:cs typeface="Meiryo"/>
              </a:rPr>
              <a:t>10</a:t>
            </a:fld>
            <a:endParaRPr/>
          </a:p>
        </p:txBody>
      </p:sp>
      <p:sp>
        <p:nvSpPr>
          <p:cNvPr id="533" name="Google Shape;533;p58">
            <a:extLst xmlns:a="http://schemas.openxmlformats.org/drawingml/2006/main">
              <a:ext uri="{FF2B5EF4-FFF2-40B4-BE49-F238E27FC236}">
                <a16:creationId xmlns:a16="http://schemas.microsoft.com/office/drawing/2014/main" id="{08EBC4B8-BBC1-7C2A-F77D-BEC6394B0F93}"/>
              </a:ext>
            </a:extLst>
          </p:cNvPr>
          <p:cNvSpPr>
            <a:spLocks xmlns:a="http://schemas.openxmlformats.org/drawingml/2006/main" noGrp="1"/>
          </p:cNvSpPr>
          <p:nvPr>
            <p:ph type="title" idx="0"/>
          </p:nvPr>
        </p:nvSpPr>
        <p:spPr>
          <a:xfrm xmlns:a="http://schemas.openxmlformats.org/drawingml/2006/main">
            <a:off x="393668" y="344043"/>
            <a:ext cx="11404568" cy="952500"/>
          </a:xfr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pPr>
              <a:defRPr sz="2700" b="0">
                <a:solidFill>
                  <a:srgbClr val="171717"/>
                </a:solidFill>
                <a:latin typeface="Meiryo"/>
                <a:ea typeface="Meiryo"/>
                <a:cs typeface="Meiryo"/>
              </a:defRPr>
            </a:pPr>
            <a:r>
              <a:rPr sz="2700" b="0">
                <a:solidFill>
                  <a:srgbClr val="171717"/>
                </a:solidFill>
                <a:latin typeface="Meiryo"/>
                <a:ea typeface="Meiryo"/>
                <a:cs typeface="Meiryo"/>
              </a:rPr>
              <a:t>実習向けの共通比較軸</a:t>
            </a:r>
          </a:p>
        </p:txBody>
      </p:sp>
      <p:graphicFrame>
        <p:nvGraphicFramePr>
          <p:cNvPr id="538" name=""/>
          <p:cNvGraphicFramePr/>
          <p:nvPr/>
        </p:nvGraphicFramePr>
        <p:xfrm>
          <a:off xmlns:a="http://schemas.openxmlformats.org/drawingml/2006/main" x="393668" y="1638300"/>
          <a:ext xmlns:a="http://schemas.openxmlformats.org/drawingml/2006/main" cx="11382375" cy="4095750"/>
        </p:xfrm>
        <a:graphic xmlns:a="http://schemas.openxmlformats.org/drawingml/2006/main">
          <a:graphicData uri="http://schemas.openxmlformats.org/drawingml/2006/table">
            <a:tbl>
              <a:tblPr/>
              <a:tblGrid>
                <a:gridCol w="3476625"/>
                <a:gridCol w="4286250"/>
                <a:gridCol w="3619500"/>
              </a:tblGrid>
              <a:tr h="585107">
                <a:tc>
                  <a:txBody>
                    <a:bodyPr>
                      <a:noAutofit/>
                    </a:bodyPr>
                    <a:lstStyle/>
                    <a:p>
                      <a:r>
                        <a:rPr sz="1725" b="1">
                          <a:solidFill>
                            <a:srgbClr val="171717"/>
                          </a:solidFill>
                          <a:latin typeface="Meiryo"/>
                          <a:ea typeface="Meiryo"/>
                          <a:cs typeface="Meiryo"/>
                        </a:rPr>
                        <a:t>検知の根拠</a:t>
                      </a:r>
                    </a:p>
                  </a:txBody>
                  <a:tcPr marL="95250" marR="95250" marT="85725" marB="66675" anchor="ctr">
                    <a:solidFill>
                      <a:srgbClr val="F1F1F1"/>
                    </a:solidFill>
                  </a:tcPr>
                </a:tc>
                <a:tc>
                  <a:txBody>
                    <a:bodyPr>
                      <a:noAutofit/>
                    </a:bodyPr>
                    <a:lstStyle/>
                    <a:p>
                      <a:r>
                        <a:rPr sz="1725" b="1">
                          <a:solidFill>
                            <a:srgbClr val="171717"/>
                          </a:solidFill>
                          <a:latin typeface="Meiryo"/>
                          <a:ea typeface="Meiryo"/>
                          <a:cs typeface="Meiryo"/>
                        </a:rPr>
                        <a:t>今回の位置付け</a:t>
                      </a:r>
                    </a:p>
                  </a:txBody>
                  <a:tcPr marL="95250" marR="95250" marT="85725" marB="66675" anchor="ctr">
                    <a:solidFill>
                      <a:srgbClr val="F1F1F1"/>
                    </a:solidFill>
                  </a:tcPr>
                </a:tc>
                <a:tc>
                  <a:txBody>
                    <a:bodyPr>
                      <a:noAutofit/>
                    </a:bodyPr>
                    <a:lstStyle/>
                    <a:p>
                      <a:r>
                        <a:rPr sz="1725" b="1">
                          <a:solidFill>
                            <a:srgbClr val="171717"/>
                          </a:solidFill>
                          <a:latin typeface="Meiryo"/>
                          <a:ea typeface="Meiryo"/>
                          <a:cs typeface="Meiryo"/>
                        </a:rPr>
                        <a:t>追加で記録する条件</a:t>
                      </a:r>
                    </a:p>
                  </a:txBody>
                  <a:tcPr marL="95250" marR="95250" marT="85725" marB="66675" anchor="ctr">
                    <a:solidFill>
                      <a:srgbClr val="F1F1F1"/>
                    </a:solidFill>
                  </a:tcPr>
                </a:tc>
              </a:tr>
              <a:tr h="585107">
                <a:tc>
                  <a:txBody>
                    <a:bodyPr>
                      <a:noAutofit/>
                    </a:bodyPr>
                    <a:lstStyle/>
                    <a:p>
                      <a:r>
                        <a:rPr sz="1725" b="0">
                          <a:solidFill>
                            <a:srgbClr val="171717"/>
                          </a:solidFill>
                          <a:latin typeface="Meiryo"/>
                          <a:ea typeface="Meiryo"/>
                          <a:cs typeface="Meiryo"/>
                        </a:rPr>
                        <a:t>範囲・距離・近傍</a:t>
                      </a:r>
                    </a:p>
                  </a:txBody>
                  <a:tcPr marL="95250" marR="95250" marT="85725" marB="66675" anchor="ctr">
                    <a:solidFill>
                      <a:srgbClr val="FFFFFF"/>
                    </a:solidFill>
                  </a:tcPr>
                </a:tc>
                <a:tc>
                  <a:txBody>
                    <a:bodyPr>
                      <a:noAutofit/>
                    </a:bodyPr>
                    <a:lstStyle/>
                    <a:p>
                      <a:r>
                        <a:rPr sz="1725" b="0">
                          <a:solidFill>
                            <a:srgbClr val="171717"/>
                          </a:solidFill>
                          <a:latin typeface="Meiryo"/>
                          <a:ea typeface="Meiryo"/>
                          <a:cs typeface="Meiryo"/>
                        </a:rPr>
                        <a:t>山原のAD手法、13のOutPro</a:t>
                      </a:r>
                    </a:p>
                  </a:txBody>
                  <a:tcPr marL="95250" marR="95250" marT="85725" marB="66675" anchor="ctr">
                    <a:solidFill>
                      <a:srgbClr val="FFFFFF"/>
                    </a:solidFill>
                  </a:tcPr>
                </a:tc>
                <a:tc>
                  <a:txBody>
                    <a:bodyPr>
                      <a:noAutofit/>
                    </a:bodyPr>
                    <a:lstStyle/>
                    <a:p>
                      <a:r>
                        <a:rPr sz="1725" b="0">
                          <a:solidFill>
                            <a:srgbClr val="171717"/>
                          </a:solidFill>
                          <a:latin typeface="Meiryo"/>
                          <a:ea typeface="Meiryo"/>
                          <a:cs typeface="Meiryo"/>
                        </a:rPr>
                        <a:t>1時刻 / 過去窓</a:t>
                      </a:r>
                    </a:p>
                  </a:txBody>
                  <a:tcPr marL="95250" marR="95250" marT="85725" marB="66675" anchor="ctr">
                    <a:solidFill>
                      <a:srgbClr val="FFFFFF"/>
                    </a:solidFill>
                  </a:tcPr>
                </a:tc>
              </a:tr>
              <a:tr h="585107">
                <a:tc>
                  <a:txBody>
                    <a:bodyPr>
                      <a:noAutofit/>
                    </a:bodyPr>
                    <a:lstStyle/>
                    <a:p>
                      <a:r>
                        <a:rPr sz="1725" b="0">
                          <a:solidFill>
                            <a:srgbClr val="171717"/>
                          </a:solidFill>
                          <a:latin typeface="Meiryo"/>
                          <a:ea typeface="Meiryo"/>
                          <a:cs typeface="Meiryo"/>
                        </a:rPr>
                        <a:t>密度・正常領域</a:t>
                      </a:r>
                    </a:p>
                  </a:txBody>
                  <a:tcPr marL="95250" marR="95250" marT="85725" marB="66675" anchor="ctr">
                    <a:solidFill>
                      <a:srgbClr val="FFFFFF"/>
                    </a:solidFill>
                  </a:tcPr>
                </a:tc>
                <a:tc>
                  <a:txBody>
                    <a:bodyPr>
                      <a:noAutofit/>
                    </a:bodyPr>
                    <a:lstStyle/>
                    <a:p>
                      <a:r>
                        <a:rPr sz="1725" b="0">
                          <a:solidFill>
                            <a:srgbClr val="171717"/>
                          </a:solidFill>
                          <a:latin typeface="Meiryo"/>
                          <a:ea typeface="Meiryo"/>
                          <a:cs typeface="Meiryo"/>
                        </a:rPr>
                        <a:t>近傍密度などの候補群</a:t>
                      </a:r>
                    </a:p>
                  </a:txBody>
                  <a:tcPr marL="95250" marR="95250" marT="85725" marB="66675" anchor="ctr">
                    <a:solidFill>
                      <a:srgbClr val="FFFFFF"/>
                    </a:solidFill>
                  </a:tcPr>
                </a:tc>
                <a:tc>
                  <a:txBody>
                    <a:bodyPr>
                      <a:noAutofit/>
                    </a:bodyPr>
                    <a:lstStyle/>
                    <a:p>
                      <a:r>
                        <a:rPr sz="1725" b="0">
                          <a:solidFill>
                            <a:srgbClr val="171717"/>
                          </a:solidFill>
                          <a:latin typeface="Meiryo"/>
                          <a:ea typeface="Meiryo"/>
                          <a:cs typeface="Meiryo"/>
                        </a:rPr>
                        <a:t>訓練時のX / Y / 異常ラベル</a:t>
                      </a:r>
                    </a:p>
                  </a:txBody>
                  <a:tcPr marL="95250" marR="95250" marT="85725" marB="66675" anchor="ctr">
                    <a:solidFill>
                      <a:srgbClr val="FFFFFF"/>
                    </a:solidFill>
                  </a:tcPr>
                </a:tc>
              </a:tr>
              <a:tr h="585107">
                <a:tc>
                  <a:txBody>
                    <a:bodyPr>
                      <a:noAutofit/>
                    </a:bodyPr>
                    <a:lstStyle/>
                    <a:p>
                      <a:r>
                        <a:rPr sz="1725" b="0">
                          <a:solidFill>
                            <a:srgbClr val="171717"/>
                          </a:solidFill>
                          <a:latin typeface="Meiryo"/>
                          <a:ea typeface="Meiryo"/>
                          <a:cs typeface="Meiryo"/>
                        </a:rPr>
                        <a:t>次元削減・再構成誤差</a:t>
                      </a:r>
                    </a:p>
                  </a:txBody>
                  <a:tcPr marL="95250" marR="95250" marT="85725" marB="66675" anchor="ctr">
                    <a:solidFill>
                      <a:srgbClr val="FFFFFF"/>
                    </a:solidFill>
                  </a:tcPr>
                </a:tc>
                <a:tc>
                  <a:txBody>
                    <a:bodyPr>
                      <a:noAutofit/>
                    </a:bodyPr>
                    <a:lstStyle/>
                    <a:p>
                      <a:r>
                        <a:rPr sz="1725" b="0">
                          <a:solidFill>
                            <a:srgbClr val="171717"/>
                          </a:solidFill>
                          <a:latin typeface="Meiryo"/>
                          <a:ea typeface="Meiryo"/>
                          <a:cs typeface="Meiryo"/>
                        </a:rPr>
                        <a:t>14のAE / ノイズ除去AE</a:t>
                      </a:r>
                    </a:p>
                  </a:txBody>
                  <a:tcPr marL="95250" marR="95250" marT="85725" marB="66675" anchor="ctr">
                    <a:solidFill>
                      <a:srgbClr val="FFFFFF"/>
                    </a:solidFill>
                  </a:tcPr>
                </a:tc>
                <a:tc>
                  <a:txBody>
                    <a:bodyPr>
                      <a:noAutofit/>
                    </a:bodyPr>
                    <a:lstStyle/>
                    <a:p>
                      <a:r>
                        <a:rPr sz="1725" b="0">
                          <a:solidFill>
                            <a:srgbClr val="171717"/>
                          </a:solidFill>
                          <a:latin typeface="Meiryo"/>
                          <a:ea typeface="Meiryo"/>
                          <a:cs typeface="Meiryo"/>
                        </a:rPr>
                        <a:t>運用時の入力 / 内部情報 / 真値</a:t>
                      </a:r>
                    </a:p>
                  </a:txBody>
                  <a:tcPr marL="95250" marR="95250" marT="85725" marB="66675" anchor="ctr">
                    <a:solidFill>
                      <a:srgbClr val="FFFFFF"/>
                    </a:solidFill>
                  </a:tcPr>
                </a:tc>
              </a:tr>
              <a:tr h="585107">
                <a:tc>
                  <a:txBody>
                    <a:bodyPr>
                      <a:noAutofit/>
                    </a:bodyPr>
                    <a:lstStyle/>
                    <a:p>
                      <a:r>
                        <a:rPr sz="1725" b="0">
                          <a:solidFill>
                            <a:srgbClr val="171717"/>
                          </a:solidFill>
                          <a:latin typeface="Meiryo"/>
                          <a:ea typeface="Meiryo"/>
                          <a:cs typeface="Meiryo"/>
                        </a:rPr>
                        <a:t>時間予測の残差</a:t>
                      </a:r>
                    </a:p>
                  </a:txBody>
                  <a:tcPr marL="95250" marR="95250" marT="85725" marB="66675" anchor="ctr">
                    <a:solidFill>
                      <a:srgbClr val="FFFFFF"/>
                    </a:solidFill>
                  </a:tcPr>
                </a:tc>
                <a:tc>
                  <a:txBody>
                    <a:bodyPr>
                      <a:noAutofit/>
                    </a:bodyPr>
                    <a:lstStyle/>
                    <a:p>
                      <a:r>
                        <a:rPr sz="1725" b="0">
                          <a:solidFill>
                            <a:srgbClr val="171717"/>
                          </a:solidFill>
                          <a:latin typeface="Meiryo"/>
                          <a:ea typeface="Meiryo"/>
                          <a:cs typeface="Meiryo"/>
                        </a:rPr>
                        <a:t>S1・S6から追加調査</a:t>
                      </a:r>
                    </a:p>
                  </a:txBody>
                  <a:tcPr marL="95250" marR="95250" marT="85725" marB="66675" anchor="ctr">
                    <a:solidFill>
                      <a:srgbClr val="FFFFFF"/>
                    </a:solidFill>
                  </a:tcPr>
                </a:tc>
                <a:tc>
                  <a:txBody>
                    <a:bodyPr>
                      <a:noAutofit/>
                    </a:bodyPr>
                    <a:lstStyle/>
                    <a:p>
                      <a:r>
                        <a:rPr sz="1725" b="0">
                          <a:solidFill>
                            <a:srgbClr val="171717"/>
                          </a:solidFill>
                          <a:latin typeface="Meiryo"/>
                          <a:ea typeface="Meiryo"/>
                          <a:cs typeface="Meiryo"/>
                        </a:rPr>
                        <a:t>必要な過去長・検知遅延</a:t>
                      </a:r>
                    </a:p>
                  </a:txBody>
                  <a:tcPr marL="95250" marR="95250" marT="85725" marB="66675" anchor="ctr">
                    <a:solidFill>
                      <a:srgbClr val="FFFFFF"/>
                    </a:solidFill>
                  </a:tcPr>
                </a:tc>
              </a:tr>
              <a:tr h="585107">
                <a:tc>
                  <a:txBody>
                    <a:bodyPr>
                      <a:noAutofit/>
                    </a:bodyPr>
                    <a:lstStyle/>
                    <a:p>
                      <a:r>
                        <a:rPr sz="1725" b="0">
                          <a:solidFill>
                            <a:srgbClr val="171717"/>
                          </a:solidFill>
                          <a:latin typeface="Meiryo"/>
                          <a:ea typeface="Meiryo"/>
                          <a:cs typeface="Meiryo"/>
                        </a:rPr>
                        <a:t>予測不確かさ・モデル間差</a:t>
                      </a:r>
                    </a:p>
                  </a:txBody>
                  <a:tcPr marL="95250" marR="95250" marT="85725" marB="66675" anchor="ctr">
                    <a:solidFill>
                      <a:srgbClr val="FFFFFF"/>
                    </a:solidFill>
                  </a:tcPr>
                </a:tc>
                <a:tc>
                  <a:txBody>
                    <a:bodyPr>
                      <a:noAutofit/>
                    </a:bodyPr>
                    <a:lstStyle/>
                    <a:p>
                      <a:r>
                        <a:rPr sz="1725" b="0">
                          <a:solidFill>
                            <a:srgbClr val="171717"/>
                          </a:solidFill>
                          <a:latin typeface="Meiryo"/>
                          <a:ea typeface="Meiryo"/>
                          <a:cs typeface="Meiryo"/>
                        </a:rPr>
                        <a:t>13の関連研究から追加調査</a:t>
                      </a:r>
                    </a:p>
                  </a:txBody>
                  <a:tcPr marL="95250" marR="95250" marT="85725" marB="66675" anchor="ctr">
                    <a:solidFill>
                      <a:srgbClr val="FFFFFF"/>
                    </a:solidFill>
                  </a:tcPr>
                </a:tc>
                <a:tc>
                  <a:txBody>
                    <a:bodyPr>
                      <a:noAutofit/>
                    </a:bodyPr>
                    <a:lstStyle/>
                    <a:p>
                      <a:r>
                        <a:rPr sz="1725" b="0">
                          <a:solidFill>
                            <a:srgbClr val="171717"/>
                          </a:solidFill>
                          <a:latin typeface="Meiryo"/>
                          <a:ea typeface="Meiryo"/>
                          <a:cs typeface="Meiryo"/>
                        </a:rPr>
                        <a:t>対象回帰モデルへの依存</a:t>
                      </a:r>
                    </a:p>
                  </a:txBody>
                  <a:tcPr marL="95250" marR="95250" marT="85725" marB="66675" anchor="ctr">
                    <a:solidFill>
                      <a:srgbClr val="FFFFFF"/>
                    </a:solidFill>
                  </a:tcPr>
                </a:tc>
              </a:tr>
              <a:tr h="585107">
                <a:tc>
                  <a:txBody>
                    <a:bodyPr>
                      <a:noAutofit/>
                    </a:bodyPr>
                    <a:lstStyle/>
                    <a:p>
                      <a:r>
                        <a:rPr sz="1725" b="0">
                          <a:solidFill>
                            <a:srgbClr val="171717"/>
                          </a:solidFill>
                          <a:latin typeface="Meiryo"/>
                          <a:ea typeface="Meiryo"/>
                          <a:cs typeface="Meiryo"/>
                        </a:rPr>
                        <a:t>時間的な分布変化</a:t>
                      </a:r>
                    </a:p>
                  </a:txBody>
                  <a:tcPr marL="95250" marR="95250" marT="85725" marB="66675" anchor="ctr">
                    <a:solidFill>
                      <a:srgbClr val="FFFFFF"/>
                    </a:solidFill>
                  </a:tcPr>
                </a:tc>
                <a:tc>
                  <a:txBody>
                    <a:bodyPr>
                      <a:noAutofit/>
                    </a:bodyPr>
                    <a:lstStyle/>
                    <a:p>
                      <a:r>
                        <a:rPr sz="1725" b="0">
                          <a:solidFill>
                            <a:srgbClr val="171717"/>
                          </a:solidFill>
                          <a:latin typeface="Meiryo"/>
                          <a:ea typeface="Meiryo"/>
                          <a:cs typeface="Meiryo"/>
                        </a:rPr>
                        <a:t>追加調査の対象</a:t>
                      </a:r>
                    </a:p>
                  </a:txBody>
                  <a:tcPr marL="95250" marR="95250" marT="85725" marB="66675" anchor="ctr">
                    <a:solidFill>
                      <a:srgbClr val="FFFFFF"/>
                    </a:solidFill>
                  </a:tcPr>
                </a:tc>
                <a:tc>
                  <a:txBody>
                    <a:bodyPr>
                      <a:noAutofit/>
                    </a:bodyPr>
                    <a:lstStyle/>
                    <a:p>
                      <a:r>
                        <a:rPr sz="1725" b="0">
                          <a:solidFill>
                            <a:srgbClr val="171717"/>
                          </a:solidFill>
                          <a:latin typeface="Meiryo"/>
                          <a:ea typeface="Meiryo"/>
                          <a:cs typeface="Meiryo"/>
                        </a:rPr>
                        <a:t>閾値・更新方法・誤検知率</a:t>
                      </a:r>
                    </a:p>
                  </a:txBody>
                  <a:tcPr marL="95250" marR="95250" marT="85725" marB="66675" anchor="ctr">
                    <a:solidFill>
                      <a:srgbClr val="FFFFFF"/>
                    </a:solidFill>
                  </a:tcPr>
                </a:tc>
              </a:tr>
            </a:tbl>
          </a:graphicData>
        </a:graphic>
      </p:graphicFrame>
      <p:sp>
        <p:nvSpPr>
          <p:cNvPr id="535" name="">
            <a:extLst xmlns:a="http://schemas.openxmlformats.org/drawingml/2006/main">
              <a:ext uri="{FF2B5EF4-FFF2-40B4-BE49-F238E27FC236}">
                <a16:creationId xmlns:a16="http://schemas.microsoft.com/office/drawing/2014/main" id="{53059A5F-33D9-4282-BD8A-9C9808041E73}"/>
              </a:ext>
            </a:extLst>
          </p:cNvPr>
          <p:cNvSpPr>
            <a:spLocks xmlns:a="http://schemas.openxmlformats.org/drawingml/2006/main" noGrp="1"/>
          </p:cNvSpPr>
          <p:nvPr/>
        </p:nvSpPr>
        <p:spPr>
          <a:xfrm xmlns:a="http://schemas.openxmlformats.org/drawingml/2006/main">
            <a:off x="393668" y="6334125"/>
            <a:ext cx="10668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975" b="0">
                <a:solidFill>
                  <a:srgbClr val="656565"/>
                </a:solidFill>
                <a:latin typeface="Meiryo"/>
                <a:ea typeface="Meiryo"/>
                <a:cs typeface="Meiryo"/>
              </a:defRPr>
            </a:pPr>
            <a:r>
              <a:rPr sz="975" b="0">
                <a:solidFill>
                  <a:srgbClr val="656565"/>
                </a:solidFill>
                <a:latin typeface="Meiryo"/>
                <a:ea typeface="Meiryo"/>
                <a:cs typeface="Meiryo"/>
              </a:rPr>
              <a:t>文献群を基にした本調査の整理。各行は排他的な分類ではない</a:t>
            </a:r>
          </a:p>
        </p:txBody>
      </p:sp>
    </p:spTree>
    <p:extLst>
      <p:ext uri="{BB962C8B-B14F-4D97-AF65-F5344CB8AC3E}">
        <p14:creationId xmlns:p14="http://schemas.microsoft.com/office/powerpoint/2010/main" val="329854879"/>
      </p:ext>
    </p:extLst>
  </p:cSld>
</p:sld>
</file>

<file path=ppt/slides/slide11.xml><?xml version="1.0" encoding="utf-8"?>
<p:sld xmlns:p="http://schemas.openxmlformats.org/presentationml/2006/main">
  <p:cSld>
    <p:spTree>
      <p:nvGrpSpPr>
        <p:cNvPr id="1" name=""/>
        <p:cNvGrpSpPr/>
        <p:nvPr/>
      </p:nvGrpSpPr>
      <p:grpSpPr>
        <a:xfrm xmlns:a="http://schemas.openxmlformats.org/drawingml/2006/main"/>
      </p:grpSpPr>
      <p:sp>
        <p:nvSpPr>
          <p:cNvPr id="532" name="Google Shape;532;p58">
            <a:extLst xmlns:a="http://schemas.openxmlformats.org/drawingml/2006/main">
              <a:ext uri="{FF2B5EF4-FFF2-40B4-BE49-F238E27FC236}">
                <a16:creationId xmlns:a16="http://schemas.microsoft.com/office/drawing/2014/main" id="{1BCBE750-7048-686D-1472-52C53362D6CD}"/>
              </a:ext>
            </a:extLst>
          </p:cNvPr>
          <p:cNvSpPr>
            <a:spLocks xmlns:a="http://schemas.openxmlformats.org/drawingml/2006/main" noGrp="1"/>
          </p:cNvSpPr>
          <p:nvPr>
            <p:ph type="sldNum" idx="4"/>
          </p:nvPr>
        </p:nvSpPr>
        <p:spPr>
          <a:xfrm xmlns:a="http://schemas.openxmlformats.org/drawingml/2006/main">
            <a:off x="11279332" y="6279294"/>
            <a:ext cx="518968" cy="241240"/>
          </a:xfr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pPr>
              <a:defRPr sz="975" b="0">
                <a:solidFill>
                  <a:srgbClr val="171717"/>
                </a:solidFill>
                <a:latin typeface="Meiryo"/>
                <a:ea typeface="Meiryo"/>
                <a:cs typeface="Meiryo"/>
              </a:defRPr>
            </a:pPr>
            <a:fld id="{30394428-F1DC-E5F6-DB0C-7DE31F3D8A23}" type="slidenum">
              <a:rPr sz="975" b="0">
                <a:solidFill>
                  <a:srgbClr val="171717"/>
                </a:solidFill>
                <a:latin typeface="Meiryo"/>
                <a:ea typeface="Meiryo"/>
                <a:cs typeface="Meiryo"/>
              </a:rPr>
              <a:t>11</a:t>
            </a:fld>
            <a:endParaRPr/>
          </a:p>
        </p:txBody>
      </p:sp>
      <p:sp>
        <p:nvSpPr>
          <p:cNvPr id="533" name="Google Shape;533;p58">
            <a:extLst xmlns:a="http://schemas.openxmlformats.org/drawingml/2006/main">
              <a:ext uri="{FF2B5EF4-FFF2-40B4-BE49-F238E27FC236}">
                <a16:creationId xmlns:a16="http://schemas.microsoft.com/office/drawing/2014/main" id="{1B5D55CD-1C17-7CD8-F26A-2DD65B067687}"/>
              </a:ext>
            </a:extLst>
          </p:cNvPr>
          <p:cNvSpPr>
            <a:spLocks xmlns:a="http://schemas.openxmlformats.org/drawingml/2006/main" noGrp="1"/>
          </p:cNvSpPr>
          <p:nvPr>
            <p:ph type="title" idx="0"/>
          </p:nvPr>
        </p:nvSpPr>
        <p:spPr>
          <a:xfrm xmlns:a="http://schemas.openxmlformats.org/drawingml/2006/main">
            <a:off x="393668" y="344043"/>
            <a:ext cx="11404568" cy="952500"/>
          </a:xfr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pPr>
              <a:defRPr sz="2700" b="0">
                <a:solidFill>
                  <a:srgbClr val="171717"/>
                </a:solidFill>
                <a:latin typeface="Meiryo"/>
                <a:ea typeface="Meiryo"/>
                <a:cs typeface="Meiryo"/>
              </a:defRPr>
            </a:pPr>
            <a:r>
              <a:rPr sz="2700" b="0">
                <a:solidFill>
                  <a:srgbClr val="171717"/>
                </a:solidFill>
                <a:latin typeface="Meiryo"/>
                <a:ea typeface="Meiryo"/>
                <a:cs typeface="Meiryo"/>
              </a:rPr>
              <a:t>S1：深層手法が常に優れるわけではない</a:t>
            </a:r>
          </a:p>
        </p:txBody>
      </p:sp>
      <p:sp>
        <p:nvSpPr>
          <p:cNvPr id="534" name="">
            <a:extLst xmlns:a="http://schemas.openxmlformats.org/drawingml/2006/main">
              <a:ext uri="{FF2B5EF4-FFF2-40B4-BE49-F238E27FC236}">
                <a16:creationId xmlns:a16="http://schemas.microsoft.com/office/drawing/2014/main" id="{103D0827-2C03-41B0-B089-BBD26707C17C}"/>
              </a:ext>
            </a:extLst>
          </p:cNvPr>
          <p:cNvSpPr>
            <a:spLocks xmlns:a="http://schemas.openxmlformats.org/drawingml/2006/main" noGrp="1"/>
          </p:cNvSpPr>
          <p:nvPr/>
        </p:nvSpPr>
        <p:spPr>
          <a:xfrm xmlns:a="http://schemas.openxmlformats.org/drawingml/2006/main">
            <a:off x="393668" y="1838325"/>
            <a:ext cx="5540359"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00" b="1">
                <a:solidFill>
                  <a:srgbClr val="171717"/>
                </a:solidFill>
                <a:latin typeface="Meiryo"/>
                <a:ea typeface="Meiryo"/>
                <a:cs typeface="Meiryo"/>
              </a:defRPr>
            </a:pPr>
            <a:r>
              <a:rPr sz="2100" b="1">
                <a:solidFill>
                  <a:srgbClr val="171717"/>
                </a:solidFill>
                <a:latin typeface="Meiryo"/>
                <a:ea typeface="Meiryo"/>
                <a:cs typeface="Meiryo"/>
              </a:rPr>
              <a:t>比較実験</a:t>
            </a:r>
          </a:p>
        </p:txBody>
      </p:sp>
      <p:sp>
        <p:nvSpPr>
          <p:cNvPr id="535" name="">
            <a:extLst xmlns:a="http://schemas.openxmlformats.org/drawingml/2006/main">
              <a:ext uri="{FF2B5EF4-FFF2-40B4-BE49-F238E27FC236}">
                <a16:creationId xmlns:a16="http://schemas.microsoft.com/office/drawing/2014/main" id="{6FD5EE3E-269F-4251-B8EF-46F9056AEB78}"/>
              </a:ext>
            </a:extLst>
          </p:cNvPr>
          <p:cNvSpPr>
            <a:spLocks xmlns:a="http://schemas.openxmlformats.org/drawingml/2006/main" noGrp="1"/>
          </p:cNvSpPr>
          <p:nvPr/>
        </p:nvSpPr>
        <p:spPr>
          <a:xfrm xmlns:a="http://schemas.openxmlformats.org/drawingml/2006/main">
            <a:off x="393668" y="2505075"/>
            <a:ext cx="5540359" cy="285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950" b="0">
                <a:solidFill>
                  <a:srgbClr val="171717"/>
                </a:solidFill>
                <a:latin typeface="Meiryo"/>
                <a:ea typeface="Meiryo"/>
                <a:cs typeface="Meiryo"/>
              </a:defRPr>
            </a:pPr>
            <a:r>
              <a:rPr sz="1950" b="0">
                <a:solidFill>
                  <a:srgbClr val="171717"/>
                </a:solidFill>
                <a:latin typeface="Meiryo"/>
                <a:ea typeface="Meiryo"/>
                <a:cs typeface="Meiryo"/>
              </a:rPr>
              <a:t>16手法を5データセットで比較</a:t>
            </a:r>
          </a:p>
          <a:p xmlns:a="http://schemas.openxmlformats.org/drawingml/2006/main">
            <a:r>
              <a:t/>
            </a:r>
          </a:p>
          <a:p xmlns:a="http://schemas.openxmlformats.org/drawingml/2006/main">
            <a:pPr>
              <a:defRPr sz="1950" b="0">
                <a:solidFill>
                  <a:srgbClr val="171717"/>
                </a:solidFill>
                <a:latin typeface="Meiryo"/>
                <a:ea typeface="Meiryo"/>
                <a:cs typeface="Meiryo"/>
              </a:defRPr>
            </a:pPr>
            <a:r>
              <a:rPr sz="1950" b="0">
                <a:solidFill>
                  <a:srgbClr val="171717"/>
                </a:solidFill>
                <a:latin typeface="Meiryo"/>
                <a:ea typeface="Meiryo"/>
                <a:cs typeface="Meiryo"/>
              </a:rPr>
              <a:t>SWaT / WADI / SMD / SMAP / MSL</a:t>
            </a:r>
          </a:p>
          <a:p xmlns:a="http://schemas.openxmlformats.org/drawingml/2006/main">
            <a:r>
              <a:t/>
            </a:r>
          </a:p>
          <a:p xmlns:a="http://schemas.openxmlformats.org/drawingml/2006/main">
            <a:pPr>
              <a:defRPr sz="1950" b="0">
                <a:solidFill>
                  <a:srgbClr val="171717"/>
                </a:solidFill>
                <a:latin typeface="Meiryo"/>
                <a:ea typeface="Meiryo"/>
                <a:cs typeface="Meiryo"/>
              </a:defRPr>
            </a:pPr>
            <a:r>
              <a:rPr sz="1950" b="0">
                <a:solidFill>
                  <a:srgbClr val="171717"/>
                </a:solidFill>
                <a:latin typeface="Meiryo"/>
                <a:ea typeface="Meiryo"/>
                <a:cs typeface="Meiryo"/>
              </a:rPr>
              <a:t>指標：F1とAverage Precision</a:t>
            </a:r>
          </a:p>
        </p:txBody>
      </p:sp>
      <p:sp>
        <p:nvSpPr>
          <p:cNvPr id="536" name="">
            <a:extLst xmlns:a="http://schemas.openxmlformats.org/drawingml/2006/main">
              <a:ext uri="{FF2B5EF4-FFF2-40B4-BE49-F238E27FC236}">
                <a16:creationId xmlns:a16="http://schemas.microsoft.com/office/drawing/2014/main" id="{FC893FC3-A67B-467E-9C90-190F6B3151E0}"/>
              </a:ext>
            </a:extLst>
          </p:cNvPr>
          <p:cNvSpPr>
            <a:spLocks xmlns:a="http://schemas.openxmlformats.org/drawingml/2006/main" noGrp="1"/>
          </p:cNvSpPr>
          <p:nvPr/>
        </p:nvSpPr>
        <p:spPr>
          <a:xfrm xmlns:a="http://schemas.openxmlformats.org/drawingml/2006/main">
            <a:off x="6257877" y="1838325"/>
            <a:ext cx="5540359"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00" b="1">
                <a:solidFill>
                  <a:srgbClr val="171717"/>
                </a:solidFill>
                <a:latin typeface="Meiryo"/>
                <a:ea typeface="Meiryo"/>
                <a:cs typeface="Meiryo"/>
              </a:defRPr>
            </a:pPr>
            <a:r>
              <a:rPr sz="2100" b="1">
                <a:solidFill>
                  <a:srgbClr val="171717"/>
                </a:solidFill>
                <a:latin typeface="Meiryo"/>
                <a:ea typeface="Meiryo"/>
                <a:cs typeface="Meiryo"/>
              </a:rPr>
              <a:t>結果を読む際の条件</a:t>
            </a:r>
          </a:p>
        </p:txBody>
      </p:sp>
      <p:sp>
        <p:nvSpPr>
          <p:cNvPr id="537" name="">
            <a:extLst xmlns:a="http://schemas.openxmlformats.org/drawingml/2006/main">
              <a:ext uri="{FF2B5EF4-FFF2-40B4-BE49-F238E27FC236}">
                <a16:creationId xmlns:a16="http://schemas.microsoft.com/office/drawing/2014/main" id="{64A31752-C0AF-4650-9089-C263D873EDE9}"/>
              </a:ext>
            </a:extLst>
          </p:cNvPr>
          <p:cNvSpPr>
            <a:spLocks xmlns:a="http://schemas.openxmlformats.org/drawingml/2006/main" noGrp="1"/>
          </p:cNvSpPr>
          <p:nvPr/>
        </p:nvSpPr>
        <p:spPr>
          <a:xfrm xmlns:a="http://schemas.openxmlformats.org/drawingml/2006/main">
            <a:off x="6257877" y="2505075"/>
            <a:ext cx="5540359" cy="285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950" b="0">
                <a:solidFill>
                  <a:srgbClr val="171717"/>
                </a:solidFill>
                <a:latin typeface="Meiryo"/>
                <a:ea typeface="Meiryo"/>
                <a:cs typeface="Meiryo"/>
              </a:defRPr>
            </a:pPr>
            <a:r>
              <a:rPr sz="1950" b="0">
                <a:solidFill>
                  <a:srgbClr val="171717"/>
                </a:solidFill>
                <a:latin typeface="Meiryo"/>
                <a:ea typeface="Meiryo"/>
                <a:cs typeface="Meiryo"/>
              </a:rPr>
              <a:t>全データで一貫して優れる手法群はない。</a:t>
            </a:r>
          </a:p>
          <a:p xmlns:a="http://schemas.openxmlformats.org/drawingml/2006/main">
            <a:r>
              <a:t/>
            </a:r>
          </a:p>
          <a:p xmlns:a="http://schemas.openxmlformats.org/drawingml/2006/main">
            <a:pPr>
              <a:defRPr sz="1950" b="0">
                <a:solidFill>
                  <a:srgbClr val="171717"/>
                </a:solidFill>
                <a:latin typeface="Meiryo"/>
                <a:ea typeface="Meiryo"/>
                <a:cs typeface="Meiryo"/>
              </a:defRPr>
            </a:pPr>
            <a:r>
              <a:rPr sz="1950" b="0">
                <a:solidFill>
                  <a:srgbClr val="171717"/>
                </a:solidFill>
                <a:latin typeface="Meiryo"/>
                <a:ea typeface="Meiryo"/>
                <a:cs typeface="Meiryo"/>
              </a:rPr>
              <a:t>F1は多数の閾値を走査した最大値。</a:t>
            </a:r>
          </a:p>
          <a:p xmlns:a="http://schemas.openxmlformats.org/drawingml/2006/main">
            <a:pPr>
              <a:defRPr sz="1950" b="0">
                <a:solidFill>
                  <a:srgbClr val="171717"/>
                </a:solidFill>
                <a:latin typeface="Meiryo"/>
                <a:ea typeface="Meiryo"/>
                <a:cs typeface="Meiryo"/>
              </a:defRPr>
            </a:pPr>
            <a:r>
              <a:rPr sz="1950" b="0">
                <a:solidFill>
                  <a:srgbClr val="171717"/>
                </a:solidFill>
                <a:latin typeface="Meiryo"/>
                <a:ea typeface="Meiryo"/>
                <a:cs typeface="Meiryo"/>
              </a:rPr>
              <a:t>窓に基づく検知判定も採用する。</a:t>
            </a:r>
          </a:p>
        </p:txBody>
      </p:sp>
      <p:sp>
        <p:nvSpPr>
          <p:cNvPr id="538" name="">
            <a:extLst xmlns:a="http://schemas.openxmlformats.org/drawingml/2006/main">
              <a:ext uri="{FF2B5EF4-FFF2-40B4-BE49-F238E27FC236}">
                <a16:creationId xmlns:a16="http://schemas.microsoft.com/office/drawing/2014/main" id="{400A159B-51A1-4E06-8E14-79AA5EDA5BDC}"/>
              </a:ext>
            </a:extLst>
          </p:cNvPr>
          <p:cNvSpPr>
            <a:spLocks xmlns:a="http://schemas.openxmlformats.org/drawingml/2006/main" noGrp="1"/>
          </p:cNvSpPr>
          <p:nvPr/>
        </p:nvSpPr>
        <p:spPr>
          <a:xfrm xmlns:a="http://schemas.openxmlformats.org/drawingml/2006/main">
            <a:off x="393668" y="5810250"/>
            <a:ext cx="1119187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725" b="1">
                <a:solidFill>
                  <a:srgbClr val="171717"/>
                </a:solidFill>
                <a:latin typeface="Meiryo"/>
                <a:ea typeface="Meiryo"/>
                <a:cs typeface="Meiryo"/>
              </a:defRPr>
            </a:pPr>
            <a:r>
              <a:rPr sz="1725" b="1">
                <a:solidFill>
                  <a:srgbClr val="171717"/>
                </a:solidFill>
                <a:latin typeface="Meiryo"/>
                <a:ea typeface="Meiryo"/>
                <a:cs typeface="Meiryo"/>
              </a:rPr>
              <a:t>候補には単純な基準手法も含め、同一の評価条件で比較する</a:t>
            </a:r>
          </a:p>
        </p:txBody>
      </p:sp>
      <p:sp>
        <p:nvSpPr>
          <p:cNvPr id="539" name="">
            <a:extLst xmlns:a="http://schemas.openxmlformats.org/drawingml/2006/main">
              <a:ext uri="{FF2B5EF4-FFF2-40B4-BE49-F238E27FC236}">
                <a16:creationId xmlns:a16="http://schemas.microsoft.com/office/drawing/2014/main" id="{17226814-1F69-4167-B36A-6ADA64778346}"/>
              </a:ext>
            </a:extLst>
          </p:cNvPr>
          <p:cNvSpPr>
            <a:spLocks xmlns:a="http://schemas.openxmlformats.org/drawingml/2006/main" noGrp="1"/>
          </p:cNvSpPr>
          <p:nvPr/>
        </p:nvSpPr>
        <p:spPr>
          <a:xfrm xmlns:a="http://schemas.openxmlformats.org/drawingml/2006/main">
            <a:off x="393668" y="6334125"/>
            <a:ext cx="10668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975" b="0">
                <a:solidFill>
                  <a:srgbClr val="656565"/>
                </a:solidFill>
                <a:latin typeface="Meiryo"/>
                <a:ea typeface="Meiryo"/>
                <a:cs typeface="Meiryo"/>
              </a:defRPr>
            </a:pPr>
            <a:r>
              <a:rPr sz="975" b="0">
                <a:solidFill>
                  <a:srgbClr val="656565"/>
                </a:solidFill>
                <a:latin typeface="Meiryo"/>
                <a:ea typeface="Meiryo"/>
                <a:cs typeface="Meiryo"/>
              </a:rPr>
              <a:t>S1 §5–6、Table 1–2</a:t>
            </a:r>
          </a:p>
        </p:txBody>
      </p:sp>
    </p:spTree>
    <p:extLst>
      <p:ext uri="{BB962C8B-B14F-4D97-AF65-F5344CB8AC3E}">
        <p14:creationId xmlns:p14="http://schemas.microsoft.com/office/powerpoint/2010/main" val="3667182145"/>
      </p:ext>
    </p:extLst>
  </p:cSld>
</p:sld>
</file>

<file path=ppt/slides/slide12.xml><?xml version="1.0" encoding="utf-8"?>
<p:sld xmlns:p="http://schemas.openxmlformats.org/presentationml/2006/main">
  <p:cSld>
    <p:spTree>
      <p:nvGrpSpPr>
        <p:cNvPr id="1" name=""/>
        <p:cNvGrpSpPr/>
        <p:nvPr/>
      </p:nvGrpSpPr>
      <p:grpSpPr>
        <a:xfrm xmlns:a="http://schemas.openxmlformats.org/drawingml/2006/main"/>
      </p:grpSpPr>
      <p:sp>
        <p:nvSpPr>
          <p:cNvPr id="532" name="Google Shape;532;p58">
            <a:extLst xmlns:a="http://schemas.openxmlformats.org/drawingml/2006/main">
              <a:ext uri="{FF2B5EF4-FFF2-40B4-BE49-F238E27FC236}">
                <a16:creationId xmlns:a16="http://schemas.microsoft.com/office/drawing/2014/main" id="{1BCBE750-7048-686D-1472-52C53362D6CD}"/>
              </a:ext>
            </a:extLst>
          </p:cNvPr>
          <p:cNvSpPr>
            <a:spLocks xmlns:a="http://schemas.openxmlformats.org/drawingml/2006/main" noGrp="1"/>
          </p:cNvSpPr>
          <p:nvPr>
            <p:ph type="sldNum" idx="4"/>
          </p:nvPr>
        </p:nvSpPr>
        <p:spPr>
          <a:xfrm xmlns:a="http://schemas.openxmlformats.org/drawingml/2006/main">
            <a:off x="11279332" y="6279294"/>
            <a:ext cx="518968" cy="241240"/>
          </a:xfr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pPr>
              <a:defRPr sz="975" b="0">
                <a:solidFill>
                  <a:srgbClr val="171717"/>
                </a:solidFill>
                <a:latin typeface="Meiryo"/>
                <a:ea typeface="Meiryo"/>
                <a:cs typeface="Meiryo"/>
              </a:defRPr>
            </a:pPr>
            <a:fld id="{4DB16885-0D3F-A391-B669-3211DB3B26E8}" type="slidenum">
              <a:rPr sz="975" b="0">
                <a:solidFill>
                  <a:srgbClr val="171717"/>
                </a:solidFill>
                <a:latin typeface="Meiryo"/>
                <a:ea typeface="Meiryo"/>
                <a:cs typeface="Meiryo"/>
              </a:rPr>
              <a:t>12</a:t>
            </a:fld>
            <a:endParaRPr/>
          </a:p>
        </p:txBody>
      </p:sp>
      <p:sp>
        <p:nvSpPr>
          <p:cNvPr id="533" name="Google Shape;533;p58">
            <a:extLst xmlns:a="http://schemas.openxmlformats.org/drawingml/2006/main">
              <a:ext uri="{FF2B5EF4-FFF2-40B4-BE49-F238E27FC236}">
                <a16:creationId xmlns:a16="http://schemas.microsoft.com/office/drawing/2014/main" id="{1B5D55CD-1C17-7CD8-F26A-2DD65B067687}"/>
              </a:ext>
            </a:extLst>
          </p:cNvPr>
          <p:cNvSpPr>
            <a:spLocks xmlns:a="http://schemas.openxmlformats.org/drawingml/2006/main" noGrp="1"/>
          </p:cNvSpPr>
          <p:nvPr>
            <p:ph type="title" idx="0"/>
          </p:nvPr>
        </p:nvSpPr>
        <p:spPr>
          <a:xfrm xmlns:a="http://schemas.openxmlformats.org/drawingml/2006/main">
            <a:off x="393668" y="344043"/>
            <a:ext cx="11404568" cy="952500"/>
          </a:xfr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pPr>
              <a:defRPr sz="2700" b="0">
                <a:solidFill>
                  <a:srgbClr val="171717"/>
                </a:solidFill>
                <a:latin typeface="Meiryo"/>
                <a:ea typeface="Meiryo"/>
                <a:cs typeface="Meiryo"/>
              </a:defRPr>
            </a:pPr>
            <a:r>
              <a:rPr sz="2700" b="0">
                <a:solidFill>
                  <a:srgbClr val="171717"/>
                </a:solidFill>
                <a:latin typeface="Meiryo"/>
                <a:ea typeface="Meiryo"/>
                <a:cs typeface="Meiryo"/>
              </a:rPr>
              <a:t>山原：末端圧力推定の適用領域</a:t>
            </a:r>
          </a:p>
        </p:txBody>
      </p:sp>
      <p:pic>
        <p:nvPicPr>
          <p:cNvPr id="541" name=""/>
          <p:cNvPicPr>
            <a:picLocks xmlns:a="http://schemas.openxmlformats.org/drawingml/2006/main" noChangeAspect="1"/>
          </p:cNvPicPr>
          <p:nvPr/>
        </p:nvPicPr>
        <p:blipFill>
          <a:blip xmlns:r="http://schemas.openxmlformats.org/officeDocument/2006/relationships" xmlns:a="http://schemas.openxmlformats.org/drawingml/2006/main" r:embed="Re5e77e1081364c3f"/>
          <a:stretch xmlns:a="http://schemas.openxmlformats.org/drawingml/2006/main"/>
        </p:blipFill>
        <p:spPr>
          <a:xfrm xmlns:a="http://schemas.openxmlformats.org/drawingml/2006/main">
            <a:off x="2466535" y="1381125"/>
            <a:ext cx="7258929" cy="2743200"/>
          </a:xfrm>
          <a:prstGeom xmlns:a="http://schemas.openxmlformats.org/drawingml/2006/main" prst="rect">
            <a:avLst/>
          </a:prstGeom>
        </p:spPr>
      </p:pic>
      <p:sp>
        <p:nvSpPr>
          <p:cNvPr id="535" name="">
            <a:extLst xmlns:a="http://schemas.openxmlformats.org/drawingml/2006/main">
              <a:ext uri="{FF2B5EF4-FFF2-40B4-BE49-F238E27FC236}">
                <a16:creationId xmlns:a16="http://schemas.microsoft.com/office/drawing/2014/main" id="{1CD846D3-56E8-43B5-8490-1D7DB3751F53}"/>
              </a:ext>
            </a:extLst>
          </p:cNvPr>
          <p:cNvSpPr>
            <a:spLocks xmlns:a="http://schemas.openxmlformats.org/drawingml/2006/main" noGrp="1"/>
          </p:cNvSpPr>
          <p:nvPr/>
        </p:nvSpPr>
        <p:spPr>
          <a:xfrm xmlns:a="http://schemas.openxmlformats.org/drawingml/2006/main">
            <a:off x="393668" y="4171950"/>
            <a:ext cx="1138237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0">
                <a:solidFill>
                  <a:srgbClr val="555555"/>
                </a:solidFill>
                <a:latin typeface="Meiryo"/>
                <a:ea typeface="Meiryo"/>
                <a:cs typeface="Meiryo"/>
              </a:defRPr>
            </a:pPr>
            <a:r>
              <a:rPr sz="1350" b="0">
                <a:solidFill>
                  <a:srgbClr val="555555"/>
                </a:solidFill>
                <a:latin typeface="Meiryo"/>
                <a:ea typeface="Meiryo"/>
                <a:cs typeface="Meiryo"/>
              </a:rPr>
              <a:t>原論文 Fig. 3：範囲、平均からの距離、密度に基づくAD判定</a:t>
            </a:r>
          </a:p>
        </p:txBody>
      </p:sp>
      <p:sp>
        <p:nvSpPr>
          <p:cNvPr id="536" name="">
            <a:extLst xmlns:a="http://schemas.openxmlformats.org/drawingml/2006/main">
              <a:ext uri="{FF2B5EF4-FFF2-40B4-BE49-F238E27FC236}">
                <a16:creationId xmlns:a16="http://schemas.microsoft.com/office/drawing/2014/main" id="{830DD00E-A9D2-4DD1-9BF6-472145624A98}"/>
              </a:ext>
            </a:extLst>
          </p:cNvPr>
          <p:cNvSpPr>
            <a:spLocks xmlns:a="http://schemas.openxmlformats.org/drawingml/2006/main" noGrp="1"/>
          </p:cNvSpPr>
          <p:nvPr/>
        </p:nvSpPr>
        <p:spPr>
          <a:xfrm xmlns:a="http://schemas.openxmlformats.org/drawingml/2006/main">
            <a:off x="393668" y="4591050"/>
            <a:ext cx="11382375"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0">
                <a:solidFill>
                  <a:srgbClr val="171717"/>
                </a:solidFill>
                <a:latin typeface="Meiryo"/>
                <a:ea typeface="Meiryo"/>
                <a:cs typeface="Meiryo"/>
              </a:defRPr>
            </a:pPr>
            <a:r>
              <a:rPr sz="1875" b="0">
                <a:solidFill>
                  <a:srgbClr val="171717"/>
                </a:solidFill>
                <a:latin typeface="Meiryo"/>
                <a:ea typeface="Meiryo"/>
                <a:cs typeface="Meiryo"/>
              </a:rPr>
              <a:t>比較は3系統・5方式。距離にはユークリッド距離とマハラノビス距離を使用。</a:t>
            </a:r>
          </a:p>
          <a:p xmlns:a="http://schemas.openxmlformats.org/drawingml/2006/main">
            <a:pPr>
              <a:defRPr sz="1875" b="0">
                <a:solidFill>
                  <a:srgbClr val="171717"/>
                </a:solidFill>
                <a:latin typeface="Meiryo"/>
                <a:ea typeface="Meiryo"/>
                <a:cs typeface="Meiryo"/>
              </a:defRPr>
            </a:pPr>
            <a:r>
              <a:rPr sz="1875" b="0">
                <a:solidFill>
                  <a:srgbClr val="171717"/>
                </a:solidFill>
                <a:latin typeface="Meiryo"/>
                <a:ea typeface="Meiryo"/>
                <a:cs typeface="Meiryo"/>
              </a:rPr>
              <a:t>1年間の時間単位データから、14 / 28 / 91 / 182日分の訓練条件を比較。</a:t>
            </a:r>
          </a:p>
        </p:txBody>
      </p:sp>
      <p:sp>
        <p:nvSpPr>
          <p:cNvPr id="537" name="">
            <a:extLst xmlns:a="http://schemas.openxmlformats.org/drawingml/2006/main">
              <a:ext uri="{FF2B5EF4-FFF2-40B4-BE49-F238E27FC236}">
                <a16:creationId xmlns:a16="http://schemas.microsoft.com/office/drawing/2014/main" id="{FEFE68AF-5754-40DD-B3F7-6E9004D42A05}"/>
              </a:ext>
            </a:extLst>
          </p:cNvPr>
          <p:cNvSpPr>
            <a:spLocks xmlns:a="http://schemas.openxmlformats.org/drawingml/2006/main" noGrp="1"/>
          </p:cNvSpPr>
          <p:nvPr/>
        </p:nvSpPr>
        <p:spPr>
          <a:xfrm xmlns:a="http://schemas.openxmlformats.org/drawingml/2006/main">
            <a:off x="393668" y="5810250"/>
            <a:ext cx="1119187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725" b="1">
                <a:solidFill>
                  <a:srgbClr val="171717"/>
                </a:solidFill>
                <a:latin typeface="Meiryo"/>
                <a:ea typeface="Meiryo"/>
                <a:cs typeface="Meiryo"/>
              </a:defRPr>
            </a:pPr>
            <a:r>
              <a:rPr sz="1725" b="1">
                <a:solidFill>
                  <a:srgbClr val="171717"/>
                </a:solidFill>
                <a:latin typeface="Meiryo"/>
                <a:ea typeface="Meiryo"/>
                <a:cs typeface="Meiryo"/>
              </a:rPr>
              <a:t>AD内外の分類と、実際の圧力推定誤差との関係を評価する</a:t>
            </a:r>
          </a:p>
        </p:txBody>
      </p:sp>
      <p:sp>
        <p:nvSpPr>
          <p:cNvPr id="538" name="">
            <a:extLst xmlns:a="http://schemas.openxmlformats.org/drawingml/2006/main">
              <a:ext uri="{FF2B5EF4-FFF2-40B4-BE49-F238E27FC236}">
                <a16:creationId xmlns:a16="http://schemas.microsoft.com/office/drawing/2014/main" id="{82BBE22B-1588-49F0-85D1-5A1125C75E00}"/>
              </a:ext>
            </a:extLst>
          </p:cNvPr>
          <p:cNvSpPr>
            <a:spLocks xmlns:a="http://schemas.openxmlformats.org/drawingml/2006/main" noGrp="1"/>
          </p:cNvSpPr>
          <p:nvPr/>
        </p:nvSpPr>
        <p:spPr>
          <a:xfrm xmlns:a="http://schemas.openxmlformats.org/drawingml/2006/main">
            <a:off x="393668" y="6334125"/>
            <a:ext cx="10668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975" b="0">
                <a:solidFill>
                  <a:srgbClr val="656565"/>
                </a:solidFill>
                <a:latin typeface="Meiryo"/>
                <a:ea typeface="Meiryo"/>
                <a:cs typeface="Meiryo"/>
              </a:defRPr>
            </a:pPr>
            <a:r>
              <a:rPr sz="975" b="0">
                <a:solidFill>
                  <a:srgbClr val="656565"/>
                </a:solidFill>
                <a:latin typeface="Meiryo"/>
                <a:ea typeface="Meiryo"/>
                <a:cs typeface="Meiryo"/>
              </a:rPr>
              <a:t>山原 §3–5、Fig. 3。図は提供されたスキャンから引用</a:t>
            </a:r>
          </a:p>
        </p:txBody>
      </p:sp>
    </p:spTree>
    <p:extLst>
      <p:ext uri="{BB962C8B-B14F-4D97-AF65-F5344CB8AC3E}">
        <p14:creationId xmlns:p14="http://schemas.microsoft.com/office/powerpoint/2010/main" val="3667182145"/>
      </p:ext>
    </p:extLst>
  </p:cSld>
</p:sld>
</file>

<file path=ppt/slides/slide13.xml><?xml version="1.0" encoding="utf-8"?>
<p:sld xmlns:p="http://schemas.openxmlformats.org/presentationml/2006/main">
  <p:cSld>
    <p:spTree>
      <p:nvGrpSpPr>
        <p:cNvPr id="1" name=""/>
        <p:cNvGrpSpPr/>
        <p:nvPr/>
      </p:nvGrpSpPr>
      <p:grpSpPr>
        <a:xfrm xmlns:a="http://schemas.openxmlformats.org/drawingml/2006/main"/>
      </p:grpSpPr>
      <p:sp>
        <p:nvSpPr>
          <p:cNvPr id="532" name="Google Shape;532;p58">
            <a:extLst xmlns:a="http://schemas.openxmlformats.org/drawingml/2006/main">
              <a:ext uri="{FF2B5EF4-FFF2-40B4-BE49-F238E27FC236}">
                <a16:creationId xmlns:a16="http://schemas.microsoft.com/office/drawing/2014/main" id="{1BCBE750-7048-686D-1472-52C53362D6CD}"/>
              </a:ext>
            </a:extLst>
          </p:cNvPr>
          <p:cNvSpPr>
            <a:spLocks xmlns:a="http://schemas.openxmlformats.org/drawingml/2006/main" noGrp="1"/>
          </p:cNvSpPr>
          <p:nvPr>
            <p:ph type="sldNum" idx="4"/>
          </p:nvPr>
        </p:nvSpPr>
        <p:spPr>
          <a:xfrm xmlns:a="http://schemas.openxmlformats.org/drawingml/2006/main">
            <a:off x="11279332" y="6279294"/>
            <a:ext cx="518968" cy="241240"/>
          </a:xfr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pPr>
              <a:defRPr sz="975" b="0">
                <a:solidFill>
                  <a:srgbClr val="171717"/>
                </a:solidFill>
                <a:latin typeface="Meiryo"/>
                <a:ea typeface="Meiryo"/>
                <a:cs typeface="Meiryo"/>
              </a:defRPr>
            </a:pPr>
            <a:fld id="{2DD23107-4986-8758-3A93-3D74F35908CC}" type="slidenum">
              <a:rPr sz="975" b="0">
                <a:solidFill>
                  <a:srgbClr val="171717"/>
                </a:solidFill>
                <a:latin typeface="Meiryo"/>
                <a:ea typeface="Meiryo"/>
                <a:cs typeface="Meiryo"/>
              </a:rPr>
              <a:t>13</a:t>
            </a:fld>
            <a:endParaRPr/>
          </a:p>
        </p:txBody>
      </p:sp>
      <p:sp>
        <p:nvSpPr>
          <p:cNvPr id="533" name="Google Shape;533;p58">
            <a:extLst xmlns:a="http://schemas.openxmlformats.org/drawingml/2006/main">
              <a:ext uri="{FF2B5EF4-FFF2-40B4-BE49-F238E27FC236}">
                <a16:creationId xmlns:a16="http://schemas.microsoft.com/office/drawing/2014/main" id="{1B5D55CD-1C17-7CD8-F26A-2DD65B067687}"/>
              </a:ext>
            </a:extLst>
          </p:cNvPr>
          <p:cNvSpPr>
            <a:spLocks xmlns:a="http://schemas.openxmlformats.org/drawingml/2006/main" noGrp="1"/>
          </p:cNvSpPr>
          <p:nvPr>
            <p:ph type="title" idx="0"/>
          </p:nvPr>
        </p:nvSpPr>
        <p:spPr>
          <a:xfrm xmlns:a="http://schemas.openxmlformats.org/drawingml/2006/main">
            <a:off x="393668" y="344043"/>
            <a:ext cx="11404568" cy="952500"/>
          </a:xfr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pPr>
              <a:defRPr sz="2700" b="0">
                <a:solidFill>
                  <a:srgbClr val="171717"/>
                </a:solidFill>
                <a:latin typeface="Meiryo"/>
                <a:ea typeface="Meiryo"/>
                <a:cs typeface="Meiryo"/>
              </a:defRPr>
            </a:pPr>
            <a:r>
              <a:rPr sz="2700" b="0">
                <a:solidFill>
                  <a:srgbClr val="171717"/>
                </a:solidFill>
                <a:latin typeface="Meiryo"/>
                <a:ea typeface="Meiryo"/>
                <a:cs typeface="Meiryo"/>
              </a:rPr>
              <a:t>14：再構成誤差による入力の検知</a:t>
            </a:r>
          </a:p>
        </p:txBody>
      </p:sp>
      <p:sp>
        <p:nvSpPr>
          <p:cNvPr id="534" name="">
            <a:extLst xmlns:a="http://schemas.openxmlformats.org/drawingml/2006/main">
              <a:ext uri="{FF2B5EF4-FFF2-40B4-BE49-F238E27FC236}">
                <a16:creationId xmlns:a16="http://schemas.microsoft.com/office/drawing/2014/main" id="{0B9639B5-FE50-436D-AF1B-7EDB407C6B1D}"/>
              </a:ext>
            </a:extLst>
          </p:cNvPr>
          <p:cNvSpPr>
            <a:spLocks xmlns:a="http://schemas.openxmlformats.org/drawingml/2006/main" noGrp="1"/>
          </p:cNvSpPr>
          <p:nvPr/>
        </p:nvSpPr>
        <p:spPr>
          <a:xfrm xmlns:a="http://schemas.openxmlformats.org/drawingml/2006/main">
            <a:off x="393668" y="1838325"/>
            <a:ext cx="5540359"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00" b="1">
                <a:solidFill>
                  <a:srgbClr val="171717"/>
                </a:solidFill>
                <a:latin typeface="Meiryo"/>
                <a:ea typeface="Meiryo"/>
                <a:cs typeface="Meiryo"/>
              </a:defRPr>
            </a:pPr>
            <a:r>
              <a:rPr sz="2100" b="1">
                <a:solidFill>
                  <a:srgbClr val="171717"/>
                </a:solidFill>
                <a:latin typeface="Meiryo"/>
                <a:ea typeface="Meiryo"/>
                <a:cs typeface="Meiryo"/>
              </a:rPr>
              <a:t>訓練とスコア</a:t>
            </a:r>
          </a:p>
        </p:txBody>
      </p:sp>
      <p:sp>
        <p:nvSpPr>
          <p:cNvPr id="535" name="">
            <a:extLst xmlns:a="http://schemas.openxmlformats.org/drawingml/2006/main">
              <a:ext uri="{FF2B5EF4-FFF2-40B4-BE49-F238E27FC236}">
                <a16:creationId xmlns:a16="http://schemas.microsoft.com/office/drawing/2014/main" id="{3BAA9040-59AC-4544-99BE-FE50837443B0}"/>
              </a:ext>
            </a:extLst>
          </p:cNvPr>
          <p:cNvSpPr>
            <a:spLocks xmlns:a="http://schemas.openxmlformats.org/drawingml/2006/main" noGrp="1"/>
          </p:cNvSpPr>
          <p:nvPr/>
        </p:nvSpPr>
        <p:spPr>
          <a:xfrm xmlns:a="http://schemas.openxmlformats.org/drawingml/2006/main">
            <a:off x="393668" y="2505075"/>
            <a:ext cx="5540359" cy="285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950" b="0">
                <a:solidFill>
                  <a:srgbClr val="171717"/>
                </a:solidFill>
                <a:latin typeface="Meiryo"/>
                <a:ea typeface="Meiryo"/>
                <a:cs typeface="Meiryo"/>
              </a:defRPr>
            </a:pPr>
            <a:r>
              <a:rPr sz="1950" b="0">
                <a:solidFill>
                  <a:srgbClr val="171717"/>
                </a:solidFill>
                <a:latin typeface="Meiryo"/>
                <a:ea typeface="Meiryo"/>
                <a:cs typeface="Meiryo"/>
              </a:rPr>
              <a:t>正常な多変量入力を圧縮し、元の入力を再構成する。</a:t>
            </a:r>
          </a:p>
          <a:p xmlns:a="http://schemas.openxmlformats.org/drawingml/2006/main">
            <a:r>
              <a:t/>
            </a:r>
          </a:p>
          <a:p xmlns:a="http://schemas.openxmlformats.org/drawingml/2006/main">
            <a:pPr>
              <a:defRPr sz="1950" b="0">
                <a:solidFill>
                  <a:srgbClr val="171717"/>
                </a:solidFill>
                <a:latin typeface="Meiryo"/>
                <a:ea typeface="Meiryo"/>
                <a:cs typeface="Meiryo"/>
              </a:defRPr>
            </a:pPr>
            <a:r>
              <a:rPr sz="1950" b="0">
                <a:solidFill>
                  <a:srgbClr val="171717"/>
                </a:solidFill>
                <a:latin typeface="Meiryo"/>
                <a:ea typeface="Meiryo"/>
                <a:cs typeface="Meiryo"/>
              </a:rPr>
              <a:t>s(x) = ‖x − x̂‖₂</a:t>
            </a:r>
          </a:p>
          <a:p xmlns:a="http://schemas.openxmlformats.org/drawingml/2006/main">
            <a:r>
              <a:t/>
            </a:r>
          </a:p>
          <a:p xmlns:a="http://schemas.openxmlformats.org/drawingml/2006/main">
            <a:pPr>
              <a:defRPr sz="1950" b="0">
                <a:solidFill>
                  <a:srgbClr val="171717"/>
                </a:solidFill>
                <a:latin typeface="Meiryo"/>
                <a:ea typeface="Meiryo"/>
                <a:cs typeface="Meiryo"/>
              </a:defRPr>
            </a:pPr>
            <a:r>
              <a:rPr sz="1950" b="0">
                <a:solidFill>
                  <a:srgbClr val="171717"/>
                </a:solidFill>
                <a:latin typeface="Meiryo"/>
                <a:ea typeface="Meiryo"/>
                <a:cs typeface="Meiryo"/>
              </a:rPr>
              <a:t>正常時の関係を再現しにくい入力ほど、スコアが大きくなる。</a:t>
            </a:r>
          </a:p>
        </p:txBody>
      </p:sp>
      <p:sp>
        <p:nvSpPr>
          <p:cNvPr id="536" name="">
            <a:extLst xmlns:a="http://schemas.openxmlformats.org/drawingml/2006/main">
              <a:ext uri="{FF2B5EF4-FFF2-40B4-BE49-F238E27FC236}">
                <a16:creationId xmlns:a16="http://schemas.microsoft.com/office/drawing/2014/main" id="{3B909A1B-876D-49FC-B6AA-FC513DDFC913}"/>
              </a:ext>
            </a:extLst>
          </p:cNvPr>
          <p:cNvSpPr>
            <a:spLocks xmlns:a="http://schemas.openxmlformats.org/drawingml/2006/main" noGrp="1"/>
          </p:cNvSpPr>
          <p:nvPr/>
        </p:nvSpPr>
        <p:spPr>
          <a:xfrm xmlns:a="http://schemas.openxmlformats.org/drawingml/2006/main">
            <a:off x="6257877" y="1838325"/>
            <a:ext cx="5540359"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00" b="1">
                <a:solidFill>
                  <a:srgbClr val="171717"/>
                </a:solidFill>
                <a:latin typeface="Meiryo"/>
                <a:ea typeface="Meiryo"/>
                <a:cs typeface="Meiryo"/>
              </a:defRPr>
            </a:pPr>
            <a:r>
              <a:rPr sz="2100" b="1">
                <a:solidFill>
                  <a:srgbClr val="171717"/>
                </a:solidFill>
                <a:latin typeface="Meiryo"/>
                <a:ea typeface="Meiryo"/>
                <a:cs typeface="Meiryo"/>
              </a:rPr>
              <a:t>対象回帰モデルとの関係</a:t>
            </a:r>
          </a:p>
        </p:txBody>
      </p:sp>
      <p:sp>
        <p:nvSpPr>
          <p:cNvPr id="537" name="">
            <a:extLst xmlns:a="http://schemas.openxmlformats.org/drawingml/2006/main">
              <a:ext uri="{FF2B5EF4-FFF2-40B4-BE49-F238E27FC236}">
                <a16:creationId xmlns:a16="http://schemas.microsoft.com/office/drawing/2014/main" id="{1C9F5A05-ECE2-4B2A-9E8D-D2AF7A10ADE4}"/>
              </a:ext>
            </a:extLst>
          </p:cNvPr>
          <p:cNvSpPr>
            <a:spLocks xmlns:a="http://schemas.openxmlformats.org/drawingml/2006/main" noGrp="1"/>
          </p:cNvSpPr>
          <p:nvPr/>
        </p:nvSpPr>
        <p:spPr>
          <a:xfrm xmlns:a="http://schemas.openxmlformats.org/drawingml/2006/main">
            <a:off x="6257877" y="2505075"/>
            <a:ext cx="5540359" cy="285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950" b="0">
                <a:solidFill>
                  <a:srgbClr val="171717"/>
                </a:solidFill>
                <a:latin typeface="Meiryo"/>
                <a:ea typeface="Meiryo"/>
                <a:cs typeface="Meiryo"/>
              </a:defRPr>
            </a:pPr>
            <a:r>
              <a:rPr sz="1950" b="0">
                <a:solidFill>
                  <a:srgbClr val="171717"/>
                </a:solidFill>
                <a:latin typeface="Meiryo"/>
                <a:ea typeface="Meiryo"/>
                <a:cs typeface="Meiryo"/>
              </a:rPr>
              <a:t>訓練には正常入力Xを使用。</a:t>
            </a:r>
          </a:p>
          <a:p xmlns:a="http://schemas.openxmlformats.org/drawingml/2006/main">
            <a:pPr>
              <a:defRPr sz="1950" b="0">
                <a:solidFill>
                  <a:srgbClr val="171717"/>
                </a:solidFill>
                <a:latin typeface="Meiryo"/>
                <a:ea typeface="Meiryo"/>
                <a:cs typeface="Meiryo"/>
              </a:defRPr>
            </a:pPr>
            <a:r>
              <a:rPr sz="1950" b="0">
                <a:solidFill>
                  <a:srgbClr val="171717"/>
                </a:solidFill>
                <a:latin typeface="Meiryo"/>
                <a:ea typeface="Meiryo"/>
                <a:cs typeface="Meiryo"/>
              </a:rPr>
              <a:t>運用時に真の回帰出力Yは不要。</a:t>
            </a:r>
          </a:p>
          <a:p xmlns:a="http://schemas.openxmlformats.org/drawingml/2006/main">
            <a:r>
              <a:t/>
            </a:r>
          </a:p>
          <a:p xmlns:a="http://schemas.openxmlformats.org/drawingml/2006/main">
            <a:pPr>
              <a:defRPr sz="1950" b="0">
                <a:solidFill>
                  <a:srgbClr val="171717"/>
                </a:solidFill>
                <a:latin typeface="Meiryo"/>
                <a:ea typeface="Meiryo"/>
                <a:cs typeface="Meiryo"/>
              </a:defRPr>
            </a:pPr>
            <a:r>
              <a:rPr sz="1950" b="0">
                <a:solidFill>
                  <a:srgbClr val="171717"/>
                </a:solidFill>
                <a:latin typeface="Meiryo"/>
                <a:ea typeface="Meiryo"/>
                <a:cs typeface="Meiryo"/>
              </a:rPr>
              <a:t>原文は各時刻のサンプルを独立に扱い、時間順序を使わない。</a:t>
            </a:r>
          </a:p>
        </p:txBody>
      </p:sp>
      <p:sp>
        <p:nvSpPr>
          <p:cNvPr id="538" name="">
            <a:extLst xmlns:a="http://schemas.openxmlformats.org/drawingml/2006/main">
              <a:ext uri="{FF2B5EF4-FFF2-40B4-BE49-F238E27FC236}">
                <a16:creationId xmlns:a16="http://schemas.microsoft.com/office/drawing/2014/main" id="{72752D13-88FE-4E51-BD49-CAF6509DE8B6}"/>
              </a:ext>
            </a:extLst>
          </p:cNvPr>
          <p:cNvSpPr>
            <a:spLocks xmlns:a="http://schemas.openxmlformats.org/drawingml/2006/main" noGrp="1"/>
          </p:cNvSpPr>
          <p:nvPr/>
        </p:nvSpPr>
        <p:spPr>
          <a:xfrm xmlns:a="http://schemas.openxmlformats.org/drawingml/2006/main">
            <a:off x="393668" y="5810250"/>
            <a:ext cx="1119187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725" b="1">
                <a:solidFill>
                  <a:srgbClr val="171717"/>
                </a:solidFill>
                <a:latin typeface="Meiryo"/>
                <a:ea typeface="Meiryo"/>
                <a:cs typeface="Meiryo"/>
              </a:defRPr>
            </a:pPr>
            <a:r>
              <a:rPr sz="1725" b="1">
                <a:solidFill>
                  <a:srgbClr val="171717"/>
                </a:solidFill>
                <a:latin typeface="Meiryo"/>
                <a:ea typeface="Meiryo"/>
                <a:cs typeface="Meiryo"/>
              </a:rPr>
              <a:t>1時刻の多変量入力に適用でき、対象回帰モデルから独立に設置できる</a:t>
            </a:r>
          </a:p>
        </p:txBody>
      </p:sp>
      <p:sp>
        <p:nvSpPr>
          <p:cNvPr id="539" name="">
            <a:extLst xmlns:a="http://schemas.openxmlformats.org/drawingml/2006/main">
              <a:ext uri="{FF2B5EF4-FFF2-40B4-BE49-F238E27FC236}">
                <a16:creationId xmlns:a16="http://schemas.microsoft.com/office/drawing/2014/main" id="{1A73E2B9-3A00-4E6F-8E1F-4178BDC9E92D}"/>
              </a:ext>
            </a:extLst>
          </p:cNvPr>
          <p:cNvSpPr>
            <a:spLocks xmlns:a="http://schemas.openxmlformats.org/drawingml/2006/main" noGrp="1"/>
          </p:cNvSpPr>
          <p:nvPr/>
        </p:nvSpPr>
        <p:spPr>
          <a:xfrm xmlns:a="http://schemas.openxmlformats.org/drawingml/2006/main">
            <a:off x="393668" y="6334125"/>
            <a:ext cx="10668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975" b="0">
                <a:solidFill>
                  <a:srgbClr val="656565"/>
                </a:solidFill>
                <a:latin typeface="Meiryo"/>
                <a:ea typeface="Meiryo"/>
                <a:cs typeface="Meiryo"/>
              </a:defRPr>
            </a:pPr>
            <a:r>
              <a:rPr sz="975" b="0">
                <a:solidFill>
                  <a:srgbClr val="656565"/>
                </a:solidFill>
                <a:latin typeface="Meiryo"/>
                <a:ea typeface="Meiryo"/>
                <a:cs typeface="Meiryo"/>
              </a:rPr>
              <a:t>14 §3、§6、Eq. (1)</a:t>
            </a:r>
          </a:p>
        </p:txBody>
      </p:sp>
    </p:spTree>
    <p:extLst>
      <p:ext uri="{BB962C8B-B14F-4D97-AF65-F5344CB8AC3E}">
        <p14:creationId xmlns:p14="http://schemas.microsoft.com/office/powerpoint/2010/main" val="3667182145"/>
      </p:ext>
    </p:extLst>
  </p:cSld>
</p:sld>
</file>

<file path=ppt/slides/slide14.xml><?xml version="1.0" encoding="utf-8"?>
<p:sld xmlns:p="http://schemas.openxmlformats.org/presentationml/2006/main">
  <p:cSld>
    <p:spTree>
      <p:nvGrpSpPr>
        <p:cNvPr id="1" name=""/>
        <p:cNvGrpSpPr/>
        <p:nvPr/>
      </p:nvGrpSpPr>
      <p:grpSpPr>
        <a:xfrm xmlns:a="http://schemas.openxmlformats.org/drawingml/2006/main"/>
      </p:grpSpPr>
      <p:sp>
        <p:nvSpPr>
          <p:cNvPr id="532" name="Google Shape;532;p58">
            <a:extLst xmlns:a="http://schemas.openxmlformats.org/drawingml/2006/main">
              <a:ext uri="{FF2B5EF4-FFF2-40B4-BE49-F238E27FC236}">
                <a16:creationId xmlns:a16="http://schemas.microsoft.com/office/drawing/2014/main" id="{27489CDA-073D-5D98-B832-86AD74222B71}"/>
              </a:ext>
            </a:extLst>
          </p:cNvPr>
          <p:cNvSpPr>
            <a:spLocks xmlns:a="http://schemas.openxmlformats.org/drawingml/2006/main" noGrp="1"/>
          </p:cNvSpPr>
          <p:nvPr>
            <p:ph type="sldNum" idx="4"/>
          </p:nvPr>
        </p:nvSpPr>
        <p:spPr>
          <a:xfrm xmlns:a="http://schemas.openxmlformats.org/drawingml/2006/main">
            <a:off x="11279332" y="6279294"/>
            <a:ext cx="518968" cy="241240"/>
          </a:xfr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pPr>
              <a:defRPr sz="975" b="0">
                <a:solidFill>
                  <a:srgbClr val="171717"/>
                </a:solidFill>
                <a:latin typeface="Meiryo"/>
                <a:ea typeface="Meiryo"/>
                <a:cs typeface="Meiryo"/>
              </a:defRPr>
            </a:pPr>
            <a:fld id="{327921A4-25C4-3DB4-06B1-32693CEE2241}" type="slidenum">
              <a:rPr sz="975" b="0">
                <a:solidFill>
                  <a:srgbClr val="171717"/>
                </a:solidFill>
                <a:latin typeface="Meiryo"/>
                <a:ea typeface="Meiryo"/>
                <a:cs typeface="Meiryo"/>
              </a:rPr>
              <a:t>14</a:t>
            </a:fld>
            <a:endParaRPr/>
          </a:p>
        </p:txBody>
      </p:sp>
      <p:sp>
        <p:nvSpPr>
          <p:cNvPr id="533" name="Google Shape;533;p58">
            <a:extLst xmlns:a="http://schemas.openxmlformats.org/drawingml/2006/main">
              <a:ext uri="{FF2B5EF4-FFF2-40B4-BE49-F238E27FC236}">
                <a16:creationId xmlns:a16="http://schemas.microsoft.com/office/drawing/2014/main" id="{08EBC4B8-BBC1-7C2A-F77D-BEC6394B0F93}"/>
              </a:ext>
            </a:extLst>
          </p:cNvPr>
          <p:cNvSpPr>
            <a:spLocks xmlns:a="http://schemas.openxmlformats.org/drawingml/2006/main" noGrp="1"/>
          </p:cNvSpPr>
          <p:nvPr>
            <p:ph type="title" idx="0"/>
          </p:nvPr>
        </p:nvSpPr>
        <p:spPr>
          <a:xfrm xmlns:a="http://schemas.openxmlformats.org/drawingml/2006/main">
            <a:off x="393668" y="344043"/>
            <a:ext cx="11404568" cy="952500"/>
          </a:xfr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pPr>
              <a:defRPr sz="2700" b="0">
                <a:solidFill>
                  <a:srgbClr val="171717"/>
                </a:solidFill>
                <a:latin typeface="Meiryo"/>
                <a:ea typeface="Meiryo"/>
                <a:cs typeface="Meiryo"/>
              </a:defRPr>
            </a:pPr>
            <a:r>
              <a:rPr sz="2700" b="0">
                <a:solidFill>
                  <a:srgbClr val="171717"/>
                </a:solidFill>
                <a:latin typeface="Meiryo"/>
                <a:ea typeface="Meiryo"/>
                <a:cs typeface="Meiryo"/>
              </a:rPr>
              <a:t>14：ノイズ除去学習の効果はデータに依存する</a:t>
            </a:r>
          </a:p>
        </p:txBody>
      </p:sp>
      <p:sp>
        <p:nvSpPr>
          <p:cNvPr id="534" name="">
            <a:extLst xmlns:a="http://schemas.openxmlformats.org/drawingml/2006/main">
              <a:ext uri="{FF2B5EF4-FFF2-40B4-BE49-F238E27FC236}">
                <a16:creationId xmlns:a16="http://schemas.microsoft.com/office/drawing/2014/main" id="{CC453768-C312-427B-A19A-63CBBFDE3336}"/>
              </a:ext>
            </a:extLst>
          </p:cNvPr>
          <p:cNvSpPr>
            <a:spLocks xmlns:a="http://schemas.openxmlformats.org/drawingml/2006/main" noGrp="1"/>
          </p:cNvSpPr>
          <p:nvPr/>
        </p:nvSpPr>
        <p:spPr>
          <a:xfrm xmlns:a="http://schemas.openxmlformats.org/drawingml/2006/main">
            <a:off x="393668" y="1381125"/>
            <a:ext cx="113823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725" b="0">
                <a:solidFill>
                  <a:srgbClr val="171717"/>
                </a:solidFill>
                <a:latin typeface="Meiryo"/>
                <a:ea typeface="Meiryo"/>
                <a:cs typeface="Meiryo"/>
              </a:defRPr>
            </a:pPr>
            <a:r>
              <a:rPr sz="1725" b="0">
                <a:solidFill>
                  <a:srgbClr val="171717"/>
                </a:solidFill>
                <a:latin typeface="Meiryo"/>
                <a:ea typeface="Meiryo"/>
                <a:cs typeface="Meiryo"/>
              </a:rPr>
              <a:t>原論文 Table 1の平均AUC。高いほど良い</a:t>
            </a:r>
          </a:p>
        </p:txBody>
      </p:sp>
      <p:graphicFrame>
        <p:nvGraphicFramePr>
          <p:cNvPr id="541" name=""/>
          <p:cNvGraphicFramePr/>
          <p:nvPr/>
        </p:nvGraphicFramePr>
        <p:xfrm>
          <a:off xmlns:a="http://schemas.openxmlformats.org/drawingml/2006/main" x="393668" y="2114550"/>
          <a:ext xmlns:a="http://schemas.openxmlformats.org/drawingml/2006/main" cx="11382375" cy="2476500"/>
        </p:xfrm>
        <a:graphic xmlns:a="http://schemas.openxmlformats.org/drawingml/2006/main">
          <a:graphicData uri="http://schemas.openxmlformats.org/drawingml/2006/table">
            <a:tbl>
              <a:tblPr/>
              <a:tblGrid>
                <a:gridCol w="3000375"/>
                <a:gridCol w="1952625"/>
                <a:gridCol w="1952625"/>
                <a:gridCol w="2333625"/>
                <a:gridCol w="2143125"/>
              </a:tblGrid>
              <a:tr h="619125">
                <a:tc>
                  <a:txBody>
                    <a:bodyPr>
                      <a:noAutofit/>
                    </a:bodyPr>
                    <a:lstStyle/>
                    <a:p>
                      <a:r>
                        <a:rPr sz="1650" b="1">
                          <a:solidFill>
                            <a:srgbClr val="171717"/>
                          </a:solidFill>
                          <a:latin typeface="Meiryo"/>
                          <a:ea typeface="Meiryo"/>
                          <a:cs typeface="Meiryo"/>
                        </a:rPr>
                        <a:t>データ</a:t>
                      </a:r>
                    </a:p>
                  </a:txBody>
                  <a:tcPr marL="95250" marR="95250" marT="85725" marB="66675" anchor="ctr">
                    <a:solidFill>
                      <a:srgbClr val="F1F1F1"/>
                    </a:solidFill>
                  </a:tcPr>
                </a:tc>
                <a:tc>
                  <a:txBody>
                    <a:bodyPr>
                      <a:noAutofit/>
                    </a:bodyPr>
                    <a:lstStyle/>
                    <a:p>
                      <a:r>
                        <a:rPr sz="1650" b="1">
                          <a:solidFill>
                            <a:srgbClr val="171717"/>
                          </a:solidFill>
                          <a:latin typeface="Meiryo"/>
                          <a:ea typeface="Meiryo"/>
                          <a:cs typeface="Meiryo"/>
                        </a:rPr>
                        <a:t>PCA</a:t>
                      </a:r>
                    </a:p>
                  </a:txBody>
                  <a:tcPr marL="95250" marR="95250" marT="85725" marB="66675" anchor="ctr">
                    <a:solidFill>
                      <a:srgbClr val="F1F1F1"/>
                    </a:solidFill>
                  </a:tcPr>
                </a:tc>
                <a:tc>
                  <a:txBody>
                    <a:bodyPr>
                      <a:noAutofit/>
                    </a:bodyPr>
                    <a:lstStyle/>
                    <a:p>
                      <a:r>
                        <a:rPr sz="1650" b="1">
                          <a:solidFill>
                            <a:srgbClr val="171717"/>
                          </a:solidFill>
                          <a:latin typeface="Meiryo"/>
                          <a:ea typeface="Meiryo"/>
                          <a:cs typeface="Meiryo"/>
                        </a:rPr>
                        <a:t>AE</a:t>
                      </a:r>
                    </a:p>
                  </a:txBody>
                  <a:tcPr marL="95250" marR="95250" marT="85725" marB="66675" anchor="ctr">
                    <a:solidFill>
                      <a:srgbClr val="F1F1F1"/>
                    </a:solidFill>
                  </a:tcPr>
                </a:tc>
                <a:tc>
                  <a:txBody>
                    <a:bodyPr>
                      <a:noAutofit/>
                    </a:bodyPr>
                    <a:lstStyle/>
                    <a:p>
                      <a:r>
                        <a:rPr sz="1650" b="1">
                          <a:solidFill>
                            <a:srgbClr val="171717"/>
                          </a:solidFill>
                          <a:latin typeface="Meiryo"/>
                          <a:ea typeface="Meiryo"/>
                          <a:cs typeface="Meiryo"/>
                        </a:rPr>
                        <a:t>ノイズ除去AE</a:t>
                      </a:r>
                    </a:p>
                  </a:txBody>
                  <a:tcPr marL="95250" marR="95250" marT="85725" marB="66675" anchor="ctr">
                    <a:solidFill>
                      <a:srgbClr val="F1F1F1"/>
                    </a:solidFill>
                  </a:tcPr>
                </a:tc>
                <a:tc>
                  <a:txBody>
                    <a:bodyPr>
                      <a:noAutofit/>
                    </a:bodyPr>
                    <a:lstStyle/>
                    <a:p>
                      <a:r>
                        <a:rPr sz="1650" b="1">
                          <a:solidFill>
                            <a:srgbClr val="171717"/>
                          </a:solidFill>
                          <a:latin typeface="Meiryo"/>
                          <a:ea typeface="Meiryo"/>
                          <a:cs typeface="Meiryo"/>
                        </a:rPr>
                        <a:t>Kernel PCA</a:t>
                      </a:r>
                    </a:p>
                  </a:txBody>
                  <a:tcPr marL="95250" marR="95250" marT="85725" marB="66675" anchor="ctr">
                    <a:solidFill>
                      <a:srgbClr val="F1F1F1"/>
                    </a:solidFill>
                  </a:tcPr>
                </a:tc>
              </a:tr>
              <a:tr h="619125">
                <a:tc>
                  <a:txBody>
                    <a:bodyPr>
                      <a:noAutofit/>
                    </a:bodyPr>
                    <a:lstStyle/>
                    <a:p>
                      <a:r>
                        <a:rPr sz="1650" b="0">
                          <a:solidFill>
                            <a:srgbClr val="171717"/>
                          </a:solidFill>
                          <a:latin typeface="Meiryo"/>
                          <a:ea typeface="Meiryo"/>
                          <a:cs typeface="Meiryo"/>
                        </a:rPr>
                        <a:t>Lorenz</a:t>
                      </a:r>
                    </a:p>
                  </a:txBody>
                  <a:tcPr marL="95250" marR="95250" marT="85725" marB="66675" anchor="ctr">
                    <a:solidFill>
                      <a:srgbClr val="FFFFFF"/>
                    </a:solidFill>
                  </a:tcPr>
                </a:tc>
                <a:tc>
                  <a:txBody>
                    <a:bodyPr>
                      <a:noAutofit/>
                    </a:bodyPr>
                    <a:lstStyle/>
                    <a:p>
                      <a:r>
                        <a:rPr sz="1650" b="0">
                          <a:solidFill>
                            <a:srgbClr val="171717"/>
                          </a:solidFill>
                          <a:latin typeface="Meiryo"/>
                          <a:ea typeface="Meiryo"/>
                          <a:cs typeface="Meiryo"/>
                        </a:rPr>
                        <a:t>0.5104</a:t>
                      </a:r>
                    </a:p>
                  </a:txBody>
                  <a:tcPr marL="95250" marR="95250" marT="85725" marB="66675" anchor="ctr">
                    <a:solidFill>
                      <a:srgbClr val="FFFFFF"/>
                    </a:solidFill>
                  </a:tcPr>
                </a:tc>
                <a:tc>
                  <a:txBody>
                    <a:bodyPr>
                      <a:noAutofit/>
                    </a:bodyPr>
                    <a:lstStyle/>
                    <a:p>
                      <a:r>
                        <a:rPr sz="1650" b="0">
                          <a:solidFill>
                            <a:srgbClr val="171717"/>
                          </a:solidFill>
                          <a:latin typeface="Meiryo"/>
                          <a:ea typeface="Meiryo"/>
                          <a:cs typeface="Meiryo"/>
                        </a:rPr>
                        <a:t>0.6473</a:t>
                      </a:r>
                    </a:p>
                  </a:txBody>
                  <a:tcPr marL="95250" marR="95250" marT="85725" marB="66675" anchor="ctr">
                    <a:solidFill>
                      <a:srgbClr val="FFFFFF"/>
                    </a:solidFill>
                  </a:tcPr>
                </a:tc>
                <a:tc>
                  <a:txBody>
                    <a:bodyPr>
                      <a:noAutofit/>
                    </a:bodyPr>
                    <a:lstStyle/>
                    <a:p>
                      <a:r>
                        <a:rPr sz="1650" b="0">
                          <a:solidFill>
                            <a:srgbClr val="171717"/>
                          </a:solidFill>
                          <a:latin typeface="Meiryo"/>
                          <a:ea typeface="Meiryo"/>
                          <a:cs typeface="Meiryo"/>
                        </a:rPr>
                        <a:t>0.7011</a:t>
                      </a:r>
                    </a:p>
                  </a:txBody>
                  <a:tcPr marL="95250" marR="95250" marT="85725" marB="66675" anchor="ctr">
                    <a:solidFill>
                      <a:srgbClr val="FFFFFF"/>
                    </a:solidFill>
                  </a:tcPr>
                </a:tc>
                <a:tc>
                  <a:txBody>
                    <a:bodyPr>
                      <a:noAutofit/>
                    </a:bodyPr>
                    <a:lstStyle/>
                    <a:p>
                      <a:r>
                        <a:rPr sz="1650" b="0">
                          <a:solidFill>
                            <a:srgbClr val="171717"/>
                          </a:solidFill>
                          <a:latin typeface="Meiryo"/>
                          <a:ea typeface="Meiryo"/>
                          <a:cs typeface="Meiryo"/>
                        </a:rPr>
                        <a:t>0.7045</a:t>
                      </a:r>
                    </a:p>
                  </a:txBody>
                  <a:tcPr marL="95250" marR="95250" marT="85725" marB="66675" anchor="ctr">
                    <a:solidFill>
                      <a:srgbClr val="FFFFFF"/>
                    </a:solidFill>
                  </a:tcPr>
                </a:tc>
              </a:tr>
              <a:tr h="619125">
                <a:tc>
                  <a:txBody>
                    <a:bodyPr>
                      <a:noAutofit/>
                    </a:bodyPr>
                    <a:lstStyle/>
                    <a:p>
                      <a:r>
                        <a:rPr sz="1650" b="0">
                          <a:solidFill>
                            <a:srgbClr val="171717"/>
                          </a:solidFill>
                          <a:latin typeface="Meiryo"/>
                          <a:ea typeface="Meiryo"/>
                          <a:cs typeface="Meiryo"/>
                        </a:rPr>
                        <a:t>Satellite-A</a:t>
                      </a:r>
                    </a:p>
                  </a:txBody>
                  <a:tcPr marL="95250" marR="95250" marT="85725" marB="66675" anchor="ctr">
                    <a:solidFill>
                      <a:srgbClr val="FFFFFF"/>
                    </a:solidFill>
                  </a:tcPr>
                </a:tc>
                <a:tc>
                  <a:txBody>
                    <a:bodyPr>
                      <a:noAutofit/>
                    </a:bodyPr>
                    <a:lstStyle/>
                    <a:p>
                      <a:r>
                        <a:rPr sz="1650" b="0">
                          <a:solidFill>
                            <a:srgbClr val="171717"/>
                          </a:solidFill>
                          <a:latin typeface="Meiryo"/>
                          <a:ea typeface="Meiryo"/>
                          <a:cs typeface="Meiryo"/>
                        </a:rPr>
                        <a:t>0.8852</a:t>
                      </a:r>
                    </a:p>
                  </a:txBody>
                  <a:tcPr marL="95250" marR="95250" marT="85725" marB="66675" anchor="ctr">
                    <a:solidFill>
                      <a:srgbClr val="FFFFFF"/>
                    </a:solidFill>
                  </a:tcPr>
                </a:tc>
                <a:tc>
                  <a:txBody>
                    <a:bodyPr>
                      <a:noAutofit/>
                    </a:bodyPr>
                    <a:lstStyle/>
                    <a:p>
                      <a:r>
                        <a:rPr sz="1650" b="0">
                          <a:solidFill>
                            <a:srgbClr val="171717"/>
                          </a:solidFill>
                          <a:latin typeface="Meiryo"/>
                          <a:ea typeface="Meiryo"/>
                          <a:cs typeface="Meiryo"/>
                        </a:rPr>
                        <a:t>0.8847</a:t>
                      </a:r>
                    </a:p>
                  </a:txBody>
                  <a:tcPr marL="95250" marR="95250" marT="85725" marB="66675" anchor="ctr">
                    <a:solidFill>
                      <a:srgbClr val="FFFFFF"/>
                    </a:solidFill>
                  </a:tcPr>
                </a:tc>
                <a:tc>
                  <a:txBody>
                    <a:bodyPr>
                      <a:noAutofit/>
                    </a:bodyPr>
                    <a:lstStyle/>
                    <a:p>
                      <a:r>
                        <a:rPr sz="1650" b="0">
                          <a:solidFill>
                            <a:srgbClr val="171717"/>
                          </a:solidFill>
                          <a:latin typeface="Meiryo"/>
                          <a:ea typeface="Meiryo"/>
                          <a:cs typeface="Meiryo"/>
                        </a:rPr>
                        <a:t>0.9354</a:t>
                      </a:r>
                    </a:p>
                  </a:txBody>
                  <a:tcPr marL="95250" marR="95250" marT="85725" marB="66675" anchor="ctr">
                    <a:solidFill>
                      <a:srgbClr val="FFFFFF"/>
                    </a:solidFill>
                  </a:tcPr>
                </a:tc>
                <a:tc>
                  <a:txBody>
                    <a:bodyPr>
                      <a:noAutofit/>
                    </a:bodyPr>
                    <a:lstStyle/>
                    <a:p>
                      <a:r>
                        <a:rPr sz="1650" b="0">
                          <a:solidFill>
                            <a:srgbClr val="171717"/>
                          </a:solidFill>
                          <a:latin typeface="Meiryo"/>
                          <a:ea typeface="Meiryo"/>
                          <a:cs typeface="Meiryo"/>
                        </a:rPr>
                        <a:t>0.8862</a:t>
                      </a:r>
                    </a:p>
                  </a:txBody>
                  <a:tcPr marL="95250" marR="95250" marT="85725" marB="66675" anchor="ctr">
                    <a:solidFill>
                      <a:srgbClr val="FFFFFF"/>
                    </a:solidFill>
                  </a:tcPr>
                </a:tc>
              </a:tr>
              <a:tr h="619125">
                <a:tc>
                  <a:txBody>
                    <a:bodyPr>
                      <a:noAutofit/>
                    </a:bodyPr>
                    <a:lstStyle/>
                    <a:p>
                      <a:r>
                        <a:rPr sz="1650" b="0">
                          <a:solidFill>
                            <a:srgbClr val="171717"/>
                          </a:solidFill>
                          <a:latin typeface="Meiryo"/>
                          <a:ea typeface="Meiryo"/>
                          <a:cs typeface="Meiryo"/>
                        </a:rPr>
                        <a:t>Satellite-B</a:t>
                      </a:r>
                    </a:p>
                  </a:txBody>
                  <a:tcPr marL="95250" marR="95250" marT="85725" marB="66675" anchor="ctr">
                    <a:solidFill>
                      <a:srgbClr val="FFFFFF"/>
                    </a:solidFill>
                  </a:tcPr>
                </a:tc>
                <a:tc>
                  <a:txBody>
                    <a:bodyPr>
                      <a:noAutofit/>
                    </a:bodyPr>
                    <a:lstStyle/>
                    <a:p>
                      <a:r>
                        <a:rPr sz="1650" b="0">
                          <a:solidFill>
                            <a:srgbClr val="171717"/>
                          </a:solidFill>
                          <a:latin typeface="Meiryo"/>
                          <a:ea typeface="Meiryo"/>
                          <a:cs typeface="Meiryo"/>
                        </a:rPr>
                        <a:t>0.9764</a:t>
                      </a:r>
                    </a:p>
                  </a:txBody>
                  <a:tcPr marL="95250" marR="95250" marT="85725" marB="66675" anchor="ctr">
                    <a:solidFill>
                      <a:srgbClr val="FFFFFF"/>
                    </a:solidFill>
                  </a:tcPr>
                </a:tc>
                <a:tc>
                  <a:txBody>
                    <a:bodyPr>
                      <a:noAutofit/>
                    </a:bodyPr>
                    <a:lstStyle/>
                    <a:p>
                      <a:r>
                        <a:rPr sz="1650" b="0">
                          <a:solidFill>
                            <a:srgbClr val="171717"/>
                          </a:solidFill>
                          <a:latin typeface="Meiryo"/>
                          <a:ea typeface="Meiryo"/>
                          <a:cs typeface="Meiryo"/>
                        </a:rPr>
                        <a:t>0.9763</a:t>
                      </a:r>
                    </a:p>
                  </a:txBody>
                  <a:tcPr marL="95250" marR="95250" marT="85725" marB="66675" anchor="ctr">
                    <a:solidFill>
                      <a:srgbClr val="FFFFFF"/>
                    </a:solidFill>
                  </a:tcPr>
                </a:tc>
                <a:tc>
                  <a:txBody>
                    <a:bodyPr>
                      <a:noAutofit/>
                    </a:bodyPr>
                    <a:lstStyle/>
                    <a:p>
                      <a:r>
                        <a:rPr sz="1650" b="0">
                          <a:solidFill>
                            <a:srgbClr val="171717"/>
                          </a:solidFill>
                          <a:latin typeface="Meiryo"/>
                          <a:ea typeface="Meiryo"/>
                          <a:cs typeface="Meiryo"/>
                        </a:rPr>
                        <a:t>0.8355</a:t>
                      </a:r>
                    </a:p>
                  </a:txBody>
                  <a:tcPr marL="95250" marR="95250" marT="85725" marB="66675" anchor="ctr">
                    <a:solidFill>
                      <a:srgbClr val="FFFFFF"/>
                    </a:solidFill>
                  </a:tcPr>
                </a:tc>
                <a:tc>
                  <a:txBody>
                    <a:bodyPr>
                      <a:noAutofit/>
                    </a:bodyPr>
                    <a:lstStyle/>
                    <a:p>
                      <a:r>
                        <a:rPr sz="1650" b="0">
                          <a:solidFill>
                            <a:srgbClr val="171717"/>
                          </a:solidFill>
                          <a:latin typeface="Meiryo"/>
                          <a:ea typeface="Meiryo"/>
                          <a:cs typeface="Meiryo"/>
                        </a:rPr>
                        <a:t>0.7689</a:t>
                      </a:r>
                    </a:p>
                  </a:txBody>
                  <a:tcPr marL="95250" marR="95250" marT="85725" marB="66675" anchor="ctr">
                    <a:solidFill>
                      <a:srgbClr val="FFFFFF"/>
                    </a:solidFill>
                  </a:tcPr>
                </a:tc>
              </a:tr>
            </a:tbl>
          </a:graphicData>
        </a:graphic>
      </p:graphicFrame>
      <p:sp>
        <p:nvSpPr>
          <p:cNvPr id="536" name="">
            <a:extLst xmlns:a="http://schemas.openxmlformats.org/drawingml/2006/main">
              <a:ext uri="{FF2B5EF4-FFF2-40B4-BE49-F238E27FC236}">
                <a16:creationId xmlns:a16="http://schemas.microsoft.com/office/drawing/2014/main" id="{BCCA45A9-4BF8-484C-A995-495957FB9808}"/>
              </a:ext>
            </a:extLst>
          </p:cNvPr>
          <p:cNvSpPr>
            <a:spLocks xmlns:a="http://schemas.openxmlformats.org/drawingml/2006/main" noGrp="1"/>
          </p:cNvSpPr>
          <p:nvPr/>
        </p:nvSpPr>
        <p:spPr>
          <a:xfrm xmlns:a="http://schemas.openxmlformats.org/drawingml/2006/main">
            <a:off x="393668" y="5810250"/>
            <a:ext cx="1119187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725" b="1">
                <a:solidFill>
                  <a:srgbClr val="171717"/>
                </a:solidFill>
                <a:latin typeface="Meiryo"/>
                <a:ea typeface="Meiryo"/>
                <a:cs typeface="Meiryo"/>
              </a:defRPr>
            </a:pPr>
            <a:r>
              <a:rPr sz="1725" b="1">
                <a:solidFill>
                  <a:srgbClr val="171717"/>
                </a:solidFill>
                <a:latin typeface="Meiryo"/>
                <a:ea typeface="Meiryo"/>
                <a:cs typeface="Meiryo"/>
              </a:rPr>
              <a:t>Satellite-Aでは改善したが、Satellite-Bでは低下した</a:t>
            </a:r>
          </a:p>
        </p:txBody>
      </p:sp>
      <p:sp>
        <p:nvSpPr>
          <p:cNvPr id="537" name="">
            <a:extLst xmlns:a="http://schemas.openxmlformats.org/drawingml/2006/main">
              <a:ext uri="{FF2B5EF4-FFF2-40B4-BE49-F238E27FC236}">
                <a16:creationId xmlns:a16="http://schemas.microsoft.com/office/drawing/2014/main" id="{0B6477AF-3AA2-4351-A631-5F5F7B3B629D}"/>
              </a:ext>
            </a:extLst>
          </p:cNvPr>
          <p:cNvSpPr>
            <a:spLocks xmlns:a="http://schemas.openxmlformats.org/drawingml/2006/main" noGrp="1"/>
          </p:cNvSpPr>
          <p:nvPr/>
        </p:nvSpPr>
        <p:spPr>
          <a:xfrm xmlns:a="http://schemas.openxmlformats.org/drawingml/2006/main">
            <a:off x="393668" y="6334125"/>
            <a:ext cx="10668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975" b="0">
                <a:solidFill>
                  <a:srgbClr val="656565"/>
                </a:solidFill>
                <a:latin typeface="Meiryo"/>
                <a:ea typeface="Meiryo"/>
                <a:cs typeface="Meiryo"/>
              </a:defRPr>
            </a:pPr>
            <a:r>
              <a:rPr sz="975" b="0">
                <a:solidFill>
                  <a:srgbClr val="656565"/>
                </a:solidFill>
                <a:latin typeface="Meiryo"/>
                <a:ea typeface="Meiryo"/>
                <a:cs typeface="Meiryo"/>
              </a:rPr>
              <a:t>14 §4–5、Table 1。対象：25次元合成、17次元・106次元の衛星データ</a:t>
            </a:r>
          </a:p>
        </p:txBody>
      </p:sp>
    </p:spTree>
    <p:extLst>
      <p:ext uri="{BB962C8B-B14F-4D97-AF65-F5344CB8AC3E}">
        <p14:creationId xmlns:p14="http://schemas.microsoft.com/office/powerpoint/2010/main" val="329854879"/>
      </p:ext>
    </p:extLst>
  </p:cSld>
</p:sld>
</file>

<file path=ppt/slides/slide15.xml><?xml version="1.0" encoding="utf-8"?>
<p:sld xmlns:p="http://schemas.openxmlformats.org/presentationml/2006/main">
  <p:cSld>
    <p:spTree>
      <p:nvGrpSpPr>
        <p:cNvPr id="1" name=""/>
        <p:cNvGrpSpPr/>
        <p:nvPr/>
      </p:nvGrpSpPr>
      <p:grpSpPr>
        <a:xfrm xmlns:a="http://schemas.openxmlformats.org/drawingml/2006/main"/>
      </p:grpSpPr>
      <p:sp>
        <p:nvSpPr>
          <p:cNvPr id="532" name="Google Shape;532;p58">
            <a:extLst xmlns:a="http://schemas.openxmlformats.org/drawingml/2006/main">
              <a:ext uri="{FF2B5EF4-FFF2-40B4-BE49-F238E27FC236}">
                <a16:creationId xmlns:a16="http://schemas.microsoft.com/office/drawing/2014/main" id="{1BCBE750-7048-686D-1472-52C53362D6CD}"/>
              </a:ext>
            </a:extLst>
          </p:cNvPr>
          <p:cNvSpPr>
            <a:spLocks xmlns:a="http://schemas.openxmlformats.org/drawingml/2006/main" noGrp="1"/>
          </p:cNvSpPr>
          <p:nvPr>
            <p:ph type="sldNum" idx="4"/>
          </p:nvPr>
        </p:nvSpPr>
        <p:spPr>
          <a:xfrm xmlns:a="http://schemas.openxmlformats.org/drawingml/2006/main">
            <a:off x="11279332" y="6279294"/>
            <a:ext cx="518968" cy="241240"/>
          </a:xfr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pPr>
              <a:defRPr sz="975" b="0">
                <a:solidFill>
                  <a:srgbClr val="171717"/>
                </a:solidFill>
                <a:latin typeface="Meiryo"/>
                <a:ea typeface="Meiryo"/>
                <a:cs typeface="Meiryo"/>
              </a:defRPr>
            </a:pPr>
            <a:fld id="{EA83FA91-883A-0168-8075-96CEB9DCA3C2}" type="slidenum">
              <a:rPr sz="975" b="0">
                <a:solidFill>
                  <a:srgbClr val="171717"/>
                </a:solidFill>
                <a:latin typeface="Meiryo"/>
                <a:ea typeface="Meiryo"/>
                <a:cs typeface="Meiryo"/>
              </a:rPr>
              <a:t>15</a:t>
            </a:fld>
            <a:endParaRPr/>
          </a:p>
        </p:txBody>
      </p:sp>
      <p:sp>
        <p:nvSpPr>
          <p:cNvPr id="533" name="Google Shape;533;p58">
            <a:extLst xmlns:a="http://schemas.openxmlformats.org/drawingml/2006/main">
              <a:ext uri="{FF2B5EF4-FFF2-40B4-BE49-F238E27FC236}">
                <a16:creationId xmlns:a16="http://schemas.microsoft.com/office/drawing/2014/main" id="{1B5D55CD-1C17-7CD8-F26A-2DD65B067687}"/>
              </a:ext>
            </a:extLst>
          </p:cNvPr>
          <p:cNvSpPr>
            <a:spLocks xmlns:a="http://schemas.openxmlformats.org/drawingml/2006/main" noGrp="1"/>
          </p:cNvSpPr>
          <p:nvPr>
            <p:ph type="title" idx="0"/>
          </p:nvPr>
        </p:nvSpPr>
        <p:spPr>
          <a:xfrm xmlns:a="http://schemas.openxmlformats.org/drawingml/2006/main">
            <a:off x="393668" y="344043"/>
            <a:ext cx="11404568" cy="952500"/>
          </a:xfr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pPr>
              <a:defRPr sz="2700" b="0">
                <a:solidFill>
                  <a:srgbClr val="171717"/>
                </a:solidFill>
                <a:latin typeface="Meiryo"/>
                <a:ea typeface="Meiryo"/>
                <a:cs typeface="Meiryo"/>
              </a:defRPr>
            </a:pPr>
            <a:r>
              <a:rPr sz="2700" b="0">
                <a:solidFill>
                  <a:srgbClr val="171717"/>
                </a:solidFill>
                <a:latin typeface="Meiryo"/>
                <a:ea typeface="Meiryo"/>
                <a:cs typeface="Meiryo"/>
              </a:rPr>
              <a:t>13：予測に関係する変数と近傍を使うOutPro</a:t>
            </a:r>
          </a:p>
        </p:txBody>
      </p:sp>
      <p:sp>
        <p:nvSpPr>
          <p:cNvPr id="534" name="">
            <a:extLst xmlns:a="http://schemas.openxmlformats.org/drawingml/2006/main">
              <a:ext uri="{FF2B5EF4-FFF2-40B4-BE49-F238E27FC236}">
                <a16:creationId xmlns:a16="http://schemas.microsoft.com/office/drawing/2014/main" id="{BA5931ED-D51A-4039-8FCB-152A9FD8C170}"/>
              </a:ext>
            </a:extLst>
          </p:cNvPr>
          <p:cNvSpPr>
            <a:spLocks xmlns:a="http://schemas.openxmlformats.org/drawingml/2006/main" noGrp="1"/>
          </p:cNvSpPr>
          <p:nvPr/>
        </p:nvSpPr>
        <p:spPr>
          <a:xfrm xmlns:a="http://schemas.openxmlformats.org/drawingml/2006/main">
            <a:off x="393668" y="1838325"/>
            <a:ext cx="5540359"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00" b="1">
                <a:solidFill>
                  <a:srgbClr val="171717"/>
                </a:solidFill>
                <a:latin typeface="Meiryo"/>
                <a:ea typeface="Meiryo"/>
                <a:cs typeface="Meiryo"/>
              </a:defRPr>
            </a:pPr>
            <a:r>
              <a:rPr sz="2100" b="1">
                <a:solidFill>
                  <a:srgbClr val="171717"/>
                </a:solidFill>
                <a:latin typeface="Meiryo"/>
                <a:ea typeface="Meiryo"/>
                <a:cs typeface="Meiryo"/>
              </a:rPr>
              <a:t>訓練時</a:t>
            </a:r>
          </a:p>
        </p:txBody>
      </p:sp>
      <p:sp>
        <p:nvSpPr>
          <p:cNvPr id="535" name="">
            <a:extLst xmlns:a="http://schemas.openxmlformats.org/drawingml/2006/main">
              <a:ext uri="{FF2B5EF4-FFF2-40B4-BE49-F238E27FC236}">
                <a16:creationId xmlns:a16="http://schemas.microsoft.com/office/drawing/2014/main" id="{BFB1B43E-CD13-4B3A-81FE-DDB962539DA9}"/>
              </a:ext>
            </a:extLst>
          </p:cNvPr>
          <p:cNvSpPr>
            <a:spLocks xmlns:a="http://schemas.openxmlformats.org/drawingml/2006/main" noGrp="1"/>
          </p:cNvSpPr>
          <p:nvPr/>
        </p:nvSpPr>
        <p:spPr>
          <a:xfrm xmlns:a="http://schemas.openxmlformats.org/drawingml/2006/main">
            <a:off x="393668" y="2505075"/>
            <a:ext cx="5540359" cy="285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950" b="0">
                <a:solidFill>
                  <a:srgbClr val="171717"/>
                </a:solidFill>
                <a:latin typeface="Meiryo"/>
                <a:ea typeface="Meiryo"/>
                <a:cs typeface="Meiryo"/>
              </a:defRPr>
            </a:pPr>
            <a:r>
              <a:rPr sz="1950" b="0">
                <a:solidFill>
                  <a:srgbClr val="171717"/>
                </a:solidFill>
                <a:latin typeface="Meiryo"/>
                <a:ea typeface="Meiryo"/>
                <a:cs typeface="Meiryo"/>
              </a:rPr>
              <a:t>1　IDデータ(X, Y)で森林を学習</a:t>
            </a:r>
          </a:p>
          <a:p xmlns:a="http://schemas.openxmlformats.org/drawingml/2006/main">
            <a:r>
              <a:t/>
            </a:r>
          </a:p>
          <a:p xmlns:a="http://schemas.openxmlformats.org/drawingml/2006/main">
            <a:pPr>
              <a:defRPr sz="1950" b="0">
                <a:solidFill>
                  <a:srgbClr val="171717"/>
                </a:solidFill>
                <a:latin typeface="Meiryo"/>
                <a:ea typeface="Meiryo"/>
                <a:cs typeface="Meiryo"/>
              </a:defRPr>
            </a:pPr>
            <a:r>
              <a:rPr sz="1950" b="0">
                <a:solidFill>
                  <a:srgbClr val="171717"/>
                </a:solidFill>
                <a:latin typeface="Meiryo"/>
                <a:ea typeface="Meiryo"/>
                <a:cs typeface="Meiryo"/>
              </a:rPr>
              <a:t>2　VarProで信号変数Sと重みを選択</a:t>
            </a:r>
          </a:p>
          <a:p xmlns:a="http://schemas.openxmlformats.org/drawingml/2006/main">
            <a:r>
              <a:t/>
            </a:r>
          </a:p>
          <a:p xmlns:a="http://schemas.openxmlformats.org/drawingml/2006/main">
            <a:pPr>
              <a:defRPr sz="1950" b="0">
                <a:solidFill>
                  <a:srgbClr val="171717"/>
                </a:solidFill>
                <a:latin typeface="Meiryo"/>
                <a:ea typeface="Meiryo"/>
                <a:cs typeface="Meiryo"/>
              </a:defRPr>
            </a:pPr>
            <a:r>
              <a:rPr sz="1950" b="0">
                <a:solidFill>
                  <a:srgbClr val="171717"/>
                </a:solidFill>
                <a:latin typeface="Meiryo"/>
                <a:ea typeface="Meiryo"/>
                <a:cs typeface="Meiryo"/>
              </a:rPr>
              <a:t>回帰の目的変数を利用して、比較すべき入力空間を定める。</a:t>
            </a:r>
          </a:p>
        </p:txBody>
      </p:sp>
      <p:sp>
        <p:nvSpPr>
          <p:cNvPr id="536" name="">
            <a:extLst xmlns:a="http://schemas.openxmlformats.org/drawingml/2006/main">
              <a:ext uri="{FF2B5EF4-FFF2-40B4-BE49-F238E27FC236}">
                <a16:creationId xmlns:a16="http://schemas.microsoft.com/office/drawing/2014/main" id="{5C0B0F3C-3D7B-4678-8F40-B4BCC4508664}"/>
              </a:ext>
            </a:extLst>
          </p:cNvPr>
          <p:cNvSpPr>
            <a:spLocks xmlns:a="http://schemas.openxmlformats.org/drawingml/2006/main" noGrp="1"/>
          </p:cNvSpPr>
          <p:nvPr/>
        </p:nvSpPr>
        <p:spPr>
          <a:xfrm xmlns:a="http://schemas.openxmlformats.org/drawingml/2006/main">
            <a:off x="6257877" y="1838325"/>
            <a:ext cx="5540359"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00" b="1">
                <a:solidFill>
                  <a:srgbClr val="171717"/>
                </a:solidFill>
                <a:latin typeface="Meiryo"/>
                <a:ea typeface="Meiryo"/>
                <a:cs typeface="Meiryo"/>
              </a:defRPr>
            </a:pPr>
            <a:r>
              <a:rPr sz="2100" b="1">
                <a:solidFill>
                  <a:srgbClr val="171717"/>
                </a:solidFill>
                <a:latin typeface="Meiryo"/>
                <a:ea typeface="Meiryo"/>
                <a:cs typeface="Meiryo"/>
              </a:rPr>
              <a:t>運用時</a:t>
            </a:r>
          </a:p>
        </p:txBody>
      </p:sp>
      <p:sp>
        <p:nvSpPr>
          <p:cNvPr id="537" name="">
            <a:extLst xmlns:a="http://schemas.openxmlformats.org/drawingml/2006/main">
              <a:ext uri="{FF2B5EF4-FFF2-40B4-BE49-F238E27FC236}">
                <a16:creationId xmlns:a16="http://schemas.microsoft.com/office/drawing/2014/main" id="{14CF9D79-5E45-4EB2-81A3-2B41C5DFEFD0}"/>
              </a:ext>
            </a:extLst>
          </p:cNvPr>
          <p:cNvSpPr>
            <a:spLocks xmlns:a="http://schemas.openxmlformats.org/drawingml/2006/main" noGrp="1"/>
          </p:cNvSpPr>
          <p:nvPr/>
        </p:nvSpPr>
        <p:spPr>
          <a:xfrm xmlns:a="http://schemas.openxmlformats.org/drawingml/2006/main">
            <a:off x="6257877" y="2505075"/>
            <a:ext cx="5540359" cy="285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950" b="0">
                <a:solidFill>
                  <a:srgbClr val="171717"/>
                </a:solidFill>
                <a:latin typeface="Meiryo"/>
                <a:ea typeface="Meiryo"/>
                <a:cs typeface="Meiryo"/>
              </a:defRPr>
            </a:pPr>
            <a:r>
              <a:rPr sz="1950" b="0">
                <a:solidFill>
                  <a:srgbClr val="171717"/>
                </a:solidFill>
                <a:latin typeface="Meiryo"/>
                <a:ea typeface="Meiryo"/>
                <a:cs typeface="Meiryo"/>
              </a:rPr>
              <a:t>3　テスト点を含むルールを取得</a:t>
            </a:r>
          </a:p>
          <a:p xmlns:a="http://schemas.openxmlformats.org/drawingml/2006/main">
            <a:r>
              <a:t/>
            </a:r>
          </a:p>
          <a:p xmlns:a="http://schemas.openxmlformats.org/drawingml/2006/main">
            <a:pPr>
              <a:defRPr sz="1950" b="0">
                <a:solidFill>
                  <a:srgbClr val="171717"/>
                </a:solidFill>
                <a:latin typeface="Meiryo"/>
                <a:ea typeface="Meiryo"/>
                <a:cs typeface="Meiryo"/>
              </a:defRPr>
            </a:pPr>
            <a:r>
              <a:rPr sz="1950" b="0">
                <a:solidFill>
                  <a:srgbClr val="171717"/>
                </a:solidFill>
                <a:latin typeface="Meiryo"/>
                <a:ea typeface="Meiryo"/>
                <a:cs typeface="Meiryo"/>
              </a:rPr>
              <a:t>4　制約を緩和した領域から近傍を選択</a:t>
            </a:r>
          </a:p>
          <a:p xmlns:a="http://schemas.openxmlformats.org/drawingml/2006/main">
            <a:r>
              <a:t/>
            </a:r>
          </a:p>
          <a:p xmlns:a="http://schemas.openxmlformats.org/drawingml/2006/main">
            <a:pPr>
              <a:defRPr sz="1950" b="0">
                <a:solidFill>
                  <a:srgbClr val="171717"/>
                </a:solidFill>
                <a:latin typeface="Meiryo"/>
                <a:ea typeface="Meiryo"/>
                <a:cs typeface="Meiryo"/>
              </a:defRPr>
            </a:pPr>
            <a:r>
              <a:rPr sz="1950" b="0">
                <a:solidFill>
                  <a:srgbClr val="171717"/>
                </a:solidFill>
                <a:latin typeface="Meiryo"/>
                <a:ea typeface="Meiryo"/>
                <a:cs typeface="Meiryo"/>
              </a:rPr>
              <a:t>5　S上で近傍との距離を計算</a:t>
            </a:r>
          </a:p>
        </p:txBody>
      </p:sp>
      <p:sp>
        <p:nvSpPr>
          <p:cNvPr id="538" name="">
            <a:extLst xmlns:a="http://schemas.openxmlformats.org/drawingml/2006/main">
              <a:ext uri="{FF2B5EF4-FFF2-40B4-BE49-F238E27FC236}">
                <a16:creationId xmlns:a16="http://schemas.microsoft.com/office/drawing/2014/main" id="{C3DE2887-5CCF-4A98-B5E8-3C1440175553}"/>
              </a:ext>
            </a:extLst>
          </p:cNvPr>
          <p:cNvSpPr>
            <a:spLocks xmlns:a="http://schemas.openxmlformats.org/drawingml/2006/main" noGrp="1"/>
          </p:cNvSpPr>
          <p:nvPr/>
        </p:nvSpPr>
        <p:spPr>
          <a:xfrm xmlns:a="http://schemas.openxmlformats.org/drawingml/2006/main">
            <a:off x="393668" y="5810250"/>
            <a:ext cx="1119187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725" b="1">
                <a:solidFill>
                  <a:srgbClr val="171717"/>
                </a:solidFill>
                <a:latin typeface="Meiryo"/>
                <a:ea typeface="Meiryo"/>
                <a:cs typeface="Meiryo"/>
              </a:defRPr>
            </a:pPr>
            <a:r>
              <a:rPr sz="1725" b="1">
                <a:solidFill>
                  <a:srgbClr val="171717"/>
                </a:solidFill>
                <a:latin typeface="Meiryo"/>
                <a:ea typeface="Meiryo"/>
                <a:cs typeface="Meiryo"/>
              </a:rPr>
              <a:t>一般的な距離検知と異なり、教師あり森林が変数選択と近傍形成に関与する</a:t>
            </a:r>
          </a:p>
        </p:txBody>
      </p:sp>
      <p:sp>
        <p:nvSpPr>
          <p:cNvPr id="539" name="">
            <a:extLst xmlns:a="http://schemas.openxmlformats.org/drawingml/2006/main">
              <a:ext uri="{FF2B5EF4-FFF2-40B4-BE49-F238E27FC236}">
                <a16:creationId xmlns:a16="http://schemas.microsoft.com/office/drawing/2014/main" id="{0CC88B4E-780A-453D-A3F7-05D2A45908B9}"/>
              </a:ext>
            </a:extLst>
          </p:cNvPr>
          <p:cNvSpPr>
            <a:spLocks xmlns:a="http://schemas.openxmlformats.org/drawingml/2006/main" noGrp="1"/>
          </p:cNvSpPr>
          <p:nvPr/>
        </p:nvSpPr>
        <p:spPr>
          <a:xfrm xmlns:a="http://schemas.openxmlformats.org/drawingml/2006/main">
            <a:off x="393668" y="6334125"/>
            <a:ext cx="10668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975" b="0">
                <a:solidFill>
                  <a:srgbClr val="656565"/>
                </a:solidFill>
                <a:latin typeface="Meiryo"/>
                <a:ea typeface="Meiryo"/>
                <a:cs typeface="Meiryo"/>
              </a:defRPr>
            </a:pPr>
            <a:r>
              <a:rPr sz="975" b="0">
                <a:solidFill>
                  <a:srgbClr val="656565"/>
                </a:solidFill>
                <a:latin typeface="Meiryo"/>
                <a:ea typeface="Meiryo"/>
                <a:cs typeface="Meiryo"/>
              </a:rPr>
              <a:t>13 §3、Algorithm 1。OutPro = OOD using variable priority</a:t>
            </a:r>
          </a:p>
        </p:txBody>
      </p:sp>
    </p:spTree>
    <p:extLst>
      <p:ext uri="{BB962C8B-B14F-4D97-AF65-F5344CB8AC3E}">
        <p14:creationId xmlns:p14="http://schemas.microsoft.com/office/powerpoint/2010/main" val="3667182145"/>
      </p:ext>
    </p:extLst>
  </p:cSld>
</p:sld>
</file>

<file path=ppt/slides/slide16.xml><?xml version="1.0" encoding="utf-8"?>
<p:sld xmlns:p="http://schemas.openxmlformats.org/presentationml/2006/main">
  <p:cSld>
    <p:spTree>
      <p:nvGrpSpPr>
        <p:cNvPr id="1" name=""/>
        <p:cNvGrpSpPr/>
        <p:nvPr/>
      </p:nvGrpSpPr>
      <p:grpSpPr>
        <a:xfrm xmlns:a="http://schemas.openxmlformats.org/drawingml/2006/main"/>
      </p:grpSpPr>
      <p:sp>
        <p:nvSpPr>
          <p:cNvPr id="532" name="Google Shape;532;p58">
            <a:extLst xmlns:a="http://schemas.openxmlformats.org/drawingml/2006/main">
              <a:ext uri="{FF2B5EF4-FFF2-40B4-BE49-F238E27FC236}">
                <a16:creationId xmlns:a16="http://schemas.microsoft.com/office/drawing/2014/main" id="{1BCBE750-7048-686D-1472-52C53362D6CD}"/>
              </a:ext>
            </a:extLst>
          </p:cNvPr>
          <p:cNvSpPr>
            <a:spLocks xmlns:a="http://schemas.openxmlformats.org/drawingml/2006/main" noGrp="1"/>
          </p:cNvSpPr>
          <p:nvPr>
            <p:ph type="sldNum" idx="4"/>
          </p:nvPr>
        </p:nvSpPr>
        <p:spPr>
          <a:xfrm xmlns:a="http://schemas.openxmlformats.org/drawingml/2006/main">
            <a:off x="11279332" y="6279294"/>
            <a:ext cx="518968" cy="241240"/>
          </a:xfr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pPr>
              <a:defRPr sz="975" b="0">
                <a:solidFill>
                  <a:srgbClr val="171717"/>
                </a:solidFill>
                <a:latin typeface="Meiryo"/>
                <a:ea typeface="Meiryo"/>
                <a:cs typeface="Meiryo"/>
              </a:defRPr>
            </a:pPr>
            <a:fld id="{DC9C7607-4BA3-B4DC-A00F-2E67A9FCFF7E}" type="slidenum">
              <a:rPr sz="975" b="0">
                <a:solidFill>
                  <a:srgbClr val="171717"/>
                </a:solidFill>
                <a:latin typeface="Meiryo"/>
                <a:ea typeface="Meiryo"/>
                <a:cs typeface="Meiryo"/>
              </a:rPr>
              <a:t>16</a:t>
            </a:fld>
            <a:endParaRPr/>
          </a:p>
        </p:txBody>
      </p:sp>
      <p:sp>
        <p:nvSpPr>
          <p:cNvPr id="533" name="Google Shape;533;p58">
            <a:extLst xmlns:a="http://schemas.openxmlformats.org/drawingml/2006/main">
              <a:ext uri="{FF2B5EF4-FFF2-40B4-BE49-F238E27FC236}">
                <a16:creationId xmlns:a16="http://schemas.microsoft.com/office/drawing/2014/main" id="{1B5D55CD-1C17-7CD8-F26A-2DD65B067687}"/>
              </a:ext>
            </a:extLst>
          </p:cNvPr>
          <p:cNvSpPr>
            <a:spLocks xmlns:a="http://schemas.openxmlformats.org/drawingml/2006/main" noGrp="1"/>
          </p:cNvSpPr>
          <p:nvPr>
            <p:ph type="title" idx="0"/>
          </p:nvPr>
        </p:nvSpPr>
        <p:spPr>
          <a:xfrm xmlns:a="http://schemas.openxmlformats.org/drawingml/2006/main">
            <a:off x="393668" y="344043"/>
            <a:ext cx="11404568" cy="952500"/>
          </a:xfr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pPr>
              <a:defRPr sz="2700" b="0">
                <a:solidFill>
                  <a:srgbClr val="171717"/>
                </a:solidFill>
                <a:latin typeface="Meiryo"/>
                <a:ea typeface="Meiryo"/>
                <a:cs typeface="Meiryo"/>
              </a:defRPr>
            </a:pPr>
            <a:r>
              <a:rPr sz="2700" b="0">
                <a:solidFill>
                  <a:srgbClr val="171717"/>
                </a:solidFill>
                <a:latin typeface="Meiryo"/>
                <a:ea typeface="Meiryo"/>
                <a:cs typeface="Meiryo"/>
              </a:rPr>
              <a:t>13：回帰での有効性と適用上の制約</a:t>
            </a:r>
          </a:p>
        </p:txBody>
      </p:sp>
      <p:sp>
        <p:nvSpPr>
          <p:cNvPr id="534" name="">
            <a:extLst xmlns:a="http://schemas.openxmlformats.org/drawingml/2006/main">
              <a:ext uri="{FF2B5EF4-FFF2-40B4-BE49-F238E27FC236}">
                <a16:creationId xmlns:a16="http://schemas.microsoft.com/office/drawing/2014/main" id="{BC9EED4E-4B0F-4FFD-B987-1AE138DA7AC4}"/>
              </a:ext>
            </a:extLst>
          </p:cNvPr>
          <p:cNvSpPr>
            <a:spLocks xmlns:a="http://schemas.openxmlformats.org/drawingml/2006/main" noGrp="1"/>
          </p:cNvSpPr>
          <p:nvPr/>
        </p:nvSpPr>
        <p:spPr>
          <a:xfrm xmlns:a="http://schemas.openxmlformats.org/drawingml/2006/main">
            <a:off x="393668" y="1838325"/>
            <a:ext cx="5540359"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00" b="1">
                <a:solidFill>
                  <a:srgbClr val="171717"/>
                </a:solidFill>
                <a:latin typeface="Meiryo"/>
                <a:ea typeface="Meiryo"/>
                <a:cs typeface="Meiryo"/>
              </a:defRPr>
            </a:pPr>
            <a:r>
              <a:rPr sz="2100" b="1">
                <a:solidFill>
                  <a:srgbClr val="171717"/>
                </a:solidFill>
                <a:latin typeface="Meiryo"/>
                <a:ea typeface="Meiryo"/>
                <a:cs typeface="Meiryo"/>
              </a:rPr>
              <a:t>評価と結果</a:t>
            </a:r>
          </a:p>
        </p:txBody>
      </p:sp>
      <p:sp>
        <p:nvSpPr>
          <p:cNvPr id="535" name="">
            <a:extLst xmlns:a="http://schemas.openxmlformats.org/drawingml/2006/main">
              <a:ext uri="{FF2B5EF4-FFF2-40B4-BE49-F238E27FC236}">
                <a16:creationId xmlns:a16="http://schemas.microsoft.com/office/drawing/2014/main" id="{84C7B836-D426-4ACE-810D-ACC2F6621FA2}"/>
              </a:ext>
            </a:extLst>
          </p:cNvPr>
          <p:cNvSpPr>
            <a:spLocks xmlns:a="http://schemas.openxmlformats.org/drawingml/2006/main" noGrp="1"/>
          </p:cNvSpPr>
          <p:nvPr/>
        </p:nvSpPr>
        <p:spPr>
          <a:xfrm xmlns:a="http://schemas.openxmlformats.org/drawingml/2006/main">
            <a:off x="393668" y="2505075"/>
            <a:ext cx="5540359" cy="285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950" b="0">
                <a:solidFill>
                  <a:srgbClr val="171717"/>
                </a:solidFill>
                <a:latin typeface="Meiryo"/>
                <a:ea typeface="Meiryo"/>
                <a:cs typeface="Meiryo"/>
              </a:defRPr>
            </a:pPr>
            <a:r>
              <a:rPr sz="1950" b="0">
                <a:solidFill>
                  <a:srgbClr val="171717"/>
                </a:solidFill>
                <a:latin typeface="Meiryo"/>
                <a:ea typeface="Meiryo"/>
                <a:cs typeface="Meiryo"/>
              </a:rPr>
              <a:t>61個のPMLB回帰データセット</a:t>
            </a:r>
          </a:p>
          <a:p xmlns:a="http://schemas.openxmlformats.org/drawingml/2006/main">
            <a:pPr>
              <a:defRPr sz="1950" b="0">
                <a:solidFill>
                  <a:srgbClr val="171717"/>
                </a:solidFill>
                <a:latin typeface="Meiryo"/>
                <a:ea typeface="Meiryo"/>
                <a:cs typeface="Meiryo"/>
              </a:defRPr>
            </a:pPr>
            <a:r>
              <a:rPr sz="1950" b="0">
                <a:solidFill>
                  <a:srgbClr val="171717"/>
                </a:solidFill>
                <a:latin typeface="Meiryo"/>
                <a:ea typeface="Meiryo"/>
                <a:cs typeface="Meiryo"/>
              </a:rPr>
              <a:t>80% / 20%でランダム分割</a:t>
            </a:r>
          </a:p>
          <a:p xmlns:a="http://schemas.openxmlformats.org/drawingml/2006/main">
            <a:pPr>
              <a:defRPr sz="1950" b="0">
                <a:solidFill>
                  <a:srgbClr val="171717"/>
                </a:solidFill>
                <a:latin typeface="Meiryo"/>
                <a:ea typeface="Meiryo"/>
                <a:cs typeface="Meiryo"/>
              </a:defRPr>
            </a:pPr>
            <a:r>
              <a:rPr sz="1950" b="0">
                <a:solidFill>
                  <a:srgbClr val="171717"/>
                </a:solidFill>
                <a:latin typeface="Meiryo"/>
                <a:ea typeface="Meiryo"/>
                <a:cs typeface="Meiryo"/>
              </a:rPr>
              <a:t>AUC-PR、100回の反復評価</a:t>
            </a:r>
          </a:p>
          <a:p xmlns:a="http://schemas.openxmlformats.org/drawingml/2006/main">
            <a:r>
              <a:t/>
            </a:r>
          </a:p>
          <a:p xmlns:a="http://schemas.openxmlformats.org/drawingml/2006/main">
            <a:pPr>
              <a:defRPr sz="1950" b="0">
                <a:solidFill>
                  <a:srgbClr val="171717"/>
                </a:solidFill>
                <a:latin typeface="Meiryo"/>
                <a:ea typeface="Meiryo"/>
                <a:cs typeface="Meiryo"/>
              </a:defRPr>
            </a:pPr>
            <a:r>
              <a:rPr sz="1950" b="0">
                <a:solidFill>
                  <a:srgbClr val="171717"/>
                </a:solidFill>
                <a:latin typeface="Meiryo"/>
                <a:ea typeface="Meiryo"/>
                <a:cs typeface="Meiryo"/>
              </a:rPr>
              <a:t>jointの変化ではOutProが上位。</a:t>
            </a:r>
          </a:p>
          <a:p xmlns:a="http://schemas.openxmlformats.org/drawingml/2006/main">
            <a:pPr>
              <a:defRPr sz="1950" b="0">
                <a:solidFill>
                  <a:srgbClr val="171717"/>
                </a:solidFill>
                <a:latin typeface="Meiryo"/>
                <a:ea typeface="Meiryo"/>
                <a:cs typeface="Meiryo"/>
              </a:defRPr>
            </a:pPr>
            <a:r>
              <a:rPr sz="1950" b="0">
                <a:solidFill>
                  <a:srgbClr val="171717"/>
                </a:solidFill>
                <a:latin typeface="Meiryo"/>
                <a:ea typeface="Meiryo"/>
                <a:cs typeface="Meiryo"/>
              </a:rPr>
              <a:t>warpでは従来型検知器が優位な場合もある。</a:t>
            </a:r>
          </a:p>
        </p:txBody>
      </p:sp>
      <p:sp>
        <p:nvSpPr>
          <p:cNvPr id="536" name="">
            <a:extLst xmlns:a="http://schemas.openxmlformats.org/drawingml/2006/main">
              <a:ext uri="{FF2B5EF4-FFF2-40B4-BE49-F238E27FC236}">
                <a16:creationId xmlns:a16="http://schemas.microsoft.com/office/drawing/2014/main" id="{D04BD623-F742-469C-BCB1-98A88C07D9FC}"/>
              </a:ext>
            </a:extLst>
          </p:cNvPr>
          <p:cNvSpPr>
            <a:spLocks xmlns:a="http://schemas.openxmlformats.org/drawingml/2006/main" noGrp="1"/>
          </p:cNvSpPr>
          <p:nvPr/>
        </p:nvSpPr>
        <p:spPr>
          <a:xfrm xmlns:a="http://schemas.openxmlformats.org/drawingml/2006/main">
            <a:off x="6257877" y="1838325"/>
            <a:ext cx="5540359"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00" b="1">
                <a:solidFill>
                  <a:srgbClr val="171717"/>
                </a:solidFill>
                <a:latin typeface="Meiryo"/>
                <a:ea typeface="Meiryo"/>
                <a:cs typeface="Meiryo"/>
              </a:defRPr>
            </a:pPr>
            <a:r>
              <a:rPr sz="2100" b="1">
                <a:solidFill>
                  <a:srgbClr val="171717"/>
                </a:solidFill>
                <a:latin typeface="Meiryo"/>
                <a:ea typeface="Meiryo"/>
                <a:cs typeface="Meiryo"/>
              </a:rPr>
              <a:t>実習への適用条件</a:t>
            </a:r>
          </a:p>
        </p:txBody>
      </p:sp>
      <p:sp>
        <p:nvSpPr>
          <p:cNvPr id="537" name="">
            <a:extLst xmlns:a="http://schemas.openxmlformats.org/drawingml/2006/main">
              <a:ext uri="{FF2B5EF4-FFF2-40B4-BE49-F238E27FC236}">
                <a16:creationId xmlns:a16="http://schemas.microsoft.com/office/drawing/2014/main" id="{650E703B-0BF0-4F74-B934-91FF4B7655D4}"/>
              </a:ext>
            </a:extLst>
          </p:cNvPr>
          <p:cNvSpPr>
            <a:spLocks xmlns:a="http://schemas.openxmlformats.org/drawingml/2006/main" noGrp="1"/>
          </p:cNvSpPr>
          <p:nvPr/>
        </p:nvSpPr>
        <p:spPr>
          <a:xfrm xmlns:a="http://schemas.openxmlformats.org/drawingml/2006/main">
            <a:off x="6257877" y="2505075"/>
            <a:ext cx="5540359" cy="285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950" b="0">
                <a:solidFill>
                  <a:srgbClr val="171717"/>
                </a:solidFill>
                <a:latin typeface="Meiryo"/>
                <a:ea typeface="Meiryo"/>
                <a:cs typeface="Meiryo"/>
              </a:defRPr>
            </a:pPr>
            <a:r>
              <a:rPr sz="1950" b="0">
                <a:solidFill>
                  <a:srgbClr val="171717"/>
                </a:solidFill>
                <a:latin typeface="Meiryo"/>
                <a:ea typeface="Meiryo"/>
                <a:cs typeface="Meiryo"/>
              </a:rPr>
              <a:t>教師あり森林と訓練時のYが必要。</a:t>
            </a:r>
          </a:p>
          <a:p xmlns:a="http://schemas.openxmlformats.org/drawingml/2006/main">
            <a:pPr>
              <a:defRPr sz="1950" b="0">
                <a:solidFill>
                  <a:srgbClr val="171717"/>
                </a:solidFill>
                <a:latin typeface="Meiryo"/>
                <a:ea typeface="Meiryo"/>
                <a:cs typeface="Meiryo"/>
              </a:defRPr>
            </a:pPr>
            <a:r>
              <a:rPr sz="1950" b="0">
                <a:solidFill>
                  <a:srgbClr val="171717"/>
                </a:solidFill>
                <a:latin typeface="Meiryo"/>
                <a:ea typeface="Meiryo"/>
                <a:cs typeface="Meiryo"/>
              </a:rPr>
              <a:t>元の実験は時系列の検証ではない。</a:t>
            </a:r>
          </a:p>
          <a:p xmlns:a="http://schemas.openxmlformats.org/drawingml/2006/main">
            <a:r>
              <a:t/>
            </a:r>
          </a:p>
          <a:p xmlns:a="http://schemas.openxmlformats.org/drawingml/2006/main">
            <a:pPr>
              <a:defRPr sz="1950" b="0">
                <a:solidFill>
                  <a:srgbClr val="171717"/>
                </a:solidFill>
                <a:latin typeface="Meiryo"/>
                <a:ea typeface="Meiryo"/>
                <a:cs typeface="Meiryo"/>
              </a:defRPr>
            </a:pPr>
            <a:r>
              <a:rPr sz="1950" b="0">
                <a:solidFill>
                  <a:srgbClr val="171717"/>
                </a:solidFill>
                <a:latin typeface="Meiryo"/>
                <a:ea typeface="Meiryo"/>
                <a:cs typeface="Meiryo"/>
              </a:rPr>
              <a:t>別の回帰器に併設する場合、その回帰器に重要な変数を捉えるか確認する。</a:t>
            </a:r>
          </a:p>
        </p:txBody>
      </p:sp>
      <p:sp>
        <p:nvSpPr>
          <p:cNvPr id="538" name="">
            <a:extLst xmlns:a="http://schemas.openxmlformats.org/drawingml/2006/main">
              <a:ext uri="{FF2B5EF4-FFF2-40B4-BE49-F238E27FC236}">
                <a16:creationId xmlns:a16="http://schemas.microsoft.com/office/drawing/2014/main" id="{6DC33B5E-B964-44E2-8344-1C20ED3C918B}"/>
              </a:ext>
            </a:extLst>
          </p:cNvPr>
          <p:cNvSpPr>
            <a:spLocks xmlns:a="http://schemas.openxmlformats.org/drawingml/2006/main" noGrp="1"/>
          </p:cNvSpPr>
          <p:nvPr/>
        </p:nvSpPr>
        <p:spPr>
          <a:xfrm xmlns:a="http://schemas.openxmlformats.org/drawingml/2006/main">
            <a:off x="393668" y="5810250"/>
            <a:ext cx="1119187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725" b="1">
                <a:solidFill>
                  <a:srgbClr val="171717"/>
                </a:solidFill>
                <a:latin typeface="Meiryo"/>
                <a:ea typeface="Meiryo"/>
                <a:cs typeface="Meiryo"/>
              </a:defRPr>
            </a:pPr>
            <a:r>
              <a:rPr sz="1725" b="1">
                <a:solidFill>
                  <a:srgbClr val="171717"/>
                </a:solidFill>
                <a:latin typeface="Meiryo"/>
                <a:ea typeface="Meiryo"/>
                <a:cs typeface="Meiryo"/>
              </a:rPr>
              <a:t>回帰への適用根拠はあるが、水処理・配水データでの有効性は未検証</a:t>
            </a:r>
          </a:p>
        </p:txBody>
      </p:sp>
      <p:sp>
        <p:nvSpPr>
          <p:cNvPr id="539" name="">
            <a:extLst xmlns:a="http://schemas.openxmlformats.org/drawingml/2006/main">
              <a:ext uri="{FF2B5EF4-FFF2-40B4-BE49-F238E27FC236}">
                <a16:creationId xmlns:a16="http://schemas.microsoft.com/office/drawing/2014/main" id="{3ED843C8-EC96-45AE-9F8F-464F4308FE89}"/>
              </a:ext>
            </a:extLst>
          </p:cNvPr>
          <p:cNvSpPr>
            <a:spLocks xmlns:a="http://schemas.openxmlformats.org/drawingml/2006/main" noGrp="1"/>
          </p:cNvSpPr>
          <p:nvPr/>
        </p:nvSpPr>
        <p:spPr>
          <a:xfrm xmlns:a="http://schemas.openxmlformats.org/drawingml/2006/main">
            <a:off x="393668" y="6334125"/>
            <a:ext cx="10668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975" b="0">
                <a:solidFill>
                  <a:srgbClr val="656565"/>
                </a:solidFill>
                <a:latin typeface="Meiryo"/>
                <a:ea typeface="Meiryo"/>
                <a:cs typeface="Meiryo"/>
              </a:defRPr>
            </a:pPr>
            <a:r>
              <a:rPr sz="975" b="0">
                <a:solidFill>
                  <a:srgbClr val="656565"/>
                </a:solidFill>
                <a:latin typeface="Meiryo"/>
                <a:ea typeface="Meiryo"/>
                <a:cs typeface="Meiryo"/>
              </a:rPr>
              <a:t>13 §5.2–5.3、§7</a:t>
            </a:r>
          </a:p>
        </p:txBody>
      </p:sp>
    </p:spTree>
    <p:extLst>
      <p:ext uri="{BB962C8B-B14F-4D97-AF65-F5344CB8AC3E}">
        <p14:creationId xmlns:p14="http://schemas.microsoft.com/office/powerpoint/2010/main" val="3667182145"/>
      </p:ext>
    </p:extLst>
  </p:cSld>
</p:sld>
</file>

<file path=ppt/slides/slide17.xml><?xml version="1.0" encoding="utf-8"?>
<p:sld xmlns:p="http://schemas.openxmlformats.org/presentationml/2006/main">
  <p:cSld>
    <p:spTree>
      <p:nvGrpSpPr>
        <p:cNvPr id="1" name=""/>
        <p:cNvGrpSpPr/>
        <p:nvPr/>
      </p:nvGrpSpPr>
      <p:grpSpPr>
        <a:xfrm xmlns:a="http://schemas.openxmlformats.org/drawingml/2006/main"/>
      </p:grpSpPr>
      <p:sp>
        <p:nvSpPr>
          <p:cNvPr id="532" name="Google Shape;532;p58">
            <a:extLst xmlns:a="http://schemas.openxmlformats.org/drawingml/2006/main">
              <a:ext uri="{FF2B5EF4-FFF2-40B4-BE49-F238E27FC236}">
                <a16:creationId xmlns:a16="http://schemas.microsoft.com/office/drawing/2014/main" id="{27489CDA-073D-5D98-B832-86AD74222B71}"/>
              </a:ext>
            </a:extLst>
          </p:cNvPr>
          <p:cNvSpPr>
            <a:spLocks xmlns:a="http://schemas.openxmlformats.org/drawingml/2006/main" noGrp="1"/>
          </p:cNvSpPr>
          <p:nvPr>
            <p:ph type="sldNum" idx="4"/>
          </p:nvPr>
        </p:nvSpPr>
        <p:spPr>
          <a:xfrm xmlns:a="http://schemas.openxmlformats.org/drawingml/2006/main">
            <a:off x="11279332" y="6279294"/>
            <a:ext cx="518968" cy="241240"/>
          </a:xfr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pPr>
              <a:defRPr sz="975" b="0">
                <a:solidFill>
                  <a:srgbClr val="171717"/>
                </a:solidFill>
                <a:latin typeface="Meiryo"/>
                <a:ea typeface="Meiryo"/>
                <a:cs typeface="Meiryo"/>
              </a:defRPr>
            </a:pPr>
            <a:fld id="{90F7333B-44AC-F7E9-D49D-FE92F45E0477}" type="slidenum">
              <a:rPr sz="975" b="0">
                <a:solidFill>
                  <a:srgbClr val="171717"/>
                </a:solidFill>
                <a:latin typeface="Meiryo"/>
                <a:ea typeface="Meiryo"/>
                <a:cs typeface="Meiryo"/>
              </a:rPr>
              <a:t>17</a:t>
            </a:fld>
            <a:endParaRPr/>
          </a:p>
        </p:txBody>
      </p:sp>
      <p:sp>
        <p:nvSpPr>
          <p:cNvPr id="533" name="Google Shape;533;p58">
            <a:extLst xmlns:a="http://schemas.openxmlformats.org/drawingml/2006/main">
              <a:ext uri="{FF2B5EF4-FFF2-40B4-BE49-F238E27FC236}">
                <a16:creationId xmlns:a16="http://schemas.microsoft.com/office/drawing/2014/main" id="{08EBC4B8-BBC1-7C2A-F77D-BEC6394B0F93}"/>
              </a:ext>
            </a:extLst>
          </p:cNvPr>
          <p:cNvSpPr>
            <a:spLocks xmlns:a="http://schemas.openxmlformats.org/drawingml/2006/main" noGrp="1"/>
          </p:cNvSpPr>
          <p:nvPr>
            <p:ph type="title" idx="0"/>
          </p:nvPr>
        </p:nvSpPr>
        <p:spPr>
          <a:xfrm xmlns:a="http://schemas.openxmlformats.org/drawingml/2006/main">
            <a:off x="393668" y="344043"/>
            <a:ext cx="11404568" cy="952500"/>
          </a:xfr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pPr>
              <a:defRPr sz="2700" b="0">
                <a:solidFill>
                  <a:srgbClr val="171717"/>
                </a:solidFill>
                <a:latin typeface="Meiryo"/>
                <a:ea typeface="Meiryo"/>
                <a:cs typeface="Meiryo"/>
              </a:defRPr>
            </a:pPr>
            <a:r>
              <a:rPr sz="2700" b="0">
                <a:solidFill>
                  <a:srgbClr val="171717"/>
                </a:solidFill>
                <a:latin typeface="Meiryo"/>
                <a:ea typeface="Meiryo"/>
                <a:cs typeface="Meiryo"/>
              </a:rPr>
              <a:t>重点手法の比較</a:t>
            </a:r>
          </a:p>
        </p:txBody>
      </p:sp>
      <p:graphicFrame>
        <p:nvGraphicFramePr>
          <p:cNvPr id="538" name=""/>
          <p:cNvGraphicFramePr/>
          <p:nvPr/>
        </p:nvGraphicFramePr>
        <p:xfrm>
          <a:off xmlns:a="http://schemas.openxmlformats.org/drawingml/2006/main" x="393668" y="1638300"/>
          <a:ext xmlns:a="http://schemas.openxmlformats.org/drawingml/2006/main" cx="11382375" cy="4095750"/>
        </p:xfrm>
        <a:graphic xmlns:a="http://schemas.openxmlformats.org/drawingml/2006/main">
          <a:graphicData uri="http://schemas.openxmlformats.org/drawingml/2006/table">
            <a:tbl>
              <a:tblPr/>
              <a:tblGrid>
                <a:gridCol w="2190750"/>
                <a:gridCol w="2857500"/>
                <a:gridCol w="3095625"/>
                <a:gridCol w="3238500"/>
              </a:tblGrid>
              <a:tr h="585107">
                <a:tc>
                  <a:txBody>
                    <a:bodyPr>
                      <a:noAutofit/>
                    </a:bodyPr>
                    <a:lstStyle/>
                    <a:p>
                      <a:r>
                        <a:rPr sz="1650" b="1">
                          <a:solidFill>
                            <a:srgbClr val="171717"/>
                          </a:solidFill>
                          <a:latin typeface="Meiryo"/>
                          <a:ea typeface="Meiryo"/>
                          <a:cs typeface="Meiryo"/>
                        </a:rPr>
                        <a:t>比較項目</a:t>
                      </a:r>
                    </a:p>
                  </a:txBody>
                  <a:tcPr marL="95250" marR="95250" marT="85725" marB="66675" anchor="ctr">
                    <a:solidFill>
                      <a:srgbClr val="F1F1F1"/>
                    </a:solidFill>
                  </a:tcPr>
                </a:tc>
                <a:tc>
                  <a:txBody>
                    <a:bodyPr>
                      <a:noAutofit/>
                    </a:bodyPr>
                    <a:lstStyle/>
                    <a:p>
                      <a:r>
                        <a:rPr sz="1650" b="1">
                          <a:solidFill>
                            <a:srgbClr val="171717"/>
                          </a:solidFill>
                          <a:latin typeface="Meiryo"/>
                          <a:ea typeface="Meiryo"/>
                          <a:cs typeface="Meiryo"/>
                        </a:rPr>
                        <a:t>山原のAD手法</a:t>
                      </a:r>
                    </a:p>
                  </a:txBody>
                  <a:tcPr marL="95250" marR="95250" marT="85725" marB="66675" anchor="ctr">
                    <a:solidFill>
                      <a:srgbClr val="F1F1F1"/>
                    </a:solidFill>
                  </a:tcPr>
                </a:tc>
                <a:tc>
                  <a:txBody>
                    <a:bodyPr>
                      <a:noAutofit/>
                    </a:bodyPr>
                    <a:lstStyle/>
                    <a:p>
                      <a:r>
                        <a:rPr sz="1650" b="1">
                          <a:solidFill>
                            <a:srgbClr val="171717"/>
                          </a:solidFill>
                          <a:latin typeface="Meiryo"/>
                          <a:ea typeface="Meiryo"/>
                          <a:cs typeface="Meiryo"/>
                        </a:rPr>
                        <a:t>14：AE系</a:t>
                      </a:r>
                    </a:p>
                  </a:txBody>
                  <a:tcPr marL="95250" marR="95250" marT="85725" marB="66675" anchor="ctr">
                    <a:solidFill>
                      <a:srgbClr val="F1F1F1"/>
                    </a:solidFill>
                  </a:tcPr>
                </a:tc>
                <a:tc>
                  <a:txBody>
                    <a:bodyPr>
                      <a:noAutofit/>
                    </a:bodyPr>
                    <a:lstStyle/>
                    <a:p>
                      <a:r>
                        <a:rPr sz="1650" b="1">
                          <a:solidFill>
                            <a:srgbClr val="171717"/>
                          </a:solidFill>
                          <a:latin typeface="Meiryo"/>
                          <a:ea typeface="Meiryo"/>
                          <a:cs typeface="Meiryo"/>
                        </a:rPr>
                        <a:t>13：OutPro</a:t>
                      </a:r>
                    </a:p>
                  </a:txBody>
                  <a:tcPr marL="95250" marR="95250" marT="85725" marB="66675" anchor="ctr">
                    <a:solidFill>
                      <a:srgbClr val="F1F1F1"/>
                    </a:solidFill>
                  </a:tcPr>
                </a:tc>
              </a:tr>
              <a:tr h="585107">
                <a:tc>
                  <a:txBody>
                    <a:bodyPr>
                      <a:noAutofit/>
                    </a:bodyPr>
                    <a:lstStyle/>
                    <a:p>
                      <a:r>
                        <a:rPr sz="1650" b="0">
                          <a:solidFill>
                            <a:srgbClr val="171717"/>
                          </a:solidFill>
                          <a:latin typeface="Meiryo"/>
                          <a:ea typeface="Meiryo"/>
                          <a:cs typeface="Meiryo"/>
                        </a:rPr>
                        <a:t>検知の根拠</a:t>
                      </a:r>
                    </a:p>
                  </a:txBody>
                  <a:tcPr marL="95250" marR="95250" marT="85725" marB="66675" anchor="ctr">
                    <a:solidFill>
                      <a:srgbClr val="FFFFFF"/>
                    </a:solidFill>
                  </a:tcPr>
                </a:tc>
                <a:tc>
                  <a:txBody>
                    <a:bodyPr>
                      <a:noAutofit/>
                    </a:bodyPr>
                    <a:lstStyle/>
                    <a:p>
                      <a:r>
                        <a:rPr sz="1650" b="0">
                          <a:solidFill>
                            <a:srgbClr val="171717"/>
                          </a:solidFill>
                          <a:latin typeface="Meiryo"/>
                          <a:ea typeface="Meiryo"/>
                          <a:cs typeface="Meiryo"/>
                        </a:rPr>
                        <a:t>範囲・距離・近傍</a:t>
                      </a:r>
                    </a:p>
                  </a:txBody>
                  <a:tcPr marL="95250" marR="95250" marT="85725" marB="66675" anchor="ctr">
                    <a:solidFill>
                      <a:srgbClr val="FFFFFF"/>
                    </a:solidFill>
                  </a:tcPr>
                </a:tc>
                <a:tc>
                  <a:txBody>
                    <a:bodyPr>
                      <a:noAutofit/>
                    </a:bodyPr>
                    <a:lstStyle/>
                    <a:p>
                      <a:r>
                        <a:rPr sz="1650" b="0">
                          <a:solidFill>
                            <a:srgbClr val="171717"/>
                          </a:solidFill>
                          <a:latin typeface="Meiryo"/>
                          <a:ea typeface="Meiryo"/>
                          <a:cs typeface="Meiryo"/>
                        </a:rPr>
                        <a:t>再構成誤差</a:t>
                      </a:r>
                    </a:p>
                  </a:txBody>
                  <a:tcPr marL="95250" marR="95250" marT="85725" marB="66675" anchor="ctr">
                    <a:solidFill>
                      <a:srgbClr val="FFFFFF"/>
                    </a:solidFill>
                  </a:tcPr>
                </a:tc>
                <a:tc>
                  <a:txBody>
                    <a:bodyPr>
                      <a:noAutofit/>
                    </a:bodyPr>
                    <a:lstStyle/>
                    <a:p>
                      <a:r>
                        <a:rPr sz="1650" b="0">
                          <a:solidFill>
                            <a:srgbClr val="171717"/>
                          </a:solidFill>
                          <a:latin typeface="Meiryo"/>
                          <a:ea typeface="Meiryo"/>
                          <a:cs typeface="Meiryo"/>
                        </a:rPr>
                        <a:t>選択変数上の近傍距離</a:t>
                      </a:r>
                    </a:p>
                  </a:txBody>
                  <a:tcPr marL="95250" marR="95250" marT="85725" marB="66675" anchor="ctr">
                    <a:solidFill>
                      <a:srgbClr val="FFFFFF"/>
                    </a:solidFill>
                  </a:tcPr>
                </a:tc>
              </a:tr>
              <a:tr h="585107">
                <a:tc>
                  <a:txBody>
                    <a:bodyPr>
                      <a:noAutofit/>
                    </a:bodyPr>
                    <a:lstStyle/>
                    <a:p>
                      <a:r>
                        <a:rPr sz="1650" b="0">
                          <a:solidFill>
                            <a:srgbClr val="171717"/>
                          </a:solidFill>
                          <a:latin typeface="Meiryo"/>
                          <a:ea typeface="Meiryo"/>
                          <a:cs typeface="Meiryo"/>
                        </a:rPr>
                        <a:t>1時刻入力</a:t>
                      </a:r>
                    </a:p>
                  </a:txBody>
                  <a:tcPr marL="95250" marR="95250" marT="85725" marB="66675" anchor="ctr">
                    <a:solidFill>
                      <a:srgbClr val="FFFFFF"/>
                    </a:solidFill>
                  </a:tcPr>
                </a:tc>
                <a:tc>
                  <a:txBody>
                    <a:bodyPr>
                      <a:noAutofit/>
                    </a:bodyPr>
                    <a:lstStyle/>
                    <a:p>
                      <a:r>
                        <a:rPr sz="1650" b="0">
                          <a:solidFill>
                            <a:srgbClr val="171717"/>
                          </a:solidFill>
                          <a:latin typeface="Meiryo"/>
                          <a:ea typeface="Meiryo"/>
                          <a:cs typeface="Meiryo"/>
                        </a:rPr>
                        <a:t>対応</a:t>
                      </a:r>
                    </a:p>
                  </a:txBody>
                  <a:tcPr marL="95250" marR="95250" marT="85725" marB="66675" anchor="ctr">
                    <a:solidFill>
                      <a:srgbClr val="FFFFFF"/>
                    </a:solidFill>
                  </a:tcPr>
                </a:tc>
                <a:tc>
                  <a:txBody>
                    <a:bodyPr>
                      <a:noAutofit/>
                    </a:bodyPr>
                    <a:lstStyle/>
                    <a:p>
                      <a:r>
                        <a:rPr sz="1650" b="0">
                          <a:solidFill>
                            <a:srgbClr val="171717"/>
                          </a:solidFill>
                          <a:latin typeface="Meiryo"/>
                          <a:ea typeface="Meiryo"/>
                          <a:cs typeface="Meiryo"/>
                        </a:rPr>
                        <a:t>対応（原文で明記）</a:t>
                      </a:r>
                    </a:p>
                  </a:txBody>
                  <a:tcPr marL="95250" marR="95250" marT="85725" marB="66675" anchor="ctr">
                    <a:solidFill>
                      <a:srgbClr val="FFFFFF"/>
                    </a:solidFill>
                  </a:tcPr>
                </a:tc>
                <a:tc>
                  <a:txBody>
                    <a:bodyPr>
                      <a:noAutofit/>
                    </a:bodyPr>
                    <a:lstStyle/>
                    <a:p>
                      <a:r>
                        <a:rPr sz="1650" b="0">
                          <a:solidFill>
                            <a:srgbClr val="171717"/>
                          </a:solidFill>
                          <a:latin typeface="Meiryo"/>
                          <a:ea typeface="Meiryo"/>
                          <a:cs typeface="Meiryo"/>
                        </a:rPr>
                        <a:t>対応</a:t>
                      </a:r>
                    </a:p>
                  </a:txBody>
                  <a:tcPr marL="95250" marR="95250" marT="85725" marB="66675" anchor="ctr">
                    <a:solidFill>
                      <a:srgbClr val="FFFFFF"/>
                    </a:solidFill>
                  </a:tcPr>
                </a:tc>
              </a:tr>
              <a:tr h="585107">
                <a:tc>
                  <a:txBody>
                    <a:bodyPr>
                      <a:noAutofit/>
                    </a:bodyPr>
                    <a:lstStyle/>
                    <a:p>
                      <a:r>
                        <a:rPr sz="1650" b="0">
                          <a:solidFill>
                            <a:srgbClr val="171717"/>
                          </a:solidFill>
                          <a:latin typeface="Meiryo"/>
                          <a:ea typeface="Meiryo"/>
                          <a:cs typeface="Meiryo"/>
                        </a:rPr>
                        <a:t>検知器の訓練情報</a:t>
                      </a:r>
                    </a:p>
                  </a:txBody>
                  <a:tcPr marL="95250" marR="95250" marT="85725" marB="66675" anchor="ctr">
                    <a:solidFill>
                      <a:srgbClr val="FFFFFF"/>
                    </a:solidFill>
                  </a:tcPr>
                </a:tc>
                <a:tc>
                  <a:txBody>
                    <a:bodyPr>
                      <a:noAutofit/>
                    </a:bodyPr>
                    <a:lstStyle/>
                    <a:p>
                      <a:r>
                        <a:rPr sz="1650" b="0">
                          <a:solidFill>
                            <a:srgbClr val="171717"/>
                          </a:solidFill>
                          <a:latin typeface="Meiryo"/>
                          <a:ea typeface="Meiryo"/>
                          <a:cs typeface="Meiryo"/>
                        </a:rPr>
                        <a:t>主にX</a:t>
                      </a:r>
                    </a:p>
                  </a:txBody>
                  <a:tcPr marL="95250" marR="95250" marT="85725" marB="66675" anchor="ctr">
                    <a:solidFill>
                      <a:srgbClr val="FFFFFF"/>
                    </a:solidFill>
                  </a:tcPr>
                </a:tc>
                <a:tc>
                  <a:txBody>
                    <a:bodyPr>
                      <a:noAutofit/>
                    </a:bodyPr>
                    <a:lstStyle/>
                    <a:p>
                      <a:r>
                        <a:rPr sz="1650" b="0">
                          <a:solidFill>
                            <a:srgbClr val="171717"/>
                          </a:solidFill>
                          <a:latin typeface="Meiryo"/>
                          <a:ea typeface="Meiryo"/>
                          <a:cs typeface="Meiryo"/>
                        </a:rPr>
                        <a:t>正常なX</a:t>
                      </a:r>
                    </a:p>
                  </a:txBody>
                  <a:tcPr marL="95250" marR="95250" marT="85725" marB="66675" anchor="ctr">
                    <a:solidFill>
                      <a:srgbClr val="FFFFFF"/>
                    </a:solidFill>
                  </a:tcPr>
                </a:tc>
                <a:tc>
                  <a:txBody>
                    <a:bodyPr>
                      <a:noAutofit/>
                    </a:bodyPr>
                    <a:lstStyle/>
                    <a:p>
                      <a:r>
                        <a:rPr sz="1650" b="0">
                          <a:solidFill>
                            <a:srgbClr val="171717"/>
                          </a:solidFill>
                          <a:latin typeface="Meiryo"/>
                          <a:ea typeface="Meiryo"/>
                          <a:cs typeface="Meiryo"/>
                        </a:rPr>
                        <a:t>IDのXとY</a:t>
                      </a:r>
                    </a:p>
                  </a:txBody>
                  <a:tcPr marL="95250" marR="95250" marT="85725" marB="66675" anchor="ctr">
                    <a:solidFill>
                      <a:srgbClr val="FFFFFF"/>
                    </a:solidFill>
                  </a:tcPr>
                </a:tc>
              </a:tr>
              <a:tr h="585107">
                <a:tc>
                  <a:txBody>
                    <a:bodyPr>
                      <a:noAutofit/>
                    </a:bodyPr>
                    <a:lstStyle/>
                    <a:p>
                      <a:r>
                        <a:rPr sz="1650" b="0">
                          <a:solidFill>
                            <a:srgbClr val="171717"/>
                          </a:solidFill>
                          <a:latin typeface="Meiryo"/>
                          <a:ea typeface="Meiryo"/>
                          <a:cs typeface="Meiryo"/>
                        </a:rPr>
                        <a:t>運用時のモデル情報</a:t>
                      </a:r>
                    </a:p>
                  </a:txBody>
                  <a:tcPr marL="95250" marR="95250" marT="85725" marB="66675" anchor="ctr">
                    <a:solidFill>
                      <a:srgbClr val="FFFFFF"/>
                    </a:solidFill>
                  </a:tcPr>
                </a:tc>
                <a:tc>
                  <a:txBody>
                    <a:bodyPr>
                      <a:noAutofit/>
                    </a:bodyPr>
                    <a:lstStyle/>
                    <a:p>
                      <a:r>
                        <a:rPr sz="1650" b="0">
                          <a:solidFill>
                            <a:srgbClr val="171717"/>
                          </a:solidFill>
                          <a:latin typeface="Meiryo"/>
                          <a:ea typeface="Meiryo"/>
                          <a:cs typeface="Meiryo"/>
                        </a:rPr>
                        <a:t>回帰器の内部は不要</a:t>
                      </a:r>
                    </a:p>
                  </a:txBody>
                  <a:tcPr marL="95250" marR="95250" marT="85725" marB="66675" anchor="ctr">
                    <a:solidFill>
                      <a:srgbClr val="FFFFFF"/>
                    </a:solidFill>
                  </a:tcPr>
                </a:tc>
                <a:tc>
                  <a:txBody>
                    <a:bodyPr>
                      <a:noAutofit/>
                    </a:bodyPr>
                    <a:lstStyle/>
                    <a:p>
                      <a:r>
                        <a:rPr sz="1650" b="0">
                          <a:solidFill>
                            <a:srgbClr val="171717"/>
                          </a:solidFill>
                          <a:latin typeface="Meiryo"/>
                          <a:ea typeface="Meiryo"/>
                          <a:cs typeface="Meiryo"/>
                        </a:rPr>
                        <a:t>回帰器の内部は不要</a:t>
                      </a:r>
                    </a:p>
                  </a:txBody>
                  <a:tcPr marL="95250" marR="95250" marT="85725" marB="66675" anchor="ctr">
                    <a:solidFill>
                      <a:srgbClr val="FFFFFF"/>
                    </a:solidFill>
                  </a:tcPr>
                </a:tc>
                <a:tc>
                  <a:txBody>
                    <a:bodyPr>
                      <a:noAutofit/>
                    </a:bodyPr>
                    <a:lstStyle/>
                    <a:p>
                      <a:r>
                        <a:rPr sz="1650" b="0">
                          <a:solidFill>
                            <a:srgbClr val="171717"/>
                          </a:solidFill>
                          <a:latin typeface="Meiryo"/>
                          <a:ea typeface="Meiryo"/>
                          <a:cs typeface="Meiryo"/>
                        </a:rPr>
                        <a:t>教師あり森林を利用</a:t>
                      </a:r>
                    </a:p>
                  </a:txBody>
                  <a:tcPr marL="95250" marR="95250" marT="85725" marB="66675" anchor="ctr">
                    <a:solidFill>
                      <a:srgbClr val="FFFFFF"/>
                    </a:solidFill>
                  </a:tcPr>
                </a:tc>
              </a:tr>
              <a:tr h="585107">
                <a:tc>
                  <a:txBody>
                    <a:bodyPr>
                      <a:noAutofit/>
                    </a:bodyPr>
                    <a:lstStyle/>
                    <a:p>
                      <a:r>
                        <a:rPr sz="1650" b="0">
                          <a:solidFill>
                            <a:srgbClr val="171717"/>
                          </a:solidFill>
                          <a:latin typeface="Meiryo"/>
                          <a:ea typeface="Meiryo"/>
                          <a:cs typeface="Meiryo"/>
                        </a:rPr>
                        <a:t>時間順序の利用</a:t>
                      </a:r>
                    </a:p>
                  </a:txBody>
                  <a:tcPr marL="95250" marR="95250" marT="85725" marB="66675" anchor="ctr">
                    <a:solidFill>
                      <a:srgbClr val="FFFFFF"/>
                    </a:solidFill>
                  </a:tcPr>
                </a:tc>
                <a:tc>
                  <a:txBody>
                    <a:bodyPr>
                      <a:noAutofit/>
                    </a:bodyPr>
                    <a:lstStyle/>
                    <a:p>
                      <a:r>
                        <a:rPr sz="1650" b="0">
                          <a:solidFill>
                            <a:srgbClr val="171717"/>
                          </a:solidFill>
                          <a:latin typeface="Meiryo"/>
                          <a:ea typeface="Meiryo"/>
                          <a:cs typeface="Meiryo"/>
                        </a:rPr>
                        <a:t>判定自体は利用しない</a:t>
                      </a:r>
                    </a:p>
                  </a:txBody>
                  <a:tcPr marL="95250" marR="95250" marT="85725" marB="66675" anchor="ctr">
                    <a:solidFill>
                      <a:srgbClr val="FFFFFF"/>
                    </a:solidFill>
                  </a:tcPr>
                </a:tc>
                <a:tc>
                  <a:txBody>
                    <a:bodyPr>
                      <a:noAutofit/>
                    </a:bodyPr>
                    <a:lstStyle/>
                    <a:p>
                      <a:r>
                        <a:rPr sz="1650" b="0">
                          <a:solidFill>
                            <a:srgbClr val="171717"/>
                          </a:solidFill>
                          <a:latin typeface="Meiryo"/>
                          <a:ea typeface="Meiryo"/>
                          <a:cs typeface="Meiryo"/>
                        </a:rPr>
                        <a:t>原文では利用しない</a:t>
                      </a:r>
                    </a:p>
                  </a:txBody>
                  <a:tcPr marL="95250" marR="95250" marT="85725" marB="66675" anchor="ctr">
                    <a:solidFill>
                      <a:srgbClr val="FFFFFF"/>
                    </a:solidFill>
                  </a:tcPr>
                </a:tc>
                <a:tc>
                  <a:txBody>
                    <a:bodyPr>
                      <a:noAutofit/>
                    </a:bodyPr>
                    <a:lstStyle/>
                    <a:p>
                      <a:r>
                        <a:rPr sz="1650" b="0">
                          <a:solidFill>
                            <a:srgbClr val="171717"/>
                          </a:solidFill>
                          <a:latin typeface="Meiryo"/>
                          <a:ea typeface="Meiryo"/>
                          <a:cs typeface="Meiryo"/>
                        </a:rPr>
                        <a:t>原文では利用しない</a:t>
                      </a:r>
                    </a:p>
                  </a:txBody>
                  <a:tcPr marL="95250" marR="95250" marT="85725" marB="66675" anchor="ctr">
                    <a:solidFill>
                      <a:srgbClr val="FFFFFF"/>
                    </a:solidFill>
                  </a:tcPr>
                </a:tc>
              </a:tr>
              <a:tr h="585107">
                <a:tc>
                  <a:txBody>
                    <a:bodyPr>
                      <a:noAutofit/>
                    </a:bodyPr>
                    <a:lstStyle/>
                    <a:p>
                      <a:r>
                        <a:rPr sz="1650" b="0">
                          <a:solidFill>
                            <a:srgbClr val="171717"/>
                          </a:solidFill>
                          <a:latin typeface="Meiryo"/>
                          <a:ea typeface="Meiryo"/>
                          <a:cs typeface="Meiryo"/>
                        </a:rPr>
                        <a:t>適用の証拠</a:t>
                      </a:r>
                    </a:p>
                  </a:txBody>
                  <a:tcPr marL="95250" marR="95250" marT="85725" marB="66675" anchor="ctr">
                    <a:solidFill>
                      <a:srgbClr val="FFFFFF"/>
                    </a:solidFill>
                  </a:tcPr>
                </a:tc>
                <a:tc>
                  <a:txBody>
                    <a:bodyPr>
                      <a:noAutofit/>
                    </a:bodyPr>
                    <a:lstStyle/>
                    <a:p>
                      <a:r>
                        <a:rPr sz="1650" b="0">
                          <a:solidFill>
                            <a:srgbClr val="171717"/>
                          </a:solidFill>
                          <a:latin typeface="Meiryo"/>
                          <a:ea typeface="Meiryo"/>
                          <a:cs typeface="Meiryo"/>
                        </a:rPr>
                        <a:t>配水圧力の事例</a:t>
                      </a:r>
                    </a:p>
                  </a:txBody>
                  <a:tcPr marL="95250" marR="95250" marT="85725" marB="66675" anchor="ctr">
                    <a:solidFill>
                      <a:srgbClr val="FFFFFF"/>
                    </a:solidFill>
                  </a:tcPr>
                </a:tc>
                <a:tc>
                  <a:txBody>
                    <a:bodyPr>
                      <a:noAutofit/>
                    </a:bodyPr>
                    <a:lstStyle/>
                    <a:p>
                      <a:r>
                        <a:rPr sz="1650" b="0">
                          <a:solidFill>
                            <a:srgbClr val="171717"/>
                          </a:solidFill>
                          <a:latin typeface="Meiryo"/>
                          <a:ea typeface="Meiryo"/>
                          <a:cs typeface="Meiryo"/>
                        </a:rPr>
                        <a:t>多変量の数値異常検知</a:t>
                      </a:r>
                    </a:p>
                  </a:txBody>
                  <a:tcPr marL="95250" marR="95250" marT="85725" marB="66675" anchor="ctr">
                    <a:solidFill>
                      <a:srgbClr val="FFFFFF"/>
                    </a:solidFill>
                  </a:tcPr>
                </a:tc>
                <a:tc>
                  <a:txBody>
                    <a:bodyPr>
                      <a:noAutofit/>
                    </a:bodyPr>
                    <a:lstStyle/>
                    <a:p>
                      <a:r>
                        <a:rPr sz="1650" b="0">
                          <a:solidFill>
                            <a:srgbClr val="171717"/>
                          </a:solidFill>
                          <a:latin typeface="Meiryo"/>
                          <a:ea typeface="Meiryo"/>
                          <a:cs typeface="Meiryo"/>
                        </a:rPr>
                        <a:t>回帰のOOD評価</a:t>
                      </a:r>
                    </a:p>
                  </a:txBody>
                  <a:tcPr marL="95250" marR="95250" marT="85725" marB="66675" anchor="ctr">
                    <a:solidFill>
                      <a:srgbClr val="FFFFFF"/>
                    </a:solidFill>
                  </a:tcPr>
                </a:tc>
              </a:tr>
            </a:tbl>
          </a:graphicData>
        </a:graphic>
      </p:graphicFrame>
      <p:sp>
        <p:nvSpPr>
          <p:cNvPr id="535" name="">
            <a:extLst xmlns:a="http://schemas.openxmlformats.org/drawingml/2006/main">
              <a:ext uri="{FF2B5EF4-FFF2-40B4-BE49-F238E27FC236}">
                <a16:creationId xmlns:a16="http://schemas.microsoft.com/office/drawing/2014/main" id="{FBC27E76-E74C-4C3B-990C-41729E3512DB}"/>
              </a:ext>
            </a:extLst>
          </p:cNvPr>
          <p:cNvSpPr>
            <a:spLocks xmlns:a="http://schemas.openxmlformats.org/drawingml/2006/main" noGrp="1"/>
          </p:cNvSpPr>
          <p:nvPr/>
        </p:nvSpPr>
        <p:spPr>
          <a:xfrm xmlns:a="http://schemas.openxmlformats.org/drawingml/2006/main">
            <a:off x="393668" y="6334125"/>
            <a:ext cx="10668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975" b="0">
                <a:solidFill>
                  <a:srgbClr val="656565"/>
                </a:solidFill>
                <a:latin typeface="Meiryo"/>
                <a:ea typeface="Meiryo"/>
                <a:cs typeface="Meiryo"/>
              </a:defRPr>
            </a:pPr>
            <a:r>
              <a:rPr sz="975" b="0">
                <a:solidFill>
                  <a:srgbClr val="656565"/>
                </a:solidFill>
                <a:latin typeface="Meiryo"/>
                <a:ea typeface="Meiryo"/>
                <a:cs typeface="Meiryo"/>
              </a:rPr>
              <a:t>山原 §3–5、14 §3–6、13 §3–5</a:t>
            </a:r>
          </a:p>
        </p:txBody>
      </p:sp>
    </p:spTree>
    <p:extLst>
      <p:ext uri="{BB962C8B-B14F-4D97-AF65-F5344CB8AC3E}">
        <p14:creationId xmlns:p14="http://schemas.microsoft.com/office/powerpoint/2010/main" val="329854879"/>
      </p:ext>
    </p:extLst>
  </p:cSld>
</p:sld>
</file>

<file path=ppt/slides/slide18.xml><?xml version="1.0" encoding="utf-8"?>
<p:sld xmlns:p="http://schemas.openxmlformats.org/presentationml/2006/main">
  <p:cSld>
    <p:spTree>
      <p:nvGrpSpPr>
        <p:cNvPr id="1" name=""/>
        <p:cNvGrpSpPr/>
        <p:nvPr/>
      </p:nvGrpSpPr>
      <p:grpSpPr>
        <a:xfrm xmlns:a="http://schemas.openxmlformats.org/drawingml/2006/main"/>
      </p:grpSpPr>
      <p:sp>
        <p:nvSpPr>
          <p:cNvPr id="532" name="Google Shape;532;p58">
            <a:extLst xmlns:a="http://schemas.openxmlformats.org/drawingml/2006/main">
              <a:ext uri="{FF2B5EF4-FFF2-40B4-BE49-F238E27FC236}">
                <a16:creationId xmlns:a16="http://schemas.microsoft.com/office/drawing/2014/main" id="{27489CDA-073D-5D98-B832-86AD74222B71}"/>
              </a:ext>
            </a:extLst>
          </p:cNvPr>
          <p:cNvSpPr>
            <a:spLocks xmlns:a="http://schemas.openxmlformats.org/drawingml/2006/main" noGrp="1"/>
          </p:cNvSpPr>
          <p:nvPr>
            <p:ph type="sldNum" idx="4"/>
          </p:nvPr>
        </p:nvSpPr>
        <p:spPr>
          <a:xfrm xmlns:a="http://schemas.openxmlformats.org/drawingml/2006/main">
            <a:off x="11279332" y="6279294"/>
            <a:ext cx="518968" cy="241240"/>
          </a:xfr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pPr>
              <a:defRPr sz="975" b="0">
                <a:solidFill>
                  <a:srgbClr val="171717"/>
                </a:solidFill>
                <a:latin typeface="Meiryo"/>
                <a:ea typeface="Meiryo"/>
                <a:cs typeface="Meiryo"/>
              </a:defRPr>
            </a:pPr>
            <a:fld id="{B1C6C81E-38B9-7560-621D-5A151A79DF9B}" type="slidenum">
              <a:rPr sz="975" b="0">
                <a:solidFill>
                  <a:srgbClr val="171717"/>
                </a:solidFill>
                <a:latin typeface="Meiryo"/>
                <a:ea typeface="Meiryo"/>
                <a:cs typeface="Meiryo"/>
              </a:rPr>
              <a:t>18</a:t>
            </a:fld>
            <a:endParaRPr/>
          </a:p>
        </p:txBody>
      </p:sp>
      <p:sp>
        <p:nvSpPr>
          <p:cNvPr id="533" name="Google Shape;533;p58">
            <a:extLst xmlns:a="http://schemas.openxmlformats.org/drawingml/2006/main">
              <a:ext uri="{FF2B5EF4-FFF2-40B4-BE49-F238E27FC236}">
                <a16:creationId xmlns:a16="http://schemas.microsoft.com/office/drawing/2014/main" id="{08EBC4B8-BBC1-7C2A-F77D-BEC6394B0F93}"/>
              </a:ext>
            </a:extLst>
          </p:cNvPr>
          <p:cNvSpPr>
            <a:spLocks xmlns:a="http://schemas.openxmlformats.org/drawingml/2006/main" noGrp="1"/>
          </p:cNvSpPr>
          <p:nvPr>
            <p:ph type="title" idx="0"/>
          </p:nvPr>
        </p:nvSpPr>
        <p:spPr>
          <a:xfrm xmlns:a="http://schemas.openxmlformats.org/drawingml/2006/main">
            <a:off x="393668" y="344043"/>
            <a:ext cx="11404568" cy="952500"/>
          </a:xfr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pPr>
              <a:defRPr sz="2700" b="0">
                <a:solidFill>
                  <a:srgbClr val="171717"/>
                </a:solidFill>
                <a:latin typeface="Meiryo"/>
                <a:ea typeface="Meiryo"/>
                <a:cs typeface="Meiryo"/>
              </a:defRPr>
            </a:pPr>
            <a:r>
              <a:rPr sz="2700" b="0">
                <a:solidFill>
                  <a:srgbClr val="171717"/>
                </a:solidFill>
                <a:latin typeface="Meiryo"/>
                <a:ea typeface="Meiryo"/>
                <a:cs typeface="Meiryo"/>
              </a:rPr>
              <a:t>評価データ候補とラベルの意味</a:t>
            </a:r>
          </a:p>
        </p:txBody>
      </p:sp>
      <p:graphicFrame>
        <p:nvGraphicFramePr>
          <p:cNvPr id="539" name=""/>
          <p:cNvGraphicFramePr/>
          <p:nvPr/>
        </p:nvGraphicFramePr>
        <p:xfrm>
          <a:off xmlns:a="http://schemas.openxmlformats.org/drawingml/2006/main" x="393668" y="1638300"/>
          <a:ext xmlns:a="http://schemas.openxmlformats.org/drawingml/2006/main" cx="11382375" cy="3095625"/>
        </p:xfrm>
        <a:graphic xmlns:a="http://schemas.openxmlformats.org/drawingml/2006/main">
          <a:graphicData uri="http://schemas.openxmlformats.org/drawingml/2006/table">
            <a:tbl>
              <a:tblPr/>
              <a:tblGrid>
                <a:gridCol w="3143250"/>
                <a:gridCol w="4191000"/>
                <a:gridCol w="4048125"/>
              </a:tblGrid>
              <a:tr h="619125">
                <a:tc>
                  <a:txBody>
                    <a:bodyPr>
                      <a:noAutofit/>
                    </a:bodyPr>
                    <a:lstStyle/>
                    <a:p>
                      <a:r>
                        <a:rPr sz="1725" b="1">
                          <a:solidFill>
                            <a:srgbClr val="171717"/>
                          </a:solidFill>
                          <a:latin typeface="Meiryo"/>
                          <a:ea typeface="Meiryo"/>
                          <a:cs typeface="Meiryo"/>
                        </a:rPr>
                        <a:t>データ</a:t>
                      </a:r>
                    </a:p>
                  </a:txBody>
                  <a:tcPr marL="95250" marR="95250" marT="85725" marB="66675" anchor="ctr">
                    <a:solidFill>
                      <a:srgbClr val="F1F1F1"/>
                    </a:solidFill>
                  </a:tcPr>
                </a:tc>
                <a:tc>
                  <a:txBody>
                    <a:bodyPr>
                      <a:noAutofit/>
                    </a:bodyPr>
                    <a:lstStyle/>
                    <a:p>
                      <a:r>
                        <a:rPr sz="1725" b="1">
                          <a:solidFill>
                            <a:srgbClr val="171717"/>
                          </a:solidFill>
                          <a:latin typeface="Meiryo"/>
                          <a:ea typeface="Meiryo"/>
                          <a:cs typeface="Meiryo"/>
                        </a:rPr>
                        <a:t>用途</a:t>
                      </a:r>
                    </a:p>
                  </a:txBody>
                  <a:tcPr marL="95250" marR="95250" marT="85725" marB="66675" anchor="ctr">
                    <a:solidFill>
                      <a:srgbClr val="F1F1F1"/>
                    </a:solidFill>
                  </a:tcPr>
                </a:tc>
                <a:tc>
                  <a:txBody>
                    <a:bodyPr>
                      <a:noAutofit/>
                    </a:bodyPr>
                    <a:lstStyle/>
                    <a:p>
                      <a:r>
                        <a:rPr sz="1725" b="1">
                          <a:solidFill>
                            <a:srgbClr val="171717"/>
                          </a:solidFill>
                          <a:latin typeface="Meiryo"/>
                          <a:ea typeface="Meiryo"/>
                          <a:cs typeface="Meiryo"/>
                        </a:rPr>
                        <a:t>確認が必要な点</a:t>
                      </a:r>
                    </a:p>
                  </a:txBody>
                  <a:tcPr marL="95250" marR="95250" marT="85725" marB="66675" anchor="ctr">
                    <a:solidFill>
                      <a:srgbClr val="F1F1F1"/>
                    </a:solidFill>
                  </a:tcPr>
                </a:tc>
              </a:tr>
              <a:tr h="619125">
                <a:tc>
                  <a:txBody>
                    <a:bodyPr>
                      <a:noAutofit/>
                    </a:bodyPr>
                    <a:lstStyle/>
                    <a:p>
                      <a:r>
                        <a:rPr sz="1725" b="0">
                          <a:solidFill>
                            <a:srgbClr val="171717"/>
                          </a:solidFill>
                          <a:latin typeface="Meiryo"/>
                          <a:ea typeface="Meiryo"/>
                          <a:cs typeface="Meiryo"/>
                        </a:rPr>
                        <a:t>SWaT / WADI</a:t>
                      </a:r>
                    </a:p>
                  </a:txBody>
                  <a:tcPr marL="95250" marR="95250" marT="85725" marB="66675" anchor="ctr">
                    <a:solidFill>
                      <a:srgbClr val="FFFFFF"/>
                    </a:solidFill>
                  </a:tcPr>
                </a:tc>
                <a:tc>
                  <a:txBody>
                    <a:bodyPr>
                      <a:noAutofit/>
                    </a:bodyPr>
                    <a:lstStyle/>
                    <a:p>
                      <a:r>
                        <a:rPr sz="1725" b="0">
                          <a:solidFill>
                            <a:srgbClr val="171717"/>
                          </a:solidFill>
                          <a:latin typeface="Meiryo"/>
                          <a:ea typeface="Meiryo"/>
                          <a:cs typeface="Meiryo"/>
                        </a:rPr>
                        <a:t>水処理・配水に近い多変量時系列</a:t>
                      </a:r>
                    </a:p>
                  </a:txBody>
                  <a:tcPr marL="95250" marR="95250" marT="85725" marB="66675" anchor="ctr">
                    <a:solidFill>
                      <a:srgbClr val="FFFFFF"/>
                    </a:solidFill>
                  </a:tcPr>
                </a:tc>
                <a:tc>
                  <a:txBody>
                    <a:bodyPr>
                      <a:noAutofit/>
                    </a:bodyPr>
                    <a:lstStyle/>
                    <a:p>
                      <a:r>
                        <a:rPr sz="1725" b="0">
                          <a:solidFill>
                            <a:srgbClr val="171717"/>
                          </a:solidFill>
                          <a:latin typeface="Meiryo"/>
                          <a:ea typeface="Meiryo"/>
                          <a:cs typeface="Meiryo"/>
                        </a:rPr>
                        <a:t>攻撃ラベルと学習外条件の対応</a:t>
                      </a:r>
                    </a:p>
                  </a:txBody>
                  <a:tcPr marL="95250" marR="95250" marT="85725" marB="66675" anchor="ctr">
                    <a:solidFill>
                      <a:srgbClr val="FFFFFF"/>
                    </a:solidFill>
                  </a:tcPr>
                </a:tc>
              </a:tr>
              <a:tr h="619125">
                <a:tc>
                  <a:txBody>
                    <a:bodyPr>
                      <a:noAutofit/>
                    </a:bodyPr>
                    <a:lstStyle/>
                    <a:p>
                      <a:r>
                        <a:rPr sz="1725" b="0">
                          <a:solidFill>
                            <a:srgbClr val="171717"/>
                          </a:solidFill>
                          <a:latin typeface="Meiryo"/>
                          <a:ea typeface="Meiryo"/>
                          <a:cs typeface="Meiryo"/>
                        </a:rPr>
                        <a:t>SMD / SMAP / MSL</a:t>
                      </a:r>
                    </a:p>
                  </a:txBody>
                  <a:tcPr marL="95250" marR="95250" marT="85725" marB="66675" anchor="ctr">
                    <a:solidFill>
                      <a:srgbClr val="FFFFFF"/>
                    </a:solidFill>
                  </a:tcPr>
                </a:tc>
                <a:tc>
                  <a:txBody>
                    <a:bodyPr>
                      <a:noAutofit/>
                    </a:bodyPr>
                    <a:lstStyle/>
                    <a:p>
                      <a:r>
                        <a:rPr sz="1725" b="0">
                          <a:solidFill>
                            <a:srgbClr val="171717"/>
                          </a:solidFill>
                          <a:latin typeface="Meiryo"/>
                          <a:ea typeface="Meiryo"/>
                          <a:cs typeface="Meiryo"/>
                        </a:rPr>
                        <a:t>他分野での検知性能の比較</a:t>
                      </a:r>
                    </a:p>
                  </a:txBody>
                  <a:tcPr marL="95250" marR="95250" marT="85725" marB="66675" anchor="ctr">
                    <a:solidFill>
                      <a:srgbClr val="FFFFFF"/>
                    </a:solidFill>
                  </a:tcPr>
                </a:tc>
                <a:tc>
                  <a:txBody>
                    <a:bodyPr>
                      <a:noAutofit/>
                    </a:bodyPr>
                    <a:lstStyle/>
                    <a:p>
                      <a:r>
                        <a:rPr sz="1725" b="0">
                          <a:solidFill>
                            <a:srgbClr val="171717"/>
                          </a:solidFill>
                          <a:latin typeface="Meiryo"/>
                          <a:ea typeface="Meiryo"/>
                          <a:cs typeface="Meiryo"/>
                        </a:rPr>
                        <a:t>系列構成・ラベル品質・入力の定義</a:t>
                      </a:r>
                    </a:p>
                  </a:txBody>
                  <a:tcPr marL="95250" marR="95250" marT="85725" marB="66675" anchor="ctr">
                    <a:solidFill>
                      <a:srgbClr val="FFFFFF"/>
                    </a:solidFill>
                  </a:tcPr>
                </a:tc>
              </a:tr>
              <a:tr h="619125">
                <a:tc>
                  <a:txBody>
                    <a:bodyPr>
                      <a:noAutofit/>
                    </a:bodyPr>
                    <a:lstStyle/>
                    <a:p>
                      <a:r>
                        <a:rPr sz="1725" b="0">
                          <a:solidFill>
                            <a:srgbClr val="171717"/>
                          </a:solidFill>
                          <a:latin typeface="Meiryo"/>
                          <a:ea typeface="Meiryo"/>
                          <a:cs typeface="Meiryo"/>
                        </a:rPr>
                        <a:t>PMLB</a:t>
                      </a:r>
                    </a:p>
                  </a:txBody>
                  <a:tcPr marL="95250" marR="95250" marT="85725" marB="66675" anchor="ctr">
                    <a:solidFill>
                      <a:srgbClr val="FFFFFF"/>
                    </a:solidFill>
                  </a:tcPr>
                </a:tc>
                <a:tc>
                  <a:txBody>
                    <a:bodyPr>
                      <a:noAutofit/>
                    </a:bodyPr>
                    <a:lstStyle/>
                    <a:p>
                      <a:r>
                        <a:rPr sz="1725" b="0">
                          <a:solidFill>
                            <a:srgbClr val="171717"/>
                          </a:solidFill>
                          <a:latin typeface="Meiryo"/>
                          <a:ea typeface="Meiryo"/>
                          <a:cs typeface="Meiryo"/>
                        </a:rPr>
                        <a:t>数値回帰に対するOOD評価</a:t>
                      </a:r>
                    </a:p>
                  </a:txBody>
                  <a:tcPr marL="95250" marR="95250" marT="85725" marB="66675" anchor="ctr">
                    <a:solidFill>
                      <a:srgbClr val="FFFFFF"/>
                    </a:solidFill>
                  </a:tcPr>
                </a:tc>
                <a:tc>
                  <a:txBody>
                    <a:bodyPr>
                      <a:noAutofit/>
                    </a:bodyPr>
                    <a:lstStyle/>
                    <a:p>
                      <a:r>
                        <a:rPr sz="1725" b="0">
                          <a:solidFill>
                            <a:srgbClr val="171717"/>
                          </a:solidFill>
                          <a:latin typeface="Meiryo"/>
                          <a:ea typeface="Meiryo"/>
                          <a:cs typeface="Meiryo"/>
                        </a:rPr>
                        <a:t>時間構造は前提にできない</a:t>
                      </a:r>
                    </a:p>
                  </a:txBody>
                  <a:tcPr marL="95250" marR="95250" marT="85725" marB="66675" anchor="ctr">
                    <a:solidFill>
                      <a:srgbClr val="FFFFFF"/>
                    </a:solidFill>
                  </a:tcPr>
                </a:tc>
              </a:tr>
              <a:tr h="619125">
                <a:tc>
                  <a:txBody>
                    <a:bodyPr>
                      <a:noAutofit/>
                    </a:bodyPr>
                    <a:lstStyle/>
                    <a:p>
                      <a:r>
                        <a:rPr sz="1725" b="0">
                          <a:solidFill>
                            <a:srgbClr val="171717"/>
                          </a:solidFill>
                          <a:latin typeface="Meiryo"/>
                          <a:ea typeface="Meiryo"/>
                          <a:cs typeface="Meiryo"/>
                        </a:rPr>
                        <a:t>Lorenz合成データ</a:t>
                      </a:r>
                    </a:p>
                  </a:txBody>
                  <a:tcPr marL="95250" marR="95250" marT="85725" marB="66675" anchor="ctr">
                    <a:solidFill>
                      <a:srgbClr val="FFFFFF"/>
                    </a:solidFill>
                  </a:tcPr>
                </a:tc>
                <a:tc>
                  <a:txBody>
                    <a:bodyPr>
                      <a:noAutofit/>
                    </a:bodyPr>
                    <a:lstStyle/>
                    <a:p>
                      <a:r>
                        <a:rPr sz="1725" b="0">
                          <a:solidFill>
                            <a:srgbClr val="171717"/>
                          </a:solidFill>
                          <a:latin typeface="Meiryo"/>
                          <a:ea typeface="Meiryo"/>
                          <a:cs typeface="Meiryo"/>
                        </a:rPr>
                        <a:t>変化の仕組みを制御した評価</a:t>
                      </a:r>
                    </a:p>
                  </a:txBody>
                  <a:tcPr marL="95250" marR="95250" marT="85725" marB="66675" anchor="ctr">
                    <a:solidFill>
                      <a:srgbClr val="FFFFFF"/>
                    </a:solidFill>
                  </a:tcPr>
                </a:tc>
                <a:tc>
                  <a:txBody>
                    <a:bodyPr>
                      <a:noAutofit/>
                    </a:bodyPr>
                    <a:lstStyle/>
                    <a:p>
                      <a:r>
                        <a:rPr sz="1725" b="0">
                          <a:solidFill>
                            <a:srgbClr val="171717"/>
                          </a:solidFill>
                          <a:latin typeface="Meiryo"/>
                          <a:ea typeface="Meiryo"/>
                          <a:cs typeface="Meiryo"/>
                        </a:rPr>
                        <a:t>実際の運転状態をどこまで再現するか</a:t>
                      </a:r>
                    </a:p>
                  </a:txBody>
                  <a:tcPr marL="95250" marR="95250" marT="85725" marB="66675" anchor="ctr">
                    <a:solidFill>
                      <a:srgbClr val="FFFFFF"/>
                    </a:solidFill>
                  </a:tcPr>
                </a:tc>
              </a:tr>
            </a:tbl>
          </a:graphicData>
        </a:graphic>
      </p:graphicFrame>
      <p:sp>
        <p:nvSpPr>
          <p:cNvPr id="535" name="">
            <a:extLst xmlns:a="http://schemas.openxmlformats.org/drawingml/2006/main">
              <a:ext uri="{FF2B5EF4-FFF2-40B4-BE49-F238E27FC236}">
                <a16:creationId xmlns:a16="http://schemas.microsoft.com/office/drawing/2014/main" id="{F06B4DB2-2E07-42B1-9562-853ABFCE7D8C}"/>
              </a:ext>
            </a:extLst>
          </p:cNvPr>
          <p:cNvSpPr>
            <a:spLocks xmlns:a="http://schemas.openxmlformats.org/drawingml/2006/main" noGrp="1"/>
          </p:cNvSpPr>
          <p:nvPr/>
        </p:nvSpPr>
        <p:spPr>
          <a:xfrm xmlns:a="http://schemas.openxmlformats.org/drawingml/2006/main">
            <a:off x="393668" y="5810250"/>
            <a:ext cx="1119187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725" b="1">
                <a:solidFill>
                  <a:srgbClr val="171717"/>
                </a:solidFill>
                <a:latin typeface="Meiryo"/>
                <a:ea typeface="Meiryo"/>
                <a:cs typeface="Meiryo"/>
              </a:defRPr>
            </a:pPr>
            <a:r>
              <a:rPr sz="1725" b="1">
                <a:solidFill>
                  <a:srgbClr val="171717"/>
                </a:solidFill>
                <a:latin typeface="Meiryo"/>
                <a:ea typeface="Meiryo"/>
                <a:cs typeface="Meiryo"/>
              </a:rPr>
              <a:t>故障・攻撃、人工OOD、予測誤差超過のラベルは分けて扱う</a:t>
            </a:r>
          </a:p>
        </p:txBody>
      </p:sp>
      <p:sp>
        <p:nvSpPr>
          <p:cNvPr id="536" name="">
            <a:extLst xmlns:a="http://schemas.openxmlformats.org/drawingml/2006/main">
              <a:ext uri="{FF2B5EF4-FFF2-40B4-BE49-F238E27FC236}">
                <a16:creationId xmlns:a16="http://schemas.microsoft.com/office/drawing/2014/main" id="{EB13A034-5615-48B6-88FC-C91A9420D81E}"/>
              </a:ext>
            </a:extLst>
          </p:cNvPr>
          <p:cNvSpPr>
            <a:spLocks xmlns:a="http://schemas.openxmlformats.org/drawingml/2006/main" noGrp="1"/>
          </p:cNvSpPr>
          <p:nvPr/>
        </p:nvSpPr>
        <p:spPr>
          <a:xfrm xmlns:a="http://schemas.openxmlformats.org/drawingml/2006/main">
            <a:off x="393668" y="6334125"/>
            <a:ext cx="10668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975" b="0">
                <a:solidFill>
                  <a:srgbClr val="656565"/>
                </a:solidFill>
                <a:latin typeface="Meiryo"/>
                <a:ea typeface="Meiryo"/>
                <a:cs typeface="Meiryo"/>
              </a:defRPr>
            </a:pPr>
            <a:r>
              <a:rPr sz="975" b="0">
                <a:solidFill>
                  <a:srgbClr val="656565"/>
                </a:solidFill>
                <a:latin typeface="Meiryo"/>
                <a:ea typeface="Meiryo"/>
                <a:cs typeface="Meiryo"/>
              </a:rPr>
              <a:t>S1 Table 1、S6 §5、13 §5、14 §4。公開条件の確認状況は付録参照</a:t>
            </a:r>
          </a:p>
        </p:txBody>
      </p:sp>
    </p:spTree>
    <p:extLst>
      <p:ext uri="{BB962C8B-B14F-4D97-AF65-F5344CB8AC3E}">
        <p14:creationId xmlns:p14="http://schemas.microsoft.com/office/powerpoint/2010/main" val="329854879"/>
      </p:ext>
    </p:extLst>
  </p:cSld>
</p:sld>
</file>

<file path=ppt/slides/slide19.xml><?xml version="1.0" encoding="utf-8"?>
<p:sld xmlns:p="http://schemas.openxmlformats.org/presentationml/2006/main">
  <p:cSld>
    <p:spTree>
      <p:nvGrpSpPr>
        <p:cNvPr id="1" name=""/>
        <p:cNvGrpSpPr/>
        <p:nvPr/>
      </p:nvGrpSpPr>
      <p:grpSpPr>
        <a:xfrm xmlns:a="http://schemas.openxmlformats.org/drawingml/2006/main"/>
      </p:grpSpPr>
      <p:sp>
        <p:nvSpPr>
          <p:cNvPr id="532" name="Google Shape;532;p58">
            <a:extLst xmlns:a="http://schemas.openxmlformats.org/drawingml/2006/main">
              <a:ext uri="{FF2B5EF4-FFF2-40B4-BE49-F238E27FC236}">
                <a16:creationId xmlns:a16="http://schemas.microsoft.com/office/drawing/2014/main" id="{1BCBE750-7048-686D-1472-52C53362D6CD}"/>
              </a:ext>
            </a:extLst>
          </p:cNvPr>
          <p:cNvSpPr>
            <a:spLocks xmlns:a="http://schemas.openxmlformats.org/drawingml/2006/main" noGrp="1"/>
          </p:cNvSpPr>
          <p:nvPr>
            <p:ph type="sldNum" idx="4"/>
          </p:nvPr>
        </p:nvSpPr>
        <p:spPr>
          <a:xfrm xmlns:a="http://schemas.openxmlformats.org/drawingml/2006/main">
            <a:off x="11279332" y="6279294"/>
            <a:ext cx="518968" cy="241240"/>
          </a:xfr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pPr>
              <a:defRPr sz="975" b="0">
                <a:solidFill>
                  <a:srgbClr val="171717"/>
                </a:solidFill>
                <a:latin typeface="Meiryo"/>
                <a:ea typeface="Meiryo"/>
                <a:cs typeface="Meiryo"/>
              </a:defRPr>
            </a:pPr>
            <a:fld id="{CCF91274-D221-1BB4-3BF9-836E3AD31EBE}" type="slidenum">
              <a:rPr sz="975" b="0">
                <a:solidFill>
                  <a:srgbClr val="171717"/>
                </a:solidFill>
                <a:latin typeface="Meiryo"/>
                <a:ea typeface="Meiryo"/>
                <a:cs typeface="Meiryo"/>
              </a:rPr>
              <a:t>19</a:t>
            </a:fld>
            <a:endParaRPr/>
          </a:p>
        </p:txBody>
      </p:sp>
      <p:sp>
        <p:nvSpPr>
          <p:cNvPr id="533" name="Google Shape;533;p58">
            <a:extLst xmlns:a="http://schemas.openxmlformats.org/drawingml/2006/main">
              <a:ext uri="{FF2B5EF4-FFF2-40B4-BE49-F238E27FC236}">
                <a16:creationId xmlns:a16="http://schemas.microsoft.com/office/drawing/2014/main" id="{1B5D55CD-1C17-7CD8-F26A-2DD65B067687}"/>
              </a:ext>
            </a:extLst>
          </p:cNvPr>
          <p:cNvSpPr>
            <a:spLocks xmlns:a="http://schemas.openxmlformats.org/drawingml/2006/main" noGrp="1"/>
          </p:cNvSpPr>
          <p:nvPr>
            <p:ph type="title" idx="0"/>
          </p:nvPr>
        </p:nvSpPr>
        <p:spPr>
          <a:xfrm xmlns:a="http://schemas.openxmlformats.org/drawingml/2006/main">
            <a:off x="393668" y="344043"/>
            <a:ext cx="11404568" cy="952500"/>
          </a:xfr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pPr>
              <a:defRPr sz="2700" b="0">
                <a:solidFill>
                  <a:srgbClr val="171717"/>
                </a:solidFill>
                <a:latin typeface="Meiryo"/>
                <a:ea typeface="Meiryo"/>
                <a:cs typeface="Meiryo"/>
              </a:defRPr>
            </a:pPr>
            <a:r>
              <a:rPr sz="2700" b="0">
                <a:solidFill>
                  <a:srgbClr val="171717"/>
                </a:solidFill>
                <a:latin typeface="Meiryo"/>
                <a:ea typeface="Meiryo"/>
                <a:cs typeface="Meiryo"/>
              </a:rPr>
              <a:t>実習モデルでの評価案</a:t>
            </a:r>
          </a:p>
        </p:txBody>
      </p:sp>
      <p:sp>
        <p:nvSpPr>
          <p:cNvPr id="534" name="">
            <a:extLst xmlns:a="http://schemas.openxmlformats.org/drawingml/2006/main">
              <a:ext uri="{FF2B5EF4-FFF2-40B4-BE49-F238E27FC236}">
                <a16:creationId xmlns:a16="http://schemas.microsoft.com/office/drawing/2014/main" id="{BC0533D7-7C96-446B-865E-5EE54469E661}"/>
              </a:ext>
            </a:extLst>
          </p:cNvPr>
          <p:cNvSpPr>
            <a:spLocks xmlns:a="http://schemas.openxmlformats.org/drawingml/2006/main" noGrp="1"/>
          </p:cNvSpPr>
          <p:nvPr/>
        </p:nvSpPr>
        <p:spPr>
          <a:xfrm xmlns:a="http://schemas.openxmlformats.org/drawingml/2006/main">
            <a:off x="393668" y="1838325"/>
            <a:ext cx="5540359"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00" b="1">
                <a:solidFill>
                  <a:srgbClr val="171717"/>
                </a:solidFill>
                <a:latin typeface="Meiryo"/>
                <a:ea typeface="Meiryo"/>
                <a:cs typeface="Meiryo"/>
              </a:defRPr>
            </a:pPr>
            <a:r>
              <a:rPr sz="2100" b="1">
                <a:solidFill>
                  <a:srgbClr val="171717"/>
                </a:solidFill>
                <a:latin typeface="Meiryo"/>
                <a:ea typeface="Meiryo"/>
                <a:cs typeface="Meiryo"/>
              </a:rPr>
              <a:t>データと閾値</a:t>
            </a:r>
          </a:p>
        </p:txBody>
      </p:sp>
      <p:sp>
        <p:nvSpPr>
          <p:cNvPr id="535" name="">
            <a:extLst xmlns:a="http://schemas.openxmlformats.org/drawingml/2006/main">
              <a:ext uri="{FF2B5EF4-FFF2-40B4-BE49-F238E27FC236}">
                <a16:creationId xmlns:a16="http://schemas.microsoft.com/office/drawing/2014/main" id="{6FAD32F2-FCC2-4B8F-B18F-4ABD42F7F9F0}"/>
              </a:ext>
            </a:extLst>
          </p:cNvPr>
          <p:cNvSpPr>
            <a:spLocks xmlns:a="http://schemas.openxmlformats.org/drawingml/2006/main" noGrp="1"/>
          </p:cNvSpPr>
          <p:nvPr/>
        </p:nvSpPr>
        <p:spPr>
          <a:xfrm xmlns:a="http://schemas.openxmlformats.org/drawingml/2006/main">
            <a:off x="393668" y="2505075"/>
            <a:ext cx="5540359" cy="285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950" b="0">
                <a:solidFill>
                  <a:srgbClr val="171717"/>
                </a:solidFill>
                <a:latin typeface="Meiryo"/>
                <a:ea typeface="Meiryo"/>
                <a:cs typeface="Meiryo"/>
              </a:defRPr>
            </a:pPr>
            <a:r>
              <a:rPr sz="1950" b="0">
                <a:solidFill>
                  <a:srgbClr val="171717"/>
                </a:solidFill>
                <a:latin typeface="Meiryo"/>
                <a:ea typeface="Meiryo"/>
                <a:cs typeface="Meiryo"/>
              </a:rPr>
              <a:t>時間順に訓練・校正・テストを分離</a:t>
            </a:r>
          </a:p>
          <a:p xmlns:a="http://schemas.openxmlformats.org/drawingml/2006/main">
            <a:r>
              <a:t/>
            </a:r>
          </a:p>
          <a:p xmlns:a="http://schemas.openxmlformats.org/drawingml/2006/main">
            <a:pPr>
              <a:defRPr sz="1950" b="0">
                <a:solidFill>
                  <a:srgbClr val="171717"/>
                </a:solidFill>
                <a:latin typeface="Meiryo"/>
                <a:ea typeface="Meiryo"/>
                <a:cs typeface="Meiryo"/>
              </a:defRPr>
            </a:pPr>
            <a:r>
              <a:rPr sz="1950" b="0">
                <a:solidFill>
                  <a:srgbClr val="171717"/>
                </a:solidFill>
                <a:latin typeface="Meiryo"/>
                <a:ea typeface="Meiryo"/>
                <a:cs typeface="Meiryo"/>
              </a:rPr>
              <a:t>範囲外・低密度・未知の関係を区別</a:t>
            </a:r>
          </a:p>
          <a:p xmlns:a="http://schemas.openxmlformats.org/drawingml/2006/main">
            <a:r>
              <a:t/>
            </a:r>
          </a:p>
          <a:p xmlns:a="http://schemas.openxmlformats.org/drawingml/2006/main">
            <a:pPr>
              <a:defRPr sz="1950" b="0">
                <a:solidFill>
                  <a:srgbClr val="171717"/>
                </a:solidFill>
                <a:latin typeface="Meiryo"/>
                <a:ea typeface="Meiryo"/>
                <a:cs typeface="Meiryo"/>
              </a:defRPr>
            </a:pPr>
            <a:r>
              <a:rPr sz="1950" b="0">
                <a:solidFill>
                  <a:srgbClr val="171717"/>
                </a:solidFill>
                <a:latin typeface="Meiryo"/>
                <a:ea typeface="Meiryo"/>
                <a:cs typeface="Meiryo"/>
              </a:rPr>
              <a:t>校正データで閾値を固定し、テストで検知率と誤検知率を評価</a:t>
            </a:r>
          </a:p>
        </p:txBody>
      </p:sp>
      <p:sp>
        <p:nvSpPr>
          <p:cNvPr id="536" name="">
            <a:extLst xmlns:a="http://schemas.openxmlformats.org/drawingml/2006/main">
              <a:ext uri="{FF2B5EF4-FFF2-40B4-BE49-F238E27FC236}">
                <a16:creationId xmlns:a16="http://schemas.microsoft.com/office/drawing/2014/main" id="{B6D23C3B-8E57-403B-B44A-1357EC6EB651}"/>
              </a:ext>
            </a:extLst>
          </p:cNvPr>
          <p:cNvSpPr>
            <a:spLocks xmlns:a="http://schemas.openxmlformats.org/drawingml/2006/main" noGrp="1"/>
          </p:cNvSpPr>
          <p:nvPr/>
        </p:nvSpPr>
        <p:spPr>
          <a:xfrm xmlns:a="http://schemas.openxmlformats.org/drawingml/2006/main">
            <a:off x="6257877" y="1838325"/>
            <a:ext cx="5540359"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00" b="1">
                <a:solidFill>
                  <a:srgbClr val="171717"/>
                </a:solidFill>
                <a:latin typeface="Meiryo"/>
                <a:ea typeface="Meiryo"/>
                <a:cs typeface="Meiryo"/>
              </a:defRPr>
            </a:pPr>
            <a:r>
              <a:rPr sz="2100" b="1">
                <a:solidFill>
                  <a:srgbClr val="171717"/>
                </a:solidFill>
                <a:latin typeface="Meiryo"/>
                <a:ea typeface="Meiryo"/>
                <a:cs typeface="Meiryo"/>
              </a:rPr>
              <a:t>運用上の有用性</a:t>
            </a:r>
          </a:p>
        </p:txBody>
      </p:sp>
      <p:sp>
        <p:nvSpPr>
          <p:cNvPr id="537" name="">
            <a:extLst xmlns:a="http://schemas.openxmlformats.org/drawingml/2006/main">
              <a:ext uri="{FF2B5EF4-FFF2-40B4-BE49-F238E27FC236}">
                <a16:creationId xmlns:a16="http://schemas.microsoft.com/office/drawing/2014/main" id="{80991989-A0E2-437C-84D6-E7831837B5B0}"/>
              </a:ext>
            </a:extLst>
          </p:cNvPr>
          <p:cNvSpPr>
            <a:spLocks xmlns:a="http://schemas.openxmlformats.org/drawingml/2006/main" noGrp="1"/>
          </p:cNvSpPr>
          <p:nvPr/>
        </p:nvSpPr>
        <p:spPr>
          <a:xfrm xmlns:a="http://schemas.openxmlformats.org/drawingml/2006/main">
            <a:off x="6257877" y="2505075"/>
            <a:ext cx="5540359" cy="285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950" b="0">
                <a:solidFill>
                  <a:srgbClr val="171717"/>
                </a:solidFill>
                <a:latin typeface="Meiryo"/>
                <a:ea typeface="Meiryo"/>
                <a:cs typeface="Meiryo"/>
              </a:defRPr>
            </a:pPr>
            <a:r>
              <a:rPr sz="1950" b="0">
                <a:solidFill>
                  <a:srgbClr val="171717"/>
                </a:solidFill>
                <a:latin typeface="Meiryo"/>
                <a:ea typeface="Meiryo"/>
                <a:cs typeface="Meiryo"/>
              </a:rPr>
              <a:t>学習外判定と回帰誤差の関係</a:t>
            </a:r>
          </a:p>
          <a:p xmlns:a="http://schemas.openxmlformats.org/drawingml/2006/main">
            <a:r>
              <a:t/>
            </a:r>
          </a:p>
          <a:p xmlns:a="http://schemas.openxmlformats.org/drawingml/2006/main">
            <a:pPr>
              <a:defRPr sz="1950" b="0">
                <a:solidFill>
                  <a:srgbClr val="171717"/>
                </a:solidFill>
                <a:latin typeface="Meiryo"/>
                <a:ea typeface="Meiryo"/>
                <a:cs typeface="Meiryo"/>
              </a:defRPr>
            </a:pPr>
            <a:r>
              <a:rPr sz="1950" b="0">
                <a:solidFill>
                  <a:srgbClr val="171717"/>
                </a:solidFill>
                <a:latin typeface="Meiryo"/>
                <a:ea typeface="Meiryo"/>
                <a:cs typeface="Meiryo"/>
              </a:rPr>
              <a:t>見逃した大誤差と、不要な警報の数</a:t>
            </a:r>
          </a:p>
          <a:p xmlns:a="http://schemas.openxmlformats.org/drawingml/2006/main">
            <a:r>
              <a:t/>
            </a:r>
          </a:p>
          <a:p xmlns:a="http://schemas.openxmlformats.org/drawingml/2006/main">
            <a:pPr>
              <a:defRPr sz="1950" b="0">
                <a:solidFill>
                  <a:srgbClr val="171717"/>
                </a:solidFill>
                <a:latin typeface="Meiryo"/>
                <a:ea typeface="Meiryo"/>
                <a:cs typeface="Meiryo"/>
              </a:defRPr>
            </a:pPr>
            <a:r>
              <a:rPr sz="1950" b="0">
                <a:solidFill>
                  <a:srgbClr val="171717"/>
                </a:solidFill>
                <a:latin typeface="Meiryo"/>
                <a:ea typeface="Meiryo"/>
                <a:cs typeface="Meiryo"/>
              </a:rPr>
              <a:t>推論時間・履歴長・検知遅延</a:t>
            </a:r>
          </a:p>
        </p:txBody>
      </p:sp>
      <p:sp>
        <p:nvSpPr>
          <p:cNvPr id="538" name="">
            <a:extLst xmlns:a="http://schemas.openxmlformats.org/drawingml/2006/main">
              <a:ext uri="{FF2B5EF4-FFF2-40B4-BE49-F238E27FC236}">
                <a16:creationId xmlns:a16="http://schemas.microsoft.com/office/drawing/2014/main" id="{6AE8D21F-3C21-4EE9-905C-014A17FB1D67}"/>
              </a:ext>
            </a:extLst>
          </p:cNvPr>
          <p:cNvSpPr>
            <a:spLocks xmlns:a="http://schemas.openxmlformats.org/drawingml/2006/main" noGrp="1"/>
          </p:cNvSpPr>
          <p:nvPr/>
        </p:nvSpPr>
        <p:spPr>
          <a:xfrm xmlns:a="http://schemas.openxmlformats.org/drawingml/2006/main">
            <a:off x="393668" y="5810250"/>
            <a:ext cx="1119187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725" b="1">
                <a:solidFill>
                  <a:srgbClr val="171717"/>
                </a:solidFill>
                <a:latin typeface="Meiryo"/>
                <a:ea typeface="Meiryo"/>
                <a:cs typeface="Meiryo"/>
              </a:defRPr>
            </a:pPr>
            <a:r>
              <a:rPr sz="1725" b="1">
                <a:solidFill>
                  <a:srgbClr val="171717"/>
                </a:solidFill>
                <a:latin typeface="Meiryo"/>
                <a:ea typeface="Meiryo"/>
                <a:cs typeface="Meiryo"/>
              </a:rPr>
              <a:t>正解がない場合は、留出した運転条件・合成変化・専門家確認を併用する</a:t>
            </a:r>
          </a:p>
        </p:txBody>
      </p:sp>
      <p:sp>
        <p:nvSpPr>
          <p:cNvPr id="539" name="">
            <a:extLst xmlns:a="http://schemas.openxmlformats.org/drawingml/2006/main">
              <a:ext uri="{FF2B5EF4-FFF2-40B4-BE49-F238E27FC236}">
                <a16:creationId xmlns:a16="http://schemas.microsoft.com/office/drawing/2014/main" id="{21F81CC1-8DC6-4E0D-BBC3-CAA297382AD7}"/>
              </a:ext>
            </a:extLst>
          </p:cNvPr>
          <p:cNvSpPr>
            <a:spLocks xmlns:a="http://schemas.openxmlformats.org/drawingml/2006/main" noGrp="1"/>
          </p:cNvSpPr>
          <p:nvPr/>
        </p:nvSpPr>
        <p:spPr>
          <a:xfrm xmlns:a="http://schemas.openxmlformats.org/drawingml/2006/main">
            <a:off x="393668" y="6334125"/>
            <a:ext cx="10668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975" b="0">
                <a:solidFill>
                  <a:srgbClr val="656565"/>
                </a:solidFill>
                <a:latin typeface="Meiryo"/>
                <a:ea typeface="Meiryo"/>
                <a:cs typeface="Meiryo"/>
              </a:defRPr>
            </a:pPr>
            <a:r>
              <a:rPr sz="975" b="0">
                <a:solidFill>
                  <a:srgbClr val="656565"/>
                </a:solidFill>
                <a:latin typeface="Meiryo"/>
                <a:ea typeface="Meiryo"/>
                <a:cs typeface="Meiryo"/>
              </a:rPr>
              <a:t>実習要求、山原の評価観点を基にした提案。実施結果ではない</a:t>
            </a:r>
          </a:p>
        </p:txBody>
      </p:sp>
    </p:spTree>
    <p:extLst>
      <p:ext uri="{BB962C8B-B14F-4D97-AF65-F5344CB8AC3E}">
        <p14:creationId xmlns:p14="http://schemas.microsoft.com/office/powerpoint/2010/main" val="3667182145"/>
      </p:ext>
    </p:extLst>
  </p:cSld>
</p:sld>
</file>

<file path=ppt/slides/slide20.xml><?xml version="1.0" encoding="utf-8"?>
<p:sld xmlns:p="http://schemas.openxmlformats.org/presentationml/2006/main">
  <p:cSld>
    <p:spTree>
      <p:nvGrpSpPr>
        <p:cNvPr id="1" name=""/>
        <p:cNvGrpSpPr/>
        <p:nvPr/>
      </p:nvGrpSpPr>
      <p:grpSpPr>
        <a:xfrm xmlns:a="http://schemas.openxmlformats.org/drawingml/2006/main"/>
      </p:grpSpPr>
      <p:sp>
        <p:nvSpPr>
          <p:cNvPr id="532" name="Google Shape;532;p58">
            <a:extLst xmlns:a="http://schemas.openxmlformats.org/drawingml/2006/main">
              <a:ext uri="{FF2B5EF4-FFF2-40B4-BE49-F238E27FC236}">
                <a16:creationId xmlns:a16="http://schemas.microsoft.com/office/drawing/2014/main" id="{1BCBE750-7048-686D-1472-52C53362D6CD}"/>
              </a:ext>
            </a:extLst>
          </p:cNvPr>
          <p:cNvSpPr>
            <a:spLocks xmlns:a="http://schemas.openxmlformats.org/drawingml/2006/main" noGrp="1"/>
          </p:cNvSpPr>
          <p:nvPr>
            <p:ph type="sldNum" idx="4"/>
          </p:nvPr>
        </p:nvSpPr>
        <p:spPr>
          <a:xfrm xmlns:a="http://schemas.openxmlformats.org/drawingml/2006/main">
            <a:off x="11279332" y="6279294"/>
            <a:ext cx="518968" cy="241240"/>
          </a:xfr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pPr>
              <a:defRPr sz="975" b="0">
                <a:solidFill>
                  <a:srgbClr val="171717"/>
                </a:solidFill>
                <a:latin typeface="Meiryo"/>
                <a:ea typeface="Meiryo"/>
                <a:cs typeface="Meiryo"/>
              </a:defRPr>
            </a:pPr>
            <a:fld id="{844E025A-983C-6D44-79C6-4612AACD43FC}" type="slidenum">
              <a:rPr sz="975" b="0">
                <a:solidFill>
                  <a:srgbClr val="171717"/>
                </a:solidFill>
                <a:latin typeface="Meiryo"/>
                <a:ea typeface="Meiryo"/>
                <a:cs typeface="Meiryo"/>
              </a:rPr>
              <a:t>20</a:t>
            </a:fld>
            <a:endParaRPr/>
          </a:p>
        </p:txBody>
      </p:sp>
      <p:sp>
        <p:nvSpPr>
          <p:cNvPr id="533" name="Google Shape;533;p58">
            <a:extLst xmlns:a="http://schemas.openxmlformats.org/drawingml/2006/main">
              <a:ext uri="{FF2B5EF4-FFF2-40B4-BE49-F238E27FC236}">
                <a16:creationId xmlns:a16="http://schemas.microsoft.com/office/drawing/2014/main" id="{1B5D55CD-1C17-7CD8-F26A-2DD65B067687}"/>
              </a:ext>
            </a:extLst>
          </p:cNvPr>
          <p:cNvSpPr>
            <a:spLocks xmlns:a="http://schemas.openxmlformats.org/drawingml/2006/main" noGrp="1"/>
          </p:cNvSpPr>
          <p:nvPr>
            <p:ph type="title" idx="0"/>
          </p:nvPr>
        </p:nvSpPr>
        <p:spPr>
          <a:xfrm xmlns:a="http://schemas.openxmlformats.org/drawingml/2006/main">
            <a:off x="393668" y="344043"/>
            <a:ext cx="11404568" cy="952500"/>
          </a:xfr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pPr>
              <a:defRPr sz="2700" b="0">
                <a:solidFill>
                  <a:srgbClr val="171717"/>
                </a:solidFill>
                <a:latin typeface="Meiryo"/>
                <a:ea typeface="Meiryo"/>
                <a:cs typeface="Meiryo"/>
              </a:defRPr>
            </a:pPr>
            <a:r>
              <a:rPr sz="2700" b="0">
                <a:solidFill>
                  <a:srgbClr val="171717"/>
                </a:solidFill>
                <a:latin typeface="Meiryo"/>
                <a:ea typeface="Meiryo"/>
                <a:cs typeface="Meiryo"/>
              </a:rPr>
              <a:t>現時点の整理と次の確認事項</a:t>
            </a:r>
          </a:p>
        </p:txBody>
      </p:sp>
      <p:sp>
        <p:nvSpPr>
          <p:cNvPr id="534" name="">
            <a:extLst xmlns:a="http://schemas.openxmlformats.org/drawingml/2006/main">
              <a:ext uri="{FF2B5EF4-FFF2-40B4-BE49-F238E27FC236}">
                <a16:creationId xmlns:a16="http://schemas.microsoft.com/office/drawing/2014/main" id="{2A03ABCA-1DFB-4242-828A-3EC60E63EBE0}"/>
              </a:ext>
            </a:extLst>
          </p:cNvPr>
          <p:cNvSpPr>
            <a:spLocks xmlns:a="http://schemas.openxmlformats.org/drawingml/2006/main" noGrp="1"/>
          </p:cNvSpPr>
          <p:nvPr/>
        </p:nvSpPr>
        <p:spPr>
          <a:xfrm xmlns:a="http://schemas.openxmlformats.org/drawingml/2006/main">
            <a:off x="393668" y="1838325"/>
            <a:ext cx="5540359"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00" b="1">
                <a:solidFill>
                  <a:srgbClr val="171717"/>
                </a:solidFill>
                <a:latin typeface="Meiryo"/>
                <a:ea typeface="Meiryo"/>
                <a:cs typeface="Meiryo"/>
              </a:defRPr>
            </a:pPr>
            <a:r>
              <a:rPr sz="2100" b="1">
                <a:solidFill>
                  <a:srgbClr val="171717"/>
                </a:solidFill>
                <a:latin typeface="Meiryo"/>
                <a:ea typeface="Meiryo"/>
                <a:cs typeface="Meiryo"/>
              </a:rPr>
              <a:t>文献から得られたこと</a:t>
            </a:r>
          </a:p>
        </p:txBody>
      </p:sp>
      <p:sp>
        <p:nvSpPr>
          <p:cNvPr id="535" name="">
            <a:extLst xmlns:a="http://schemas.openxmlformats.org/drawingml/2006/main">
              <a:ext uri="{FF2B5EF4-FFF2-40B4-BE49-F238E27FC236}">
                <a16:creationId xmlns:a16="http://schemas.microsoft.com/office/drawing/2014/main" id="{D1811862-5D99-4B11-A89B-4C3CA79A9CA6}"/>
              </a:ext>
            </a:extLst>
          </p:cNvPr>
          <p:cNvSpPr>
            <a:spLocks xmlns:a="http://schemas.openxmlformats.org/drawingml/2006/main" noGrp="1"/>
          </p:cNvSpPr>
          <p:nvPr/>
        </p:nvSpPr>
        <p:spPr>
          <a:xfrm xmlns:a="http://schemas.openxmlformats.org/drawingml/2006/main">
            <a:off x="393668" y="2505075"/>
            <a:ext cx="5540359" cy="285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950" b="0">
                <a:solidFill>
                  <a:srgbClr val="171717"/>
                </a:solidFill>
                <a:latin typeface="Meiryo"/>
                <a:ea typeface="Meiryo"/>
                <a:cs typeface="Meiryo"/>
              </a:defRPr>
            </a:pPr>
            <a:r>
              <a:rPr sz="1950" b="0">
                <a:solidFill>
                  <a:srgbClr val="171717"/>
                </a:solidFill>
                <a:latin typeface="Meiryo"/>
                <a:ea typeface="Meiryo"/>
                <a:cs typeface="Meiryo"/>
              </a:rPr>
              <a:t>1時刻の多変量入力でも検知は可能。</a:t>
            </a:r>
          </a:p>
          <a:p xmlns:a="http://schemas.openxmlformats.org/drawingml/2006/main">
            <a:r>
              <a:t/>
            </a:r>
          </a:p>
          <a:p xmlns:a="http://schemas.openxmlformats.org/drawingml/2006/main">
            <a:pPr>
              <a:defRPr sz="1950" b="0">
                <a:solidFill>
                  <a:srgbClr val="171717"/>
                </a:solidFill>
                <a:latin typeface="Meiryo"/>
                <a:ea typeface="Meiryo"/>
                <a:cs typeface="Meiryo"/>
              </a:defRPr>
            </a:pPr>
            <a:r>
              <a:rPr sz="1950" b="0">
                <a:solidFill>
                  <a:srgbClr val="171717"/>
                </a:solidFill>
                <a:latin typeface="Meiryo"/>
                <a:ea typeface="Meiryo"/>
                <a:cs typeface="Meiryo"/>
              </a:rPr>
              <a:t>範囲・変数関係・予測タスクとの関係を分けて比較できる。</a:t>
            </a:r>
          </a:p>
          <a:p xmlns:a="http://schemas.openxmlformats.org/drawingml/2006/main">
            <a:r>
              <a:t/>
            </a:r>
          </a:p>
          <a:p xmlns:a="http://schemas.openxmlformats.org/drawingml/2006/main">
            <a:pPr>
              <a:defRPr sz="1950" b="0">
                <a:solidFill>
                  <a:srgbClr val="171717"/>
                </a:solidFill>
                <a:latin typeface="Meiryo"/>
                <a:ea typeface="Meiryo"/>
                <a:cs typeface="Meiryo"/>
              </a:defRPr>
            </a:pPr>
            <a:r>
              <a:rPr sz="1950" b="0">
                <a:solidFill>
                  <a:srgbClr val="171717"/>
                </a:solidFill>
                <a:latin typeface="Meiryo"/>
                <a:ea typeface="Meiryo"/>
                <a:cs typeface="Meiryo"/>
              </a:rPr>
              <a:t>異常検知の評価だけでは、回帰の安全性を保証できない。</a:t>
            </a:r>
          </a:p>
        </p:txBody>
      </p:sp>
      <p:sp>
        <p:nvSpPr>
          <p:cNvPr id="536" name="">
            <a:extLst xmlns:a="http://schemas.openxmlformats.org/drawingml/2006/main">
              <a:ext uri="{FF2B5EF4-FFF2-40B4-BE49-F238E27FC236}">
                <a16:creationId xmlns:a16="http://schemas.microsoft.com/office/drawing/2014/main" id="{726635C5-7DC6-4085-85F4-686257A97178}"/>
              </a:ext>
            </a:extLst>
          </p:cNvPr>
          <p:cNvSpPr>
            <a:spLocks xmlns:a="http://schemas.openxmlformats.org/drawingml/2006/main" noGrp="1"/>
          </p:cNvSpPr>
          <p:nvPr/>
        </p:nvSpPr>
        <p:spPr>
          <a:xfrm xmlns:a="http://schemas.openxmlformats.org/drawingml/2006/main">
            <a:off x="6257877" y="1838325"/>
            <a:ext cx="5540359"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00" b="1">
                <a:solidFill>
                  <a:srgbClr val="171717"/>
                </a:solidFill>
                <a:latin typeface="Meiryo"/>
                <a:ea typeface="Meiryo"/>
                <a:cs typeface="Meiryo"/>
              </a:defRPr>
            </a:pPr>
            <a:r>
              <a:rPr sz="2100" b="1">
                <a:solidFill>
                  <a:srgbClr val="171717"/>
                </a:solidFill>
                <a:latin typeface="Meiryo"/>
                <a:ea typeface="Meiryo"/>
                <a:cs typeface="Meiryo"/>
              </a:rPr>
              <a:t>次に確認すること</a:t>
            </a:r>
          </a:p>
        </p:txBody>
      </p:sp>
      <p:sp>
        <p:nvSpPr>
          <p:cNvPr id="537" name="">
            <a:extLst xmlns:a="http://schemas.openxmlformats.org/drawingml/2006/main">
              <a:ext uri="{FF2B5EF4-FFF2-40B4-BE49-F238E27FC236}">
                <a16:creationId xmlns:a16="http://schemas.microsoft.com/office/drawing/2014/main" id="{2C33CDB8-9B00-4818-B133-2138B9D29B0A}"/>
              </a:ext>
            </a:extLst>
          </p:cNvPr>
          <p:cNvSpPr>
            <a:spLocks xmlns:a="http://schemas.openxmlformats.org/drawingml/2006/main" noGrp="1"/>
          </p:cNvSpPr>
          <p:nvPr/>
        </p:nvSpPr>
        <p:spPr>
          <a:xfrm xmlns:a="http://schemas.openxmlformats.org/drawingml/2006/main">
            <a:off x="6257877" y="2505075"/>
            <a:ext cx="5540359" cy="285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950" b="0">
                <a:solidFill>
                  <a:srgbClr val="171717"/>
                </a:solidFill>
                <a:latin typeface="Meiryo"/>
                <a:ea typeface="Meiryo"/>
                <a:cs typeface="Meiryo"/>
              </a:defRPr>
            </a:pPr>
            <a:r>
              <a:rPr sz="1950" b="0">
                <a:solidFill>
                  <a:srgbClr val="171717"/>
                </a:solidFill>
                <a:latin typeface="Meiryo"/>
                <a:ea typeface="Meiryo"/>
                <a:cs typeface="Meiryo"/>
              </a:rPr>
              <a:t>実際の入力変数・回帰器・履歴の仕様</a:t>
            </a:r>
          </a:p>
          <a:p xmlns:a="http://schemas.openxmlformats.org/drawingml/2006/main">
            <a:r>
              <a:t/>
            </a:r>
          </a:p>
          <a:p xmlns:a="http://schemas.openxmlformats.org/drawingml/2006/main">
            <a:pPr>
              <a:defRPr sz="1950" b="0">
                <a:solidFill>
                  <a:srgbClr val="171717"/>
                </a:solidFill>
                <a:latin typeface="Meiryo"/>
                <a:ea typeface="Meiryo"/>
                <a:cs typeface="Meiryo"/>
              </a:defRPr>
            </a:pPr>
            <a:r>
              <a:rPr sz="1950" b="0">
                <a:solidFill>
                  <a:srgbClr val="171717"/>
                </a:solidFill>
                <a:latin typeface="Meiryo"/>
                <a:ea typeface="Meiryo"/>
                <a:cs typeface="Meiryo"/>
              </a:rPr>
              <a:t>閾値と評価ラベルの統一</a:t>
            </a:r>
          </a:p>
          <a:p xmlns:a="http://schemas.openxmlformats.org/drawingml/2006/main">
            <a:r>
              <a:t/>
            </a:r>
          </a:p>
          <a:p xmlns:a="http://schemas.openxmlformats.org/drawingml/2006/main">
            <a:pPr>
              <a:defRPr sz="1950" b="0">
                <a:solidFill>
                  <a:srgbClr val="171717"/>
                </a:solidFill>
                <a:latin typeface="Meiryo"/>
                <a:ea typeface="Meiryo"/>
                <a:cs typeface="Meiryo"/>
              </a:defRPr>
            </a:pPr>
            <a:r>
              <a:rPr sz="1950" b="0">
                <a:solidFill>
                  <a:srgbClr val="171717"/>
                </a:solidFill>
                <a:latin typeface="Meiryo"/>
                <a:ea typeface="Meiryo"/>
                <a:cs typeface="Meiryo"/>
              </a:rPr>
              <a:t>予測不確かさ・時間的分布変化の原論文を追加調査</a:t>
            </a:r>
          </a:p>
        </p:txBody>
      </p:sp>
      <p:sp>
        <p:nvSpPr>
          <p:cNvPr id="538" name="">
            <a:extLst xmlns:a="http://schemas.openxmlformats.org/drawingml/2006/main">
              <a:ext uri="{FF2B5EF4-FFF2-40B4-BE49-F238E27FC236}">
                <a16:creationId xmlns:a16="http://schemas.microsoft.com/office/drawing/2014/main" id="{B948245D-0C65-444A-A3FB-01949A853CE8}"/>
              </a:ext>
            </a:extLst>
          </p:cNvPr>
          <p:cNvSpPr>
            <a:spLocks xmlns:a="http://schemas.openxmlformats.org/drawingml/2006/main" noGrp="1"/>
          </p:cNvSpPr>
          <p:nvPr/>
        </p:nvSpPr>
        <p:spPr>
          <a:xfrm xmlns:a="http://schemas.openxmlformats.org/drawingml/2006/main">
            <a:off x="393668" y="5810250"/>
            <a:ext cx="1119187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725" b="1">
                <a:solidFill>
                  <a:srgbClr val="171717"/>
                </a:solidFill>
                <a:latin typeface="Meiryo"/>
                <a:ea typeface="Meiryo"/>
                <a:cs typeface="Meiryo"/>
              </a:defRPr>
            </a:pPr>
            <a:r>
              <a:rPr sz="1725" b="1">
                <a:solidFill>
                  <a:srgbClr val="171717"/>
                </a:solidFill>
                <a:latin typeface="Meiryo"/>
                <a:ea typeface="Meiryo"/>
                <a:cs typeface="Meiryo"/>
              </a:rPr>
              <a:t>山原の基準手法、AE系、OutProを比較候補として検討する</a:t>
            </a:r>
          </a:p>
        </p:txBody>
      </p:sp>
      <p:sp>
        <p:nvSpPr>
          <p:cNvPr id="539" name="">
            <a:extLst xmlns:a="http://schemas.openxmlformats.org/drawingml/2006/main">
              <a:ext uri="{FF2B5EF4-FFF2-40B4-BE49-F238E27FC236}">
                <a16:creationId xmlns:a16="http://schemas.microsoft.com/office/drawing/2014/main" id="{B565F95C-9BEA-4D81-B01A-7C2763DFAE39}"/>
              </a:ext>
            </a:extLst>
          </p:cNvPr>
          <p:cNvSpPr>
            <a:spLocks xmlns:a="http://schemas.openxmlformats.org/drawingml/2006/main" noGrp="1"/>
          </p:cNvSpPr>
          <p:nvPr/>
        </p:nvSpPr>
        <p:spPr>
          <a:xfrm xmlns:a="http://schemas.openxmlformats.org/drawingml/2006/main">
            <a:off x="393668" y="6334125"/>
            <a:ext cx="10668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975" b="0">
                <a:solidFill>
                  <a:srgbClr val="656565"/>
                </a:solidFill>
                <a:latin typeface="Meiryo"/>
                <a:ea typeface="Meiryo"/>
                <a:cs typeface="Meiryo"/>
              </a:defRPr>
            </a:pPr>
            <a:r>
              <a:rPr sz="975" b="0">
                <a:solidFill>
                  <a:srgbClr val="656565"/>
                </a:solidFill>
                <a:latin typeface="Meiryo"/>
                <a:ea typeface="Meiryo"/>
                <a:cs typeface="Meiryo"/>
              </a:rPr>
              <a:t>本調査の整理。最適手法の決定や実データでの検証は今後の課題</a:t>
            </a:r>
          </a:p>
        </p:txBody>
      </p:sp>
    </p:spTree>
    <p:extLst>
      <p:ext uri="{BB962C8B-B14F-4D97-AF65-F5344CB8AC3E}">
        <p14:creationId xmlns:p14="http://schemas.microsoft.com/office/powerpoint/2010/main" val="3667182145"/>
      </p:ext>
    </p:extLst>
  </p:cSld>
</p:sld>
</file>

<file path=ppt/slides/slide21.xml><?xml version="1.0" encoding="utf-8"?>
<p:sld xmlns:p="http://schemas.openxmlformats.org/presentationml/2006/main">
  <p:cSld>
    <p:spTree>
      <p:nvGrpSpPr>
        <p:cNvPr id="1" name=""/>
        <p:cNvGrpSpPr/>
        <p:nvPr/>
      </p:nvGrpSpPr>
      <p:grpSpPr>
        <a:xfrm xmlns:a="http://schemas.openxmlformats.org/drawingml/2006/main"/>
      </p:grpSpPr>
      <p:sp>
        <p:nvSpPr>
          <p:cNvPr id="532" name="Google Shape;532;p58">
            <a:extLst xmlns:a="http://schemas.openxmlformats.org/drawingml/2006/main">
              <a:ext uri="{FF2B5EF4-FFF2-40B4-BE49-F238E27FC236}">
                <a16:creationId xmlns:a16="http://schemas.microsoft.com/office/drawing/2014/main" id="{27489CDA-073D-5D98-B832-86AD74222B71}"/>
              </a:ext>
            </a:extLst>
          </p:cNvPr>
          <p:cNvSpPr>
            <a:spLocks xmlns:a="http://schemas.openxmlformats.org/drawingml/2006/main" noGrp="1"/>
          </p:cNvSpPr>
          <p:nvPr>
            <p:ph type="sldNum" idx="4"/>
          </p:nvPr>
        </p:nvSpPr>
        <p:spPr>
          <a:xfrm xmlns:a="http://schemas.openxmlformats.org/drawingml/2006/main">
            <a:off x="11279332" y="6279294"/>
            <a:ext cx="518968" cy="241240"/>
          </a:xfr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pPr>
              <a:defRPr sz="975" b="0">
                <a:solidFill>
                  <a:srgbClr val="171717"/>
                </a:solidFill>
                <a:latin typeface="Meiryo"/>
                <a:ea typeface="Meiryo"/>
                <a:cs typeface="Meiryo"/>
              </a:defRPr>
            </a:pPr>
            <a:fld id="{F6DF2BE2-2DFA-1C03-677D-BDC2260D6D92}" type="slidenum">
              <a:rPr sz="975" b="0">
                <a:solidFill>
                  <a:srgbClr val="171717"/>
                </a:solidFill>
                <a:latin typeface="Meiryo"/>
                <a:ea typeface="Meiryo"/>
                <a:cs typeface="Meiryo"/>
              </a:rPr>
              <a:t>21</a:t>
            </a:fld>
            <a:endParaRPr/>
          </a:p>
        </p:txBody>
      </p:sp>
      <p:sp>
        <p:nvSpPr>
          <p:cNvPr id="533" name="Google Shape;533;p58">
            <a:extLst xmlns:a="http://schemas.openxmlformats.org/drawingml/2006/main">
              <a:ext uri="{FF2B5EF4-FFF2-40B4-BE49-F238E27FC236}">
                <a16:creationId xmlns:a16="http://schemas.microsoft.com/office/drawing/2014/main" id="{08EBC4B8-BBC1-7C2A-F77D-BEC6394B0F93}"/>
              </a:ext>
            </a:extLst>
          </p:cNvPr>
          <p:cNvSpPr>
            <a:spLocks xmlns:a="http://schemas.openxmlformats.org/drawingml/2006/main" noGrp="1"/>
          </p:cNvSpPr>
          <p:nvPr>
            <p:ph type="title" idx="0"/>
          </p:nvPr>
        </p:nvSpPr>
        <p:spPr>
          <a:xfrm xmlns:a="http://schemas.openxmlformats.org/drawingml/2006/main">
            <a:off x="393668" y="344043"/>
            <a:ext cx="11404568" cy="952500"/>
          </a:xfr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pPr>
              <a:defRPr sz="2700" b="0">
                <a:solidFill>
                  <a:srgbClr val="171717"/>
                </a:solidFill>
                <a:latin typeface="Meiryo"/>
                <a:ea typeface="Meiryo"/>
                <a:cs typeface="Meiryo"/>
              </a:defRPr>
            </a:pPr>
            <a:r>
              <a:rPr sz="2700" b="0">
                <a:solidFill>
                  <a:srgbClr val="171717"/>
                </a:solidFill>
                <a:latin typeface="Meiryo"/>
                <a:ea typeface="Meiryo"/>
                <a:cs typeface="Meiryo"/>
              </a:rPr>
              <a:t>付録A　各論文の分類を並べて読む</a:t>
            </a:r>
          </a:p>
        </p:txBody>
      </p:sp>
      <p:graphicFrame>
        <p:nvGraphicFramePr>
          <p:cNvPr id="538" name=""/>
          <p:cNvGraphicFramePr/>
          <p:nvPr/>
        </p:nvGraphicFramePr>
        <p:xfrm>
          <a:off xmlns:a="http://schemas.openxmlformats.org/drawingml/2006/main" x="393668" y="1638300"/>
          <a:ext xmlns:a="http://schemas.openxmlformats.org/drawingml/2006/main" cx="11382375" cy="3714750"/>
        </p:xfrm>
        <a:graphic xmlns:a="http://schemas.openxmlformats.org/drawingml/2006/main">
          <a:graphicData uri="http://schemas.openxmlformats.org/drawingml/2006/table">
            <a:tbl>
              <a:tblPr/>
              <a:tblGrid>
                <a:gridCol w="1952625"/>
                <a:gridCol w="4286250"/>
                <a:gridCol w="5143500"/>
              </a:tblGrid>
              <a:tr h="619125">
                <a:tc>
                  <a:txBody>
                    <a:bodyPr>
                      <a:noAutofit/>
                    </a:bodyPr>
                    <a:lstStyle/>
                    <a:p>
                      <a:r>
                        <a:rPr sz="1725" b="1">
                          <a:solidFill>
                            <a:srgbClr val="171717"/>
                          </a:solidFill>
                          <a:latin typeface="Meiryo"/>
                          <a:ea typeface="Meiryo"/>
                          <a:cs typeface="Meiryo"/>
                        </a:rPr>
                        <a:t>出典</a:t>
                      </a:r>
                    </a:p>
                  </a:txBody>
                  <a:tcPr marL="95250" marR="95250" marT="85725" marB="66675" anchor="ctr">
                    <a:solidFill>
                      <a:srgbClr val="F1F1F1"/>
                    </a:solidFill>
                  </a:tcPr>
                </a:tc>
                <a:tc>
                  <a:txBody>
                    <a:bodyPr>
                      <a:noAutofit/>
                    </a:bodyPr>
                    <a:lstStyle/>
                    <a:p>
                      <a:r>
                        <a:rPr sz="1725" b="1">
                          <a:solidFill>
                            <a:srgbClr val="171717"/>
                          </a:solidFill>
                          <a:latin typeface="Meiryo"/>
                          <a:ea typeface="Meiryo"/>
                          <a:cs typeface="Meiryo"/>
                        </a:rPr>
                        <a:t>上位の整理</a:t>
                      </a:r>
                    </a:p>
                  </a:txBody>
                  <a:tcPr marL="95250" marR="95250" marT="85725" marB="66675" anchor="ctr">
                    <a:solidFill>
                      <a:srgbClr val="F1F1F1"/>
                    </a:solidFill>
                  </a:tcPr>
                </a:tc>
                <a:tc>
                  <a:txBody>
                    <a:bodyPr>
                      <a:noAutofit/>
                    </a:bodyPr>
                    <a:lstStyle/>
                    <a:p>
                      <a:r>
                        <a:rPr sz="1725" b="1">
                          <a:solidFill>
                            <a:srgbClr val="171717"/>
                          </a:solidFill>
                          <a:latin typeface="Meiryo"/>
                          <a:ea typeface="Meiryo"/>
                          <a:cs typeface="Meiryo"/>
                        </a:rPr>
                        <a:t>詳細・注意点</a:t>
                      </a:r>
                    </a:p>
                  </a:txBody>
                  <a:tcPr marL="95250" marR="95250" marT="85725" marB="66675" anchor="ctr">
                    <a:solidFill>
                      <a:srgbClr val="F1F1F1"/>
                    </a:solidFill>
                  </a:tcPr>
                </a:tc>
              </a:tr>
              <a:tr h="619125">
                <a:tc>
                  <a:txBody>
                    <a:bodyPr>
                      <a:noAutofit/>
                    </a:bodyPr>
                    <a:lstStyle/>
                    <a:p>
                      <a:r>
                        <a:rPr sz="1725" b="0">
                          <a:solidFill>
                            <a:srgbClr val="171717"/>
                          </a:solidFill>
                          <a:latin typeface="Meiryo"/>
                          <a:ea typeface="Meiryo"/>
                          <a:cs typeface="Meiryo"/>
                        </a:rPr>
                        <a:t>S1 §3.2</a:t>
                      </a:r>
                    </a:p>
                  </a:txBody>
                  <a:tcPr marL="95250" marR="95250" marT="85725" marB="66675" anchor="ctr">
                    <a:solidFill>
                      <a:srgbClr val="FFFFFF"/>
                    </a:solidFill>
                  </a:tcPr>
                </a:tc>
                <a:tc>
                  <a:txBody>
                    <a:bodyPr>
                      <a:noAutofit/>
                    </a:bodyPr>
                    <a:lstStyle/>
                    <a:p>
                      <a:r>
                        <a:rPr sz="1725" b="0">
                          <a:solidFill>
                            <a:srgbClr val="171717"/>
                          </a:solidFill>
                          <a:latin typeface="Meiryo"/>
                          <a:ea typeface="Meiryo"/>
                          <a:cs typeface="Meiryo"/>
                        </a:rPr>
                        <a:t>Point / Contextual / Collective</a:t>
                      </a:r>
                    </a:p>
                  </a:txBody>
                  <a:tcPr marL="95250" marR="95250" marT="85725" marB="66675" anchor="ctr">
                    <a:solidFill>
                      <a:srgbClr val="FFFFFF"/>
                    </a:solidFill>
                  </a:tcPr>
                </a:tc>
                <a:tc>
                  <a:txBody>
                    <a:bodyPr>
                      <a:noAutofit/>
                    </a:bodyPr>
                    <a:lstStyle/>
                    <a:p>
                      <a:r>
                        <a:rPr sz="1725" b="0">
                          <a:solidFill>
                            <a:srgbClr val="171717"/>
                          </a:solidFill>
                          <a:latin typeface="Meiryo"/>
                          <a:ea typeface="Meiryo"/>
                          <a:cs typeface="Meiryo"/>
                        </a:rPr>
                        <a:t>文脈には他変数との関係も含まれる</a:t>
                      </a:r>
                    </a:p>
                  </a:txBody>
                  <a:tcPr marL="95250" marR="95250" marT="85725" marB="66675" anchor="ctr">
                    <a:solidFill>
                      <a:srgbClr val="FFFFFF"/>
                    </a:solidFill>
                  </a:tcPr>
                </a:tc>
              </a:tr>
              <a:tr h="619125">
                <a:tc>
                  <a:txBody>
                    <a:bodyPr>
                      <a:noAutofit/>
                    </a:bodyPr>
                    <a:lstStyle/>
                    <a:p>
                      <a:r>
                        <a:rPr sz="1725" b="0">
                          <a:solidFill>
                            <a:srgbClr val="171717"/>
                          </a:solidFill>
                          <a:latin typeface="Meiryo"/>
                          <a:ea typeface="Meiryo"/>
                          <a:cs typeface="Meiryo"/>
                        </a:rPr>
                        <a:t>S3 §2</a:t>
                      </a:r>
                    </a:p>
                  </a:txBody>
                  <a:tcPr marL="95250" marR="95250" marT="85725" marB="66675" anchor="ctr">
                    <a:solidFill>
                      <a:srgbClr val="FFFFFF"/>
                    </a:solidFill>
                  </a:tcPr>
                </a:tc>
                <a:tc>
                  <a:txBody>
                    <a:bodyPr>
                      <a:noAutofit/>
                    </a:bodyPr>
                    <a:lstStyle/>
                    <a:p>
                      <a:r>
                        <a:rPr sz="1725" b="0">
                          <a:solidFill>
                            <a:srgbClr val="171717"/>
                          </a:solidFill>
                          <a:latin typeface="Meiryo"/>
                          <a:ea typeface="Meiryo"/>
                          <a:cs typeface="Meiryo"/>
                        </a:rPr>
                        <a:t>入力 / 外れ値の種類 / 手法の性質</a:t>
                      </a:r>
                    </a:p>
                  </a:txBody>
                  <a:tcPr marL="95250" marR="95250" marT="85725" marB="66675" anchor="ctr">
                    <a:solidFill>
                      <a:srgbClr val="FFFFFF"/>
                    </a:solidFill>
                  </a:tcPr>
                </a:tc>
                <a:tc>
                  <a:txBody>
                    <a:bodyPr>
                      <a:noAutofit/>
                    </a:bodyPr>
                    <a:lstStyle/>
                    <a:p>
                      <a:r>
                        <a:rPr sz="1725" b="0">
                          <a:solidFill>
                            <a:srgbClr val="171717"/>
                          </a:solidFill>
                          <a:latin typeface="Meiryo"/>
                          <a:ea typeface="Meiryo"/>
                          <a:cs typeface="Meiryo"/>
                        </a:rPr>
                        <a:t>単変量・多変量、点・部分列・系列</a:t>
                      </a:r>
                    </a:p>
                    <a:p>
                      <a:r>
                        <a:rPr sz="1725" b="0">
                          <a:solidFill>
                            <a:srgbClr val="171717"/>
                          </a:solidFill>
                          <a:latin typeface="Meiryo"/>
                          <a:ea typeface="Meiryo"/>
                          <a:cs typeface="Meiryo"/>
                        </a:rPr>
                        <a:t>時間順序とstreamingも別途確認</a:t>
                      </a:r>
                    </a:p>
                  </a:txBody>
                  <a:tcPr marL="95250" marR="95250" marT="85725" marB="66675" anchor="ctr">
                    <a:solidFill>
                      <a:srgbClr val="FFFFFF"/>
                    </a:solidFill>
                  </a:tcPr>
                </a:tc>
              </a:tr>
              <a:tr h="619125">
                <a:tc>
                  <a:txBody>
                    <a:bodyPr>
                      <a:noAutofit/>
                    </a:bodyPr>
                    <a:lstStyle/>
                    <a:p>
                      <a:r>
                        <a:rPr sz="1725" b="0">
                          <a:solidFill>
                            <a:srgbClr val="171717"/>
                          </a:solidFill>
                          <a:latin typeface="Meiryo"/>
                          <a:ea typeface="Meiryo"/>
                          <a:cs typeface="Meiryo"/>
                        </a:rPr>
                        <a:t>S6 §2.2</a:t>
                      </a:r>
                    </a:p>
                  </a:txBody>
                  <a:tcPr marL="95250" marR="95250" marT="85725" marB="66675" anchor="ctr">
                    <a:solidFill>
                      <a:srgbClr val="FFFFFF"/>
                    </a:solidFill>
                  </a:tcPr>
                </a:tc>
                <a:tc>
                  <a:txBody>
                    <a:bodyPr>
                      <a:noAutofit/>
                    </a:bodyPr>
                    <a:lstStyle/>
                    <a:p>
                      <a:r>
                        <a:rPr sz="1725" b="0">
                          <a:solidFill>
                            <a:srgbClr val="171717"/>
                          </a:solidFill>
                          <a:latin typeface="Meiryo"/>
                          <a:ea typeface="Meiryo"/>
                          <a:cs typeface="Meiryo"/>
                        </a:rPr>
                        <a:t>Intra-metric</a:t>
                      </a:r>
                    </a:p>
                  </a:txBody>
                  <a:tcPr marL="95250" marR="95250" marT="85725" marB="66675" anchor="ctr">
                    <a:solidFill>
                      <a:srgbClr val="FFFFFF"/>
                    </a:solidFill>
                  </a:tcPr>
                </a:tc>
                <a:tc>
                  <a:txBody>
                    <a:bodyPr>
                      <a:noAutofit/>
                    </a:bodyPr>
                    <a:lstStyle/>
                    <a:p>
                      <a:r>
                        <a:rPr sz="1725" b="0">
                          <a:solidFill>
                            <a:srgbClr val="171717"/>
                          </a:solidFill>
                          <a:latin typeface="Meiryo"/>
                          <a:ea typeface="Meiryo"/>
                          <a:cs typeface="Meiryo"/>
                        </a:rPr>
                        <a:t>Global / Local point</a:t>
                      </a:r>
                    </a:p>
                    <a:p>
                      <a:r>
                        <a:rPr sz="1725" b="0">
                          <a:solidFill>
                            <a:srgbClr val="171717"/>
                          </a:solidFill>
                          <a:latin typeface="Meiryo"/>
                          <a:ea typeface="Meiryo"/>
                          <a:cs typeface="Meiryo"/>
                        </a:rPr>
                        <a:t>Shapelet / Trend / Cycle</a:t>
                      </a:r>
                    </a:p>
                  </a:txBody>
                  <a:tcPr marL="95250" marR="95250" marT="85725" marB="66675" anchor="ctr">
                    <a:solidFill>
                      <a:srgbClr val="FFFFFF"/>
                    </a:solidFill>
                  </a:tcPr>
                </a:tc>
              </a:tr>
              <a:tr h="619125">
                <a:tc>
                  <a:txBody>
                    <a:bodyPr>
                      <a:noAutofit/>
                    </a:bodyPr>
                    <a:lstStyle/>
                    <a:p>
                      <a:r>
                        <a:rPr sz="1725" b="0">
                          <a:solidFill>
                            <a:srgbClr val="171717"/>
                          </a:solidFill>
                          <a:latin typeface="Meiryo"/>
                          <a:ea typeface="Meiryo"/>
                          <a:cs typeface="Meiryo"/>
                        </a:rPr>
                        <a:t>S6 §2.2</a:t>
                      </a:r>
                    </a:p>
                  </a:txBody>
                  <a:tcPr marL="95250" marR="95250" marT="85725" marB="66675" anchor="ctr">
                    <a:solidFill>
                      <a:srgbClr val="FFFFFF"/>
                    </a:solidFill>
                  </a:tcPr>
                </a:tc>
                <a:tc>
                  <a:txBody>
                    <a:bodyPr>
                      <a:noAutofit/>
                    </a:bodyPr>
                    <a:lstStyle/>
                    <a:p>
                      <a:r>
                        <a:rPr sz="1725" b="0">
                          <a:solidFill>
                            <a:srgbClr val="171717"/>
                          </a:solidFill>
                          <a:latin typeface="Meiryo"/>
                          <a:ea typeface="Meiryo"/>
                          <a:cs typeface="Meiryo"/>
                        </a:rPr>
                        <a:t>Inter-metric</a:t>
                      </a:r>
                    </a:p>
                  </a:txBody>
                  <a:tcPr marL="95250" marR="95250" marT="85725" marB="66675" anchor="ctr">
                    <a:solidFill>
                      <a:srgbClr val="FFFFFF"/>
                    </a:solidFill>
                  </a:tcPr>
                </a:tc>
                <a:tc>
                  <a:txBody>
                    <a:bodyPr>
                      <a:noAutofit/>
                    </a:bodyPr>
                    <a:lstStyle/>
                    <a:p>
                      <a:r>
                        <a:rPr sz="1725" b="0">
                          <a:solidFill>
                            <a:srgbClr val="171717"/>
                          </a:solidFill>
                          <a:latin typeface="Meiryo"/>
                          <a:ea typeface="Meiryo"/>
                          <a:cs typeface="Meiryo"/>
                        </a:rPr>
                        <a:t>Global / Local / Temporal-local</a:t>
                      </a:r>
                    </a:p>
                  </a:txBody>
                  <a:tcPr marL="95250" marR="95250" marT="85725" marB="66675" anchor="ctr">
                    <a:solidFill>
                      <a:srgbClr val="FFFFFF"/>
                    </a:solidFill>
                  </a:tcPr>
                </a:tc>
              </a:tr>
              <a:tr h="619125">
                <a:tc>
                  <a:txBody>
                    <a:bodyPr>
                      <a:noAutofit/>
                    </a:bodyPr>
                    <a:lstStyle/>
                    <a:p>
                      <a:r>
                        <a:rPr sz="1725" b="0">
                          <a:solidFill>
                            <a:srgbClr val="171717"/>
                          </a:solidFill>
                          <a:latin typeface="Meiryo"/>
                          <a:ea typeface="Meiryo"/>
                          <a:cs typeface="Meiryo"/>
                        </a:rPr>
                        <a:t>S6 §3</a:t>
                      </a:r>
                    </a:p>
                  </a:txBody>
                  <a:tcPr marL="95250" marR="95250" marT="85725" marB="66675" anchor="ctr">
                    <a:solidFill>
                      <a:srgbClr val="FFFFFF"/>
                    </a:solidFill>
                  </a:tcPr>
                </a:tc>
                <a:tc>
                  <a:txBody>
                    <a:bodyPr>
                      <a:noAutofit/>
                    </a:bodyPr>
                    <a:lstStyle/>
                    <a:p>
                      <a:r>
                        <a:rPr sz="1725" b="0">
                          <a:solidFill>
                            <a:srgbClr val="171717"/>
                          </a:solidFill>
                          <a:latin typeface="Meiryo"/>
                          <a:ea typeface="Meiryo"/>
                          <a:cs typeface="Meiryo"/>
                        </a:rPr>
                        <a:t>Forecasting / Reconstruction / Contrastive</a:t>
                      </a:r>
                    </a:p>
                  </a:txBody>
                  <a:tcPr marL="95250" marR="95250" marT="85725" marB="66675" anchor="ctr">
                    <a:solidFill>
                      <a:srgbClr val="FFFFFF"/>
                    </a:solidFill>
                  </a:tcPr>
                </a:tc>
                <a:tc>
                  <a:txBody>
                    <a:bodyPr>
                      <a:noAutofit/>
                    </a:bodyPr>
                    <a:lstStyle/>
                    <a:p>
                      <a:r>
                        <a:rPr sz="1725" b="0">
                          <a:solidFill>
                            <a:srgbClr val="171717"/>
                          </a:solidFill>
                          <a:latin typeface="Meiryo"/>
                          <a:ea typeface="Meiryo"/>
                          <a:cs typeface="Meiryo"/>
                        </a:rPr>
                        <a:t>ネットワーク構造、学習形態、</a:t>
                      </a:r>
                    </a:p>
                    <a:p>
                      <a:r>
                        <a:rPr sz="1725" b="0">
                          <a:solidFill>
                            <a:srgbClr val="171717"/>
                          </a:solidFill>
                          <a:latin typeface="Meiryo"/>
                          <a:ea typeface="Meiryo"/>
                          <a:cs typeface="Meiryo"/>
                        </a:rPr>
                        <a:t>時間・周波数領域、Point / Window</a:t>
                      </a:r>
                    </a:p>
                  </a:txBody>
                  <a:tcPr marL="95250" marR="95250" marT="85725" marB="66675" anchor="ctr">
                    <a:solidFill>
                      <a:srgbClr val="FFFFFF"/>
                    </a:solidFill>
                  </a:tcPr>
                </a:tc>
              </a:tr>
            </a:tbl>
          </a:graphicData>
        </a:graphic>
      </p:graphicFrame>
      <p:sp>
        <p:nvSpPr>
          <p:cNvPr id="535" name="">
            <a:extLst xmlns:a="http://schemas.openxmlformats.org/drawingml/2006/main">
              <a:ext uri="{FF2B5EF4-FFF2-40B4-BE49-F238E27FC236}">
                <a16:creationId xmlns:a16="http://schemas.microsoft.com/office/drawing/2014/main" id="{373701DA-6AFC-468C-AA32-5802EF3A47CB}"/>
              </a:ext>
            </a:extLst>
          </p:cNvPr>
          <p:cNvSpPr>
            <a:spLocks xmlns:a="http://schemas.openxmlformats.org/drawingml/2006/main" noGrp="1"/>
          </p:cNvSpPr>
          <p:nvPr/>
        </p:nvSpPr>
        <p:spPr>
          <a:xfrm xmlns:a="http://schemas.openxmlformats.org/drawingml/2006/main">
            <a:off x="393668" y="6334125"/>
            <a:ext cx="10668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975" b="0">
                <a:solidFill>
                  <a:srgbClr val="656565"/>
                </a:solidFill>
                <a:latin typeface="Meiryo"/>
                <a:ea typeface="Meiryo"/>
                <a:cs typeface="Meiryo"/>
              </a:defRPr>
            </a:pPr>
            <a:r>
              <a:rPr sz="975" b="0">
                <a:solidFill>
                  <a:srgbClr val="656565"/>
                </a:solidFill>
                <a:latin typeface="Meiryo"/>
                <a:ea typeface="Meiryo"/>
                <a:cs typeface="Meiryo"/>
              </a:rPr>
              <a:t>S1 §3–4、S3 §2–3、S6 §2–3</a:t>
            </a:r>
          </a:p>
        </p:txBody>
      </p:sp>
    </p:spTree>
    <p:extLst>
      <p:ext uri="{BB962C8B-B14F-4D97-AF65-F5344CB8AC3E}">
        <p14:creationId xmlns:p14="http://schemas.microsoft.com/office/powerpoint/2010/main" val="329854879"/>
      </p:ext>
    </p:extLst>
  </p:cSld>
</p:sld>
</file>

<file path=ppt/slides/slide22.xml><?xml version="1.0" encoding="utf-8"?>
<p:sld xmlns:p="http://schemas.openxmlformats.org/presentationml/2006/main">
  <p:cSld>
    <p:spTree>
      <p:nvGrpSpPr>
        <p:cNvPr id="1" name=""/>
        <p:cNvGrpSpPr/>
        <p:nvPr/>
      </p:nvGrpSpPr>
      <p:grpSpPr>
        <a:xfrm xmlns:a="http://schemas.openxmlformats.org/drawingml/2006/main"/>
      </p:grpSpPr>
      <p:sp>
        <p:nvSpPr>
          <p:cNvPr id="532" name="Google Shape;532;p58">
            <a:extLst xmlns:a="http://schemas.openxmlformats.org/drawingml/2006/main">
              <a:ext uri="{FF2B5EF4-FFF2-40B4-BE49-F238E27FC236}">
                <a16:creationId xmlns:a16="http://schemas.microsoft.com/office/drawing/2014/main" id="{27489CDA-073D-5D98-B832-86AD74222B71}"/>
              </a:ext>
            </a:extLst>
          </p:cNvPr>
          <p:cNvSpPr>
            <a:spLocks xmlns:a="http://schemas.openxmlformats.org/drawingml/2006/main" noGrp="1"/>
          </p:cNvSpPr>
          <p:nvPr>
            <p:ph type="sldNum" idx="4"/>
          </p:nvPr>
        </p:nvSpPr>
        <p:spPr>
          <a:xfrm xmlns:a="http://schemas.openxmlformats.org/drawingml/2006/main">
            <a:off x="11279332" y="6279294"/>
            <a:ext cx="518968" cy="241240"/>
          </a:xfr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pPr>
              <a:defRPr sz="975" b="0">
                <a:solidFill>
                  <a:srgbClr val="171717"/>
                </a:solidFill>
                <a:latin typeface="Meiryo"/>
                <a:ea typeface="Meiryo"/>
                <a:cs typeface="Meiryo"/>
              </a:defRPr>
            </a:pPr>
            <a:fld id="{0BB18BA8-60F4-C50D-CD9B-1BB87D3E8506}" type="slidenum">
              <a:rPr sz="975" b="0">
                <a:solidFill>
                  <a:srgbClr val="171717"/>
                </a:solidFill>
                <a:latin typeface="Meiryo"/>
                <a:ea typeface="Meiryo"/>
                <a:cs typeface="Meiryo"/>
              </a:rPr>
              <a:t>22</a:t>
            </a:fld>
            <a:endParaRPr/>
          </a:p>
        </p:txBody>
      </p:sp>
      <p:sp>
        <p:nvSpPr>
          <p:cNvPr id="533" name="Google Shape;533;p58">
            <a:extLst xmlns:a="http://schemas.openxmlformats.org/drawingml/2006/main">
              <a:ext uri="{FF2B5EF4-FFF2-40B4-BE49-F238E27FC236}">
                <a16:creationId xmlns:a16="http://schemas.microsoft.com/office/drawing/2014/main" id="{08EBC4B8-BBC1-7C2A-F77D-BEC6394B0F93}"/>
              </a:ext>
            </a:extLst>
          </p:cNvPr>
          <p:cNvSpPr>
            <a:spLocks xmlns:a="http://schemas.openxmlformats.org/drawingml/2006/main" noGrp="1"/>
          </p:cNvSpPr>
          <p:nvPr>
            <p:ph type="title" idx="0"/>
          </p:nvPr>
        </p:nvSpPr>
        <p:spPr>
          <a:xfrm xmlns:a="http://schemas.openxmlformats.org/drawingml/2006/main">
            <a:off x="393668" y="344043"/>
            <a:ext cx="11404568" cy="952500"/>
          </a:xfr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pPr>
              <a:defRPr sz="2700" b="0">
                <a:solidFill>
                  <a:srgbClr val="171717"/>
                </a:solidFill>
                <a:latin typeface="Meiryo"/>
                <a:ea typeface="Meiryo"/>
                <a:cs typeface="Meiryo"/>
              </a:defRPr>
            </a:pPr>
            <a:r>
              <a:rPr sz="2700" b="0">
                <a:solidFill>
                  <a:srgbClr val="171717"/>
                </a:solidFill>
                <a:latin typeface="Meiryo"/>
                <a:ea typeface="Meiryo"/>
                <a:cs typeface="Meiryo"/>
              </a:rPr>
              <a:t>付録B　OutProの情報要件と未確認事項</a:t>
            </a:r>
          </a:p>
        </p:txBody>
      </p:sp>
      <p:graphicFrame>
        <p:nvGraphicFramePr>
          <p:cNvPr id="538" name=""/>
          <p:cNvGraphicFramePr/>
          <p:nvPr/>
        </p:nvGraphicFramePr>
        <p:xfrm>
          <a:off xmlns:a="http://schemas.openxmlformats.org/drawingml/2006/main" x="393668" y="1638300"/>
          <a:ext xmlns:a="http://schemas.openxmlformats.org/drawingml/2006/main" cx="11382375" cy="3714750"/>
        </p:xfrm>
        <a:graphic xmlns:a="http://schemas.openxmlformats.org/drawingml/2006/main">
          <a:graphicData uri="http://schemas.openxmlformats.org/drawingml/2006/table">
            <a:tbl>
              <a:tblPr/>
              <a:tblGrid>
                <a:gridCol w="2238375"/>
                <a:gridCol w="9144000"/>
              </a:tblGrid>
              <a:tr h="619125">
                <a:tc>
                  <a:txBody>
                    <a:bodyPr>
                      <a:noAutofit/>
                    </a:bodyPr>
                    <a:lstStyle/>
                    <a:p>
                      <a:r>
                        <a:rPr sz="1725" b="1">
                          <a:solidFill>
                            <a:srgbClr val="171717"/>
                          </a:solidFill>
                          <a:latin typeface="Meiryo"/>
                          <a:ea typeface="Meiryo"/>
                          <a:cs typeface="Meiryo"/>
                        </a:rPr>
                        <a:t>項目</a:t>
                      </a:r>
                    </a:p>
                  </a:txBody>
                  <a:tcPr marL="95250" marR="95250" marT="85725" marB="66675" anchor="ctr">
                    <a:solidFill>
                      <a:srgbClr val="F1F1F1"/>
                    </a:solidFill>
                  </a:tcPr>
                </a:tc>
                <a:tc>
                  <a:txBody>
                    <a:bodyPr>
                      <a:noAutofit/>
                    </a:bodyPr>
                    <a:lstStyle/>
                    <a:p>
                      <a:r>
                        <a:rPr sz="1725" b="1">
                          <a:solidFill>
                            <a:srgbClr val="171717"/>
                          </a:solidFill>
                          <a:latin typeface="Meiryo"/>
                          <a:ea typeface="Meiryo"/>
                          <a:cs typeface="Meiryo"/>
                        </a:rPr>
                        <a:t>整理内容</a:t>
                      </a:r>
                    </a:p>
                  </a:txBody>
                  <a:tcPr marL="95250" marR="95250" marT="85725" marB="66675" anchor="ctr">
                    <a:solidFill>
                      <a:srgbClr val="F1F1F1"/>
                    </a:solidFill>
                  </a:tcPr>
                </a:tc>
              </a:tr>
              <a:tr h="619125">
                <a:tc>
                  <a:txBody>
                    <a:bodyPr>
                      <a:noAutofit/>
                    </a:bodyPr>
                    <a:lstStyle/>
                    <a:p>
                      <a:r>
                        <a:rPr sz="1725" b="0">
                          <a:solidFill>
                            <a:srgbClr val="171717"/>
                          </a:solidFill>
                          <a:latin typeface="Meiryo"/>
                          <a:ea typeface="Meiryo"/>
                          <a:cs typeface="Meiryo"/>
                        </a:rPr>
                        <a:t>必要情報</a:t>
                      </a:r>
                    </a:p>
                  </a:txBody>
                  <a:tcPr marL="95250" marR="95250" marT="85725" marB="66675" anchor="ctr">
                    <a:solidFill>
                      <a:srgbClr val="FFFFFF"/>
                    </a:solidFill>
                  </a:tcPr>
                </a:tc>
                <a:tc>
                  <a:txBody>
                    <a:bodyPr>
                      <a:noAutofit/>
                    </a:bodyPr>
                    <a:lstStyle/>
                    <a:p>
                      <a:r>
                        <a:rPr sz="1725" b="0">
                          <a:solidFill>
                            <a:srgbClr val="171717"/>
                          </a:solidFill>
                          <a:latin typeface="Meiryo"/>
                          <a:ea typeface="Meiryo"/>
                          <a:cs typeface="Meiryo"/>
                        </a:rPr>
                        <a:t>訓練：IDのX,Y、教師あり森林、VarPro</a:t>
                      </a:r>
                    </a:p>
                    <a:p>
                      <a:r>
                        <a:rPr sz="1725" b="0">
                          <a:solidFill>
                            <a:srgbClr val="171717"/>
                          </a:solidFill>
                          <a:latin typeface="Meiryo"/>
                          <a:ea typeface="Meiryo"/>
                          <a:cs typeface="Meiryo"/>
                        </a:rPr>
                        <a:t>運用：現在のX、森林ルール、参照訓練点</a:t>
                      </a:r>
                    </a:p>
                  </a:txBody>
                  <a:tcPr marL="95250" marR="95250" marT="85725" marB="66675" anchor="ctr">
                    <a:solidFill>
                      <a:srgbClr val="FFFFFF"/>
                    </a:solidFill>
                  </a:tcPr>
                </a:tc>
              </a:tr>
              <a:tr h="619125">
                <a:tc>
                  <a:txBody>
                    <a:bodyPr>
                      <a:noAutofit/>
                    </a:bodyPr>
                    <a:lstStyle/>
                    <a:p>
                      <a:r>
                        <a:rPr sz="1725" b="0">
                          <a:solidFill>
                            <a:srgbClr val="171717"/>
                          </a:solidFill>
                          <a:latin typeface="Meiryo"/>
                          <a:ea typeface="Meiryo"/>
                          <a:cs typeface="Meiryo"/>
                        </a:rPr>
                        <a:t>スコア</a:t>
                      </a:r>
                    </a:p>
                  </a:txBody>
                  <a:tcPr marL="95250" marR="95250" marT="85725" marB="66675" anchor="ctr">
                    <a:solidFill>
                      <a:srgbClr val="FFFFFF"/>
                    </a:solidFill>
                  </a:tcPr>
                </a:tc>
                <a:tc>
                  <a:txBody>
                    <a:bodyPr>
                      <a:noAutofit/>
                    </a:bodyPr>
                    <a:lstStyle/>
                    <a:p>
                      <a:r>
                        <a:rPr sz="1725" b="0">
                          <a:solidFill>
                            <a:srgbClr val="171717"/>
                          </a:solidFill>
                          <a:latin typeface="Meiryo"/>
                          <a:ea typeface="Meiryo"/>
                          <a:cs typeface="Meiryo"/>
                        </a:rPr>
                        <a:t>通常は選択変数S上でK近傍への距離を平均</a:t>
                      </a:r>
                    </a:p>
                    <a:p>
                      <a:r>
                        <a:rPr sz="1725" b="0">
                          <a:solidFill>
                            <a:srgbClr val="171717"/>
                          </a:solidFill>
                          <a:latin typeface="Meiryo"/>
                          <a:ea typeface="Meiryo"/>
                          <a:cs typeface="Meiryo"/>
                        </a:rPr>
                        <a:t>OPTICS版は到達可能性のスコアを使用</a:t>
                      </a:r>
                    </a:p>
                  </a:txBody>
                  <a:tcPr marL="95250" marR="95250" marT="85725" marB="66675" anchor="ctr">
                    <a:solidFill>
                      <a:srgbClr val="FFFFFF"/>
                    </a:solidFill>
                  </a:tcPr>
                </a:tc>
              </a:tr>
              <a:tr h="619125">
                <a:tc>
                  <a:txBody>
                    <a:bodyPr>
                      <a:noAutofit/>
                    </a:bodyPr>
                    <a:lstStyle/>
                    <a:p>
                      <a:r>
                        <a:rPr sz="1725" b="0">
                          <a:solidFill>
                            <a:srgbClr val="171717"/>
                          </a:solidFill>
                          <a:latin typeface="Meiryo"/>
                          <a:ea typeface="Meiryo"/>
                          <a:cs typeface="Meiryo"/>
                        </a:rPr>
                        <a:t>近傍の選び方</a:t>
                      </a:r>
                    </a:p>
                  </a:txBody>
                  <a:tcPr marL="95250" marR="95250" marT="85725" marB="66675" anchor="ctr">
                    <a:solidFill>
                      <a:srgbClr val="FFFFFF"/>
                    </a:solidFill>
                  </a:tcPr>
                </a:tc>
                <a:tc>
                  <a:txBody>
                    <a:bodyPr>
                      <a:noAutofit/>
                    </a:bodyPr>
                    <a:lstStyle/>
                    <a:p>
                      <a:r>
                        <a:rPr sz="1725" b="0">
                          <a:solidFill>
                            <a:srgbClr val="171717"/>
                          </a:solidFill>
                          <a:latin typeface="Meiryo"/>
                          <a:ea typeface="Meiryo"/>
                          <a:cs typeface="Meiryo"/>
                        </a:rPr>
                        <a:t>変数制約を解放した領域内の出現回数と</a:t>
                      </a:r>
                    </a:p>
                    <a:p>
                      <a:r>
                        <a:rPr sz="1725" b="0">
                          <a:solidFill>
                            <a:srgbClr val="171717"/>
                          </a:solidFill>
                          <a:latin typeface="Meiryo"/>
                          <a:ea typeface="Meiryo"/>
                          <a:cs typeface="Meiryo"/>
                        </a:rPr>
                        <a:t>変数間の頻度分布を用いて順位付け</a:t>
                      </a:r>
                    </a:p>
                  </a:txBody>
                  <a:tcPr marL="95250" marR="95250" marT="85725" marB="66675" anchor="ctr">
                    <a:solidFill>
                      <a:srgbClr val="FFFFFF"/>
                    </a:solidFill>
                  </a:tcPr>
                </a:tc>
              </a:tr>
              <a:tr h="619125">
                <a:tc>
                  <a:txBody>
                    <a:bodyPr>
                      <a:noAutofit/>
                    </a:bodyPr>
                    <a:lstStyle/>
                    <a:p>
                      <a:r>
                        <a:rPr sz="1725" b="0">
                          <a:solidFill>
                            <a:srgbClr val="171717"/>
                          </a:solidFill>
                          <a:latin typeface="Meiryo"/>
                          <a:ea typeface="Meiryo"/>
                          <a:cs typeface="Meiryo"/>
                        </a:rPr>
                        <a:t>閾値</a:t>
                      </a:r>
                    </a:p>
                  </a:txBody>
                  <a:tcPr marL="95250" marR="95250" marT="85725" marB="66675" anchor="ctr">
                    <a:solidFill>
                      <a:srgbClr val="FFFFFF"/>
                    </a:solidFill>
                  </a:tcPr>
                </a:tc>
                <a:tc>
                  <a:txBody>
                    <a:bodyPr>
                      <a:noAutofit/>
                    </a:bodyPr>
                    <a:lstStyle/>
                    <a:p>
                      <a:r>
                        <a:rPr sz="1725" b="0">
                          <a:solidFill>
                            <a:srgbClr val="171717"/>
                          </a:solidFill>
                          <a:latin typeface="Meiryo"/>
                          <a:ea typeface="Meiryo"/>
                          <a:cs typeface="Meiryo"/>
                        </a:rPr>
                        <a:t>AUC-PR評価は閾値を固定しない</a:t>
                      </a:r>
                    </a:p>
                    <a:p>
                      <a:r>
                        <a:rPr sz="1725" b="0">
                          <a:solidFill>
                            <a:srgbClr val="171717"/>
                          </a:solidFill>
                          <a:latin typeface="Meiryo"/>
                          <a:ea typeface="Meiryo"/>
                          <a:cs typeface="Meiryo"/>
                        </a:rPr>
                        <a:t>臨床例の分位値は実習へ直接転用しない</a:t>
                      </a:r>
                    </a:p>
                  </a:txBody>
                  <a:tcPr marL="95250" marR="95250" marT="85725" marB="66675" anchor="ctr">
                    <a:solidFill>
                      <a:srgbClr val="FFFFFF"/>
                    </a:solidFill>
                  </a:tcPr>
                </a:tc>
              </a:tr>
              <a:tr h="619125">
                <a:tc>
                  <a:txBody>
                    <a:bodyPr>
                      <a:noAutofit/>
                    </a:bodyPr>
                    <a:lstStyle/>
                    <a:p>
                      <a:r>
                        <a:rPr sz="1725" b="0">
                          <a:solidFill>
                            <a:srgbClr val="171717"/>
                          </a:solidFill>
                          <a:latin typeface="Meiryo"/>
                          <a:ea typeface="Meiryo"/>
                          <a:cs typeface="Meiryo"/>
                        </a:rPr>
                        <a:t>制約</a:t>
                      </a:r>
                    </a:p>
                  </a:txBody>
                  <a:tcPr marL="95250" marR="95250" marT="85725" marB="66675" anchor="ctr">
                    <a:solidFill>
                      <a:srgbClr val="FFFFFF"/>
                    </a:solidFill>
                  </a:tcPr>
                </a:tc>
                <a:tc>
                  <a:txBody>
                    <a:bodyPr>
                      <a:noAutofit/>
                    </a:bodyPr>
                    <a:lstStyle/>
                    <a:p>
                      <a:r>
                        <a:rPr sz="1725" b="0">
                          <a:solidFill>
                            <a:srgbClr val="171717"/>
                          </a:solidFill>
                          <a:latin typeface="Meiryo"/>
                          <a:ea typeface="Meiryo"/>
                          <a:cs typeface="Meiryo"/>
                        </a:rPr>
                        <a:t>森林による変数選択に依存、時間依存を未評価</a:t>
                      </a:r>
                    </a:p>
                    <a:p>
                      <a:r>
                        <a:rPr sz="1725" b="0">
                          <a:solidFill>
                            <a:srgbClr val="171717"/>
                          </a:solidFill>
                          <a:latin typeface="Meiryo"/>
                          <a:ea typeface="Meiryo"/>
                          <a:cs typeface="Meiryo"/>
                        </a:rPr>
                        <a:t>純粋なconcept shiftは検知対象外</a:t>
                      </a:r>
                    </a:p>
                  </a:txBody>
                  <a:tcPr marL="95250" marR="95250" marT="85725" marB="66675" anchor="ctr">
                    <a:solidFill>
                      <a:srgbClr val="FFFFFF"/>
                    </a:solidFill>
                  </a:tcPr>
                </a:tc>
              </a:tr>
            </a:tbl>
          </a:graphicData>
        </a:graphic>
      </p:graphicFrame>
      <p:sp>
        <p:nvSpPr>
          <p:cNvPr id="535" name="">
            <a:extLst xmlns:a="http://schemas.openxmlformats.org/drawingml/2006/main">
              <a:ext uri="{FF2B5EF4-FFF2-40B4-BE49-F238E27FC236}">
                <a16:creationId xmlns:a16="http://schemas.microsoft.com/office/drawing/2014/main" id="{6E56754B-E052-4B4B-8E76-DAEA45C7380F}"/>
              </a:ext>
            </a:extLst>
          </p:cNvPr>
          <p:cNvSpPr>
            <a:spLocks xmlns:a="http://schemas.openxmlformats.org/drawingml/2006/main" noGrp="1"/>
          </p:cNvSpPr>
          <p:nvPr/>
        </p:nvSpPr>
        <p:spPr>
          <a:xfrm xmlns:a="http://schemas.openxmlformats.org/drawingml/2006/main">
            <a:off x="393668" y="6334125"/>
            <a:ext cx="10668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975" b="0">
                <a:solidFill>
                  <a:srgbClr val="656565"/>
                </a:solidFill>
                <a:latin typeface="Meiryo"/>
                <a:ea typeface="Meiryo"/>
                <a:cs typeface="Meiryo"/>
              </a:defRPr>
            </a:pPr>
            <a:r>
              <a:rPr sz="975" b="0">
                <a:solidFill>
                  <a:srgbClr val="656565"/>
                </a:solidFill>
                <a:latin typeface="Meiryo"/>
                <a:ea typeface="Meiryo"/>
                <a:cs typeface="Meiryo"/>
              </a:rPr>
              <a:t>13 §3、§5、§6、§7</a:t>
            </a:r>
          </a:p>
        </p:txBody>
      </p:sp>
    </p:spTree>
    <p:extLst>
      <p:ext uri="{BB962C8B-B14F-4D97-AF65-F5344CB8AC3E}">
        <p14:creationId xmlns:p14="http://schemas.microsoft.com/office/powerpoint/2010/main" val="329854879"/>
      </p:ext>
    </p:extLst>
  </p:cSld>
</p:sld>
</file>

<file path=ppt/slides/slide23.xml><?xml version="1.0" encoding="utf-8"?>
<p:sld xmlns:p="http://schemas.openxmlformats.org/presentationml/2006/main">
  <p:cSld>
    <p:spTree>
      <p:nvGrpSpPr>
        <p:cNvPr id="1" name=""/>
        <p:cNvGrpSpPr/>
        <p:nvPr/>
      </p:nvGrpSpPr>
      <p:grpSpPr>
        <a:xfrm xmlns:a="http://schemas.openxmlformats.org/drawingml/2006/main"/>
      </p:grpSpPr>
      <p:sp>
        <p:nvSpPr>
          <p:cNvPr id="532" name="Google Shape;532;p58">
            <a:extLst xmlns:a="http://schemas.openxmlformats.org/drawingml/2006/main">
              <a:ext uri="{FF2B5EF4-FFF2-40B4-BE49-F238E27FC236}">
                <a16:creationId xmlns:a16="http://schemas.microsoft.com/office/drawing/2014/main" id="{27489CDA-073D-5D98-B832-86AD74222B71}"/>
              </a:ext>
            </a:extLst>
          </p:cNvPr>
          <p:cNvSpPr>
            <a:spLocks xmlns:a="http://schemas.openxmlformats.org/drawingml/2006/main" noGrp="1"/>
          </p:cNvSpPr>
          <p:nvPr>
            <p:ph type="sldNum" idx="4"/>
          </p:nvPr>
        </p:nvSpPr>
        <p:spPr>
          <a:xfrm xmlns:a="http://schemas.openxmlformats.org/drawingml/2006/main">
            <a:off x="11279332" y="6279294"/>
            <a:ext cx="518968" cy="241240"/>
          </a:xfr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pPr>
              <a:defRPr sz="975" b="0">
                <a:solidFill>
                  <a:srgbClr val="171717"/>
                </a:solidFill>
                <a:latin typeface="Meiryo"/>
                <a:ea typeface="Meiryo"/>
                <a:cs typeface="Meiryo"/>
              </a:defRPr>
            </a:pPr>
            <a:fld id="{A4E99CEF-AF55-BA3C-ADF8-4E52E186DD8F}" type="slidenum">
              <a:rPr sz="975" b="0">
                <a:solidFill>
                  <a:srgbClr val="171717"/>
                </a:solidFill>
                <a:latin typeface="Meiryo"/>
                <a:ea typeface="Meiryo"/>
                <a:cs typeface="Meiryo"/>
              </a:rPr>
              <a:t>23</a:t>
            </a:fld>
            <a:endParaRPr/>
          </a:p>
        </p:txBody>
      </p:sp>
      <p:sp>
        <p:nvSpPr>
          <p:cNvPr id="533" name="Google Shape;533;p58">
            <a:extLst xmlns:a="http://schemas.openxmlformats.org/drawingml/2006/main">
              <a:ext uri="{FF2B5EF4-FFF2-40B4-BE49-F238E27FC236}">
                <a16:creationId xmlns:a16="http://schemas.microsoft.com/office/drawing/2014/main" id="{08EBC4B8-BBC1-7C2A-F77D-BEC6394B0F93}"/>
              </a:ext>
            </a:extLst>
          </p:cNvPr>
          <p:cNvSpPr>
            <a:spLocks xmlns:a="http://schemas.openxmlformats.org/drawingml/2006/main" noGrp="1"/>
          </p:cNvSpPr>
          <p:nvPr>
            <p:ph type="title" idx="0"/>
          </p:nvPr>
        </p:nvSpPr>
        <p:spPr>
          <a:xfrm xmlns:a="http://schemas.openxmlformats.org/drawingml/2006/main">
            <a:off x="393668" y="344043"/>
            <a:ext cx="11404568" cy="952500"/>
          </a:xfr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pPr>
              <a:defRPr sz="2700" b="0">
                <a:solidFill>
                  <a:srgbClr val="171717"/>
                </a:solidFill>
                <a:latin typeface="Meiryo"/>
                <a:ea typeface="Meiryo"/>
                <a:cs typeface="Meiryo"/>
              </a:defRPr>
            </a:pPr>
            <a:r>
              <a:rPr sz="2700" b="0">
                <a:solidFill>
                  <a:srgbClr val="171717"/>
                </a:solidFill>
                <a:latin typeface="Meiryo"/>
                <a:ea typeface="Meiryo"/>
                <a:cs typeface="Meiryo"/>
              </a:rPr>
              <a:t>付録C　AE系の情報要件と未確認事項</a:t>
            </a:r>
          </a:p>
        </p:txBody>
      </p:sp>
      <p:graphicFrame>
        <p:nvGraphicFramePr>
          <p:cNvPr id="538" name=""/>
          <p:cNvGraphicFramePr/>
          <p:nvPr/>
        </p:nvGraphicFramePr>
        <p:xfrm>
          <a:off xmlns:a="http://schemas.openxmlformats.org/drawingml/2006/main" x="393668" y="1638300"/>
          <a:ext xmlns:a="http://schemas.openxmlformats.org/drawingml/2006/main" cx="11382375" cy="3714750"/>
        </p:xfrm>
        <a:graphic xmlns:a="http://schemas.openxmlformats.org/drawingml/2006/main">
          <a:graphicData uri="http://schemas.openxmlformats.org/drawingml/2006/table">
            <a:tbl>
              <a:tblPr/>
              <a:tblGrid>
                <a:gridCol w="2238375"/>
                <a:gridCol w="9144000"/>
              </a:tblGrid>
              <a:tr h="619125">
                <a:tc>
                  <a:txBody>
                    <a:bodyPr>
                      <a:noAutofit/>
                    </a:bodyPr>
                    <a:lstStyle/>
                    <a:p>
                      <a:r>
                        <a:rPr sz="1725" b="1">
                          <a:solidFill>
                            <a:srgbClr val="171717"/>
                          </a:solidFill>
                          <a:latin typeface="Meiryo"/>
                          <a:ea typeface="Meiryo"/>
                          <a:cs typeface="Meiryo"/>
                        </a:rPr>
                        <a:t>項目</a:t>
                      </a:r>
                    </a:p>
                  </a:txBody>
                  <a:tcPr marL="95250" marR="95250" marT="85725" marB="66675" anchor="ctr">
                    <a:solidFill>
                      <a:srgbClr val="F1F1F1"/>
                    </a:solidFill>
                  </a:tcPr>
                </a:tc>
                <a:tc>
                  <a:txBody>
                    <a:bodyPr>
                      <a:noAutofit/>
                    </a:bodyPr>
                    <a:lstStyle/>
                    <a:p>
                      <a:r>
                        <a:rPr sz="1725" b="1">
                          <a:solidFill>
                            <a:srgbClr val="171717"/>
                          </a:solidFill>
                          <a:latin typeface="Meiryo"/>
                          <a:ea typeface="Meiryo"/>
                          <a:cs typeface="Meiryo"/>
                        </a:rPr>
                        <a:t>整理内容</a:t>
                      </a:r>
                    </a:p>
                  </a:txBody>
                  <a:tcPr marL="95250" marR="95250" marT="85725" marB="66675" anchor="ctr">
                    <a:solidFill>
                      <a:srgbClr val="F1F1F1"/>
                    </a:solidFill>
                  </a:tcPr>
                </a:tc>
              </a:tr>
              <a:tr h="619125">
                <a:tc>
                  <a:txBody>
                    <a:bodyPr>
                      <a:noAutofit/>
                    </a:bodyPr>
                    <a:lstStyle/>
                    <a:p>
                      <a:r>
                        <a:rPr sz="1725" b="0">
                          <a:solidFill>
                            <a:srgbClr val="171717"/>
                          </a:solidFill>
                          <a:latin typeface="Meiryo"/>
                          <a:ea typeface="Meiryo"/>
                          <a:cs typeface="Meiryo"/>
                        </a:rPr>
                        <a:t>必要情報</a:t>
                      </a:r>
                    </a:p>
                  </a:txBody>
                  <a:tcPr marL="95250" marR="95250" marT="85725" marB="66675" anchor="ctr">
                    <a:solidFill>
                      <a:srgbClr val="FFFFFF"/>
                    </a:solidFill>
                  </a:tcPr>
                </a:tc>
                <a:tc>
                  <a:txBody>
                    <a:bodyPr>
                      <a:noAutofit/>
                    </a:bodyPr>
                    <a:lstStyle/>
                    <a:p>
                      <a:r>
                        <a:rPr sz="1725" b="0">
                          <a:solidFill>
                            <a:srgbClr val="171717"/>
                          </a:solidFill>
                          <a:latin typeface="Meiryo"/>
                          <a:ea typeface="Meiryo"/>
                          <a:cs typeface="Meiryo"/>
                        </a:rPr>
                        <a:t>訓練：正常なX</a:t>
                      </a:r>
                    </a:p>
                    <a:p>
                      <a:r>
                        <a:rPr sz="1725" b="0">
                          <a:solidFill>
                            <a:srgbClr val="171717"/>
                          </a:solidFill>
                          <a:latin typeface="Meiryo"/>
                          <a:ea typeface="Meiryo"/>
                          <a:cs typeface="Meiryo"/>
                        </a:rPr>
                        <a:t>運用：現在のXと学習済みAE</a:t>
                      </a:r>
                    </a:p>
                  </a:txBody>
                  <a:tcPr marL="95250" marR="95250" marT="85725" marB="66675" anchor="ctr">
                    <a:solidFill>
                      <a:srgbClr val="FFFFFF"/>
                    </a:solidFill>
                  </a:tcPr>
                </a:tc>
              </a:tr>
              <a:tr h="619125">
                <a:tc>
                  <a:txBody>
                    <a:bodyPr>
                      <a:noAutofit/>
                    </a:bodyPr>
                    <a:lstStyle/>
                    <a:p>
                      <a:r>
                        <a:rPr sz="1725" b="0">
                          <a:solidFill>
                            <a:srgbClr val="171717"/>
                          </a:solidFill>
                          <a:latin typeface="Meiryo"/>
                          <a:ea typeface="Meiryo"/>
                          <a:cs typeface="Meiryo"/>
                        </a:rPr>
                        <a:t>スコア</a:t>
                      </a:r>
                    </a:p>
                  </a:txBody>
                  <a:tcPr marL="95250" marR="95250" marT="85725" marB="66675" anchor="ctr">
                    <a:solidFill>
                      <a:srgbClr val="FFFFFF"/>
                    </a:solidFill>
                  </a:tcPr>
                </a:tc>
                <a:tc>
                  <a:txBody>
                    <a:bodyPr>
                      <a:noAutofit/>
                    </a:bodyPr>
                    <a:lstStyle/>
                    <a:p>
                      <a:r>
                        <a:rPr sz="1725" b="0">
                          <a:solidFill>
                            <a:srgbClr val="171717"/>
                          </a:solidFill>
                          <a:latin typeface="Meiryo"/>
                          <a:ea typeface="Meiryo"/>
                          <a:cs typeface="Meiryo"/>
                        </a:rPr>
                        <a:t>元の観測空間での再構成誤差のL2ノルム</a:t>
                      </a:r>
                    </a:p>
                  </a:txBody>
                  <a:tcPr marL="95250" marR="95250" marT="85725" marB="66675" anchor="ctr">
                    <a:solidFill>
                      <a:srgbClr val="FFFFFF"/>
                    </a:solidFill>
                  </a:tcPr>
                </a:tc>
              </a:tr>
              <a:tr h="619125">
                <a:tc>
                  <a:txBody>
                    <a:bodyPr>
                      <a:noAutofit/>
                    </a:bodyPr>
                    <a:lstStyle/>
                    <a:p>
                      <a:r>
                        <a:rPr sz="1725" b="0">
                          <a:solidFill>
                            <a:srgbClr val="171717"/>
                          </a:solidFill>
                          <a:latin typeface="Meiryo"/>
                          <a:ea typeface="Meiryo"/>
                          <a:cs typeface="Meiryo"/>
                        </a:rPr>
                        <a:t>学習設定</a:t>
                      </a:r>
                    </a:p>
                  </a:txBody>
                  <a:tcPr marL="95250" marR="95250" marT="85725" marB="66675" anchor="ctr">
                    <a:solidFill>
                      <a:srgbClr val="FFFFFF"/>
                    </a:solidFill>
                  </a:tcPr>
                </a:tc>
                <a:tc>
                  <a:txBody>
                    <a:bodyPr>
                      <a:noAutofit/>
                    </a:bodyPr>
                    <a:lstStyle/>
                    <a:p>
                      <a:r>
                        <a:rPr sz="1725" b="0">
                          <a:solidFill>
                            <a:srgbClr val="171717"/>
                          </a:solidFill>
                          <a:latin typeface="Meiryo"/>
                          <a:ea typeface="Meiryo"/>
                          <a:cs typeface="Meiryo"/>
                        </a:rPr>
                        <a:t>通常AEと、入力の一部を0にするノイズ除去AEを比較</a:t>
                      </a:r>
                    </a:p>
                    <a:p>
                      <a:r>
                        <a:rPr sz="1725" b="0">
                          <a:solidFill>
                            <a:srgbClr val="171717"/>
                          </a:solidFill>
                          <a:latin typeface="Meiryo"/>
                          <a:ea typeface="Meiryo"/>
                          <a:cs typeface="Meiryo"/>
                        </a:rPr>
                        <a:t>潜在次元などのパラメータは手動で調整</a:t>
                      </a:r>
                    </a:p>
                  </a:txBody>
                  <a:tcPr marL="95250" marR="95250" marT="85725" marB="66675" anchor="ctr">
                    <a:solidFill>
                      <a:srgbClr val="FFFFFF"/>
                    </a:solidFill>
                  </a:tcPr>
                </a:tc>
              </a:tr>
              <a:tr h="619125">
                <a:tc>
                  <a:txBody>
                    <a:bodyPr>
                      <a:noAutofit/>
                    </a:bodyPr>
                    <a:lstStyle/>
                    <a:p>
                      <a:r>
                        <a:rPr sz="1725" b="0">
                          <a:solidFill>
                            <a:srgbClr val="171717"/>
                          </a:solidFill>
                          <a:latin typeface="Meiryo"/>
                          <a:ea typeface="Meiryo"/>
                          <a:cs typeface="Meiryo"/>
                        </a:rPr>
                        <a:t>評価と閾値</a:t>
                      </a:r>
                    </a:p>
                  </a:txBody>
                  <a:tcPr marL="95250" marR="95250" marT="85725" marB="66675" anchor="ctr">
                    <a:solidFill>
                      <a:srgbClr val="FFFFFF"/>
                    </a:solidFill>
                  </a:tcPr>
                </a:tc>
                <a:tc>
                  <a:txBody>
                    <a:bodyPr>
                      <a:noAutofit/>
                    </a:bodyPr>
                    <a:lstStyle/>
                    <a:p>
                      <a:r>
                        <a:rPr sz="1725" b="0">
                          <a:solidFill>
                            <a:srgbClr val="171717"/>
                          </a:solidFill>
                          <a:latin typeface="Meiryo"/>
                          <a:ea typeface="Meiryo"/>
                          <a:cs typeface="Meiryo"/>
                        </a:rPr>
                        <a:t>合成・衛星データで平均AUCを報告</a:t>
                      </a:r>
                    </a:p>
                    <a:p>
                      <a:r>
                        <a:rPr sz="1725" b="0">
                          <a:solidFill>
                            <a:srgbClr val="171717"/>
                          </a:solidFill>
                          <a:latin typeface="Meiryo"/>
                          <a:ea typeface="Meiryo"/>
                          <a:cs typeface="Meiryo"/>
                        </a:rPr>
                        <a:t>運用向けの汎用的な閾値決定手順は未提示</a:t>
                      </a:r>
                    </a:p>
                  </a:txBody>
                  <a:tcPr marL="95250" marR="95250" marT="85725" marB="66675" anchor="ctr">
                    <a:solidFill>
                      <a:srgbClr val="FFFFFF"/>
                    </a:solidFill>
                  </a:tcPr>
                </a:tc>
              </a:tr>
              <a:tr h="619125">
                <a:tc>
                  <a:txBody>
                    <a:bodyPr>
                      <a:noAutofit/>
                    </a:bodyPr>
                    <a:lstStyle/>
                    <a:p>
                      <a:r>
                        <a:rPr sz="1725" b="0">
                          <a:solidFill>
                            <a:srgbClr val="171717"/>
                          </a:solidFill>
                          <a:latin typeface="Meiryo"/>
                          <a:ea typeface="Meiryo"/>
                          <a:cs typeface="Meiryo"/>
                        </a:rPr>
                        <a:t>制約</a:t>
                      </a:r>
                    </a:p>
                  </a:txBody>
                  <a:tcPr marL="95250" marR="95250" marT="85725" marB="66675" anchor="ctr">
                    <a:solidFill>
                      <a:srgbClr val="FFFFFF"/>
                    </a:solidFill>
                  </a:tcPr>
                </a:tc>
                <a:tc>
                  <a:txBody>
                    <a:bodyPr>
                      <a:noAutofit/>
                    </a:bodyPr>
                    <a:lstStyle/>
                    <a:p>
                      <a:r>
                        <a:rPr sz="1725" b="0">
                          <a:solidFill>
                            <a:srgbClr val="171717"/>
                          </a:solidFill>
                          <a:latin typeface="Meiryo"/>
                          <a:ea typeface="Meiryo"/>
                          <a:cs typeface="Meiryo"/>
                        </a:rPr>
                        <a:t>正常時の関係を学習できることが前提</a:t>
                      </a:r>
                    </a:p>
                    <a:p>
                      <a:r>
                        <a:rPr sz="1725" b="0">
                          <a:solidFill>
                            <a:srgbClr val="171717"/>
                          </a:solidFill>
                          <a:latin typeface="Meiryo"/>
                          <a:ea typeface="Meiryo"/>
                          <a:cs typeface="Meiryo"/>
                        </a:rPr>
                        <a:t>低密度の全領域や大回帰誤差を必ず検知する保証はない</a:t>
                      </a:r>
                    </a:p>
                  </a:txBody>
                  <a:tcPr marL="95250" marR="95250" marT="85725" marB="66675" anchor="ctr">
                    <a:solidFill>
                      <a:srgbClr val="FFFFFF"/>
                    </a:solidFill>
                  </a:tcPr>
                </a:tc>
              </a:tr>
            </a:tbl>
          </a:graphicData>
        </a:graphic>
      </p:graphicFrame>
      <p:sp>
        <p:nvSpPr>
          <p:cNvPr id="535" name="">
            <a:extLst xmlns:a="http://schemas.openxmlformats.org/drawingml/2006/main">
              <a:ext uri="{FF2B5EF4-FFF2-40B4-BE49-F238E27FC236}">
                <a16:creationId xmlns:a16="http://schemas.microsoft.com/office/drawing/2014/main" id="{29490640-FE1A-4137-AE49-816E0F711FEF}"/>
              </a:ext>
            </a:extLst>
          </p:cNvPr>
          <p:cNvSpPr>
            <a:spLocks xmlns:a="http://schemas.openxmlformats.org/drawingml/2006/main" noGrp="1"/>
          </p:cNvSpPr>
          <p:nvPr/>
        </p:nvSpPr>
        <p:spPr>
          <a:xfrm xmlns:a="http://schemas.openxmlformats.org/drawingml/2006/main">
            <a:off x="393668" y="6334125"/>
            <a:ext cx="10668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975" b="0">
                <a:solidFill>
                  <a:srgbClr val="656565"/>
                </a:solidFill>
                <a:latin typeface="Meiryo"/>
                <a:ea typeface="Meiryo"/>
                <a:cs typeface="Meiryo"/>
              </a:defRPr>
            </a:pPr>
            <a:r>
              <a:rPr sz="975" b="0">
                <a:solidFill>
                  <a:srgbClr val="656565"/>
                </a:solidFill>
                <a:latin typeface="Meiryo"/>
                <a:ea typeface="Meiryo"/>
                <a:cs typeface="Meiryo"/>
              </a:rPr>
              <a:t>14 §3–6、Table 1</a:t>
            </a:r>
          </a:p>
        </p:txBody>
      </p:sp>
    </p:spTree>
    <p:extLst>
      <p:ext uri="{BB962C8B-B14F-4D97-AF65-F5344CB8AC3E}">
        <p14:creationId xmlns:p14="http://schemas.microsoft.com/office/powerpoint/2010/main" val="329854879"/>
      </p:ext>
    </p:extLst>
  </p:cSld>
</p:sld>
</file>

<file path=ppt/slides/slide24.xml><?xml version="1.0" encoding="utf-8"?>
<p:sld xmlns:p="http://schemas.openxmlformats.org/presentationml/2006/main">
  <p:cSld>
    <p:spTree>
      <p:nvGrpSpPr>
        <p:cNvPr id="1" name=""/>
        <p:cNvGrpSpPr/>
        <p:nvPr/>
      </p:nvGrpSpPr>
      <p:grpSpPr>
        <a:xfrm xmlns:a="http://schemas.openxmlformats.org/drawingml/2006/main"/>
      </p:grpSpPr>
      <p:sp>
        <p:nvSpPr>
          <p:cNvPr id="532" name="Google Shape;532;p58">
            <a:extLst xmlns:a="http://schemas.openxmlformats.org/drawingml/2006/main">
              <a:ext uri="{FF2B5EF4-FFF2-40B4-BE49-F238E27FC236}">
                <a16:creationId xmlns:a16="http://schemas.microsoft.com/office/drawing/2014/main" id="{27489CDA-073D-5D98-B832-86AD74222B71}"/>
              </a:ext>
            </a:extLst>
          </p:cNvPr>
          <p:cNvSpPr>
            <a:spLocks xmlns:a="http://schemas.openxmlformats.org/drawingml/2006/main" noGrp="1"/>
          </p:cNvSpPr>
          <p:nvPr>
            <p:ph type="sldNum" idx="4"/>
          </p:nvPr>
        </p:nvSpPr>
        <p:spPr>
          <a:xfrm xmlns:a="http://schemas.openxmlformats.org/drawingml/2006/main">
            <a:off x="11279332" y="6279294"/>
            <a:ext cx="518968" cy="241240"/>
          </a:xfr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pPr>
              <a:defRPr sz="975" b="0">
                <a:solidFill>
                  <a:srgbClr val="171717"/>
                </a:solidFill>
                <a:latin typeface="Meiryo"/>
                <a:ea typeface="Meiryo"/>
                <a:cs typeface="Meiryo"/>
              </a:defRPr>
            </a:pPr>
            <a:fld id="{4A59AF09-D197-0193-A7DE-FAAF0B691058}" type="slidenum">
              <a:rPr sz="975" b="0">
                <a:solidFill>
                  <a:srgbClr val="171717"/>
                </a:solidFill>
                <a:latin typeface="Meiryo"/>
                <a:ea typeface="Meiryo"/>
                <a:cs typeface="Meiryo"/>
              </a:rPr>
              <a:t>24</a:t>
            </a:fld>
            <a:endParaRPr/>
          </a:p>
        </p:txBody>
      </p:sp>
      <p:sp>
        <p:nvSpPr>
          <p:cNvPr id="533" name="Google Shape;533;p58">
            <a:extLst xmlns:a="http://schemas.openxmlformats.org/drawingml/2006/main">
              <a:ext uri="{FF2B5EF4-FFF2-40B4-BE49-F238E27FC236}">
                <a16:creationId xmlns:a16="http://schemas.microsoft.com/office/drawing/2014/main" id="{08EBC4B8-BBC1-7C2A-F77D-BEC6394B0F93}"/>
              </a:ext>
            </a:extLst>
          </p:cNvPr>
          <p:cNvSpPr>
            <a:spLocks xmlns:a="http://schemas.openxmlformats.org/drawingml/2006/main" noGrp="1"/>
          </p:cNvSpPr>
          <p:nvPr>
            <p:ph type="title" idx="0"/>
          </p:nvPr>
        </p:nvSpPr>
        <p:spPr>
          <a:xfrm xmlns:a="http://schemas.openxmlformats.org/drawingml/2006/main">
            <a:off x="393668" y="344043"/>
            <a:ext cx="11404568" cy="952500"/>
          </a:xfr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pPr>
              <a:defRPr sz="2700" b="0">
                <a:solidFill>
                  <a:srgbClr val="171717"/>
                </a:solidFill>
                <a:latin typeface="Meiryo"/>
                <a:ea typeface="Meiryo"/>
                <a:cs typeface="Meiryo"/>
              </a:defRPr>
            </a:pPr>
            <a:r>
              <a:rPr sz="2700" b="0">
                <a:solidFill>
                  <a:srgbClr val="171717"/>
                </a:solidFill>
                <a:latin typeface="Meiryo"/>
                <a:ea typeface="Meiryo"/>
                <a:cs typeface="Meiryo"/>
              </a:rPr>
              <a:t>付録D　データセット情報の確認状況</a:t>
            </a:r>
          </a:p>
        </p:txBody>
      </p:sp>
      <p:graphicFrame>
        <p:nvGraphicFramePr>
          <p:cNvPr id="538" name=""/>
          <p:cNvGraphicFramePr/>
          <p:nvPr/>
        </p:nvGraphicFramePr>
        <p:xfrm>
          <a:off xmlns:a="http://schemas.openxmlformats.org/drawingml/2006/main" x="393668" y="1638300"/>
          <a:ext xmlns:a="http://schemas.openxmlformats.org/drawingml/2006/main" cx="11382375" cy="3714750"/>
        </p:xfrm>
        <a:graphic xmlns:a="http://schemas.openxmlformats.org/drawingml/2006/main">
          <a:graphicData uri="http://schemas.openxmlformats.org/drawingml/2006/table">
            <a:tbl>
              <a:tblPr/>
              <a:tblGrid>
                <a:gridCol w="3190875"/>
                <a:gridCol w="5286375"/>
                <a:gridCol w="2905125"/>
              </a:tblGrid>
              <a:tr h="619125">
                <a:tc>
                  <a:txBody>
                    <a:bodyPr>
                      <a:noAutofit/>
                    </a:bodyPr>
                    <a:lstStyle/>
                    <a:p>
                      <a:r>
                        <a:rPr sz="1725" b="1">
                          <a:solidFill>
                            <a:srgbClr val="171717"/>
                          </a:solidFill>
                          <a:latin typeface="Meiryo"/>
                          <a:ea typeface="Meiryo"/>
                          <a:cs typeface="Meiryo"/>
                        </a:rPr>
                        <a:t>データ</a:t>
                      </a:r>
                    </a:p>
                  </a:txBody>
                  <a:tcPr marL="95250" marR="95250" marT="85725" marB="66675" anchor="ctr">
                    <a:solidFill>
                      <a:srgbClr val="F1F1F1"/>
                    </a:solidFill>
                  </a:tcPr>
                </a:tc>
                <a:tc>
                  <a:txBody>
                    <a:bodyPr>
                      <a:noAutofit/>
                    </a:bodyPr>
                    <a:lstStyle/>
                    <a:p>
                      <a:r>
                        <a:rPr sz="1725" b="1">
                          <a:solidFill>
                            <a:srgbClr val="171717"/>
                          </a:solidFill>
                          <a:latin typeface="Meiryo"/>
                          <a:ea typeface="Meiryo"/>
                          <a:cs typeface="Meiryo"/>
                        </a:rPr>
                        <a:t>論文に記載された規模・分割</a:t>
                      </a:r>
                    </a:p>
                  </a:txBody>
                  <a:tcPr marL="95250" marR="95250" marT="85725" marB="66675" anchor="ctr">
                    <a:solidFill>
                      <a:srgbClr val="F1F1F1"/>
                    </a:solidFill>
                  </a:tcPr>
                </a:tc>
                <a:tc>
                  <a:txBody>
                    <a:bodyPr>
                      <a:noAutofit/>
                    </a:bodyPr>
                    <a:lstStyle/>
                    <a:p>
                      <a:r>
                        <a:rPr sz="1725" b="1">
                          <a:solidFill>
                            <a:srgbClr val="171717"/>
                          </a:solidFill>
                          <a:latin typeface="Meiryo"/>
                          <a:ea typeface="Meiryo"/>
                          <a:cs typeface="Meiryo"/>
                        </a:rPr>
                        <a:t>追加確認</a:t>
                      </a:r>
                    </a:p>
                  </a:txBody>
                  <a:tcPr marL="95250" marR="95250" marT="85725" marB="66675" anchor="ctr">
                    <a:solidFill>
                      <a:srgbClr val="F1F1F1"/>
                    </a:solidFill>
                  </a:tcPr>
                </a:tc>
              </a:tr>
              <a:tr h="619125">
                <a:tc>
                  <a:txBody>
                    <a:bodyPr>
                      <a:noAutofit/>
                    </a:bodyPr>
                    <a:lstStyle/>
                    <a:p>
                      <a:r>
                        <a:rPr sz="1725" b="0">
                          <a:solidFill>
                            <a:srgbClr val="171717"/>
                          </a:solidFill>
                          <a:latin typeface="Meiryo"/>
                          <a:ea typeface="Meiryo"/>
                          <a:cs typeface="Meiryo"/>
                        </a:rPr>
                        <a:t>SWaT</a:t>
                      </a:r>
                    </a:p>
                  </a:txBody>
                  <a:tcPr marL="95250" marR="95250" marT="85725" marB="66675" anchor="ctr">
                    <a:solidFill>
                      <a:srgbClr val="FFFFFF"/>
                    </a:solidFill>
                  </a:tcPr>
                </a:tc>
                <a:tc>
                  <a:txBody>
                    <a:bodyPr>
                      <a:noAutofit/>
                    </a:bodyPr>
                    <a:lstStyle/>
                    <a:p>
                      <a:r>
                        <a:rPr sz="1725" b="0">
                          <a:solidFill>
                            <a:srgbClr val="171717"/>
                          </a:solidFill>
                          <a:latin typeface="Meiryo"/>
                          <a:ea typeface="Meiryo"/>
                          <a:cs typeface="Meiryo"/>
                        </a:rPr>
                        <a:t>訓練496,800 / テスト449,919、51変数</a:t>
                      </a:r>
                    </a:p>
                  </a:txBody>
                  <a:tcPr marL="95250" marR="95250" marT="85725" marB="66675" anchor="ctr">
                    <a:solidFill>
                      <a:srgbClr val="FFFFFF"/>
                    </a:solidFill>
                  </a:tcPr>
                </a:tc>
                <a:tc>
                  <a:txBody>
                    <a:bodyPr>
                      <a:noAutofit/>
                    </a:bodyPr>
                    <a:lstStyle/>
                    <a:p>
                      <a:r>
                        <a:rPr sz="1725" b="0">
                          <a:solidFill>
                            <a:srgbClr val="171717"/>
                          </a:solidFill>
                          <a:latin typeface="Meiryo"/>
                          <a:ea typeface="Meiryo"/>
                          <a:cs typeface="Meiryo"/>
                        </a:rPr>
                        <a:t>時間粒度・対象Y・版</a:t>
                      </a:r>
                    </a:p>
                    <a:p>
                      <a:r>
                        <a:rPr sz="1725" b="0">
                          <a:solidFill>
                            <a:srgbClr val="171717"/>
                          </a:solidFill>
                          <a:latin typeface="Meiryo"/>
                          <a:ea typeface="Meiryo"/>
                          <a:cs typeface="Meiryo"/>
                        </a:rPr>
                        <a:t>利用許諾</a:t>
                      </a:r>
                    </a:p>
                  </a:txBody>
                  <a:tcPr marL="95250" marR="95250" marT="85725" marB="66675" anchor="ctr">
                    <a:solidFill>
                      <a:srgbClr val="FFFFFF"/>
                    </a:solidFill>
                  </a:tcPr>
                </a:tc>
              </a:tr>
              <a:tr h="619125">
                <a:tc>
                  <a:txBody>
                    <a:bodyPr>
                      <a:noAutofit/>
                    </a:bodyPr>
                    <a:lstStyle/>
                    <a:p>
                      <a:r>
                        <a:rPr sz="1725" b="0">
                          <a:solidFill>
                            <a:srgbClr val="171717"/>
                          </a:solidFill>
                          <a:latin typeface="Meiryo"/>
                          <a:ea typeface="Meiryo"/>
                          <a:cs typeface="Meiryo"/>
                        </a:rPr>
                        <a:t>WADI</a:t>
                      </a:r>
                    </a:p>
                  </a:txBody>
                  <a:tcPr marL="95250" marR="95250" marT="85725" marB="66675" anchor="ctr">
                    <a:solidFill>
                      <a:srgbClr val="FFFFFF"/>
                    </a:solidFill>
                  </a:tcPr>
                </a:tc>
                <a:tc>
                  <a:txBody>
                    <a:bodyPr>
                      <a:noAutofit/>
                    </a:bodyPr>
                    <a:lstStyle/>
                    <a:p>
                      <a:r>
                        <a:rPr sz="1725" b="0">
                          <a:solidFill>
                            <a:srgbClr val="171717"/>
                          </a:solidFill>
                          <a:latin typeface="Meiryo"/>
                          <a:ea typeface="Meiryo"/>
                          <a:cs typeface="Meiryo"/>
                        </a:rPr>
                        <a:t>訓練1,209,601 / テスト172,801、123変数</a:t>
                      </a:r>
                    </a:p>
                  </a:txBody>
                  <a:tcPr marL="95250" marR="95250" marT="85725" marB="66675" anchor="ctr">
                    <a:solidFill>
                      <a:srgbClr val="FFFFFF"/>
                    </a:solidFill>
                  </a:tcPr>
                </a:tc>
                <a:tc>
                  <a:txBody>
                    <a:bodyPr>
                      <a:noAutofit/>
                    </a:bodyPr>
                    <a:lstStyle/>
                    <a:p>
                      <a:r>
                        <a:rPr sz="1725" b="0">
                          <a:solidFill>
                            <a:srgbClr val="171717"/>
                          </a:solidFill>
                          <a:latin typeface="Meiryo"/>
                          <a:ea typeface="Meiryo"/>
                          <a:cs typeface="Meiryo"/>
                        </a:rPr>
                        <a:t>時間粒度・対象Y・版</a:t>
                      </a:r>
                    </a:p>
                    <a:p>
                      <a:r>
                        <a:rPr sz="1725" b="0">
                          <a:solidFill>
                            <a:srgbClr val="171717"/>
                          </a:solidFill>
                          <a:latin typeface="Meiryo"/>
                          <a:ea typeface="Meiryo"/>
                          <a:cs typeface="Meiryo"/>
                        </a:rPr>
                        <a:t>利用許諾</a:t>
                      </a:r>
                    </a:p>
                  </a:txBody>
                  <a:tcPr marL="95250" marR="95250" marT="85725" marB="66675" anchor="ctr">
                    <a:solidFill>
                      <a:srgbClr val="FFFFFF"/>
                    </a:solidFill>
                  </a:tcPr>
                </a:tc>
              </a:tr>
              <a:tr h="619125">
                <a:tc>
                  <a:txBody>
                    <a:bodyPr>
                      <a:noAutofit/>
                    </a:bodyPr>
                    <a:lstStyle/>
                    <a:p>
                      <a:r>
                        <a:rPr sz="1725" b="0">
                          <a:solidFill>
                            <a:srgbClr val="171717"/>
                          </a:solidFill>
                          <a:latin typeface="Meiryo"/>
                          <a:ea typeface="Meiryo"/>
                          <a:cs typeface="Meiryo"/>
                        </a:rPr>
                        <a:t>PMLB（13の選択集合）</a:t>
                      </a:r>
                    </a:p>
                  </a:txBody>
                  <a:tcPr marL="95250" marR="95250" marT="85725" marB="66675" anchor="ctr">
                    <a:solidFill>
                      <a:srgbClr val="FFFFFF"/>
                    </a:solidFill>
                  </a:tcPr>
                </a:tc>
                <a:tc>
                  <a:txBody>
                    <a:bodyPr>
                      <a:noAutofit/>
                    </a:bodyPr>
                    <a:lstStyle/>
                    <a:p>
                      <a:r>
                        <a:rPr sz="1725" b="0">
                          <a:solidFill>
                            <a:srgbClr val="171717"/>
                          </a:solidFill>
                          <a:latin typeface="Meiryo"/>
                          <a:ea typeface="Meiryo"/>
                          <a:cs typeface="Meiryo"/>
                        </a:rPr>
                        <a:t>61データ、n=47–1,066、d=10–124</a:t>
                      </a:r>
                    </a:p>
                    <a:p>
                      <a:r>
                        <a:rPr sz="1725" b="0">
                          <a:solidFill>
                            <a:srgbClr val="171717"/>
                          </a:solidFill>
                          <a:latin typeface="Meiryo"/>
                          <a:ea typeface="Meiryo"/>
                          <a:cs typeface="Meiryo"/>
                        </a:rPr>
                        <a:t>80% / 20%分割</a:t>
                      </a:r>
                    </a:p>
                  </a:txBody>
                  <a:tcPr marL="95250" marR="95250" marT="85725" marB="66675" anchor="ctr">
                    <a:solidFill>
                      <a:srgbClr val="FFFFFF"/>
                    </a:solidFill>
                  </a:tcPr>
                </a:tc>
                <a:tc>
                  <a:txBody>
                    <a:bodyPr>
                      <a:noAutofit/>
                    </a:bodyPr>
                    <a:lstStyle/>
                    <a:p>
                      <a:r>
                        <a:rPr sz="1725" b="0">
                          <a:solidFill>
                            <a:srgbClr val="171717"/>
                          </a:solidFill>
                          <a:latin typeface="Meiryo"/>
                          <a:ea typeface="Meiryo"/>
                          <a:cs typeface="Meiryo"/>
                        </a:rPr>
                        <a:t>各データの来歴</a:t>
                      </a:r>
                    </a:p>
                    <a:p>
                      <a:r>
                        <a:rPr sz="1725" b="0">
                          <a:solidFill>
                            <a:srgbClr val="171717"/>
                          </a:solidFill>
                          <a:latin typeface="Meiryo"/>
                          <a:ea typeface="Meiryo"/>
                          <a:cs typeface="Meiryo"/>
                        </a:rPr>
                        <a:t>ライセンス</a:t>
                      </a:r>
                    </a:p>
                  </a:txBody>
                  <a:tcPr marL="95250" marR="95250" marT="85725" marB="66675" anchor="ctr">
                    <a:solidFill>
                      <a:srgbClr val="FFFFFF"/>
                    </a:solidFill>
                  </a:tcPr>
                </a:tc>
              </a:tr>
              <a:tr h="619125">
                <a:tc>
                  <a:txBody>
                    <a:bodyPr>
                      <a:noAutofit/>
                    </a:bodyPr>
                    <a:lstStyle/>
                    <a:p>
                      <a:r>
                        <a:rPr sz="1725" b="0">
                          <a:solidFill>
                            <a:srgbClr val="171717"/>
                          </a:solidFill>
                          <a:latin typeface="Meiryo"/>
                          <a:ea typeface="Meiryo"/>
                          <a:cs typeface="Meiryo"/>
                        </a:rPr>
                        <a:t>Lorenz（14）</a:t>
                      </a:r>
                    </a:p>
                  </a:txBody>
                  <a:tcPr marL="95250" marR="95250" marT="85725" marB="66675" anchor="ctr">
                    <a:solidFill>
                      <a:srgbClr val="FFFFFF"/>
                    </a:solidFill>
                  </a:tcPr>
                </a:tc>
                <a:tc>
                  <a:txBody>
                    <a:bodyPr>
                      <a:noAutofit/>
                    </a:bodyPr>
                    <a:lstStyle/>
                    <a:p>
                      <a:r>
                        <a:rPr sz="1725" b="0">
                          <a:solidFill>
                            <a:srgbClr val="171717"/>
                          </a:solidFill>
                          <a:latin typeface="Meiryo"/>
                          <a:ea typeface="Meiryo"/>
                          <a:cs typeface="Meiryo"/>
                        </a:rPr>
                        <a:t>1,000点、25次元、0.1秒間隔</a:t>
                      </a:r>
                    </a:p>
                    <a:p>
                      <a:r>
                        <a:rPr sz="1725" b="0">
                          <a:solidFill>
                            <a:srgbClr val="171717"/>
                          </a:solidFill>
                          <a:latin typeface="Meiryo"/>
                          <a:ea typeface="Meiryo"/>
                          <a:cs typeface="Meiryo"/>
                        </a:rPr>
                        <a:t>訓練700 / テスト300</a:t>
                      </a:r>
                    </a:p>
                  </a:txBody>
                  <a:tcPr marL="95250" marR="95250" marT="85725" marB="66675" anchor="ctr">
                    <a:solidFill>
                      <a:srgbClr val="FFFFFF"/>
                    </a:solidFill>
                  </a:tcPr>
                </a:tc>
                <a:tc>
                  <a:txBody>
                    <a:bodyPr>
                      <a:noAutofit/>
                    </a:bodyPr>
                    <a:lstStyle/>
                    <a:p>
                      <a:r>
                        <a:rPr sz="1725" b="0">
                          <a:solidFill>
                            <a:srgbClr val="171717"/>
                          </a:solidFill>
                          <a:latin typeface="Meiryo"/>
                          <a:ea typeface="Meiryo"/>
                          <a:cs typeface="Meiryo"/>
                        </a:rPr>
                        <a:t>生成の再現条件・乱数設定</a:t>
                      </a:r>
                    </a:p>
                  </a:txBody>
                  <a:tcPr marL="95250" marR="95250" marT="85725" marB="66675" anchor="ctr">
                    <a:solidFill>
                      <a:srgbClr val="FFFFFF"/>
                    </a:solidFill>
                  </a:tcPr>
                </a:tc>
              </a:tr>
              <a:tr h="619125">
                <a:tc>
                  <a:txBody>
                    <a:bodyPr>
                      <a:noAutofit/>
                    </a:bodyPr>
                    <a:lstStyle/>
                    <a:p>
                      <a:r>
                        <a:rPr sz="1725" b="0">
                          <a:solidFill>
                            <a:srgbClr val="171717"/>
                          </a:solidFill>
                          <a:latin typeface="Meiryo"/>
                          <a:ea typeface="Meiryo"/>
                          <a:cs typeface="Meiryo"/>
                        </a:rPr>
                        <a:t>Satellite-A / B</a:t>
                      </a:r>
                    </a:p>
                  </a:txBody>
                  <a:tcPr marL="95250" marR="95250" marT="85725" marB="66675" anchor="ctr">
                    <a:solidFill>
                      <a:srgbClr val="FFFFFF"/>
                    </a:solidFill>
                  </a:tcPr>
                </a:tc>
                <a:tc>
                  <a:txBody>
                    <a:bodyPr>
                      <a:noAutofit/>
                    </a:bodyPr>
                    <a:lstStyle/>
                    <a:p>
                      <a:r>
                        <a:rPr sz="1725" b="0">
                          <a:solidFill>
                            <a:srgbClr val="171717"/>
                          </a:solidFill>
                          <a:latin typeface="Meiryo"/>
                          <a:ea typeface="Meiryo"/>
                          <a:cs typeface="Meiryo"/>
                        </a:rPr>
                        <a:t>17変数 / 106変数</a:t>
                      </a:r>
                    </a:p>
                  </a:txBody>
                  <a:tcPr marL="95250" marR="95250" marT="85725" marB="66675" anchor="ctr">
                    <a:solidFill>
                      <a:srgbClr val="FFFFFF"/>
                    </a:solidFill>
                  </a:tcPr>
                </a:tc>
                <a:tc>
                  <a:txBody>
                    <a:bodyPr>
                      <a:noAutofit/>
                    </a:bodyPr>
                    <a:lstStyle/>
                    <a:p>
                      <a:r>
                        <a:rPr sz="1725" b="0">
                          <a:solidFill>
                            <a:srgbClr val="171717"/>
                          </a:solidFill>
                          <a:latin typeface="Meiryo"/>
                          <a:ea typeface="Meiryo"/>
                          <a:cs typeface="Meiryo"/>
                        </a:rPr>
                        <a:t>取得方法・ラベル定義</a:t>
                      </a:r>
                    </a:p>
                    <a:p>
                      <a:r>
                        <a:rPr sz="1725" b="0">
                          <a:solidFill>
                            <a:srgbClr val="171717"/>
                          </a:solidFill>
                          <a:latin typeface="Meiryo"/>
                          <a:ea typeface="Meiryo"/>
                          <a:cs typeface="Meiryo"/>
                        </a:rPr>
                        <a:t>利用条件</a:t>
                      </a:r>
                    </a:p>
                  </a:txBody>
                  <a:tcPr marL="95250" marR="95250" marT="85725" marB="66675" anchor="ctr">
                    <a:solidFill>
                      <a:srgbClr val="FFFFFF"/>
                    </a:solidFill>
                  </a:tcPr>
                </a:tc>
              </a:tr>
            </a:tbl>
          </a:graphicData>
        </a:graphic>
      </p:graphicFrame>
      <p:sp>
        <p:nvSpPr>
          <p:cNvPr id="535" name="">
            <a:extLst xmlns:a="http://schemas.openxmlformats.org/drawingml/2006/main">
              <a:ext uri="{FF2B5EF4-FFF2-40B4-BE49-F238E27FC236}">
                <a16:creationId xmlns:a16="http://schemas.microsoft.com/office/drawing/2014/main" id="{2E5C7E77-DA5F-451D-AA62-7BC89CDCDE3C}"/>
              </a:ext>
            </a:extLst>
          </p:cNvPr>
          <p:cNvSpPr>
            <a:spLocks xmlns:a="http://schemas.openxmlformats.org/drawingml/2006/main" noGrp="1"/>
          </p:cNvSpPr>
          <p:nvPr/>
        </p:nvSpPr>
        <p:spPr>
          <a:xfrm xmlns:a="http://schemas.openxmlformats.org/drawingml/2006/main">
            <a:off x="393668" y="6334125"/>
            <a:ext cx="10668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975" b="0">
                <a:solidFill>
                  <a:srgbClr val="656565"/>
                </a:solidFill>
                <a:latin typeface="Meiryo"/>
                <a:ea typeface="Meiryo"/>
                <a:cs typeface="Meiryo"/>
              </a:defRPr>
            </a:pPr>
            <a:r>
              <a:rPr sz="975" b="0">
                <a:solidFill>
                  <a:srgbClr val="656565"/>
                </a:solidFill>
                <a:latin typeface="Meiryo"/>
                <a:ea typeface="Meiryo"/>
                <a:cs typeface="Meiryo"/>
              </a:rPr>
              <a:t>S1 Table 1、13 §5.3、14 §4。数値は各論文の使用版に限る</a:t>
            </a:r>
          </a:p>
        </p:txBody>
      </p:sp>
    </p:spTree>
    <p:extLst>
      <p:ext uri="{BB962C8B-B14F-4D97-AF65-F5344CB8AC3E}">
        <p14:creationId xmlns:p14="http://schemas.microsoft.com/office/powerpoint/2010/main" val="329854879"/>
      </p:ext>
    </p:extLst>
  </p:cSld>
</p:sld>
</file>

<file path=ppt/slides/slide25.xml><?xml version="1.0" encoding="utf-8"?>
<p:sld xmlns:p="http://schemas.openxmlformats.org/presentationml/2006/main">
  <p:cSld>
    <p:spTree>
      <p:nvGrpSpPr>
        <p:cNvPr id="1" name=""/>
        <p:cNvGrpSpPr/>
        <p:nvPr/>
      </p:nvGrpSpPr>
      <p:grpSpPr>
        <a:xfrm xmlns:a="http://schemas.openxmlformats.org/drawingml/2006/main"/>
      </p:grpSpPr>
      <p:sp>
        <p:nvSpPr>
          <p:cNvPr id="532" name="Google Shape;532;p58">
            <a:extLst xmlns:a="http://schemas.openxmlformats.org/drawingml/2006/main">
              <a:ext uri="{FF2B5EF4-FFF2-40B4-BE49-F238E27FC236}">
                <a16:creationId xmlns:a16="http://schemas.microsoft.com/office/drawing/2014/main" id="{1BCBE750-7048-686D-1472-52C53362D6CD}"/>
              </a:ext>
            </a:extLst>
          </p:cNvPr>
          <p:cNvSpPr>
            <a:spLocks xmlns:a="http://schemas.openxmlformats.org/drawingml/2006/main" noGrp="1"/>
          </p:cNvSpPr>
          <p:nvPr>
            <p:ph type="sldNum" idx="4"/>
          </p:nvPr>
        </p:nvSpPr>
        <p:spPr>
          <a:xfrm xmlns:a="http://schemas.openxmlformats.org/drawingml/2006/main">
            <a:off x="11279332" y="6279294"/>
            <a:ext cx="518968" cy="241240"/>
          </a:xfr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pPr>
              <a:defRPr sz="975" b="0">
                <a:solidFill>
                  <a:srgbClr val="171717"/>
                </a:solidFill>
                <a:latin typeface="Meiryo"/>
                <a:ea typeface="Meiryo"/>
                <a:cs typeface="Meiryo"/>
              </a:defRPr>
            </a:pPr>
            <a:fld id="{F3AE1AE4-D79E-94D6-E825-3FC6C21A77D2}" type="slidenum">
              <a:rPr sz="975" b="0">
                <a:solidFill>
                  <a:srgbClr val="171717"/>
                </a:solidFill>
                <a:latin typeface="Meiryo"/>
                <a:ea typeface="Meiryo"/>
                <a:cs typeface="Meiryo"/>
              </a:rPr>
              <a:t>25</a:t>
            </a:fld>
            <a:endParaRPr/>
          </a:p>
        </p:txBody>
      </p:sp>
      <p:sp>
        <p:nvSpPr>
          <p:cNvPr id="533" name="Google Shape;533;p58">
            <a:extLst xmlns:a="http://schemas.openxmlformats.org/drawingml/2006/main">
              <a:ext uri="{FF2B5EF4-FFF2-40B4-BE49-F238E27FC236}">
                <a16:creationId xmlns:a16="http://schemas.microsoft.com/office/drawing/2014/main" id="{1B5D55CD-1C17-7CD8-F26A-2DD65B067687}"/>
              </a:ext>
            </a:extLst>
          </p:cNvPr>
          <p:cNvSpPr>
            <a:spLocks xmlns:a="http://schemas.openxmlformats.org/drawingml/2006/main" noGrp="1"/>
          </p:cNvSpPr>
          <p:nvPr>
            <p:ph type="title" idx="0"/>
          </p:nvPr>
        </p:nvSpPr>
        <p:spPr>
          <a:xfrm xmlns:a="http://schemas.openxmlformats.org/drawingml/2006/main">
            <a:off x="393668" y="344043"/>
            <a:ext cx="11404568" cy="952500"/>
          </a:xfr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pPr>
              <a:defRPr sz="2700" b="0">
                <a:solidFill>
                  <a:srgbClr val="171717"/>
                </a:solidFill>
                <a:latin typeface="Meiryo"/>
                <a:ea typeface="Meiryo"/>
                <a:cs typeface="Meiryo"/>
              </a:defRPr>
            </a:pPr>
            <a:r>
              <a:rPr sz="2700" b="0">
                <a:solidFill>
                  <a:srgbClr val="171717"/>
                </a:solidFill>
                <a:latin typeface="Meiryo"/>
                <a:ea typeface="Meiryo"/>
                <a:cs typeface="Meiryo"/>
              </a:rPr>
              <a:t>参考文献</a:t>
            </a:r>
          </a:p>
        </p:txBody>
      </p:sp>
      <p:sp>
        <p:nvSpPr>
          <p:cNvPr id="534" name="">
            <a:extLst xmlns:a="http://schemas.openxmlformats.org/drawingml/2006/main">
              <a:ext uri="{FF2B5EF4-FFF2-40B4-BE49-F238E27FC236}">
                <a16:creationId xmlns:a16="http://schemas.microsoft.com/office/drawing/2014/main" id="{37080979-5E29-4D4E-8092-7F3386A03804}"/>
              </a:ext>
            </a:extLst>
          </p:cNvPr>
          <p:cNvSpPr>
            <a:spLocks xmlns:a="http://schemas.openxmlformats.org/drawingml/2006/main" noGrp="1"/>
          </p:cNvSpPr>
          <p:nvPr/>
        </p:nvSpPr>
        <p:spPr>
          <a:xfrm xmlns:a="http://schemas.openxmlformats.org/drawingml/2006/main">
            <a:off x="393668" y="1638300"/>
            <a:ext cx="11382375"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725" b="0">
                <a:solidFill>
                  <a:srgbClr val="171717"/>
                </a:solidFill>
                <a:latin typeface="Meiryo"/>
                <a:ea typeface="Meiryo"/>
                <a:cs typeface="Meiryo"/>
              </a:defRPr>
            </a:pPr>
            <a:r>
              <a:rPr sz="1725" b="0">
                <a:solidFill>
                  <a:srgbClr val="171717"/>
                </a:solidFill>
                <a:latin typeface="Meiryo"/>
                <a:ea typeface="Meiryo"/>
                <a:cs typeface="Meiryo"/>
              </a:rPr>
              <a:t>[S1] Audibert, J., Michiardi, P., Guyard, F., Marti, S., Zuluaga, M. A. (2022). Do Deep Neural Networks Contribute to Multivariate Time Series Anomaly Detection? Pattern Recognition.</a:t>
            </a:r>
          </a:p>
        </p:txBody>
      </p:sp>
      <p:sp>
        <p:nvSpPr>
          <p:cNvPr id="535" name="">
            <a:extLst xmlns:a="http://schemas.openxmlformats.org/drawingml/2006/main">
              <a:ext uri="{FF2B5EF4-FFF2-40B4-BE49-F238E27FC236}">
                <a16:creationId xmlns:a16="http://schemas.microsoft.com/office/drawing/2014/main" id="{423660A7-F856-4B34-9096-FE9134280034}"/>
              </a:ext>
            </a:extLst>
          </p:cNvPr>
          <p:cNvSpPr>
            <a:spLocks xmlns:a="http://schemas.openxmlformats.org/drawingml/2006/main" noGrp="1"/>
          </p:cNvSpPr>
          <p:nvPr/>
        </p:nvSpPr>
        <p:spPr>
          <a:xfrm xmlns:a="http://schemas.openxmlformats.org/drawingml/2006/main">
            <a:off x="393668" y="2990850"/>
            <a:ext cx="11382375"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725" b="0">
                <a:solidFill>
                  <a:srgbClr val="171717"/>
                </a:solidFill>
                <a:latin typeface="Meiryo"/>
                <a:ea typeface="Meiryo"/>
                <a:cs typeface="Meiryo"/>
              </a:defRPr>
            </a:pPr>
            <a:r>
              <a:rPr sz="1725" b="0">
                <a:solidFill>
                  <a:srgbClr val="171717"/>
                </a:solidFill>
                <a:latin typeface="Meiryo"/>
                <a:ea typeface="Meiryo"/>
                <a:cs typeface="Meiryo"/>
              </a:rPr>
              <a:t>[S3] Blázquez-García, A., Conde, A., Mori, U., Lozano, J. A. (2021). A Review on Outlier/Anomaly Detection in Time Series Data. ACM Computing Surveys, 54(3), Article 56. DOI: 10.1145/3444690.</a:t>
            </a:r>
          </a:p>
        </p:txBody>
      </p:sp>
      <p:sp>
        <p:nvSpPr>
          <p:cNvPr id="536" name="">
            <a:extLst xmlns:a="http://schemas.openxmlformats.org/drawingml/2006/main">
              <a:ext uri="{FF2B5EF4-FFF2-40B4-BE49-F238E27FC236}">
                <a16:creationId xmlns:a16="http://schemas.microsoft.com/office/drawing/2014/main" id="{0B1F18EC-0BDD-47EF-8189-7AC616E600B8}"/>
              </a:ext>
            </a:extLst>
          </p:cNvPr>
          <p:cNvSpPr>
            <a:spLocks xmlns:a="http://schemas.openxmlformats.org/drawingml/2006/main" noGrp="1"/>
          </p:cNvSpPr>
          <p:nvPr/>
        </p:nvSpPr>
        <p:spPr>
          <a:xfrm xmlns:a="http://schemas.openxmlformats.org/drawingml/2006/main">
            <a:off x="393668" y="4343400"/>
            <a:ext cx="11382375"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725" b="0">
                <a:solidFill>
                  <a:srgbClr val="171717"/>
                </a:solidFill>
                <a:latin typeface="Meiryo"/>
                <a:ea typeface="Meiryo"/>
                <a:cs typeface="Meiryo"/>
              </a:defRPr>
            </a:pPr>
            <a:r>
              <a:rPr sz="1725" b="0">
                <a:solidFill>
                  <a:srgbClr val="171717"/>
                </a:solidFill>
                <a:latin typeface="Meiryo"/>
                <a:ea typeface="Meiryo"/>
                <a:cs typeface="Meiryo"/>
              </a:rPr>
              <a:t>[S6] Wang, F., Jiang, Y., Zhang, R., Wei, A., Xie, J., Pang, X. (2025). A Survey of Deep Anomaly Detection in Multivariate Time Series: Taxonomy, Applications, and Directions. Sensors, 25, 190. DOI: 10.3390/s25010190.</a:t>
            </a:r>
          </a:p>
        </p:txBody>
      </p:sp>
      <p:sp>
        <p:nvSpPr>
          <p:cNvPr id="537" name="">
            <a:extLst xmlns:a="http://schemas.openxmlformats.org/drawingml/2006/main">
              <a:ext uri="{FF2B5EF4-FFF2-40B4-BE49-F238E27FC236}">
                <a16:creationId xmlns:a16="http://schemas.microsoft.com/office/drawing/2014/main" id="{168C04DC-2E6D-48CB-A3C2-953098FE2428}"/>
              </a:ext>
            </a:extLst>
          </p:cNvPr>
          <p:cNvSpPr>
            <a:spLocks xmlns:a="http://schemas.openxmlformats.org/drawingml/2006/main" noGrp="1"/>
          </p:cNvSpPr>
          <p:nvPr/>
        </p:nvSpPr>
        <p:spPr>
          <a:xfrm xmlns:a="http://schemas.openxmlformats.org/drawingml/2006/main">
            <a:off x="393668" y="6334125"/>
            <a:ext cx="10668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975" b="0">
                <a:solidFill>
                  <a:srgbClr val="656565"/>
                </a:solidFill>
                <a:latin typeface="Meiryo"/>
                <a:ea typeface="Meiryo"/>
                <a:cs typeface="Meiryo"/>
              </a:defRPr>
            </a:pPr>
            <a:r>
              <a:rPr sz="975" b="0">
                <a:solidFill>
                  <a:srgbClr val="656565"/>
                </a:solidFill>
                <a:latin typeface="Meiryo"/>
                <a:ea typeface="Meiryo"/>
                <a:cs typeface="Meiryo"/>
              </a:rPr>
              <a:t>ユーザー提供PDFの書誌情報</a:t>
            </a:r>
          </a:p>
        </p:txBody>
      </p:sp>
    </p:spTree>
    <p:extLst>
      <p:ext uri="{BB962C8B-B14F-4D97-AF65-F5344CB8AC3E}">
        <p14:creationId xmlns:p14="http://schemas.microsoft.com/office/powerpoint/2010/main" val="3667182145"/>
      </p:ext>
    </p:extLst>
  </p:cSld>
</p:sld>
</file>

<file path=ppt/slides/slide26.xml><?xml version="1.0" encoding="utf-8"?>
<p:sld xmlns:p="http://schemas.openxmlformats.org/presentationml/2006/main">
  <p:cSld>
    <p:spTree>
      <p:nvGrpSpPr>
        <p:cNvPr id="1" name=""/>
        <p:cNvGrpSpPr/>
        <p:nvPr/>
      </p:nvGrpSpPr>
      <p:grpSpPr>
        <a:xfrm xmlns:a="http://schemas.openxmlformats.org/drawingml/2006/main"/>
      </p:grpSpPr>
      <p:sp>
        <p:nvSpPr>
          <p:cNvPr id="532" name="Google Shape;532;p58">
            <a:extLst xmlns:a="http://schemas.openxmlformats.org/drawingml/2006/main">
              <a:ext uri="{FF2B5EF4-FFF2-40B4-BE49-F238E27FC236}">
                <a16:creationId xmlns:a16="http://schemas.microsoft.com/office/drawing/2014/main" id="{1BCBE750-7048-686D-1472-52C53362D6CD}"/>
              </a:ext>
            </a:extLst>
          </p:cNvPr>
          <p:cNvSpPr>
            <a:spLocks xmlns:a="http://schemas.openxmlformats.org/drawingml/2006/main" noGrp="1"/>
          </p:cNvSpPr>
          <p:nvPr>
            <p:ph type="sldNum" idx="4"/>
          </p:nvPr>
        </p:nvSpPr>
        <p:spPr>
          <a:xfrm xmlns:a="http://schemas.openxmlformats.org/drawingml/2006/main">
            <a:off x="11279332" y="6279294"/>
            <a:ext cx="518968" cy="241240"/>
          </a:xfr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pPr>
              <a:defRPr sz="975" b="0">
                <a:solidFill>
                  <a:srgbClr val="171717"/>
                </a:solidFill>
                <a:latin typeface="Meiryo"/>
                <a:ea typeface="Meiryo"/>
                <a:cs typeface="Meiryo"/>
              </a:defRPr>
            </a:pPr>
            <a:fld id="{5AB55966-FA28-BC73-EA9E-53DF014DF033}" type="slidenum">
              <a:rPr sz="975" b="0">
                <a:solidFill>
                  <a:srgbClr val="171717"/>
                </a:solidFill>
                <a:latin typeface="Meiryo"/>
                <a:ea typeface="Meiryo"/>
                <a:cs typeface="Meiryo"/>
              </a:rPr>
              <a:t>26</a:t>
            </a:fld>
            <a:endParaRPr/>
          </a:p>
        </p:txBody>
      </p:sp>
      <p:sp>
        <p:nvSpPr>
          <p:cNvPr id="533" name="Google Shape;533;p58">
            <a:extLst xmlns:a="http://schemas.openxmlformats.org/drawingml/2006/main">
              <a:ext uri="{FF2B5EF4-FFF2-40B4-BE49-F238E27FC236}">
                <a16:creationId xmlns:a16="http://schemas.microsoft.com/office/drawing/2014/main" id="{1B5D55CD-1C17-7CD8-F26A-2DD65B067687}"/>
              </a:ext>
            </a:extLst>
          </p:cNvPr>
          <p:cNvSpPr>
            <a:spLocks xmlns:a="http://schemas.openxmlformats.org/drawingml/2006/main" noGrp="1"/>
          </p:cNvSpPr>
          <p:nvPr>
            <p:ph type="title" idx="0"/>
          </p:nvPr>
        </p:nvSpPr>
        <p:spPr>
          <a:xfrm xmlns:a="http://schemas.openxmlformats.org/drawingml/2006/main">
            <a:off x="393668" y="344043"/>
            <a:ext cx="11404568" cy="952500"/>
          </a:xfr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pPr>
              <a:defRPr sz="2700" b="0">
                <a:solidFill>
                  <a:srgbClr val="171717"/>
                </a:solidFill>
                <a:latin typeface="Meiryo"/>
                <a:ea typeface="Meiryo"/>
                <a:cs typeface="Meiryo"/>
              </a:defRPr>
            </a:pPr>
            <a:r>
              <a:rPr sz="2700" b="0">
                <a:solidFill>
                  <a:srgbClr val="171717"/>
                </a:solidFill>
                <a:latin typeface="Meiryo"/>
                <a:ea typeface="Meiryo"/>
                <a:cs typeface="Meiryo"/>
              </a:rPr>
              <a:t>参考文献と調査要件</a:t>
            </a:r>
          </a:p>
        </p:txBody>
      </p:sp>
      <p:sp>
        <p:nvSpPr>
          <p:cNvPr id="534" name="">
            <a:extLst xmlns:a="http://schemas.openxmlformats.org/drawingml/2006/main">
              <a:ext uri="{FF2B5EF4-FFF2-40B4-BE49-F238E27FC236}">
                <a16:creationId xmlns:a16="http://schemas.microsoft.com/office/drawing/2014/main" id="{C2C6C04C-9A59-48D7-8984-F4E4104EF6B6}"/>
              </a:ext>
            </a:extLst>
          </p:cNvPr>
          <p:cNvSpPr>
            <a:spLocks xmlns:a="http://schemas.openxmlformats.org/drawingml/2006/main" noGrp="1"/>
          </p:cNvSpPr>
          <p:nvPr/>
        </p:nvSpPr>
        <p:spPr>
          <a:xfrm xmlns:a="http://schemas.openxmlformats.org/drawingml/2006/main">
            <a:off x="393668" y="1638300"/>
            <a:ext cx="11382375"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725" b="0">
                <a:solidFill>
                  <a:srgbClr val="171717"/>
                </a:solidFill>
                <a:latin typeface="Meiryo"/>
                <a:ea typeface="Meiryo"/>
                <a:cs typeface="Meiryo"/>
              </a:defRPr>
            </a:pPr>
            <a:r>
              <a:rPr sz="1725" b="0">
                <a:solidFill>
                  <a:srgbClr val="171717"/>
                </a:solidFill>
                <a:latin typeface="Meiryo"/>
                <a:ea typeface="Meiryo"/>
                <a:cs typeface="Meiryo"/>
              </a:rPr>
              <a:t>[13] Lu, M., Ishwaran, H. (2026). General OOD detection via model-aware and subspace-aware variable priority. Knowledge and Information Systems, 68:250. DOI: 10.1007/s10115-026-02872-5.</a:t>
            </a:r>
          </a:p>
        </p:txBody>
      </p:sp>
      <p:sp>
        <p:nvSpPr>
          <p:cNvPr id="535" name="">
            <a:extLst xmlns:a="http://schemas.openxmlformats.org/drawingml/2006/main">
              <a:ext uri="{FF2B5EF4-FFF2-40B4-BE49-F238E27FC236}">
                <a16:creationId xmlns:a16="http://schemas.microsoft.com/office/drawing/2014/main" id="{0D13DEC6-33F5-4061-9342-5F4EF3BFFC16}"/>
              </a:ext>
            </a:extLst>
          </p:cNvPr>
          <p:cNvSpPr>
            <a:spLocks xmlns:a="http://schemas.openxmlformats.org/drawingml/2006/main" noGrp="1"/>
          </p:cNvSpPr>
          <p:nvPr/>
        </p:nvSpPr>
        <p:spPr>
          <a:xfrm xmlns:a="http://schemas.openxmlformats.org/drawingml/2006/main">
            <a:off x="393668" y="2781300"/>
            <a:ext cx="11382375"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725" b="0">
                <a:solidFill>
                  <a:srgbClr val="171717"/>
                </a:solidFill>
                <a:latin typeface="Meiryo"/>
                <a:ea typeface="Meiryo"/>
                <a:cs typeface="Meiryo"/>
              </a:defRPr>
            </a:pPr>
            <a:r>
              <a:rPr sz="1725" b="0">
                <a:solidFill>
                  <a:srgbClr val="171717"/>
                </a:solidFill>
                <a:latin typeface="Meiryo"/>
                <a:ea typeface="Meiryo"/>
                <a:cs typeface="Meiryo"/>
              </a:rPr>
              <a:t>[14] Sakurada, M., Yairi, T. (2014). Anomaly Detection Using Autoencoders with Nonlinear Dimensionality Reduction. MLSDA ’14.</a:t>
            </a:r>
          </a:p>
        </p:txBody>
      </p:sp>
      <p:sp>
        <p:nvSpPr>
          <p:cNvPr id="536" name="">
            <a:extLst xmlns:a="http://schemas.openxmlformats.org/drawingml/2006/main">
              <a:ext uri="{FF2B5EF4-FFF2-40B4-BE49-F238E27FC236}">
                <a16:creationId xmlns:a16="http://schemas.microsoft.com/office/drawing/2014/main" id="{1367D477-F07A-4D12-9587-5BAC4956F47E}"/>
              </a:ext>
            </a:extLst>
          </p:cNvPr>
          <p:cNvSpPr>
            <a:spLocks xmlns:a="http://schemas.openxmlformats.org/drawingml/2006/main" noGrp="1"/>
          </p:cNvSpPr>
          <p:nvPr/>
        </p:nvSpPr>
        <p:spPr>
          <a:xfrm xmlns:a="http://schemas.openxmlformats.org/drawingml/2006/main">
            <a:off x="393668" y="3924300"/>
            <a:ext cx="11382375"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725" b="0">
                <a:solidFill>
                  <a:srgbClr val="171717"/>
                </a:solidFill>
                <a:latin typeface="Meiryo"/>
                <a:ea typeface="Meiryo"/>
                <a:cs typeface="Meiryo"/>
              </a:defRPr>
            </a:pPr>
            <a:r>
              <a:rPr sz="1725" b="0">
                <a:solidFill>
                  <a:srgbClr val="171717"/>
                </a:solidFill>
                <a:latin typeface="Meiryo"/>
                <a:ea typeface="Meiryo"/>
                <a:cs typeface="Meiryo"/>
              </a:rPr>
              <a:t>[山原] 山原裕之・横山雄・金谷道昭. 配水管網における圧力推定のための機械学習モデルの適用領域の検討. 刊行年・発表先は提供資料では未確認。</a:t>
            </a:r>
          </a:p>
        </p:txBody>
      </p:sp>
      <p:sp>
        <p:nvSpPr>
          <p:cNvPr id="537" name="">
            <a:extLst xmlns:a="http://schemas.openxmlformats.org/drawingml/2006/main">
              <a:ext uri="{FF2B5EF4-FFF2-40B4-BE49-F238E27FC236}">
                <a16:creationId xmlns:a16="http://schemas.microsoft.com/office/drawing/2014/main" id="{C03AFFF7-036F-4F76-B90D-2527B7FDDC09}"/>
              </a:ext>
            </a:extLst>
          </p:cNvPr>
          <p:cNvSpPr>
            <a:spLocks xmlns:a="http://schemas.openxmlformats.org/drawingml/2006/main" noGrp="1"/>
          </p:cNvSpPr>
          <p:nvPr/>
        </p:nvSpPr>
        <p:spPr>
          <a:xfrm xmlns:a="http://schemas.openxmlformats.org/drawingml/2006/main">
            <a:off x="393668" y="5067300"/>
            <a:ext cx="11382375"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725" b="0">
                <a:solidFill>
                  <a:srgbClr val="171717"/>
                </a:solidFill>
                <a:latin typeface="Meiryo"/>
                <a:ea typeface="Meiryo"/>
                <a:cs typeface="Meiryo"/>
              </a:defRPr>
            </a:pPr>
            <a:r>
              <a:rPr sz="1725" b="0">
                <a:solidFill>
                  <a:srgbClr val="171717"/>
                </a:solidFill>
                <a:latin typeface="Meiryo"/>
                <a:ea typeface="Meiryo"/>
                <a:cs typeface="Meiryo"/>
              </a:rPr>
              <a:t>[調査要件] 「学習外入力データ検知手法 調査要求」（実习要求.docx）および読解項目の整理（论文要总结内容.docx）。</a:t>
            </a:r>
          </a:p>
        </p:txBody>
      </p:sp>
      <p:sp>
        <p:nvSpPr>
          <p:cNvPr id="538" name="">
            <a:extLst xmlns:a="http://schemas.openxmlformats.org/drawingml/2006/main">
              <a:ext uri="{FF2B5EF4-FFF2-40B4-BE49-F238E27FC236}">
                <a16:creationId xmlns:a16="http://schemas.microsoft.com/office/drawing/2014/main" id="{ECA8B3D2-09D7-4E0D-84C4-03E21092D567}"/>
              </a:ext>
            </a:extLst>
          </p:cNvPr>
          <p:cNvSpPr>
            <a:spLocks xmlns:a="http://schemas.openxmlformats.org/drawingml/2006/main" noGrp="1"/>
          </p:cNvSpPr>
          <p:nvPr/>
        </p:nvSpPr>
        <p:spPr>
          <a:xfrm xmlns:a="http://schemas.openxmlformats.org/drawingml/2006/main">
            <a:off x="393668" y="6334125"/>
            <a:ext cx="10668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975" b="0">
                <a:solidFill>
                  <a:srgbClr val="656565"/>
                </a:solidFill>
                <a:latin typeface="Meiryo"/>
                <a:ea typeface="Meiryo"/>
                <a:cs typeface="Meiryo"/>
              </a:defRPr>
            </a:pPr>
            <a:r>
              <a:rPr sz="975" b="0">
                <a:solidFill>
                  <a:srgbClr val="656565"/>
                </a:solidFill>
                <a:latin typeface="Meiryo"/>
                <a:ea typeface="Meiryo"/>
                <a:cs typeface="Meiryo"/>
              </a:rPr>
              <a:t>ユーザー提供PDF・DOCX</a:t>
            </a:r>
          </a:p>
        </p:txBody>
      </p:sp>
    </p:spTree>
    <p:extLst>
      <p:ext uri="{BB962C8B-B14F-4D97-AF65-F5344CB8AC3E}">
        <p14:creationId xmlns:p14="http://schemas.microsoft.com/office/powerpoint/2010/main" val="3667182145"/>
      </p:ext>
    </p:extLst>
  </p:cSld>
</p:sld>
</file>

<file path=ppt/theme/theme1.xml><?xml version="1.0" encoding="utf-8"?>
<a:theme xmlns:a="http://schemas.openxmlformats.org/drawingml/2006/main" name="Default Codex Theme">
  <a:themeElements>
    <a:clrScheme name="Codex Colors">
      <a:dk1>
        <a:srgbClr val="000000"/>
      </a:dk1>
      <a:lt1>
        <a:srgbClr val="FFFFFF"/>
      </a:lt1>
      <a:dk2>
        <a:srgbClr val="00264F"/>
      </a:dk2>
      <a:lt2>
        <a:srgbClr val="D0EDFA"/>
      </a:lt2>
      <a:accent1>
        <a:srgbClr val="6DCBF4"/>
      </a:accent1>
      <a:accent2>
        <a:srgbClr val="3D8DFF"/>
      </a:accent2>
      <a:accent3>
        <a:srgbClr val="47E2C2"/>
      </a:accent3>
      <a:accent4>
        <a:srgbClr val="85DF7B"/>
      </a:accent4>
      <a:accent5>
        <a:srgbClr val="F7CB59"/>
      </a:accent5>
      <a:accent6>
        <a:srgbClr val="F67576"/>
      </a:accent6>
      <a:hlink>
        <a:srgbClr val="000000"/>
      </a:hlink>
      <a:folHlink>
        <a:srgbClr val="0097A7"/>
      </a:folHlink>
    </a:clrScheme>
    <a:fontScheme name="Helvetica Neue">
      <a:majorFont>
        <a:latin typeface="Helvetica Neue"/>
        <a:ea typeface=""/>
        <a:cs typeface=""/>
      </a:majorFont>
      <a:minorFont>
        <a:latin typeface="Helvetica Neue"/>
        <a:ea typeface=""/>
        <a:cs typeface=""/>
      </a:minorFont>
    </a:fontScheme>
    <a:fmtScheme name="Codex Colors">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2026-09-12T11:36:34.1480000Z</dcterms:created>
  <dcterms:modified xsi:type="dcterms:W3CDTF">2026-09-12T11:36:34.1480000Z</dcterms:modified>
</coreProperties>
</file>