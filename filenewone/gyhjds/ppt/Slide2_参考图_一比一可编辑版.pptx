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"/>
            <a:ext cx="8823960" cy="2148840"/>
          </a:xfrm>
          <a:prstGeom prst="rect">
            <a:avLst/>
          </a:prstGeom>
          <a:noFill/>
          <a:ln>
            <a:solidFill>
              <a:srgbClr val="93A1B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118872"/>
            <a:ext cx="2514600" cy="41148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C2D53"/>
                </a:solidFill>
                <a:latin typeface="Yu Mincho"/>
              </a:rPr>
              <a:t>オフライン：モデル学習</a:t>
            </a:r>
          </a:p>
        </p:txBody>
      </p:sp>
      <p:sp>
        <p:nvSpPr>
          <p:cNvPr id="5" name="Can 4"/>
          <p:cNvSpPr/>
          <p:nvPr/>
        </p:nvSpPr>
        <p:spPr>
          <a:xfrm>
            <a:off x="1143000" y="658368"/>
            <a:ext cx="1737360" cy="941832"/>
          </a:xfrm>
          <a:prstGeom prst="can">
            <a:avLst/>
          </a:prstGeom>
          <a:solidFill>
            <a:srgbClr val="EFF5FB"/>
          </a:solidFill>
          <a:ln>
            <a:solidFill>
              <a:srgbClr val="698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C2D53"/>
                </a:solidFill>
                <a:latin typeface="Yu Mincho"/>
              </a:rPr>
              <a:t>学習データ
D_train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1572768"/>
            <a:ext cx="1600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C2D53"/>
                </a:solidFill>
                <a:latin typeface="Yu Mincho"/>
              </a:rPr>
              <a:t>正常運転データ
（ラベル付き）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713232"/>
            <a:ext cx="2103120" cy="868680"/>
          </a:xfrm>
          <a:prstGeom prst="roundRect">
            <a:avLst/>
          </a:prstGeom>
          <a:solidFill>
            <a:srgbClr val="E1ECF7"/>
          </a:solidFill>
          <a:ln w="17145">
            <a:solidFill>
              <a:srgbClr val="19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C2D53"/>
                </a:solidFill>
                <a:latin typeface="Yu Mincho"/>
              </a:rPr>
              <a:t>AIモデル
f(x; θ)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1097280"/>
            <a:ext cx="2103120" cy="0"/>
          </a:xfrm>
          <a:prstGeom prst="line">
            <a:avLst/>
          </a:prstGeom>
          <a:ln w="19050">
            <a:solidFill>
              <a:srgbClr val="0C2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722376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C2D53"/>
                </a:solidFill>
                <a:latin typeface="Yu Mincho"/>
              </a:rPr>
              <a:t>学習
（パラメータ最適化）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812280" y="411480"/>
            <a:ext cx="0" cy="301752"/>
          </a:xfrm>
          <a:prstGeom prst="bentConnector3">
            <a:avLst/>
          </a:prstGeom>
          <a:ln w="15875">
            <a:solidFill>
              <a:srgbClr val="0C2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257800" y="411480"/>
            <a:ext cx="1554480" cy="301752"/>
          </a:xfrm>
          <a:prstGeom prst="bentConnector3">
            <a:avLst/>
          </a:prstGeom>
          <a:ln w="15875">
            <a:solidFill>
              <a:srgbClr val="0C2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49240" y="109728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C2D53"/>
                </a:solidFill>
                <a:latin typeface="Yu Mincho"/>
              </a:rPr>
              <a:t>繰り返し学習
（パラメータ更新）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713232"/>
            <a:ext cx="16642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C2D53"/>
                </a:solidFill>
                <a:latin typeface="Yu Mincho"/>
              </a:rPr>
              <a:t>学習済みモデル
（固定パラメータ θ*）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" y="2331720"/>
            <a:ext cx="11704320" cy="0"/>
          </a:xfrm>
          <a:prstGeom prst="line">
            <a:avLst/>
          </a:prstGeom>
          <a:ln>
            <a:solidFill>
              <a:srgbClr val="93A1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93192" y="2450592"/>
            <a:ext cx="2880360" cy="420624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59736"/>
            <a:ext cx="26974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C2D53"/>
                </a:solidFill>
                <a:latin typeface="Yu Mincho"/>
              </a:rPr>
              <a:t>オンライン：実運用（推論時）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1581912"/>
            <a:ext cx="0" cy="1207008"/>
          </a:xfrm>
          <a:prstGeom prst="line">
            <a:avLst/>
          </a:prstGeom>
          <a:ln w="19050">
            <a:solidFill>
              <a:srgbClr val="0C2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0352" y="2907792"/>
            <a:ext cx="2176272" cy="731520"/>
          </a:xfrm>
          <a:prstGeom prst="roundRect">
            <a:avLst/>
          </a:prstGeom>
          <a:solidFill>
            <a:srgbClr val="EBF4E2"/>
          </a:solidFill>
          <a:ln w="17145">
            <a:solidFill>
              <a:srgbClr val="59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2D53"/>
                </a:solidFill>
                <a:latin typeface="Yu Mincho"/>
              </a:rPr>
              <a:t>実運用時の入力
x_new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703320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C2D53"/>
                </a:solidFill>
                <a:latin typeface="Yu Mincho"/>
              </a:rPr>
              <a:t>・センサデータ
・運転条件の変化
・未知の環境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2788920"/>
            <a:ext cx="2423160" cy="841248"/>
          </a:xfrm>
          <a:prstGeom prst="roundRect">
            <a:avLst/>
          </a:prstGeom>
          <a:solidFill>
            <a:srgbClr val="E1ECF7"/>
          </a:solidFill>
          <a:ln w="17145">
            <a:solidFill>
              <a:srgbClr val="194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C2D53"/>
                </a:solidFill>
                <a:latin typeface="Yu Mincho"/>
              </a:rPr>
              <a:t>学習済みAIモデル
f(x; θ*)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06624" y="3273552"/>
            <a:ext cx="2121408" cy="0"/>
          </a:xfrm>
          <a:prstGeom prst="line">
            <a:avLst/>
          </a:prstGeom>
          <a:ln w="19050">
            <a:solidFill>
              <a:srgbClr val="0C2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85032" y="2880360"/>
            <a:ext cx="749808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C2D53"/>
                </a:solidFill>
                <a:latin typeface="Yu Mincho"/>
              </a:rPr>
              <a:t>入力
x_new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8048" y="2907792"/>
            <a:ext cx="1965960" cy="731520"/>
          </a:xfrm>
          <a:prstGeom prst="roundRect">
            <a:avLst/>
          </a:prstGeom>
          <a:solidFill>
            <a:srgbClr val="E1ECF7"/>
          </a:solidFill>
          <a:ln w="17145">
            <a:solidFill>
              <a:srgbClr val="6E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2D53"/>
                </a:solidFill>
                <a:latin typeface="Yu Mincho"/>
              </a:rPr>
              <a:t>予測出力
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51192" y="3273552"/>
            <a:ext cx="2276856" cy="0"/>
          </a:xfrm>
          <a:prstGeom prst="line">
            <a:avLst/>
          </a:prstGeom>
          <a:ln w="19050">
            <a:solidFill>
              <a:srgbClr val="0C2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36992" y="2871216"/>
            <a:ext cx="117043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C2D53"/>
                </a:solidFill>
                <a:latin typeface="Yu Mincho"/>
              </a:rPr>
              <a:t>予測
ŷ = f(x_new)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703320"/>
            <a:ext cx="196596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C2D53"/>
                </a:solidFill>
                <a:latin typeface="Yu Mincho"/>
              </a:rPr>
              <a:t>・対象変数の予測値
・運転員への情報提示
・必要に応じて利用抑制
　（アラートなど）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0288" y="4315968"/>
            <a:ext cx="2788920" cy="932688"/>
          </a:xfrm>
          <a:prstGeom prst="roundRect">
            <a:avLst/>
          </a:prstGeom>
          <a:solidFill>
            <a:srgbClr val="FBE2E2"/>
          </a:solidFill>
          <a:ln w="17145">
            <a:solidFill>
              <a:srgbClr val="9D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9D1B1F"/>
                </a:solidFill>
                <a:latin typeface="Yu Mincho"/>
              </a:rPr>
              <a:t>学習外入力データ検知
（OOD検知）
g(x_new; D_train)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0" y="3273552"/>
            <a:ext cx="749808" cy="1499616"/>
          </a:xfrm>
          <a:prstGeom prst="bentConnector3">
            <a:avLst/>
          </a:prstGeom>
          <a:ln w="18415">
            <a:solidFill>
              <a:srgbClr val="9D1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998464" y="3639312"/>
            <a:ext cx="0" cy="676656"/>
          </a:xfrm>
          <a:prstGeom prst="line">
            <a:avLst/>
          </a:prstGeom>
          <a:ln w="16510">
            <a:solidFill>
              <a:srgbClr val="0C2D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36792" y="3703320"/>
            <a:ext cx="1143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C2D53"/>
                </a:solidFill>
                <a:latin typeface="Yu Mincho"/>
              </a:rPr>
              <a:t>検知結果
（例：OODスコア）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407408"/>
            <a:ext cx="1783080" cy="1143000"/>
          </a:xfrm>
          <a:prstGeom prst="rect">
            <a:avLst/>
          </a:prstGeom>
          <a:solidFill>
            <a:srgbClr val="FFFFFF"/>
          </a:solidFill>
          <a:ln w="17145">
            <a:solidFill>
              <a:srgbClr val="9D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D1B1F"/>
                </a:solidFill>
                <a:latin typeface="Yu Mincho"/>
              </a:rPr>
              <a:t>検知結果の利用
・運転員への警告
・AI出力の利用抑制
・異常対応フロー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79208" y="4773168"/>
            <a:ext cx="502919" cy="0"/>
          </a:xfrm>
          <a:prstGeom prst="line">
            <a:avLst/>
          </a:prstGeom>
          <a:ln w="17780">
            <a:solidFill>
              <a:srgbClr val="9D1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/>
          <p:cNvSpPr/>
          <p:nvPr/>
        </p:nvSpPr>
        <p:spPr>
          <a:xfrm>
            <a:off x="5166360" y="5715000"/>
            <a:ext cx="1691640" cy="822960"/>
          </a:xfrm>
          <a:prstGeom prst="can">
            <a:avLst/>
          </a:prstGeom>
          <a:solidFill>
            <a:srgbClr val="EFF5FB"/>
          </a:solidFill>
          <a:ln>
            <a:solidFill>
              <a:srgbClr val="698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2D53"/>
                </a:solidFill>
                <a:latin typeface="Yu Mincho"/>
              </a:rPr>
              <a:t>学習データ
D_train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007608" y="5248656"/>
            <a:ext cx="0" cy="466344"/>
          </a:xfrm>
          <a:prstGeom prst="line">
            <a:avLst/>
          </a:prstGeom>
          <a:ln w="15875">
            <a:solidFill>
              <a:srgbClr val="0C2D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815584"/>
            <a:ext cx="2148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C2D53"/>
                </a:solidFill>
                <a:latin typeface="Yu Mincho"/>
              </a:rPr>
              <a:t>学習データの分布を参照
（正常な入力の範囲を定義）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