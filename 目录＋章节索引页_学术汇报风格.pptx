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F52"/>
                </a:solidFill>
                <a:latin typeface="Yu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57DB5"/>
                </a:solidFill>
                <a:latin typeface="Yu Gothic"/>
              </a:rPr>
              <a:t>目 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71600"/>
            <a:ext cx="658368" cy="41148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56231"/>
            <a:ext cx="2880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22F52"/>
                </a:solidFill>
                <a:latin typeface="Yu Gothic"/>
              </a:rPr>
              <a:t>学習外入力データ
検知手法の調査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35808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多変量回帰モデルを対象とした
既存手法の整理・比較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932688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91440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背景・調査目的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472" y="1243584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9472" y="1591056"/>
            <a:ext cx="6263640" cy="10972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737360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719072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048255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2395728"/>
            <a:ext cx="6263640" cy="10972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542032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523744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検知手法の整理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85292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9472" y="3200400"/>
            <a:ext cx="6263640" cy="10972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346704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328416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代表手法の詳細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657600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9472" y="4005072"/>
            <a:ext cx="6263640" cy="10972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151376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4133088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評価・比較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4462272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2" y="4809744"/>
            <a:ext cx="6263640" cy="10972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57DB5"/>
                </a:solidFill>
                <a:latin typeface="Yu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493776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266944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191" y="841248"/>
            <a:ext cx="16459" cy="4983480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2636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Presentation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背景・調査目的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59152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59152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背景・調査目的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検知手法の整理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代表手法の詳細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評価・比較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背景・調査目的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検知手法の整理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代表手法の詳細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評価・比較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検知手法の整理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背景・調査目的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93008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93008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検知手法の整理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代表手法の詳細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評価・比較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代表手法の詳細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背景・調査目的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検知手法の整理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9936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59936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代表手法の詳細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評価・比較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評価・比較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背景・調査目的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検知手法の整理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代表手法の詳細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26864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26864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評価・比較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57DB5"/>
                </a:solidFill>
                <a:latin typeface="Yu Gothic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234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457DB5"/>
                </a:solidFill>
                <a:latin typeface="Yu Gothic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566928" cy="36576"/>
          </a:xfrm>
          <a:prstGeom prst="rect">
            <a:avLst/>
          </a:prstGeom>
          <a:solidFill>
            <a:srgbClr val="C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667512"/>
            <a:ext cx="8869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22F52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271016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27080" cy="13716"/>
          </a:xfrm>
          <a:prstGeom prst="rect">
            <a:avLst/>
          </a:prstGeom>
          <a:solidFill>
            <a:srgbClr val="BE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9572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背景・調査目的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9572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Background &amp;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626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962656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学習外入力データの定義・分類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62656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Definition &amp;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9584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529584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検知手法の整理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29584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Detection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09651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09651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代表手法の詳細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096512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Autoencoder / OutPro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663440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AB8C6"/>
                </a:solidFill>
                <a:latin typeface="Yu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663440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9798B"/>
                </a:solidFill>
                <a:latin typeface="Yu Gothic"/>
              </a:rPr>
              <a:t>評価・比較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663440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Datasets, Metrics &amp;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93792"/>
            <a:ext cx="10561320" cy="466344"/>
          </a:xfrm>
          <a:prstGeom prst="roundRect">
            <a:avLst/>
          </a:prstGeom>
          <a:solidFill>
            <a:srgbClr val="ECF5FC"/>
          </a:solidFill>
          <a:ln>
            <a:solidFill>
              <a:srgbClr val="B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193792"/>
            <a:ext cx="73152" cy="466344"/>
          </a:xfrm>
          <a:prstGeom prst="rect">
            <a:avLst/>
          </a:prstGeom>
          <a:solidFill>
            <a:srgbClr val="457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230368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57DB5"/>
                </a:solidFill>
                <a:latin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30368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F52"/>
                </a:solidFill>
                <a:latin typeface="Yu Gothic"/>
              </a:rPr>
              <a:t>社会インフラへの適用・まとめ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30368"/>
            <a:ext cx="3977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9798B"/>
                </a:solidFill>
                <a:latin typeface="Yu Gothic"/>
              </a:rPr>
              <a:t>Application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144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457DB5"/>
                </a:solidFill>
                <a:latin typeface="Yu Gothic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