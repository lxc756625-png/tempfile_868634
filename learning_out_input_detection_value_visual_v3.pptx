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18120" y="2057400"/>
            <a:ext cx="1051560" cy="914400"/>
          </a:xfrm>
          <a:prstGeom prst="roundRect">
            <a:avLst/>
          </a:prstGeom>
          <a:solidFill>
            <a:srgbClr val="223D5A"/>
          </a:solidFill>
          <a:ln>
            <a:solidFill>
              <a:srgbClr val="506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2286000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2331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96C3E1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2057400"/>
            <a:ext cx="1051560" cy="914400"/>
          </a:xfrm>
          <a:prstGeom prst="roundRect">
            <a:avLst/>
          </a:prstGeom>
          <a:solidFill>
            <a:srgbClr val="223D5A"/>
          </a:solidFill>
          <a:ln>
            <a:solidFill>
              <a:srgbClr val="506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2286000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2331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96C3E1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69880" y="2057400"/>
            <a:ext cx="1051560" cy="914400"/>
          </a:xfrm>
          <a:prstGeom prst="roundRect">
            <a:avLst/>
          </a:prstGeom>
          <a:solidFill>
            <a:srgbClr val="223D5A"/>
          </a:solidFill>
          <a:ln>
            <a:solidFill>
              <a:srgbClr val="506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2286000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OOD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65836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</a:defRPr>
            </a:pPr>
            <a:r>
              <a:t>多変量回帰モデルにおける</a:t>
            </a:r>
            <a:br/>
            <a:r>
              <a:t>学習外入力データ検知手法の調査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71800"/>
            <a:ext cx="6400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8DAEB"/>
                </a:solidFill>
              </a:defRPr>
            </a:pPr>
            <a:r>
              <a:t>社会インフラ監視制御システムへの適用に向けて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80644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梁 希晨 / 早稲田大学 IPS　｜　Research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背景と調査目的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運用時の入力が“学習済みの世界”にあるかを確認する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2996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D46"/>
                </a:solidFill>
              </a:defRPr>
            </a:pPr>
            <a:r>
              <a:t>センサ入力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487168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B78"/>
                </a:solidFill>
              </a:defRPr>
            </a:pPr>
            <a:r>
              <a:t>流量・圧力・濁度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4028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2996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D46"/>
                </a:solidFill>
              </a:defRPr>
            </a:pPr>
            <a:r>
              <a:t>回帰モデル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87168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B78"/>
                </a:solidFill>
              </a:defRPr>
            </a:pPr>
            <a:r>
              <a:t>ŷ = f(X)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24028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02996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D46"/>
                </a:solidFill>
              </a:defRPr>
            </a:pPr>
            <a:r>
              <a:t>予測値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87168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B78"/>
                </a:solidFill>
              </a:defRPr>
            </a:pPr>
            <a:r>
              <a:t>圧力 / 濁度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4028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18288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79" y="202996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D46"/>
                </a:solidFill>
              </a:defRPr>
            </a:pPr>
            <a:r>
              <a:t>運用判断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79" y="2487168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B78"/>
                </a:solidFill>
              </a:defRPr>
            </a:pPr>
            <a:r>
              <a:t>監視・制御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886200"/>
            <a:ext cx="5715000" cy="1143000"/>
          </a:xfrm>
          <a:prstGeom prst="roundRect">
            <a:avLst/>
          </a:prstGeom>
          <a:solidFill>
            <a:srgbClr val="EBF3F9"/>
          </a:solidFill>
          <a:ln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096512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F6BAE"/>
                </a:solidFill>
              </a:defRPr>
            </a:pPr>
            <a:r>
              <a:t>学習外入力検知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096512"/>
            <a:ext cx="3429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D46"/>
                </a:solidFill>
              </a:defRPr>
            </a:pPr>
            <a:r>
              <a:t>入力 X が学習データに十分支持されているか？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257800"/>
            <a:ext cx="5394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BE4848"/>
                </a:solidFill>
              </a:defRPr>
            </a:pPr>
            <a:r>
              <a:t>→ 学習外なら警告・AI出力の利用抑制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想定する適用対象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多変量・数値・時系列・回帰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F6BAE"/>
                </a:solidFill>
              </a:defRPr>
            </a:pPr>
            <a:r>
              <a:t>CASE 1｜配水管網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743200"/>
            <a:ext cx="1005840" cy="640080"/>
          </a:xfrm>
          <a:prstGeom prst="roundRect">
            <a:avLst/>
          </a:prstGeom>
          <a:solidFill>
            <a:srgbClr val="EBF3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浄水場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86000"/>
            <a:ext cx="1005840" cy="640080"/>
          </a:xfrm>
          <a:prstGeom prst="roundRect">
            <a:avLst/>
          </a:prstGeom>
          <a:solidFill>
            <a:srgbClr val="EBF3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配水点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926080"/>
            <a:ext cx="1005840" cy="640080"/>
          </a:xfrm>
          <a:prstGeom prst="roundRect">
            <a:avLst/>
          </a:prstGeom>
          <a:solidFill>
            <a:srgbClr val="EBF3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06324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需要点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88036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B78"/>
                </a:solidFill>
              </a:defRPr>
            </a:pPr>
            <a:r>
              <a:t>── flow / pressure 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6908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入力：ある時刻の流量・圧力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7200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出力：配水先の圧力等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8E91"/>
                </a:solidFill>
              </a:defRPr>
            </a:pPr>
            <a:r>
              <a:t>CASE 2｜水処理プロセス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514600"/>
            <a:ext cx="914400" cy="685800"/>
          </a:xfrm>
          <a:prstGeom prst="roundRect">
            <a:avLst/>
          </a:prstGeom>
          <a:solidFill>
            <a:srgbClr val="E9F3F3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68833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原水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72491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D8E91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514600"/>
            <a:ext cx="914400" cy="685800"/>
          </a:xfrm>
          <a:prstGeom prst="roundRect">
            <a:avLst/>
          </a:prstGeom>
          <a:solidFill>
            <a:srgbClr val="E9F3F3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68833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薬品注入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72491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D8E91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514600"/>
            <a:ext cx="914400" cy="685800"/>
          </a:xfrm>
          <a:prstGeom prst="roundRect">
            <a:avLst/>
          </a:prstGeom>
          <a:solidFill>
            <a:srgbClr val="E9F3F3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68833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処理工程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72491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D8E91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9880" y="2514600"/>
            <a:ext cx="914400" cy="685800"/>
          </a:xfrm>
          <a:prstGeom prst="roundRect">
            <a:avLst/>
          </a:prstGeom>
          <a:solidFill>
            <a:srgbClr val="E9F3F3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2688336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処理水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06908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入力：t の原水濁度・薬品注入率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出力：t+x の処理後濁度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612648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5F6B78"/>
                </a:solidFill>
              </a:defRPr>
            </a:pPr>
            <a:r>
              <a:t>※ 長いsequenceだけでなく、1時刻の多変量ベクトル X=(x₁,…,x_d) も重要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「学習外入力」をどう捉えるか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本調査では3つの代表ケースに整理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03</a:t>
            </a:r>
          </a:p>
        </p:txBody>
      </p:sp>
      <p:pic>
        <p:nvPicPr>
          <p:cNvPr id="5" name="Picture 4" descr="oo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0972800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57200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入力範囲・分布そのものが未知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57200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学習サンプルが少なくモデルが不安定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57200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単変量は正常でも“組合せ”が未知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5532120"/>
            <a:ext cx="9555480" cy="594360"/>
          </a:xfrm>
          <a:prstGeom prst="roundRect">
            <a:avLst/>
          </a:prstGeom>
          <a:solidFill>
            <a:srgbClr val="F5EDED"/>
          </a:solidFill>
          <a:ln>
            <a:solidFill>
              <a:srgbClr val="E6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641848"/>
            <a:ext cx="9098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BE4848"/>
                </a:solidFill>
              </a:defRPr>
            </a:pPr>
            <a:r>
              <a:t>多変量回帰では③が特に重要：各センサ値が範囲内でも、モデル未経験の運転状態になり得る。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時系列異常は別の分類軸で考える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Point / Contextual /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04</a:t>
            </a:r>
          </a:p>
        </p:txBody>
      </p:sp>
      <p:pic>
        <p:nvPicPr>
          <p:cNvPr id="5" name="Picture 4" descr="t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2708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43891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単一点が異常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43891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文脈・工況を考えると異常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43891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一定区間のパターンが異常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394960"/>
            <a:ext cx="8503920" cy="777240"/>
          </a:xfrm>
          <a:prstGeom prst="roundRect">
            <a:avLst/>
          </a:prstGeom>
          <a:solidFill>
            <a:srgbClr val="EBF3F9"/>
          </a:solidFill>
          <a:ln>
            <a:solidFill>
              <a:srgbClr val="C8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5513832"/>
            <a:ext cx="795527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「範囲外 / 低密度 / 未知の関係」＝ 学習データとの関係</a:t>
            </a:r>
            <a:br/>
            <a:r>
              <a:t>「Point / Contextual / Collective」＝ 時系列上で異常が現れる形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3本のサーベイから得たもの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論文紹介ではなく、今回の調査への“役割”で整理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94360"/>
          </a:xfrm>
          <a:prstGeom prst="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Survey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417320"/>
            <a:ext cx="3657600" cy="594360"/>
          </a:xfrm>
          <a:prstGeom prst="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508760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主な視点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806440" cy="594360"/>
          </a:xfrm>
          <a:prstGeom prst="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508760"/>
            <a:ext cx="5715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今回使うポイント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13716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121408"/>
            <a:ext cx="115214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S1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011680"/>
            <a:ext cx="36576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2121408"/>
            <a:ext cx="343814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92D46"/>
                </a:solidFill>
              </a:defRPr>
            </a:pPr>
            <a:r>
              <a:t>Conventional / ML / DNN の比較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011680"/>
            <a:ext cx="580644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9008" y="2121408"/>
            <a:ext cx="5586983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92D46"/>
                </a:solidFill>
              </a:defRPr>
            </a:pPr>
            <a:r>
              <a:t>手法群を広く俯瞰し、古典法と深層法を同じ土俵で見る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82112"/>
            <a:ext cx="1371600" cy="117043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291840"/>
            <a:ext cx="115214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S3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182112"/>
            <a:ext cx="3657600" cy="117043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21408" y="3291840"/>
            <a:ext cx="343814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92D46"/>
                </a:solidFill>
              </a:defRPr>
            </a:pPr>
            <a:r>
              <a:t>Time-series anomaly のtaxonomy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3182112"/>
            <a:ext cx="5806440" cy="117043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8" y="3291840"/>
            <a:ext cx="5586983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92D46"/>
                </a:solidFill>
              </a:defRPr>
            </a:pPr>
            <a:r>
              <a:t>Point / Contextual / Collectiveなど時系列異常の整理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52544"/>
            <a:ext cx="13716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62272"/>
            <a:ext cx="115214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S6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4352544"/>
            <a:ext cx="36576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21408" y="4462272"/>
            <a:ext cx="343814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92D46"/>
                </a:solidFill>
              </a:defRPr>
            </a:pPr>
            <a:r>
              <a:t>Deep multivariate TS anomaly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4352544"/>
            <a:ext cx="580644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9008" y="4462272"/>
            <a:ext cx="5586983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92D46"/>
                </a:solidFill>
              </a:defRPr>
            </a:pPr>
            <a:r>
              <a:t>時間依存・変数間依存をどうモデル化するかを見る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5532120"/>
            <a:ext cx="9372600" cy="594360"/>
          </a:xfrm>
          <a:prstGeom prst="roundRect">
            <a:avLst/>
          </a:prstGeom>
          <a:solidFill>
            <a:srgbClr val="EBF3F9"/>
          </a:solidFill>
          <a:ln>
            <a:solidFill>
              <a:srgbClr val="C8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641848"/>
            <a:ext cx="8915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BAE"/>
                </a:solidFill>
              </a:defRPr>
            </a:pPr>
            <a:r>
              <a:t>結論：既存taxonomyをそのまま採用せず、本実習では“何を根拠に学習外と判定するか”で再整理する。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本調査での手法分類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判断に使う情報で6カテゴリに再整理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F6BAE"/>
                </a:solidFill>
              </a:defRPr>
            </a:pPr>
            <a:r>
              <a:t>① 範囲・距離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0">
                <a:solidFill>
                  <a:srgbClr val="192D46"/>
                </a:solidFill>
              </a:defRPr>
            </a:pPr>
            <a:r>
              <a:t>Range</a:t>
            </a:r>
            <a:br/>
            <a:r>
              <a:t>Euclidean / Mahalanobis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1848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F6BAE"/>
                </a:solidFill>
              </a:defRPr>
            </a:pPr>
            <a:r>
              <a:t>② 密度・確率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3055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0">
                <a:solidFill>
                  <a:srgbClr val="192D46"/>
                </a:solidFill>
              </a:defRPr>
            </a:pPr>
            <a:r>
              <a:t>LOF</a:t>
            </a:r>
            <a:br/>
            <a:r>
              <a:t>Local density / likelihood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61848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F6BAE"/>
                </a:solidFill>
              </a:defRPr>
            </a:pPr>
            <a:r>
              <a:t>③ 境界・分離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3055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0">
                <a:solidFill>
                  <a:srgbClr val="192D46"/>
                </a:solidFill>
              </a:defRPr>
            </a:pPr>
            <a:r>
              <a:t>OCSVM / SVDD</a:t>
            </a:r>
            <a:br/>
            <a:r>
              <a:t>Isolation Forest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75887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F6BAE"/>
                </a:solidFill>
              </a:defRPr>
            </a:pPr>
            <a:r>
              <a:t>④ 再構成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0">
                <a:solidFill>
                  <a:srgbClr val="192D46"/>
                </a:solidFill>
              </a:defRPr>
            </a:pPr>
            <a:r>
              <a:t>PCA / KPCA</a:t>
            </a:r>
            <a:br/>
            <a:r>
              <a:t>Autoencoder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675887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F6BAE"/>
                </a:solidFill>
              </a:defRPr>
            </a:pPr>
            <a:r>
              <a:t>⑤ モデル情報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18795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0">
                <a:solidFill>
                  <a:srgbClr val="192D46"/>
                </a:solidFill>
              </a:defRPr>
            </a:pPr>
            <a:r>
              <a:t>Uncertainty / Ensemble</a:t>
            </a:r>
            <a:br/>
            <a:r>
              <a:t>Model-aware 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675887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F6BAE"/>
                </a:solidFill>
              </a:defRPr>
            </a:pPr>
            <a:r>
              <a:t>⑥ 時系列構造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8795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0">
                <a:solidFill>
                  <a:srgbClr val="192D46"/>
                </a:solidFill>
              </a:defRPr>
            </a:pPr>
            <a:r>
              <a:t>Forecast error</a:t>
            </a:r>
            <a:br/>
            <a:r>
              <a:t>Window /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5F6B78"/>
                </a:solidFill>
              </a:defRPr>
            </a:pPr>
            <a:r>
              <a:t>← 単純・入力空間中心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80644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5F6B78"/>
                </a:solidFill>
              </a:defRPr>
            </a:pPr>
            <a:r>
              <a:t>予測タスク・時間構造を利用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なぜRangeだけでは不十分か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多変量では“距離・密度・相関”を見る必要がある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07</a:t>
            </a:r>
          </a:p>
        </p:txBody>
      </p:sp>
      <p:pic>
        <p:nvPicPr>
          <p:cNvPr id="5" name="Picture 4" descr="density_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39496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417320"/>
            <a:ext cx="50749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434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F6BAE"/>
                </a:solidFill>
              </a:defRPr>
            </a:pPr>
            <a:r>
              <a:t>同じ入力範囲内でも…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33172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D46"/>
                </a:solidFill>
              </a:defRPr>
            </a:pPr>
            <a:r>
              <a:t>• 低密度領域では学習例が少ない</a:t>
            </a:r>
          </a:p>
          <a:p>
            <a:pPr>
              <a:spcAft>
                <a:spcPts val="700"/>
              </a:spcAft>
              <a:defRPr sz="1200">
                <a:solidFill>
                  <a:srgbClr val="192D46"/>
                </a:solidFill>
              </a:defRPr>
            </a:pPr>
            <a:r>
              <a:t>• 変数間の相関から外れた組合せが存在する</a:t>
            </a:r>
          </a:p>
          <a:p>
            <a:pPr>
              <a:spcAft>
                <a:spcPts val="700"/>
              </a:spcAft>
              <a:defRPr sz="1200">
                <a:solidFill>
                  <a:srgbClr val="192D46"/>
                </a:solidFill>
              </a:defRPr>
            </a:pPr>
            <a:r>
              <a:t>• Euclidean距離ではスケールや相関を十分扱えない場合がある</a:t>
            </a:r>
          </a:p>
          <a:p>
            <a:pPr>
              <a:spcAft>
                <a:spcPts val="700"/>
              </a:spcAft>
              <a:defRPr sz="1200">
                <a:solidFill>
                  <a:srgbClr val="192D46"/>
                </a:solidFill>
              </a:defRPr>
            </a:pPr>
            <a:r>
              <a:t>• Mahalanobis距離・密度推定・再構成法などが候補になる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532120"/>
            <a:ext cx="9326880" cy="594360"/>
          </a:xfrm>
          <a:prstGeom prst="roundRect">
            <a:avLst/>
          </a:prstGeom>
          <a:solidFill>
            <a:srgbClr val="F5EDED"/>
          </a:solidFill>
          <a:ln>
            <a:solidFill>
              <a:srgbClr val="E6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5641848"/>
            <a:ext cx="8778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BE4848"/>
                </a:solidFill>
              </a:defRPr>
            </a:pPr>
            <a:r>
              <a:t>“各変数が正常範囲内” ＝ “モデルにとって安全な入力” とは限らない。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Applicability Domainという考え方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山原らの配水管網研究を、本調査の橋渡しとして捉える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19320" y="1913415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99546" y="1919056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00090" y="1912958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23847" y="2037564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81714" y="1892248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26540" y="1904524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3255" y="2476334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57376" y="2558154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88143" y="2490289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91871" y="2406668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87852" y="2530105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1363" y="2546731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6110" y="3120753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51215" y="3195342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53975" y="3089767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72838" y="3112330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08059" y="3095998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66469" y="3170786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10681" y="3713975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61435" y="3705038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48219" y="3930921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82782" y="3712378"/>
            <a:ext cx="109728" cy="109728"/>
          </a:xfrm>
          <a:prstGeom prst="ellipse">
            <a:avLst/>
          </a:prstGeom>
          <a:solidFill>
            <a:srgbClr val="2F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8006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5F6B78"/>
                </a:solidFill>
              </a:defRPr>
            </a:pPr>
            <a:r>
              <a:t>Training data</a:t>
            </a:r>
          </a:p>
        </p:txBody>
      </p:sp>
      <p:sp>
        <p:nvSpPr>
          <p:cNvPr id="29" name="5-Point Star 28"/>
          <p:cNvSpPr/>
          <p:nvPr/>
        </p:nvSpPr>
        <p:spPr>
          <a:xfrm>
            <a:off x="3474720" y="2743200"/>
            <a:ext cx="320040" cy="320040"/>
          </a:xfrm>
          <a:prstGeom prst="star5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309067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BE4848"/>
                </a:solidFill>
              </a:defRPr>
            </a:pPr>
            <a:r>
              <a:t>ID</a:t>
            </a:r>
          </a:p>
        </p:txBody>
      </p:sp>
      <p:sp>
        <p:nvSpPr>
          <p:cNvPr id="31" name="5-Point Star 30"/>
          <p:cNvSpPr/>
          <p:nvPr/>
        </p:nvSpPr>
        <p:spPr>
          <a:xfrm>
            <a:off x="4846320" y="2011680"/>
            <a:ext cx="320040" cy="320040"/>
          </a:xfrm>
          <a:prstGeom prst="star5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23591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BE4848"/>
                </a:solidFill>
              </a:defRPr>
            </a:pPr>
            <a:r>
              <a:t>OOD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1371600"/>
            <a:ext cx="5440680" cy="4480560"/>
          </a:xfrm>
          <a:prstGeom prst="roundRect">
            <a:avLst/>
          </a:prstGeom>
          <a:solidFill>
            <a:srgbClr val="EBF3F9"/>
          </a:solidFill>
          <a:ln>
            <a:solidFill>
              <a:srgbClr val="C8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691640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F6BAE"/>
                </a:solidFill>
              </a:defRPr>
            </a:pPr>
            <a:r>
              <a:t>AD判定の代表的な考え方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233172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2450591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Range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242316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192D46"/>
                </a:solidFill>
              </a:defRPr>
            </a:pPr>
            <a:r>
              <a:t>各変数の最小・最大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2918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410711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Distance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3383279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192D46"/>
                </a:solidFill>
              </a:defRPr>
            </a:pPr>
            <a:r>
              <a:t>学習データからの距離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425196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4370832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Density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434340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192D46"/>
                </a:solidFill>
              </a:defRPr>
            </a:pPr>
            <a:r>
              <a:t>周辺に十分な学習サンプルがあるか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230368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BE4848"/>
                </a:solidFill>
              </a:defRPr>
            </a:pPr>
            <a:r>
              <a:t>共通する問い：</a:t>
            </a:r>
            <a:br/>
            <a:r>
              <a:t>「この入力でモデル出力を信頼してよいか？」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具体手法① Autoencoder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未知の多変量関係を“再構成できるか”で見る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1508760" cy="960120"/>
          </a:xfrm>
          <a:prstGeom prst="roundRect">
            <a:avLst/>
          </a:prstGeom>
          <a:solidFill>
            <a:srgbClr val="EBF3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148840"/>
            <a:ext cx="13624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</a:defRPr>
            </a:pPr>
            <a:r>
              <a:t>入力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591" y="21945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74519"/>
            <a:ext cx="1508760" cy="960120"/>
          </a:xfrm>
          <a:prstGeom prst="roundRect">
            <a:avLst/>
          </a:prstGeom>
          <a:solidFill>
            <a:srgbClr val="E8F3F1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2148840"/>
            <a:ext cx="13624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</a:defRPr>
            </a:pPr>
            <a:r>
              <a:t>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21945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874519"/>
            <a:ext cx="1508760" cy="960120"/>
          </a:xfrm>
          <a:prstGeom prst="roundRect">
            <a:avLst/>
          </a:prstGeom>
          <a:solidFill>
            <a:srgbClr val="F5EEEE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148840"/>
            <a:ext cx="13624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</a:defRPr>
            </a:pPr>
            <a:r>
              <a:t>Latent 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1945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874519"/>
            <a:ext cx="1508760" cy="960120"/>
          </a:xfrm>
          <a:prstGeom prst="roundRect">
            <a:avLst/>
          </a:prstGeom>
          <a:solidFill>
            <a:srgbClr val="E8F3F1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148840"/>
            <a:ext cx="13624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</a:defRPr>
            </a:pPr>
            <a:r>
              <a:t>Decoder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1945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874519"/>
            <a:ext cx="1508760" cy="960120"/>
          </a:xfrm>
          <a:prstGeom prst="roundRect">
            <a:avLst/>
          </a:prstGeom>
          <a:solidFill>
            <a:srgbClr val="EBF3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2148840"/>
            <a:ext cx="13624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</a:defRPr>
            </a:pPr>
            <a:r>
              <a:t>再構成 x̂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703320"/>
            <a:ext cx="8183879" cy="1051560"/>
          </a:xfrm>
          <a:prstGeom prst="roundRect">
            <a:avLst/>
          </a:prstGeom>
          <a:solidFill>
            <a:srgbClr val="F5EDED"/>
          </a:solidFill>
          <a:ln>
            <a:solidFill>
              <a:srgbClr val="E6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3950208"/>
            <a:ext cx="7543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E4848"/>
                </a:solidFill>
              </a:defRPr>
            </a:pPr>
            <a:r>
              <a:t>Anomaly score = Reconstruction Error  ‖x − x̂‖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5166360"/>
            <a:ext cx="4160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79" y="532180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F6BAE"/>
                </a:solidFill>
              </a:defRPr>
            </a:pPr>
            <a:r>
              <a:t>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239512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学習した相関構造に沿う</a:t>
            </a:r>
            <a:br/>
            <a:r>
              <a:t>→ 誤差 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5166360"/>
            <a:ext cx="4160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532180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BE4848"/>
                </a:solidFill>
              </a:defRPr>
            </a:pPr>
            <a:r>
              <a:t>Learning-out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5239512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未知の組合せ・非線形関係</a:t>
            </a:r>
            <a:br/>
            <a:r>
              <a:t>→ 誤差 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6144768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5F6B78"/>
                </a:solidFill>
              </a:defRPr>
            </a:pPr>
            <a:r>
              <a:t>対象回帰モデルとは独立に構築できる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具体手法② OutPro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“予測に重要な変数”を優先するModel-aware 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① Supervised</a:t>
            </a:r>
            <a:br/>
            <a: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26771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74519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103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② VarPro</a:t>
            </a:r>
            <a:br/>
            <a:r>
              <a:t>Signal set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6771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874519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2103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③ Forest ruleから</a:t>
            </a:r>
            <a:br/>
            <a:r>
              <a:t>Referenceを選択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26771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74519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103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④ S上で</a:t>
            </a:r>
            <a:br/>
            <a:r>
              <a:t>距離を計算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26771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F6BAE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874519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103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⑤ OOD</a:t>
            </a:r>
            <a:br/>
            <a:r>
              <a:t>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840480"/>
            <a:ext cx="10104120" cy="1371600"/>
          </a:xfrm>
          <a:prstGeom prst="roundRect">
            <a:avLst/>
          </a:prstGeom>
          <a:solidFill>
            <a:srgbClr val="EBF3F9"/>
          </a:solidFill>
          <a:ln>
            <a:solidFill>
              <a:srgbClr val="C8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041648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5F6B78"/>
                </a:solidFill>
              </a:defRPr>
            </a:pPr>
            <a:r>
              <a:t>全入力変数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3977639"/>
            <a:ext cx="731520" cy="548640"/>
          </a:xfrm>
          <a:prstGeom prst="roundRect">
            <a:avLst/>
          </a:prstGeom>
          <a:solidFill>
            <a:srgbClr val="E1EE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409651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x₁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3977639"/>
            <a:ext cx="7315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409651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92D46"/>
                </a:solidFill>
              </a:defRPr>
            </a:pPr>
            <a:r>
              <a:t>x₂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3977639"/>
            <a:ext cx="731520" cy="548640"/>
          </a:xfrm>
          <a:prstGeom prst="roundRect">
            <a:avLst/>
          </a:prstGeom>
          <a:solidFill>
            <a:srgbClr val="E1EE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09651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x₃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79" y="3977639"/>
            <a:ext cx="7315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79" y="409651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92D46"/>
                </a:solidFill>
              </a:defRPr>
            </a:pPr>
            <a:r>
              <a:t>x₄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3977639"/>
            <a:ext cx="731520" cy="548640"/>
          </a:xfrm>
          <a:prstGeom prst="roundRect">
            <a:avLst/>
          </a:prstGeom>
          <a:solidFill>
            <a:srgbClr val="E1EE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09651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</a:defRPr>
            </a:pPr>
            <a:r>
              <a:t>x₅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977639"/>
            <a:ext cx="7315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409651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92D46"/>
                </a:solidFill>
              </a:defRPr>
            </a:pPr>
            <a:r>
              <a:t>x₆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70916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F6BAE"/>
                </a:solidFill>
              </a:defRPr>
            </a:pPr>
            <a:r>
              <a:t>→ 予測関連 S = {x₁, x₃, x₅} を重点評価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715000"/>
            <a:ext cx="9555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192D46"/>
                </a:solidFill>
              </a:defRPr>
            </a:pPr>
            <a:r>
              <a:t>利点：無関係な変数による“異常度の希釈”を避け、予測タスクに関連するOODを検知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どの方法が今回の対象に合うか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単なる性能比較ではなく、適用条件で比較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011680" cy="566928"/>
          </a:xfrm>
          <a:prstGeom prst="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観点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417320"/>
            <a:ext cx="2880360" cy="566928"/>
          </a:xfrm>
          <a:prstGeom prst="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508760"/>
            <a:ext cx="2788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Range / Distance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417320"/>
            <a:ext cx="2880360" cy="566928"/>
          </a:xfrm>
          <a:prstGeom prst="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508760"/>
            <a:ext cx="2788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Autoencoder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1417320"/>
            <a:ext cx="3246120" cy="566928"/>
          </a:xfrm>
          <a:prstGeom prst="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08760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OutPro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984248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75688"/>
            <a:ext cx="19202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対象回帰モデル依存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984248"/>
            <a:ext cx="2880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075688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低い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984248"/>
            <a:ext cx="2880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2075688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なし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984248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075688"/>
            <a:ext cx="315467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高い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606040"/>
            <a:ext cx="201168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19202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1時刻多変量入力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606040"/>
            <a:ext cx="288036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2697480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606040"/>
            <a:ext cx="288036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2697480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2606040"/>
            <a:ext cx="324612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697480"/>
            <a:ext cx="315467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227832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319272"/>
            <a:ext cx="19202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未知の相関関係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3227832"/>
            <a:ext cx="2880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3319272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△～○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3227832"/>
            <a:ext cx="2880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3319272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3227832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319272"/>
            <a:ext cx="315467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849624"/>
            <a:ext cx="201168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941063"/>
            <a:ext cx="19202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非線形構造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3849624"/>
            <a:ext cx="288036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3941063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3849624"/>
            <a:ext cx="288036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32120" y="3941063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3849624"/>
            <a:ext cx="324612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941063"/>
            <a:ext cx="315467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471416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562856"/>
            <a:ext cx="19202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説明しやすさ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4471416"/>
            <a:ext cx="2880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0" y="4562856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471416"/>
            <a:ext cx="2880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2120" y="4562856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60" y="4471416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562856"/>
            <a:ext cx="315467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5093208"/>
            <a:ext cx="201168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184648"/>
            <a:ext cx="19202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リアルタイム性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06040" y="5093208"/>
            <a:ext cx="288036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0" y="5184648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◎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5093208"/>
            <a:ext cx="288036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32120" y="5184648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66760" y="5093208"/>
            <a:ext cx="3246120" cy="621792"/>
          </a:xfrm>
          <a:prstGeom prst="rect">
            <a:avLst/>
          </a:prstGeom>
          <a:solidFill>
            <a:srgbClr val="F1F5F9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0" y="5184648"/>
            <a:ext cx="315467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571500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806440"/>
            <a:ext cx="19202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導入の容易さ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5715000"/>
            <a:ext cx="2880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51760" y="5806440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◎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0" y="5715000"/>
            <a:ext cx="2880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32120" y="5806440"/>
            <a:ext cx="27889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66760" y="5715000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12480" y="5806440"/>
            <a:ext cx="315467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192D46"/>
                </a:solidFill>
              </a:defRPr>
            </a:pPr>
            <a:r>
              <a:t>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6144768"/>
            <a:ext cx="10241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F6B78"/>
                </a:solidFill>
              </a:defRPr>
            </a:pPr>
            <a:r>
              <a:t>※ OutPro：テスト時は x を評価するが、検知器構築には教師ありforestと学習時の y が必要。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実運用での選択イメージ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まず“何を検知したいか”から手法を選ぶ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234440"/>
            <a:ext cx="3886200" cy="640080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371600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何を学習外として検知したいか？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1168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F6BAE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2316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8775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範囲外・明確な逸脱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49039"/>
            <a:ext cx="1965960" cy="658368"/>
          </a:xfrm>
          <a:prstGeom prst="roundRect">
            <a:avLst/>
          </a:prstGeom>
          <a:solidFill>
            <a:srgbClr val="EBF3F9"/>
          </a:solidFill>
          <a:ln>
            <a:solidFill>
              <a:srgbClr val="C8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F6BAE"/>
                </a:solidFill>
              </a:defRPr>
            </a:pPr>
            <a:r>
              <a:t>Range /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F6BAE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42316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8775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低密度・カバレッジ不足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749039"/>
            <a:ext cx="1965960" cy="658368"/>
          </a:xfrm>
          <a:prstGeom prst="roundRect">
            <a:avLst/>
          </a:prstGeom>
          <a:solidFill>
            <a:srgbClr val="EBF3F9"/>
          </a:solidFill>
          <a:ln>
            <a:solidFill>
              <a:srgbClr val="C8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3886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F6BAE"/>
                </a:solidFill>
              </a:defRPr>
            </a:pPr>
            <a:r>
              <a:t>Density / kNN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01168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F6BAE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2316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8775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未知の変数関係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749039"/>
            <a:ext cx="1965960" cy="658368"/>
          </a:xfrm>
          <a:prstGeom prst="roundRect">
            <a:avLst/>
          </a:prstGeom>
          <a:solidFill>
            <a:srgbClr val="EBF3F9"/>
          </a:solidFill>
          <a:ln>
            <a:solidFill>
              <a:srgbClr val="C8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3886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F6BAE"/>
                </a:solidFill>
              </a:defRPr>
            </a:pPr>
            <a:r>
              <a:t>AE / Mahalanobis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01168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F6BAE"/>
                </a:solidFill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42316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58775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92D46"/>
                </a:solidFill>
              </a:defRPr>
            </a:pPr>
            <a:r>
              <a:t>予測に影響するOOD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3749039"/>
            <a:ext cx="1965960" cy="658368"/>
          </a:xfrm>
          <a:prstGeom prst="roundRect">
            <a:avLst/>
          </a:prstGeom>
          <a:solidFill>
            <a:srgbClr val="EBF3F9"/>
          </a:solidFill>
          <a:ln>
            <a:solidFill>
              <a:srgbClr val="C8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19" y="3886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F6BAE"/>
                </a:solidFill>
              </a:defRPr>
            </a:pPr>
            <a:r>
              <a:t>OutPro /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8348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F6B78"/>
                </a:solidFill>
              </a:defRPr>
            </a:pPr>
            <a:r>
              <a:t>さらに確認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4800600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493776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対象モデル情報を使えるか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800600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19" y="493776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リアルタイム性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4800600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79" y="493776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説明可能性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800600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93776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92D46"/>
                </a:solidFill>
              </a:defRPr>
            </a:pPr>
            <a:r>
              <a:t>閾値・誤検知許容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40" y="5806440"/>
            <a:ext cx="8412480" cy="502920"/>
          </a:xfrm>
          <a:prstGeom prst="roundRect">
            <a:avLst/>
          </a:prstGeom>
          <a:solidFill>
            <a:srgbClr val="F5EDED"/>
          </a:solidFill>
          <a:ln>
            <a:solidFill>
              <a:srgbClr val="E6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40" y="5888736"/>
            <a:ext cx="79552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BE4848"/>
                </a:solidFill>
              </a:defRPr>
            </a:pPr>
            <a:r>
              <a:t>社会インフラでは“高性能”だけでなく、説明・保守・誤検知コストまで含めて選択する。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</a:defRPr>
            </a:pPr>
            <a:r>
              <a:t>社会インフラ適用の観点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B78"/>
                </a:solidFill>
              </a:defRPr>
            </a:pPr>
            <a:r>
              <a:t>検知性能だけでは決められない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F6BAE"/>
                </a:solidFill>
              </a:defRPr>
            </a:pPr>
            <a:r>
              <a:t>13</a:t>
            </a:r>
          </a:p>
        </p:txBody>
      </p:sp>
      <p:pic>
        <p:nvPicPr>
          <p:cNvPr id="5" name="Picture 4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0866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371600"/>
            <a:ext cx="3657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664208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F6BAE"/>
                </a:solidFill>
              </a:defRPr>
            </a:pPr>
            <a:r>
              <a:t>運用上の評価軸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194560"/>
            <a:ext cx="2926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92D46"/>
                </a:solidFill>
              </a:defRPr>
            </a:pPr>
            <a:r>
              <a:t>• リアルタイム性</a:t>
            </a:r>
          </a:p>
          <a:p>
            <a:pPr>
              <a:spcAft>
                <a:spcPts val="700"/>
              </a:spcAft>
              <a:defRPr sz="1150">
                <a:solidFill>
                  <a:srgbClr val="192D46"/>
                </a:solidFill>
              </a:defRPr>
            </a:pPr>
            <a:r>
              <a:t>• 説明可能性</a:t>
            </a:r>
          </a:p>
          <a:p>
            <a:pPr>
              <a:spcAft>
                <a:spcPts val="700"/>
              </a:spcAft>
              <a:defRPr sz="1150">
                <a:solidFill>
                  <a:srgbClr val="192D46"/>
                </a:solidFill>
              </a:defRPr>
            </a:pPr>
            <a:r>
              <a:t>• 誤検知 / 見逃し</a:t>
            </a:r>
          </a:p>
          <a:p>
            <a:pPr>
              <a:spcAft>
                <a:spcPts val="700"/>
              </a:spcAft>
              <a:defRPr sz="1150">
                <a:solidFill>
                  <a:srgbClr val="192D46"/>
                </a:solidFill>
              </a:defRPr>
            </a:pPr>
            <a:r>
              <a:t>• 必要な学習データ量</a:t>
            </a:r>
          </a:p>
          <a:p>
            <a:pPr>
              <a:spcAft>
                <a:spcPts val="700"/>
              </a:spcAft>
              <a:defRPr sz="1150">
                <a:solidFill>
                  <a:srgbClr val="192D46"/>
                </a:solidFill>
              </a:defRPr>
            </a:pPr>
            <a:r>
              <a:t>• 対象モデル依存性</a:t>
            </a:r>
          </a:p>
          <a:p>
            <a:pPr>
              <a:spcAft>
                <a:spcPts val="700"/>
              </a:spcAft>
              <a:defRPr sz="1150">
                <a:solidFill>
                  <a:srgbClr val="192D46"/>
                </a:solidFill>
              </a:defRPr>
            </a:pPr>
            <a:r>
              <a:t>• 閾値の安定性</a:t>
            </a:r>
          </a:p>
          <a:p>
            <a:pPr>
              <a:spcAft>
                <a:spcPts val="700"/>
              </a:spcAft>
              <a:defRPr sz="1150">
                <a:solidFill>
                  <a:srgbClr val="192D46"/>
                </a:solidFill>
              </a:defRPr>
            </a:pPr>
            <a:r>
              <a:t>• 保守・再学習コスト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516636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BE4848"/>
                </a:solidFill>
              </a:defRPr>
            </a:pPr>
            <a:r>
              <a:t>→ 複数手法の段階的・併用運用も候補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8D7E6"/>
                </a:solidFill>
              </a:defRPr>
            </a:pPr>
            <a:r>
              <a:t>調査から得られた整理と次の論点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1828800"/>
          </a:xfrm>
          <a:prstGeom prst="roundRect">
            <a:avLst/>
          </a:prstGeom>
          <a:solidFill>
            <a:srgbClr val="223C58"/>
          </a:solidFill>
          <a:ln>
            <a:solidFill>
              <a:srgbClr val="4B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5448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91C3E1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2024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学習外は範囲外だけではない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D7E1EB"/>
                </a:solidFill>
              </a:defRPr>
            </a:pPr>
            <a:r>
              <a:t>低密度・未知の相関関係まで含めて考える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371600"/>
            <a:ext cx="3474720" cy="1828800"/>
          </a:xfrm>
          <a:prstGeom prst="roundRect">
            <a:avLst/>
          </a:prstGeom>
          <a:solidFill>
            <a:srgbClr val="223C58"/>
          </a:solidFill>
          <a:ln>
            <a:solidFill>
              <a:srgbClr val="4B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5448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91C3E1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判断根拠で分類すると比較しやすい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D7E1EB"/>
                </a:solidFill>
              </a:defRPr>
            </a:pPr>
            <a:r>
              <a:t>距離 / 密度 / 再構成 / モデル情報 / 時間構造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3" y="1371600"/>
            <a:ext cx="3474720" cy="1828800"/>
          </a:xfrm>
          <a:prstGeom prst="roundRect">
            <a:avLst/>
          </a:prstGeom>
          <a:solidFill>
            <a:srgbClr val="223C58"/>
          </a:solidFill>
          <a:ln>
            <a:solidFill>
              <a:srgbClr val="4B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55448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91C3E1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192024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今回の対象では1時刻多変量も重要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468880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D7E1EB"/>
                </a:solidFill>
              </a:defRPr>
            </a:pPr>
            <a:r>
              <a:t>長いsequenceを必須としない検知法も候補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今後の課題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43400"/>
            <a:ext cx="5212080" cy="621792"/>
          </a:xfrm>
          <a:prstGeom prst="roundRect">
            <a:avLst/>
          </a:prstGeom>
          <a:solidFill>
            <a:srgbClr val="1F3550"/>
          </a:solidFill>
          <a:ln>
            <a:solidFill>
              <a:srgbClr val="4B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53128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?  閾値をどう設定するか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43400"/>
            <a:ext cx="5212080" cy="621792"/>
          </a:xfrm>
          <a:prstGeom prst="roundRect">
            <a:avLst/>
          </a:prstGeom>
          <a:solidFill>
            <a:srgbClr val="1F3550"/>
          </a:solidFill>
          <a:ln>
            <a:solidFill>
              <a:srgbClr val="4B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453128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?  OOD正解ラベルなしでどう評価するか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4648"/>
            <a:ext cx="5212080" cy="621792"/>
          </a:xfrm>
          <a:prstGeom prst="roundRect">
            <a:avLst/>
          </a:prstGeom>
          <a:solidFill>
            <a:srgbClr val="1F3550"/>
          </a:solidFill>
          <a:ln>
            <a:solidFill>
              <a:srgbClr val="4B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94376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?  新しい正常状態とセンサ異常をどう区別するか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184648"/>
            <a:ext cx="5212080" cy="621792"/>
          </a:xfrm>
          <a:prstGeom prst="roundRect">
            <a:avLst/>
          </a:prstGeom>
          <a:solidFill>
            <a:srgbClr val="1F3550"/>
          </a:solidFill>
          <a:ln>
            <a:solidFill>
              <a:srgbClr val="4B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294376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?  いつ時系列履歴が必要になるか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