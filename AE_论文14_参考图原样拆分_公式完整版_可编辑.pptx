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680960" cy="34747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2100" b="1">
                <a:solidFill>
                  <a:srgbClr val="112643"/>
                </a:solidFill>
                <a:latin typeface="Yu Gothic"/>
              </a:rPr>
              <a:t>Autoencoder による異常検知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109728"/>
            <a:ext cx="3977639" cy="34747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r"/>
            <a:r>
              <a:rPr sz="1250" b="1">
                <a:solidFill>
                  <a:srgbClr val="112643"/>
                </a:solidFill>
                <a:latin typeface="Yu Gothic"/>
              </a:rPr>
              <a:t>(Sakurada &amp; Yairi, 2014)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566928"/>
            <a:ext cx="11430000" cy="438912"/>
          </a:xfrm>
          <a:prstGeom prst="roundRect">
            <a:avLst/>
          </a:prstGeom>
          <a:solidFill>
            <a:srgbClr val="EBF4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1018520" cy="26517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1550" b="1">
                <a:solidFill>
                  <a:srgbClr val="112643"/>
                </a:solidFill>
                <a:latin typeface="Yu Gothic"/>
              </a:rPr>
              <a:t>① 学習フェーズ（正常データのみ・ラベル不要）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1018520" cy="22860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919" b="0">
                <a:solidFill>
                  <a:srgbClr val="606D79"/>
                </a:solidFill>
                <a:latin typeface="Yu Gothic"/>
              </a:rPr>
              <a:t>正常時の多変量入力を用い，入力を低次元に圧縮して再構成できるようにネットワークパラメータを学習する。</a:t>
            </a:r>
          </a:p>
        </p:txBody>
      </p:sp>
      <p:sp>
        <p:nvSpPr>
          <p:cNvPr id="7" name="Can 6"/>
          <p:cNvSpPr/>
          <p:nvPr/>
        </p:nvSpPr>
        <p:spPr>
          <a:xfrm>
            <a:off x="438912" y="1490472"/>
            <a:ext cx="1371600" cy="1005840"/>
          </a:xfrm>
          <a:prstGeom prst="can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1097280" cy="51206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019" b="1">
                <a:solidFill>
                  <a:srgbClr val="112643"/>
                </a:solidFill>
                <a:latin typeface="Yu Gothic"/>
              </a:rPr>
              <a:t>学習データ
D_train
（正常データのみ）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560320"/>
            <a:ext cx="1417320" cy="4206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30" b="0">
                <a:solidFill>
                  <a:srgbClr val="112643"/>
                </a:solidFill>
                <a:latin typeface="Cambria Math"/>
              </a:rPr>
              <a:t>X={x⁽¹⁾,…,x⁽ᵐ⁾}
x⁽ⁱ⁾∈Rᴰ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10512" y="1993392"/>
            <a:ext cx="356616" cy="0"/>
          </a:xfrm>
          <a:prstGeom prst="line">
            <a:avLst/>
          </a:prstGeom>
          <a:ln w="16510">
            <a:solidFill>
              <a:srgbClr val="112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3080" y="1673352"/>
            <a:ext cx="411480" cy="31089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19" b="1">
                <a:solidFill>
                  <a:srgbClr val="112643"/>
                </a:solidFill>
                <a:latin typeface="Cambria Math"/>
              </a:rPr>
              <a:t>入力
x⁽ⁱ⁾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1316736"/>
            <a:ext cx="425196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1362456"/>
            <a:ext cx="4069080" cy="21031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019" b="1">
                <a:solidFill>
                  <a:srgbClr val="112643"/>
                </a:solidFill>
                <a:latin typeface="Yu Gothic"/>
              </a:rPr>
              <a:t>Autoencoder の構造（3層ニューラルネットワーク）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98648" y="1956815"/>
            <a:ext cx="1197864" cy="109728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8648" y="1956815"/>
            <a:ext cx="1197864" cy="53035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98648" y="1956815"/>
            <a:ext cx="1197864" cy="950976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898648" y="2066543"/>
            <a:ext cx="1197864" cy="237745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8648" y="2304288"/>
            <a:ext cx="1197864" cy="182880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98648" y="2304288"/>
            <a:ext cx="1197864" cy="60350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898648" y="2066543"/>
            <a:ext cx="1197864" cy="585217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98648" y="2487168"/>
            <a:ext cx="1197864" cy="164592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98648" y="2651760"/>
            <a:ext cx="1197864" cy="25603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98648" y="2066543"/>
            <a:ext cx="1197864" cy="932689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98648" y="2487168"/>
            <a:ext cx="1197864" cy="512064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98648" y="2907791"/>
            <a:ext cx="1197864" cy="9144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07408" y="1956815"/>
            <a:ext cx="1197864" cy="109728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07408" y="2066543"/>
            <a:ext cx="1197864" cy="237745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07408" y="2066543"/>
            <a:ext cx="1197864" cy="585217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07408" y="2066543"/>
            <a:ext cx="1197864" cy="932689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407408" y="1956815"/>
            <a:ext cx="1197864" cy="53035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07408" y="2304288"/>
            <a:ext cx="1197864" cy="182880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07408" y="2487168"/>
            <a:ext cx="1197864" cy="164592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07408" y="2487168"/>
            <a:ext cx="1197864" cy="512064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407408" y="1956815"/>
            <a:ext cx="1197864" cy="950976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407408" y="2304288"/>
            <a:ext cx="1197864" cy="60350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407408" y="2651760"/>
            <a:ext cx="1197864" cy="25603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07408" y="2907791"/>
            <a:ext cx="1197864" cy="9144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319272" y="3017520"/>
            <a:ext cx="310896" cy="310896"/>
          </a:xfrm>
          <a:prstGeom prst="ellipse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8687" y="3076956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+1</a:t>
            </a:r>
          </a:p>
        </p:txBody>
      </p:sp>
      <p:sp>
        <p:nvSpPr>
          <p:cNvPr id="40" name="Oval 39"/>
          <p:cNvSpPr/>
          <p:nvPr/>
        </p:nvSpPr>
        <p:spPr>
          <a:xfrm>
            <a:off x="4800600" y="3017520"/>
            <a:ext cx="310896" cy="310896"/>
          </a:xfrm>
          <a:prstGeom prst="ellipse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0016" y="3076956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+1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630168" y="2066543"/>
            <a:ext cx="466344" cy="1106425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630168" y="2487168"/>
            <a:ext cx="466344" cy="685800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30168" y="2907791"/>
            <a:ext cx="466344" cy="265177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111496" y="1956815"/>
            <a:ext cx="493776" cy="1216153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111496" y="2304288"/>
            <a:ext cx="493776" cy="868680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111496" y="2651760"/>
            <a:ext cx="493776" cy="521208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111496" y="2999232"/>
            <a:ext cx="493776" cy="173736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587752" y="1801367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87168" y="1860803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x₁</a:t>
            </a:r>
          </a:p>
        </p:txBody>
      </p:sp>
      <p:sp>
        <p:nvSpPr>
          <p:cNvPr id="51" name="Oval 50"/>
          <p:cNvSpPr/>
          <p:nvPr/>
        </p:nvSpPr>
        <p:spPr>
          <a:xfrm>
            <a:off x="2587752" y="2148840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87168" y="2208276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x₂</a:t>
            </a:r>
          </a:p>
        </p:txBody>
      </p:sp>
      <p:sp>
        <p:nvSpPr>
          <p:cNvPr id="53" name="Oval 52"/>
          <p:cNvSpPr/>
          <p:nvPr/>
        </p:nvSpPr>
        <p:spPr>
          <a:xfrm>
            <a:off x="2587752" y="2496312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87168" y="2555748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⋮</a:t>
            </a:r>
          </a:p>
        </p:txBody>
      </p:sp>
      <p:sp>
        <p:nvSpPr>
          <p:cNvPr id="55" name="Oval 54"/>
          <p:cNvSpPr/>
          <p:nvPr/>
        </p:nvSpPr>
        <p:spPr>
          <a:xfrm>
            <a:off x="2587752" y="2843784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87168" y="2903220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x_D</a:t>
            </a:r>
          </a:p>
        </p:txBody>
      </p:sp>
      <p:sp>
        <p:nvSpPr>
          <p:cNvPr id="57" name="Oval 56"/>
          <p:cNvSpPr/>
          <p:nvPr/>
        </p:nvSpPr>
        <p:spPr>
          <a:xfrm>
            <a:off x="4096512" y="1911095"/>
            <a:ext cx="310896" cy="310896"/>
          </a:xfrm>
          <a:prstGeom prst="ellipse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95928" y="1970531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z₁</a:t>
            </a:r>
          </a:p>
        </p:txBody>
      </p:sp>
      <p:sp>
        <p:nvSpPr>
          <p:cNvPr id="59" name="Oval 58"/>
          <p:cNvSpPr/>
          <p:nvPr/>
        </p:nvSpPr>
        <p:spPr>
          <a:xfrm>
            <a:off x="4096512" y="2331720"/>
            <a:ext cx="310896" cy="310896"/>
          </a:xfrm>
          <a:prstGeom prst="ellipse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95928" y="2391156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z₂</a:t>
            </a:r>
          </a:p>
        </p:txBody>
      </p:sp>
      <p:sp>
        <p:nvSpPr>
          <p:cNvPr id="61" name="Oval 60"/>
          <p:cNvSpPr/>
          <p:nvPr/>
        </p:nvSpPr>
        <p:spPr>
          <a:xfrm>
            <a:off x="4096512" y="2752344"/>
            <a:ext cx="310896" cy="310896"/>
          </a:xfrm>
          <a:prstGeom prst="ellipse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95928" y="2811779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z_K</a:t>
            </a:r>
          </a:p>
        </p:txBody>
      </p:sp>
      <p:sp>
        <p:nvSpPr>
          <p:cNvPr id="63" name="Oval 62"/>
          <p:cNvSpPr/>
          <p:nvPr/>
        </p:nvSpPr>
        <p:spPr>
          <a:xfrm>
            <a:off x="5605272" y="1801367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4688" y="1860803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x̂₁</a:t>
            </a:r>
          </a:p>
        </p:txBody>
      </p:sp>
      <p:sp>
        <p:nvSpPr>
          <p:cNvPr id="65" name="Oval 64"/>
          <p:cNvSpPr/>
          <p:nvPr/>
        </p:nvSpPr>
        <p:spPr>
          <a:xfrm>
            <a:off x="5605272" y="2148840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04688" y="2208276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x̂₂</a:t>
            </a:r>
          </a:p>
        </p:txBody>
      </p:sp>
      <p:sp>
        <p:nvSpPr>
          <p:cNvPr id="67" name="Oval 66"/>
          <p:cNvSpPr/>
          <p:nvPr/>
        </p:nvSpPr>
        <p:spPr>
          <a:xfrm>
            <a:off x="5605272" y="2496312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04688" y="2555748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⋮</a:t>
            </a:r>
          </a:p>
        </p:txBody>
      </p:sp>
      <p:sp>
        <p:nvSpPr>
          <p:cNvPr id="69" name="Oval 68"/>
          <p:cNvSpPr/>
          <p:nvPr/>
        </p:nvSpPr>
        <p:spPr>
          <a:xfrm>
            <a:off x="5605272" y="2843784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04688" y="2903220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x̂_D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13432" y="1618488"/>
            <a:ext cx="932688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112643"/>
                </a:solidFill>
                <a:latin typeface="Yu Gothic"/>
              </a:rPr>
              <a:t>入力層
(D次元)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75887" y="1618488"/>
            <a:ext cx="1188720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90" b="1">
                <a:solidFill>
                  <a:srgbClr val="112643"/>
                </a:solidFill>
                <a:latin typeface="Yu Gothic"/>
              </a:rPr>
              <a:t>隠れ層（潜在表現）
(K次元, K &lt; 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21808" y="1618488"/>
            <a:ext cx="914400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112643"/>
                </a:solidFill>
                <a:latin typeface="Yu Gothic"/>
              </a:rPr>
              <a:t>出力層
(D次元)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27248" y="3209544"/>
            <a:ext cx="914400" cy="15544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112643"/>
                </a:solidFill>
                <a:latin typeface="Cambria Math"/>
              </a:rPr>
              <a:t>W⁽¹⁾ / b⁽²⁾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0" y="3209544"/>
            <a:ext cx="914400" cy="15544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112643"/>
                </a:solidFill>
                <a:latin typeface="Cambria Math"/>
              </a:rPr>
              <a:t>W⁽²⁾ / b⁽³⁾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419088" y="1993392"/>
            <a:ext cx="329184" cy="0"/>
          </a:xfrm>
          <a:prstGeom prst="line">
            <a:avLst/>
          </a:prstGeom>
          <a:ln w="16510">
            <a:solidFill>
              <a:srgbClr val="112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11112" y="1600200"/>
            <a:ext cx="960120" cy="32918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19" b="1">
                <a:solidFill>
                  <a:srgbClr val="112643"/>
                </a:solidFill>
                <a:latin typeface="Cambria Math"/>
              </a:rPr>
              <a:t>再構成データ
x̂⁽ⁱ⁾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84848" y="1920240"/>
            <a:ext cx="9601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V="1">
            <a:off x="6861657" y="2107874"/>
            <a:ext cx="96012" cy="118507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957669" y="2107874"/>
            <a:ext cx="115215" cy="148133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072884" y="2068372"/>
            <a:ext cx="115214" cy="187635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188098" y="2068372"/>
            <a:ext cx="124816" cy="123444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312914" y="2117750"/>
            <a:ext cx="144017" cy="74066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456931" y="2117750"/>
            <a:ext cx="134417" cy="103693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438912" y="3639312"/>
            <a:ext cx="7296912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3703320"/>
            <a:ext cx="6995160" cy="21031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1050" b="1">
                <a:solidFill>
                  <a:srgbClr val="112643"/>
                </a:solidFill>
                <a:latin typeface="Yu Gothic"/>
              </a:rPr>
              <a:t>各層の計算式（論文 Eq. 2）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" y="3959352"/>
            <a:ext cx="2331720" cy="67665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80" b="0">
                <a:solidFill>
                  <a:srgbClr val="112643"/>
                </a:solidFill>
                <a:latin typeface="Cambria Math"/>
              </a:rPr>
              <a:t>一般形
aᵢ⁽ˡ⁾ = f( Σⱼ Wᵢⱼ⁽ˡ⁻¹⁾ aⱼ⁽ˡ⁻¹⁾ + bᵢ⁽ˡ⁾ )
a⁽¹⁾ = x,   a⁽³⁾ = x̂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017520" y="3913632"/>
            <a:ext cx="0" cy="822960"/>
          </a:xfrm>
          <a:prstGeom prst="line">
            <a:avLst/>
          </a:prstGeom>
          <a:ln w="10160">
            <a:solidFill>
              <a:srgbClr val="D2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108960" y="3959352"/>
            <a:ext cx="2084831" cy="67665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69" b="0">
                <a:solidFill>
                  <a:srgbClr val="112643"/>
                </a:solidFill>
                <a:latin typeface="Cambria Math"/>
              </a:rPr>
              <a:t>隠れ層
aᵢ⁽²⁾ = σ(ΣⱼWᵢⱼ⁽¹⁾xⱼ+bᵢ⁽²⁾)
σ(u)=1/(1+e⁻ᵘ)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285232" y="3913632"/>
            <a:ext cx="0" cy="822960"/>
          </a:xfrm>
          <a:prstGeom prst="line">
            <a:avLst/>
          </a:prstGeom>
          <a:ln w="10160">
            <a:solidFill>
              <a:srgbClr val="D2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376672" y="3959352"/>
            <a:ext cx="2148840" cy="67665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69" b="0">
                <a:solidFill>
                  <a:srgbClr val="112643"/>
                </a:solidFill>
                <a:latin typeface="Cambria Math"/>
              </a:rPr>
              <a:t>出力層（linear）
aᵢ⁽³⁾ = ΣⱼWᵢⱼ⁽²⁾aⱼ⁽²⁾+bᵢ⁽³⁾
x̂ = a⁽³⁾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36992" y="1325880"/>
            <a:ext cx="3840480" cy="3557016"/>
          </a:xfrm>
          <a:prstGeom prst="roundRect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19872" y="1463040"/>
            <a:ext cx="3474720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150" b="1">
                <a:solidFill>
                  <a:srgbClr val="BA3E37"/>
                </a:solidFill>
                <a:latin typeface="Yu Gothic"/>
              </a:rPr>
              <a:t>学習の目的関数（論文 Eq. 3）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01583" y="1847088"/>
            <a:ext cx="3511296" cy="74980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150" b="1">
                <a:solidFill>
                  <a:srgbClr val="112643"/>
                </a:solidFill>
                <a:latin typeface="Cambria Math"/>
              </a:rPr>
              <a:t>J(W,b) = 1/m Σᵢ₌₁ᵐ [ ½‖x⁽ⁱ⁾−x̂⁽ⁱ⁾‖² ]
+ λ/2 Σₗ₌₁ⁿˡ⁻¹ Σᵢ₌₁ˢˡ Σⱼ₌₁ˢˡ⁺¹ (Wⱼᵢ⁽ˡ⁾)²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74736" y="2688336"/>
            <a:ext cx="3337560" cy="89611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112643"/>
                </a:solidFill>
                <a:latin typeface="Yu Gothic"/>
              </a:rPr>
              <a:t>m：学習サンプル数
n_l：ネットワークの層数
s_l：Layer L_l のユニット数
λ：weight regularization の強さ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275320" y="3730752"/>
            <a:ext cx="3127248" cy="667512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0768" y="3822191"/>
            <a:ext cx="2816352" cy="45720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40" b="1">
                <a:solidFill>
                  <a:srgbClr val="112643"/>
                </a:solidFill>
                <a:latin typeface="Yu Gothic"/>
              </a:rPr>
              <a:t>W と b に関して J(W,b) を最小化
→ パラメータを反復的に更新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56448" y="4471416"/>
            <a:ext cx="3401568" cy="24688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69" b="1">
                <a:solidFill>
                  <a:srgbClr val="BA3E37"/>
                </a:solidFill>
                <a:latin typeface="Yu Gothic"/>
              </a:rPr>
              <a:t>第1項：再構成項　／　第2項：重みの正則化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38912" y="5074920"/>
            <a:ext cx="11338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3504" y="5148072"/>
            <a:ext cx="2926080" cy="20116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112643"/>
                </a:solidFill>
                <a:latin typeface="Yu Gothic"/>
              </a:rPr>
              <a:t>学習のイメージ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749808" y="5413248"/>
            <a:ext cx="0" cy="548640"/>
          </a:xfrm>
          <a:prstGeom prst="line">
            <a:avLst/>
          </a:prstGeom>
          <a:ln w="11430">
            <a:solidFill>
              <a:srgbClr val="112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49808" y="5961888"/>
            <a:ext cx="2039112" cy="0"/>
          </a:xfrm>
          <a:prstGeom prst="line">
            <a:avLst/>
          </a:prstGeom>
          <a:ln w="11430">
            <a:solidFill>
              <a:srgbClr val="112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758952" y="5678424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05255" y="5623560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51560" y="5650992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97864" y="5559552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353312" y="5596128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508760" y="5513832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673352" y="5550408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37944" y="5458968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02536" y="5495544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176272" y="5413248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340864" y="5440680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8680" y="5294376"/>
            <a:ext cx="1828800" cy="16459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50" b="1">
                <a:solidFill>
                  <a:srgbClr val="112643"/>
                </a:solidFill>
                <a:latin typeface="Yu Gothic"/>
              </a:rPr>
              <a:t>正常時の学習データ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2999232" y="5705856"/>
            <a:ext cx="914400" cy="0"/>
          </a:xfrm>
          <a:prstGeom prst="line">
            <a:avLst/>
          </a:prstGeom>
          <a:ln w="1651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3017520" y="5468112"/>
            <a:ext cx="877824" cy="22860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00" b="1">
                <a:solidFill>
                  <a:srgbClr val="112643"/>
                </a:solidFill>
                <a:latin typeface="Yu Gothic"/>
              </a:rPr>
              <a:t>AEで再構成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96512" y="5330952"/>
            <a:ext cx="2788920" cy="62179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3B844C"/>
                </a:solidFill>
                <a:latin typeface="Yu Gothic"/>
              </a:rPr>
              <a:t>正常時の相関構造を学習
→ 入力 x と再構成 x̂ のずれを小さくする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150608" y="5285232"/>
            <a:ext cx="4315968" cy="658368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296912" y="5376672"/>
            <a:ext cx="4005072" cy="43891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00" b="1">
                <a:solidFill>
                  <a:srgbClr val="112643"/>
                </a:solidFill>
                <a:latin typeface="Yu Gothic"/>
              </a:rPr>
              <a:t>注意：Eq.3 の ½‖x−x̂‖² は「学習目的関数の再構成項」。
推論時の anomaly score（Eq.1）とは式を分けて扱う。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0" y="6437376"/>
            <a:ext cx="11064240" cy="14630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r"/>
            <a:r>
              <a:rPr sz="700" b="0">
                <a:solidFill>
                  <a:srgbClr val="606D79"/>
                </a:solidFill>
                <a:latin typeface="Yu Gothic"/>
              </a:rPr>
              <a:t>Source: Sakurada &amp; Yairi (2014), Sec. 3.2, Fig.1, Eq.(2)–(3)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680960" cy="34747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2100" b="1">
                <a:solidFill>
                  <a:srgbClr val="112643"/>
                </a:solidFill>
                <a:latin typeface="Yu Gothic"/>
              </a:rPr>
              <a:t>Autoencoder による異常検知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109728"/>
            <a:ext cx="3977639" cy="34747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r"/>
            <a:r>
              <a:rPr sz="1250" b="1">
                <a:solidFill>
                  <a:srgbClr val="112643"/>
                </a:solidFill>
                <a:latin typeface="Yu Gothic"/>
              </a:rPr>
              <a:t>(Sakurada &amp; Yairi, 2014)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566928"/>
            <a:ext cx="11430000" cy="438912"/>
          </a:xfrm>
          <a:prstGeom prst="roundRect">
            <a:avLst/>
          </a:prstGeom>
          <a:solidFill>
            <a:srgbClr val="EDF8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1018520" cy="26517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1550" b="1">
                <a:solidFill>
                  <a:srgbClr val="112643"/>
                </a:solidFill>
                <a:latin typeface="Yu Gothic"/>
              </a:rPr>
              <a:t>② 推論フェーズ（実運用時・新しい入力に対して検知）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1018520" cy="22860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919" b="0">
                <a:solidFill>
                  <a:srgbClr val="606D79"/>
                </a:solidFill>
                <a:latin typeface="Yu Gothic"/>
              </a:rPr>
              <a:t>学習済み Autoencoder の W, b を固定し，新規入力を再構成。論文 Eq.(1) の再構成誤差を anomaly score として用いる。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276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D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1298448" cy="53035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030" b="1">
                <a:solidFill>
                  <a:srgbClr val="112643"/>
                </a:solidFill>
                <a:latin typeface="Cambria Math"/>
              </a:rPr>
              <a:t>新しい入力
x_new ∈ Rᴰ
（事前ラベル不要）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1" y="1901952"/>
            <a:ext cx="310897" cy="0"/>
          </a:xfrm>
          <a:prstGeom prst="line">
            <a:avLst/>
          </a:prstGeom>
          <a:ln w="16510">
            <a:solidFill>
              <a:srgbClr val="112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95728" y="1280160"/>
            <a:ext cx="4315968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325880"/>
            <a:ext cx="4133087" cy="21031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019" b="1">
                <a:solidFill>
                  <a:srgbClr val="112643"/>
                </a:solidFill>
                <a:latin typeface="Yu Gothic"/>
              </a:rPr>
              <a:t>学習済み Autoencoder（W, b 固定）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27248" y="1920239"/>
            <a:ext cx="1197864" cy="109728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27248" y="1920239"/>
            <a:ext cx="1197864" cy="530352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27248" y="1920239"/>
            <a:ext cx="1197864" cy="950976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127248" y="2029967"/>
            <a:ext cx="1197864" cy="237745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27248" y="2267712"/>
            <a:ext cx="1197864" cy="182879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27248" y="2267712"/>
            <a:ext cx="1197864" cy="60350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127248" y="2029967"/>
            <a:ext cx="1197864" cy="585217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127248" y="2450591"/>
            <a:ext cx="1197864" cy="16459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27248" y="2615184"/>
            <a:ext cx="1197864" cy="25603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27248" y="2029967"/>
            <a:ext cx="1197864" cy="932689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27248" y="2450591"/>
            <a:ext cx="1197864" cy="512065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127248" y="2871215"/>
            <a:ext cx="1197864" cy="9144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636008" y="1920239"/>
            <a:ext cx="1197864" cy="109728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36008" y="2029967"/>
            <a:ext cx="1197864" cy="237745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36008" y="2029967"/>
            <a:ext cx="1197864" cy="585217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36008" y="2029967"/>
            <a:ext cx="1197864" cy="932689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36008" y="1920239"/>
            <a:ext cx="1197864" cy="530352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636008" y="2267712"/>
            <a:ext cx="1197864" cy="182879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36008" y="2450591"/>
            <a:ext cx="1197864" cy="16459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36008" y="2450591"/>
            <a:ext cx="1197864" cy="512065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636008" y="1920239"/>
            <a:ext cx="1197864" cy="950976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36008" y="2267712"/>
            <a:ext cx="1197864" cy="603503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636008" y="2615184"/>
            <a:ext cx="1197864" cy="25603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36008" y="2871215"/>
            <a:ext cx="1197864" cy="91441"/>
          </a:xfrm>
          <a:prstGeom prst="line">
            <a:avLst/>
          </a:prstGeom>
          <a:ln w="5334">
            <a:solidFill>
              <a:srgbClr val="BBC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547872" y="2980944"/>
            <a:ext cx="310896" cy="310896"/>
          </a:xfrm>
          <a:prstGeom prst="ellipse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7287" y="3040379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+1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0" y="2980944"/>
            <a:ext cx="310896" cy="310896"/>
          </a:xfrm>
          <a:prstGeom prst="ellipse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28616" y="3040379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+1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3858768" y="2029967"/>
            <a:ext cx="466344" cy="1106424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858768" y="2450591"/>
            <a:ext cx="466344" cy="685800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858768" y="2871215"/>
            <a:ext cx="466344" cy="265176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340096" y="1920239"/>
            <a:ext cx="493776" cy="1216152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340096" y="2267712"/>
            <a:ext cx="493776" cy="868679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340096" y="2615184"/>
            <a:ext cx="493776" cy="521207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340096" y="2962656"/>
            <a:ext cx="493776" cy="173735"/>
          </a:xfrm>
          <a:prstGeom prst="line">
            <a:avLst/>
          </a:prstGeom>
          <a:ln w="5715">
            <a:solidFill>
              <a:srgbClr val="B86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816352" y="1764791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1824227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x₁</a:t>
            </a:r>
          </a:p>
        </p:txBody>
      </p:sp>
      <p:sp>
        <p:nvSpPr>
          <p:cNvPr id="49" name="Oval 48"/>
          <p:cNvSpPr/>
          <p:nvPr/>
        </p:nvSpPr>
        <p:spPr>
          <a:xfrm>
            <a:off x="2816352" y="2112264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5768" y="2171700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x₂</a:t>
            </a:r>
          </a:p>
        </p:txBody>
      </p:sp>
      <p:sp>
        <p:nvSpPr>
          <p:cNvPr id="51" name="Oval 50"/>
          <p:cNvSpPr/>
          <p:nvPr/>
        </p:nvSpPr>
        <p:spPr>
          <a:xfrm>
            <a:off x="2816352" y="2459736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15768" y="2519172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⋮</a:t>
            </a:r>
          </a:p>
        </p:txBody>
      </p:sp>
      <p:sp>
        <p:nvSpPr>
          <p:cNvPr id="53" name="Oval 52"/>
          <p:cNvSpPr/>
          <p:nvPr/>
        </p:nvSpPr>
        <p:spPr>
          <a:xfrm>
            <a:off x="2816352" y="2807208"/>
            <a:ext cx="310896" cy="310896"/>
          </a:xfrm>
          <a:prstGeom prst="ellipse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15768" y="2866644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x_D</a:t>
            </a:r>
          </a:p>
        </p:txBody>
      </p:sp>
      <p:sp>
        <p:nvSpPr>
          <p:cNvPr id="55" name="Oval 54"/>
          <p:cNvSpPr/>
          <p:nvPr/>
        </p:nvSpPr>
        <p:spPr>
          <a:xfrm>
            <a:off x="4325112" y="1874519"/>
            <a:ext cx="310896" cy="310896"/>
          </a:xfrm>
          <a:prstGeom prst="ellipse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4528" y="1933955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z₁</a:t>
            </a:r>
          </a:p>
        </p:txBody>
      </p:sp>
      <p:sp>
        <p:nvSpPr>
          <p:cNvPr id="57" name="Oval 56"/>
          <p:cNvSpPr/>
          <p:nvPr/>
        </p:nvSpPr>
        <p:spPr>
          <a:xfrm>
            <a:off x="4325112" y="2295144"/>
            <a:ext cx="310896" cy="310896"/>
          </a:xfrm>
          <a:prstGeom prst="ellipse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4528" y="2354579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z₂</a:t>
            </a:r>
          </a:p>
        </p:txBody>
      </p:sp>
      <p:sp>
        <p:nvSpPr>
          <p:cNvPr id="59" name="Oval 58"/>
          <p:cNvSpPr/>
          <p:nvPr/>
        </p:nvSpPr>
        <p:spPr>
          <a:xfrm>
            <a:off x="4325112" y="2715768"/>
            <a:ext cx="310896" cy="310896"/>
          </a:xfrm>
          <a:prstGeom prst="ellipse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8" y="2775203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z_K</a:t>
            </a:r>
          </a:p>
        </p:txBody>
      </p:sp>
      <p:sp>
        <p:nvSpPr>
          <p:cNvPr id="61" name="Oval 60"/>
          <p:cNvSpPr/>
          <p:nvPr/>
        </p:nvSpPr>
        <p:spPr>
          <a:xfrm>
            <a:off x="5833872" y="1764791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33288" y="1824227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x̂₁</a:t>
            </a:r>
          </a:p>
        </p:txBody>
      </p:sp>
      <p:sp>
        <p:nvSpPr>
          <p:cNvPr id="63" name="Oval 62"/>
          <p:cNvSpPr/>
          <p:nvPr/>
        </p:nvSpPr>
        <p:spPr>
          <a:xfrm>
            <a:off x="5833872" y="2112264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33288" y="2171700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x̂₂</a:t>
            </a:r>
          </a:p>
        </p:txBody>
      </p:sp>
      <p:sp>
        <p:nvSpPr>
          <p:cNvPr id="65" name="Oval 64"/>
          <p:cNvSpPr/>
          <p:nvPr/>
        </p:nvSpPr>
        <p:spPr>
          <a:xfrm>
            <a:off x="5833872" y="2459736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33288" y="2519172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⋮</a:t>
            </a:r>
          </a:p>
        </p:txBody>
      </p:sp>
      <p:sp>
        <p:nvSpPr>
          <p:cNvPr id="67" name="Oval 66"/>
          <p:cNvSpPr/>
          <p:nvPr/>
        </p:nvSpPr>
        <p:spPr>
          <a:xfrm>
            <a:off x="5833872" y="2807208"/>
            <a:ext cx="310896" cy="310896"/>
          </a:xfrm>
          <a:prstGeom prst="ellipse">
            <a:avLst/>
          </a:prstGeom>
          <a:solidFill>
            <a:srgbClr val="EDF8EE"/>
          </a:solidFill>
          <a:ln w="12700">
            <a:solidFill>
              <a:srgbClr val="3B8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866644"/>
            <a:ext cx="512064" cy="19202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50" b="1">
                <a:solidFill>
                  <a:srgbClr val="112643"/>
                </a:solidFill>
                <a:latin typeface="Cambria Math"/>
              </a:rPr>
              <a:t>x̂_D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42032" y="1581912"/>
            <a:ext cx="932688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112643"/>
                </a:solidFill>
                <a:latin typeface="Yu Gothic"/>
              </a:rPr>
              <a:t>入力層
(D次元)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4487" y="1581912"/>
            <a:ext cx="1188720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90" b="1">
                <a:solidFill>
                  <a:srgbClr val="112643"/>
                </a:solidFill>
                <a:latin typeface="Yu Gothic"/>
              </a:rPr>
              <a:t>隠れ層（潜在表現）
(K次元, K &lt; 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1581912"/>
            <a:ext cx="914400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112643"/>
                </a:solidFill>
                <a:latin typeface="Yu Gothic"/>
              </a:rPr>
              <a:t>出力層
(D次元)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3172968"/>
            <a:ext cx="914400" cy="15544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112643"/>
                </a:solidFill>
                <a:latin typeface="Cambria Math"/>
              </a:rPr>
              <a:t>W⁽¹⁾ / b⁽²⁾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46320" y="3172968"/>
            <a:ext cx="914400" cy="15544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112643"/>
                </a:solidFill>
                <a:latin typeface="Cambria Math"/>
              </a:rPr>
              <a:t>W⁽²⁾ / b⁽³⁾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11696" y="1901952"/>
            <a:ext cx="329184" cy="0"/>
          </a:xfrm>
          <a:prstGeom prst="line">
            <a:avLst/>
          </a:prstGeom>
          <a:ln w="16510">
            <a:solidFill>
              <a:srgbClr val="112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931152" y="1536192"/>
            <a:ext cx="1024128" cy="32918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19" b="1">
                <a:solidFill>
                  <a:srgbClr val="112643"/>
                </a:solidFill>
                <a:latin typeface="Cambria Math"/>
              </a:rPr>
              <a:t>再構成データ
x̂_new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95744" y="1828800"/>
            <a:ext cx="93268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 flipV="1">
            <a:off x="7170359" y="2016434"/>
            <a:ext cx="93268" cy="118507"/>
          </a:xfrm>
          <a:prstGeom prst="line">
            <a:avLst/>
          </a:prstGeom>
          <a:ln w="12700">
            <a:solidFill>
              <a:srgbClr val="3B8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263627" y="2016434"/>
            <a:ext cx="111923" cy="148133"/>
          </a:xfrm>
          <a:prstGeom prst="line">
            <a:avLst/>
          </a:prstGeom>
          <a:ln w="12700">
            <a:solidFill>
              <a:srgbClr val="3B8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375550" y="1976932"/>
            <a:ext cx="111922" cy="187635"/>
          </a:xfrm>
          <a:prstGeom prst="line">
            <a:avLst/>
          </a:prstGeom>
          <a:ln w="12700">
            <a:solidFill>
              <a:srgbClr val="3B8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87472" y="1976932"/>
            <a:ext cx="121250" cy="123444"/>
          </a:xfrm>
          <a:prstGeom prst="line">
            <a:avLst/>
          </a:prstGeom>
          <a:ln w="12700">
            <a:solidFill>
              <a:srgbClr val="3B8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608722" y="2026310"/>
            <a:ext cx="139903" cy="74066"/>
          </a:xfrm>
          <a:prstGeom prst="line">
            <a:avLst/>
          </a:prstGeom>
          <a:ln w="12700">
            <a:solidFill>
              <a:srgbClr val="3B8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48625" y="2026310"/>
            <a:ext cx="130576" cy="103693"/>
          </a:xfrm>
          <a:prstGeom prst="line">
            <a:avLst/>
          </a:prstGeom>
          <a:ln w="12700">
            <a:solidFill>
              <a:srgbClr val="3B8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457200" y="3657600"/>
            <a:ext cx="7406640" cy="1417320"/>
          </a:xfrm>
          <a:prstGeom prst="roundRect">
            <a:avLst/>
          </a:prstGeom>
          <a:solidFill>
            <a:srgbClr val="FFEEEB"/>
          </a:solidFill>
          <a:ln w="12700">
            <a:solidFill>
              <a:srgbClr val="BA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3767328"/>
            <a:ext cx="7059168" cy="22860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150" b="1">
                <a:solidFill>
                  <a:srgbClr val="BA3E37"/>
                </a:solidFill>
                <a:latin typeface="Yu Gothic"/>
              </a:rPr>
              <a:t>再構成誤差（Anomaly Score：論文 Eq. 1）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4105656"/>
            <a:ext cx="7059168" cy="50292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700" b="1">
                <a:solidFill>
                  <a:srgbClr val="112643"/>
                </a:solidFill>
                <a:latin typeface="Cambria Math"/>
              </a:rPr>
              <a:t>Err⁽ⁱ⁾ = √[ Σⱼ₌₁ᴰ ( xⱼ⁽ⁱ⁾ − x̂ⱼ⁽ⁱ⁾ )²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" y="4645152"/>
            <a:ext cx="7022592" cy="25603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19" b="0">
                <a:solidFill>
                  <a:srgbClr val="112643"/>
                </a:solidFill>
                <a:latin typeface="Yu Gothic"/>
              </a:rPr>
              <a:t>test data を低次元空間へ写像して再構成し，このユークリッド距離を anomaly score として使用する。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065008" y="1353312"/>
            <a:ext cx="37033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47888" y="1490472"/>
            <a:ext cx="3337560" cy="22860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100" b="1">
                <a:solidFill>
                  <a:srgbClr val="3B844C"/>
                </a:solidFill>
                <a:latin typeface="Yu Gothic"/>
              </a:rPr>
              <a:t>論文での score の解釈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66175" y="1847088"/>
            <a:ext cx="3291840" cy="109728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112643"/>
                </a:solidFill>
                <a:latin typeface="Yu Gothic"/>
              </a:rPr>
              <a:t>Err が小さい
→ 学習時に獲得した normal correlation に整合
Err が大きい
→ 学習済みモデルと不整合
→ anomaly とみなす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57031" y="2999232"/>
            <a:ext cx="3310128" cy="20116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850" b="1">
                <a:solidFill>
                  <a:srgbClr val="606D79"/>
                </a:solidFill>
                <a:latin typeface="Yu Gothic"/>
              </a:rPr>
              <a:t>※ 入力段階では「新規入力」と表記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92440" y="3657600"/>
            <a:ext cx="3675887" cy="141732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B86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75320" y="3776472"/>
            <a:ext cx="3310128" cy="219456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1050" b="1">
                <a:solidFill>
                  <a:srgbClr val="B86A27"/>
                </a:solidFill>
                <a:latin typeface="Yu Gothic"/>
              </a:rPr>
              <a:t>実運用で二値判定する場合</a:t>
            </a:r>
          </a:p>
        </p:txBody>
      </p:sp>
      <p:sp>
        <p:nvSpPr>
          <p:cNvPr id="93" name="Diamond 92"/>
          <p:cNvSpPr/>
          <p:nvPr/>
        </p:nvSpPr>
        <p:spPr>
          <a:xfrm>
            <a:off x="8348472" y="4114800"/>
            <a:ext cx="960120" cy="749808"/>
          </a:xfrm>
          <a:prstGeom prst="diamond">
            <a:avLst/>
          </a:prstGeom>
          <a:solidFill>
            <a:srgbClr val="EBF4FE"/>
          </a:solidFill>
          <a:ln w="12700">
            <a:solidFill>
              <a:srgbClr val="2C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85632" y="4288536"/>
            <a:ext cx="676656" cy="29260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30" b="1">
                <a:solidFill>
                  <a:srgbClr val="112643"/>
                </a:solidFill>
                <a:latin typeface="Yu Gothic"/>
              </a:rPr>
              <a:t>θ と比較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308592" y="4306824"/>
            <a:ext cx="338328" cy="0"/>
          </a:xfrm>
          <a:prstGeom prst="line">
            <a:avLst/>
          </a:prstGeom>
          <a:ln w="12700">
            <a:solidFill>
              <a:srgbClr val="BA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308592" y="4663440"/>
            <a:ext cx="338328" cy="0"/>
          </a:xfrm>
          <a:prstGeom prst="line">
            <a:avLst/>
          </a:prstGeom>
          <a:ln w="12700">
            <a:solidFill>
              <a:srgbClr val="2C6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710928" y="4151376"/>
            <a:ext cx="1719072" cy="27432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19" b="1">
                <a:solidFill>
                  <a:srgbClr val="BA3E37"/>
                </a:solidFill>
                <a:latin typeface="Cambria Math"/>
              </a:rPr>
              <a:t>Err &gt; θ → 検知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10928" y="4526280"/>
            <a:ext cx="1719072" cy="274320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919" b="1">
                <a:solidFill>
                  <a:srgbClr val="2C66A9"/>
                </a:solidFill>
                <a:latin typeface="Cambria Math"/>
              </a:rPr>
              <a:t>Err ≤ θ → 非検知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47888" y="4818888"/>
            <a:ext cx="3346704" cy="20116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ctr"/>
            <a:r>
              <a:rPr sz="790" b="0">
                <a:solidFill>
                  <a:srgbClr val="606D79"/>
                </a:solidFill>
                <a:latin typeface="Yu Gothic"/>
              </a:rPr>
              <a:t>※ θ の汎用的な設定法は原論文では明示されていない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5285232"/>
            <a:ext cx="11311128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" y="5376672"/>
            <a:ext cx="1417320" cy="201168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1070" b="1">
                <a:solidFill>
                  <a:srgbClr val="112643"/>
                </a:solidFill>
                <a:latin typeface="Yu Gothic"/>
              </a:rPr>
              <a:t>特徴・ポイント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20240" y="5358384"/>
            <a:ext cx="9464040" cy="621792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l"/>
            <a:r>
              <a:rPr sz="940" b="0">
                <a:solidFill>
                  <a:srgbClr val="112643"/>
                </a:solidFill>
                <a:latin typeface="Yu Gothic"/>
              </a:rPr>
              <a:t>● 正常時データのみで学習　　● Hidden：sigmoid / Output：linear　　● 運用時は W, b を固定
● anomaly score は Eq.(1) のユークリッド再構成誤差（MSE ではない）　　● 対象回帰モデルの内部情報・運用時の真値 Y は不要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437376"/>
            <a:ext cx="11064240" cy="146304"/>
          </a:xfrm>
          <a:prstGeom prst="rect">
            <a:avLst/>
          </a:prstGeom>
          <a:noFill/>
        </p:spPr>
        <p:txBody>
          <a:bodyPr wrap="none" lIns="36576" rIns="36576" tIns="13716" bIns="13716" anchor="ctr">
            <a:spAutoFit/>
          </a:bodyPr>
          <a:lstStyle/>
          <a:p>
            <a:pPr algn="r"/>
            <a:r>
              <a:rPr sz="700" b="0">
                <a:solidFill>
                  <a:srgbClr val="606D79"/>
                </a:solidFill>
                <a:latin typeface="Yu Gothic"/>
              </a:rPr>
              <a:t>Source: Sakurada &amp; Yairi (2014), Sec. 3.1–3.2, Eq.(1)–(3)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